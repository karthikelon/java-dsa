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0"/>
  </p:notesMasterIdLst>
  <p:sldIdLst>
    <p:sldId id="257" r:id="rId2"/>
    <p:sldId id="258" r:id="rId3"/>
    <p:sldId id="261" r:id="rId4"/>
    <p:sldId id="262" r:id="rId5"/>
    <p:sldId id="263" r:id="rId6"/>
    <p:sldId id="264" r:id="rId7"/>
    <p:sldId id="267" r:id="rId8"/>
    <p:sldId id="265" r:id="rId9"/>
    <p:sldId id="268" r:id="rId10"/>
    <p:sldId id="269" r:id="rId11"/>
    <p:sldId id="270" r:id="rId12"/>
    <p:sldId id="271" r:id="rId13"/>
    <p:sldId id="277" r:id="rId14"/>
    <p:sldId id="287" r:id="rId15"/>
    <p:sldId id="275" r:id="rId16"/>
    <p:sldId id="276" r:id="rId17"/>
    <p:sldId id="273" r:id="rId18"/>
    <p:sldId id="280" r:id="rId19"/>
    <p:sldId id="278" r:id="rId20"/>
    <p:sldId id="279" r:id="rId21"/>
    <p:sldId id="281" r:id="rId22"/>
    <p:sldId id="282" r:id="rId23"/>
    <p:sldId id="284" r:id="rId24"/>
    <p:sldId id="285" r:id="rId25"/>
    <p:sldId id="283" r:id="rId26"/>
    <p:sldId id="286" r:id="rId27"/>
    <p:sldId id="288" r:id="rId28"/>
    <p:sldId id="289" r:id="rId29"/>
    <p:sldId id="298" r:id="rId30"/>
    <p:sldId id="290" r:id="rId31"/>
    <p:sldId id="293" r:id="rId32"/>
    <p:sldId id="294" r:id="rId33"/>
    <p:sldId id="312" r:id="rId34"/>
    <p:sldId id="295" r:id="rId35"/>
    <p:sldId id="314" r:id="rId36"/>
    <p:sldId id="291" r:id="rId37"/>
    <p:sldId id="292" r:id="rId38"/>
    <p:sldId id="313" r:id="rId3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13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image" Target="../media/image1.wmf"/><Relationship Id="rId5" Type="http://schemas.openxmlformats.org/officeDocument/2006/relationships/image" Target="../media/image5.wmf"/><Relationship Id="rId4" Type="http://schemas.openxmlformats.org/officeDocument/2006/relationships/image" Target="../media/image4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35060E-DEC0-4CB6-8B09-B50441F32BD9}" type="datetimeFigureOut">
              <a:rPr lang="en-GB" smtClean="0"/>
              <a:t>29/11/2021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39593D-9738-4A2D-9A2A-C4A80F03892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53753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F33AF-9A85-472C-9004-679DA88DB03D}" type="datetimeFigureOut">
              <a:rPr lang="en-GB" smtClean="0"/>
              <a:t>29/11/2021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07F60-983B-4CAF-B400-DBB297083DF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599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F33AF-9A85-472C-9004-679DA88DB03D}" type="datetimeFigureOut">
              <a:rPr lang="en-GB" smtClean="0"/>
              <a:t>29/11/2021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07F60-983B-4CAF-B400-DBB297083DF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680939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F33AF-9A85-472C-9004-679DA88DB03D}" type="datetimeFigureOut">
              <a:rPr lang="en-GB" smtClean="0"/>
              <a:t>29/11/2021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07F60-983B-4CAF-B400-DBB297083DF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89690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F33AF-9A85-472C-9004-679DA88DB03D}" type="datetimeFigureOut">
              <a:rPr lang="en-GB" smtClean="0"/>
              <a:t>29/11/2021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07F60-983B-4CAF-B400-DBB297083DF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42244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F33AF-9A85-472C-9004-679DA88DB03D}" type="datetimeFigureOut">
              <a:rPr lang="en-GB" smtClean="0"/>
              <a:t>29/11/2021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07F60-983B-4CAF-B400-DBB297083DF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029992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F33AF-9A85-472C-9004-679DA88DB03D}" type="datetimeFigureOut">
              <a:rPr lang="en-GB" smtClean="0"/>
              <a:t>29/11/2021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07F60-983B-4CAF-B400-DBB297083DF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78853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F33AF-9A85-472C-9004-679DA88DB03D}" type="datetimeFigureOut">
              <a:rPr lang="en-GB" smtClean="0"/>
              <a:t>29/11/2021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07F60-983B-4CAF-B400-DBB297083DF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75694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F33AF-9A85-472C-9004-679DA88DB03D}" type="datetimeFigureOut">
              <a:rPr lang="en-GB" smtClean="0"/>
              <a:t>29/11/2021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07F60-983B-4CAF-B400-DBB297083DF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0877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F33AF-9A85-472C-9004-679DA88DB03D}" type="datetimeFigureOut">
              <a:rPr lang="en-GB" smtClean="0"/>
              <a:t>29/11/2021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07F60-983B-4CAF-B400-DBB297083DF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57860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F33AF-9A85-472C-9004-679DA88DB03D}" type="datetimeFigureOut">
              <a:rPr lang="en-GB" smtClean="0"/>
              <a:t>29/11/2021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07F60-983B-4CAF-B400-DBB297083DF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99865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F33AF-9A85-472C-9004-679DA88DB03D}" type="datetimeFigureOut">
              <a:rPr lang="en-GB" smtClean="0"/>
              <a:t>29/11/2021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07F60-983B-4CAF-B400-DBB297083DF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349590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CF33AF-9A85-472C-9004-679DA88DB03D}" type="datetimeFigureOut">
              <a:rPr lang="en-GB" smtClean="0"/>
              <a:t>29/11/2021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D07F60-983B-4CAF-B400-DBB297083DF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82772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5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0" Type="http://schemas.openxmlformats.org/officeDocument/2006/relationships/image" Target="../media/image4.wmf"/><Relationship Id="rId4" Type="http://schemas.openxmlformats.org/officeDocument/2006/relationships/image" Target="../media/image1.wmf"/><Relationship Id="rId9" Type="http://schemas.openxmlformats.org/officeDocument/2006/relationships/oleObject" Target="../embeddings/oleObject4.bin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/>
              <a:t>DATABASE MANAGEMENT SYSTEMS</a:t>
            </a:r>
            <a:endParaRPr lang="en-GB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sz="3000" b="1" dirty="0"/>
              <a:t>COURSE CODE : </a:t>
            </a:r>
            <a:r>
              <a:rPr lang="en-GB" sz="3000" b="1" dirty="0" smtClean="0"/>
              <a:t>21CA1204 </a:t>
            </a:r>
            <a:r>
              <a:rPr lang="en-GB" sz="3000" b="1" dirty="0"/>
              <a:t>	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33582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457834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/>
              <a:t>UNIT - 2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720703"/>
            <a:ext cx="7886700" cy="6137297"/>
          </a:xfrm>
        </p:spPr>
        <p:txBody>
          <a:bodyPr>
            <a:noAutofit/>
          </a:bodyPr>
          <a:lstStyle/>
          <a:p>
            <a:r>
              <a:rPr lang="en-GB" sz="2400" b="1" dirty="0" smtClean="0"/>
              <a:t>RELATIONAL </a:t>
            </a:r>
            <a:r>
              <a:rPr lang="en-GB" sz="2400" b="1" dirty="0"/>
              <a:t>ALGEBRA, INTRODUCTION TO SQL &amp; INTERMEDIATE SQL </a:t>
            </a:r>
            <a:r>
              <a:rPr lang="en-GB" sz="2400" dirty="0"/>
              <a:t>	</a:t>
            </a:r>
          </a:p>
          <a:p>
            <a:r>
              <a:rPr lang="en-GB" sz="2400" dirty="0" smtClean="0"/>
              <a:t>Relational </a:t>
            </a:r>
            <a:r>
              <a:rPr lang="en-GB" sz="2400" dirty="0"/>
              <a:t>Algebra </a:t>
            </a:r>
            <a:r>
              <a:rPr lang="en-GB" sz="2400" dirty="0" smtClean="0"/>
              <a:t>– </a:t>
            </a:r>
          </a:p>
          <a:p>
            <a:pPr lvl="1"/>
            <a:r>
              <a:rPr lang="en-GB" dirty="0" smtClean="0"/>
              <a:t>Selection </a:t>
            </a:r>
            <a:r>
              <a:rPr lang="en-GB" dirty="0"/>
              <a:t>and Projection, </a:t>
            </a:r>
            <a:endParaRPr lang="en-GB" dirty="0" smtClean="0"/>
          </a:p>
          <a:p>
            <a:pPr lvl="1"/>
            <a:r>
              <a:rPr lang="en-GB" dirty="0" smtClean="0"/>
              <a:t>Set </a:t>
            </a:r>
            <a:r>
              <a:rPr lang="en-GB" dirty="0"/>
              <a:t>operations, </a:t>
            </a:r>
            <a:endParaRPr lang="en-GB" dirty="0" smtClean="0"/>
          </a:p>
          <a:p>
            <a:pPr lvl="1"/>
            <a:r>
              <a:rPr lang="en-GB" dirty="0" smtClean="0"/>
              <a:t>Renaming </a:t>
            </a:r>
          </a:p>
          <a:p>
            <a:r>
              <a:rPr lang="en-GB" sz="2400" dirty="0" smtClean="0"/>
              <a:t>Introduction </a:t>
            </a:r>
            <a:r>
              <a:rPr lang="en-GB" sz="2400" dirty="0"/>
              <a:t>to SQL </a:t>
            </a:r>
            <a:endParaRPr lang="en-GB" sz="2400" dirty="0" smtClean="0"/>
          </a:p>
          <a:p>
            <a:r>
              <a:rPr lang="en-GB" sz="2400" dirty="0" smtClean="0"/>
              <a:t>DDL </a:t>
            </a:r>
          </a:p>
          <a:p>
            <a:r>
              <a:rPr lang="en-GB" sz="2400" dirty="0" smtClean="0"/>
              <a:t>DML </a:t>
            </a:r>
            <a:r>
              <a:rPr lang="en-GB" sz="2400" dirty="0"/>
              <a:t>Commands </a:t>
            </a:r>
          </a:p>
          <a:p>
            <a:r>
              <a:rPr lang="en-GB" sz="2400" dirty="0" smtClean="0"/>
              <a:t>Basic </a:t>
            </a:r>
            <a:r>
              <a:rPr lang="en-GB" sz="2400" dirty="0"/>
              <a:t>Structure of SQL Queries </a:t>
            </a:r>
            <a:endParaRPr lang="en-GB" sz="2400" dirty="0" smtClean="0"/>
          </a:p>
          <a:p>
            <a:r>
              <a:rPr lang="en-GB" sz="2400" dirty="0" smtClean="0"/>
              <a:t>Set </a:t>
            </a:r>
            <a:r>
              <a:rPr lang="en-GB" sz="2400" dirty="0"/>
              <a:t>Operations </a:t>
            </a:r>
          </a:p>
          <a:p>
            <a:r>
              <a:rPr lang="en-GB" sz="2400" dirty="0" smtClean="0"/>
              <a:t>Null </a:t>
            </a:r>
            <a:r>
              <a:rPr lang="en-GB" sz="2400" dirty="0"/>
              <a:t>Values </a:t>
            </a:r>
          </a:p>
          <a:p>
            <a:r>
              <a:rPr lang="en-GB" sz="2400" dirty="0" smtClean="0"/>
              <a:t>Aggregate </a:t>
            </a:r>
            <a:r>
              <a:rPr lang="en-GB" sz="2400" dirty="0"/>
              <a:t>Functions </a:t>
            </a:r>
          </a:p>
          <a:p>
            <a:r>
              <a:rPr lang="en-GB" sz="2400" dirty="0" smtClean="0"/>
              <a:t>Nested </a:t>
            </a:r>
            <a:r>
              <a:rPr lang="en-GB" sz="2400" dirty="0"/>
              <a:t>Sub Queries </a:t>
            </a:r>
          </a:p>
          <a:p>
            <a:r>
              <a:rPr lang="en-GB" sz="2400" dirty="0" smtClean="0"/>
              <a:t>Intermediate </a:t>
            </a:r>
            <a:r>
              <a:rPr lang="en-GB" sz="2400" dirty="0"/>
              <a:t>SQL </a:t>
            </a:r>
            <a:endParaRPr lang="en-GB" sz="2400" dirty="0" smtClean="0"/>
          </a:p>
          <a:p>
            <a:r>
              <a:rPr lang="en-GB" sz="2400" dirty="0" smtClean="0"/>
              <a:t>Joins</a:t>
            </a:r>
            <a:r>
              <a:rPr lang="en-GB" sz="2400" dirty="0"/>
              <a:t>, Views and Transactions. 	</a:t>
            </a:r>
          </a:p>
        </p:txBody>
      </p:sp>
    </p:spTree>
    <p:extLst>
      <p:ext uri="{BB962C8B-B14F-4D97-AF65-F5344CB8AC3E}">
        <p14:creationId xmlns:p14="http://schemas.microsoft.com/office/powerpoint/2010/main" val="614129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628650" y="365126"/>
            <a:ext cx="7886700" cy="620711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 smtClean="0"/>
              <a:t>Query Languages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077913"/>
            <a:ext cx="7848600" cy="5551487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A query language is a Language in which user requests information from the database.</a:t>
            </a:r>
          </a:p>
          <a:p>
            <a:pPr eaLnBrk="1" fontAlgn="auto" hangingPunct="1">
              <a:spcAft>
                <a:spcPts val="0"/>
              </a:spcAft>
              <a:defRPr/>
            </a:pPr>
            <a:endParaRPr lang="en-US" dirty="0" smtClean="0"/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Categories of languages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dirty="0" smtClean="0"/>
              <a:t>Procedural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dirty="0" smtClean="0"/>
              <a:t>Non-procedural, or declarative</a:t>
            </a:r>
          </a:p>
        </p:txBody>
      </p:sp>
      <p:sp>
        <p:nvSpPr>
          <p:cNvPr id="24580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85F0657-6F73-4516-88FF-08678EA3FD1E}" type="slidenum">
              <a:rPr lang="en-US" altLang="en-US" sz="1200">
                <a:solidFill>
                  <a:srgbClr val="898989"/>
                </a:solidFill>
                <a:latin typeface="Helvetica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</a:t>
            </a:fld>
            <a:endParaRPr lang="en-US" altLang="en-US" sz="1200" dirty="0">
              <a:solidFill>
                <a:srgbClr val="898989"/>
              </a:solidFill>
              <a:latin typeface="Helvetica" panose="020B06040202020202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Prepared by : </a:t>
            </a:r>
            <a:r>
              <a:rPr lang="en-US" dirty="0" err="1"/>
              <a:t>M.Nirmala</a:t>
            </a:r>
            <a:r>
              <a:rPr lang="en-US"/>
              <a:t> / AP / MCA</a:t>
            </a:r>
          </a:p>
        </p:txBody>
      </p:sp>
    </p:spTree>
    <p:extLst>
      <p:ext uri="{BB962C8B-B14F-4D97-AF65-F5344CB8AC3E}">
        <p14:creationId xmlns:p14="http://schemas.microsoft.com/office/powerpoint/2010/main" val="42814891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Procedural Language/ Relational Algebra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Relational </a:t>
            </a:r>
            <a:r>
              <a:rPr lang="en-GB" dirty="0"/>
              <a:t>algebra is a procedural query language, which takes instances of relations as input and yields instances of relations as </a:t>
            </a:r>
            <a:r>
              <a:rPr lang="en-GB" dirty="0" smtClean="0"/>
              <a:t>output.</a:t>
            </a:r>
          </a:p>
          <a:p>
            <a:r>
              <a:rPr lang="en-GB" dirty="0"/>
              <a:t> It uses operators to perform queries. An operator can be either </a:t>
            </a:r>
            <a:r>
              <a:rPr lang="en-GB" b="1" dirty="0"/>
              <a:t>unary</a:t>
            </a:r>
            <a:r>
              <a:rPr lang="en-GB" dirty="0"/>
              <a:t> or </a:t>
            </a:r>
            <a:r>
              <a:rPr lang="en-GB" b="1" dirty="0"/>
              <a:t>binary</a:t>
            </a:r>
            <a:r>
              <a:rPr lang="en-GB" dirty="0" smtClean="0"/>
              <a:t>.</a:t>
            </a:r>
          </a:p>
          <a:p>
            <a:r>
              <a:rPr lang="en-GB" dirty="0"/>
              <a:t>They accept relations as their input and yield relations as their output. </a:t>
            </a:r>
            <a:endParaRPr lang="en-GB" dirty="0" smtClean="0"/>
          </a:p>
          <a:p>
            <a:r>
              <a:rPr lang="en-GB" dirty="0" smtClean="0"/>
              <a:t>Relational </a:t>
            </a:r>
            <a:r>
              <a:rPr lang="en-GB" dirty="0"/>
              <a:t>algebra is performed recursively on a relation and intermediate results are also considered relations.</a:t>
            </a:r>
            <a:endParaRPr lang="en-US" dirty="0"/>
          </a:p>
          <a:p>
            <a:endParaRPr lang="en-US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741104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Non Procedural Languages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a non procedural language the user describes the desired information without giving a specific procedure for </a:t>
            </a:r>
            <a:r>
              <a:rPr lang="en-US" dirty="0" smtClean="0"/>
              <a:t>obtaining </a:t>
            </a:r>
            <a:r>
              <a:rPr lang="en-US" dirty="0"/>
              <a:t>that </a:t>
            </a:r>
            <a:r>
              <a:rPr lang="en-US" dirty="0" smtClean="0"/>
              <a:t>information</a:t>
            </a:r>
          </a:p>
          <a:p>
            <a:endParaRPr lang="en-US" dirty="0"/>
          </a:p>
          <a:p>
            <a:r>
              <a:rPr lang="en-US" dirty="0" smtClean="0"/>
              <a:t>Examples</a:t>
            </a:r>
          </a:p>
          <a:p>
            <a:pPr lvl="1">
              <a:defRPr/>
            </a:pPr>
            <a:r>
              <a:rPr lang="en-US" dirty="0" smtClean="0"/>
              <a:t>Relational </a:t>
            </a:r>
            <a:r>
              <a:rPr lang="en-US" dirty="0"/>
              <a:t>algebra - procedural</a:t>
            </a:r>
          </a:p>
          <a:p>
            <a:pPr lvl="1">
              <a:defRPr/>
            </a:pPr>
            <a:r>
              <a:rPr lang="en-US" dirty="0"/>
              <a:t>Tuple relational calculus – non procedural</a:t>
            </a:r>
          </a:p>
          <a:p>
            <a:pPr lvl="1">
              <a:defRPr/>
            </a:pPr>
            <a:r>
              <a:rPr lang="en-US" dirty="0"/>
              <a:t>Domain relational calculus = non procedural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285453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fundamental operations of relational algebra are as follows −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810306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Six basic operators</a:t>
            </a:r>
          </a:p>
          <a:p>
            <a:pPr lvl="1">
              <a:defRPr/>
            </a:pPr>
            <a:r>
              <a:rPr lang="en-US" sz="3200" dirty="0"/>
              <a:t>select: </a:t>
            </a:r>
            <a:r>
              <a:rPr lang="en-US" sz="3200" dirty="0">
                <a:sym typeface="Symbol" pitchFamily="18" charset="2"/>
              </a:rPr>
              <a:t></a:t>
            </a:r>
            <a:endParaRPr lang="en-US" sz="3200" dirty="0"/>
          </a:p>
          <a:p>
            <a:pPr lvl="1">
              <a:defRPr/>
            </a:pPr>
            <a:r>
              <a:rPr lang="en-US" sz="3200" dirty="0"/>
              <a:t>project: </a:t>
            </a:r>
            <a:r>
              <a:rPr lang="en-US" sz="3200" dirty="0">
                <a:sym typeface="Symbol" pitchFamily="18" charset="2"/>
              </a:rPr>
              <a:t></a:t>
            </a:r>
            <a:endParaRPr lang="en-US" sz="3200" dirty="0"/>
          </a:p>
          <a:p>
            <a:pPr lvl="1">
              <a:defRPr/>
            </a:pPr>
            <a:r>
              <a:rPr lang="en-US" sz="3200" dirty="0"/>
              <a:t>union: </a:t>
            </a:r>
            <a:r>
              <a:rPr lang="en-US" sz="3200" dirty="0">
                <a:sym typeface="Symbol" pitchFamily="18" charset="2"/>
              </a:rPr>
              <a:t></a:t>
            </a:r>
            <a:endParaRPr lang="en-US" sz="3200" dirty="0"/>
          </a:p>
          <a:p>
            <a:pPr lvl="1">
              <a:defRPr/>
            </a:pPr>
            <a:r>
              <a:rPr lang="en-US" sz="3200" dirty="0"/>
              <a:t>set difference: </a:t>
            </a:r>
            <a:r>
              <a:rPr lang="en-US" sz="3200" i="1" dirty="0"/>
              <a:t>–</a:t>
            </a:r>
            <a:r>
              <a:rPr lang="en-US" sz="3200" dirty="0"/>
              <a:t> </a:t>
            </a:r>
          </a:p>
          <a:p>
            <a:pPr lvl="1">
              <a:defRPr/>
            </a:pPr>
            <a:r>
              <a:rPr lang="en-US" sz="3200" dirty="0"/>
              <a:t>Cartesian product: x</a:t>
            </a:r>
          </a:p>
          <a:p>
            <a:pPr lvl="1">
              <a:defRPr/>
            </a:pPr>
            <a:r>
              <a:rPr lang="en-US" sz="3200" dirty="0"/>
              <a:t>rename: </a:t>
            </a:r>
            <a:r>
              <a:rPr lang="en-US" sz="3200" i="1" dirty="0" smtClean="0">
                <a:sym typeface="Symbol" pitchFamily="18" charset="2"/>
              </a:rPr>
              <a:t></a:t>
            </a:r>
          </a:p>
          <a:p>
            <a:pPr lvl="1">
              <a:defRPr/>
            </a:pPr>
            <a:endParaRPr lang="en-US" sz="2000" i="1" dirty="0">
              <a:sym typeface="Symbol" pitchFamily="18" charset="2"/>
            </a:endParaRPr>
          </a:p>
          <a:p>
            <a:pPr lvl="1">
              <a:defRPr/>
            </a:pPr>
            <a:r>
              <a:rPr lang="en-US" dirty="0"/>
              <a:t>The </a:t>
            </a:r>
            <a:r>
              <a:rPr lang="en-US" dirty="0" smtClean="0"/>
              <a:t>operators- </a:t>
            </a:r>
            <a:r>
              <a:rPr lang="en-US" dirty="0"/>
              <a:t>take one or  two relations as inputs and produce a new relation as a result.</a:t>
            </a:r>
          </a:p>
          <a:p>
            <a:pPr lvl="1">
              <a:defRPr/>
            </a:pPr>
            <a:endParaRPr lang="en-US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080752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5"/>
          <p:cNvSpPr txBox="1">
            <a:spLocks noChangeArrowheads="1"/>
          </p:cNvSpPr>
          <p:nvPr/>
        </p:nvSpPr>
        <p:spPr>
          <a:xfrm>
            <a:off x="304800" y="603069"/>
            <a:ext cx="8434251" cy="3668485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mtClean="0"/>
              <a:t>Basic operations:</a:t>
            </a:r>
          </a:p>
          <a:p>
            <a:pPr lvl="1">
              <a:buSzPct val="75000"/>
            </a:pPr>
            <a:r>
              <a:rPr lang="en-US" altLang="en-US" i="1" u="sng" smtClean="0">
                <a:solidFill>
                  <a:schemeClr val="accent2"/>
                </a:solidFill>
              </a:rPr>
              <a:t>Selection</a:t>
            </a:r>
            <a:r>
              <a:rPr lang="en-US" altLang="en-US" smtClean="0"/>
              <a:t>  (     )    Selects a subset of rows from relation.</a:t>
            </a:r>
          </a:p>
          <a:p>
            <a:pPr lvl="1">
              <a:buSzPct val="75000"/>
            </a:pPr>
            <a:r>
              <a:rPr lang="en-US" altLang="en-US" i="1" u="sng" smtClean="0">
                <a:solidFill>
                  <a:schemeClr val="accent2"/>
                </a:solidFill>
              </a:rPr>
              <a:t>Projection</a:t>
            </a:r>
            <a:r>
              <a:rPr lang="en-US" altLang="en-US" smtClean="0">
                <a:solidFill>
                  <a:schemeClr val="accent2"/>
                </a:solidFill>
              </a:rPr>
              <a:t> </a:t>
            </a:r>
            <a:r>
              <a:rPr lang="en-US" altLang="en-US" smtClean="0"/>
              <a:t> (     )   Deletes unwanted columns from relation.</a:t>
            </a:r>
          </a:p>
          <a:p>
            <a:pPr lvl="1">
              <a:buSzPct val="75000"/>
            </a:pPr>
            <a:r>
              <a:rPr lang="en-US" altLang="en-US" i="1" u="sng" smtClean="0">
                <a:solidFill>
                  <a:schemeClr val="accent2"/>
                </a:solidFill>
              </a:rPr>
              <a:t>Cross-product</a:t>
            </a:r>
            <a:r>
              <a:rPr lang="en-US" altLang="en-US" smtClean="0">
                <a:solidFill>
                  <a:schemeClr val="accent2"/>
                </a:solidFill>
              </a:rPr>
              <a:t>  </a:t>
            </a:r>
            <a:r>
              <a:rPr lang="en-US" altLang="en-US" smtClean="0"/>
              <a:t>(     )  Allows us to combine two relations.</a:t>
            </a:r>
          </a:p>
          <a:p>
            <a:pPr lvl="1">
              <a:buSzPct val="75000"/>
            </a:pPr>
            <a:r>
              <a:rPr lang="en-US" altLang="en-US" i="1" u="sng" smtClean="0">
                <a:solidFill>
                  <a:schemeClr val="accent2"/>
                </a:solidFill>
              </a:rPr>
              <a:t>Set-difference</a:t>
            </a:r>
            <a:r>
              <a:rPr lang="en-US" altLang="en-US" smtClean="0"/>
              <a:t>  (     )  Tuples in reln. 1, but not in reln. 2.</a:t>
            </a:r>
          </a:p>
          <a:p>
            <a:pPr lvl="1">
              <a:buSzPct val="75000"/>
            </a:pPr>
            <a:r>
              <a:rPr lang="en-US" altLang="en-US" i="1" u="sng" smtClean="0">
                <a:solidFill>
                  <a:schemeClr val="accent2"/>
                </a:solidFill>
              </a:rPr>
              <a:t>Union</a:t>
            </a:r>
            <a:r>
              <a:rPr lang="en-US" altLang="en-US" smtClean="0">
                <a:solidFill>
                  <a:schemeClr val="accent2"/>
                </a:solidFill>
              </a:rPr>
              <a:t>  </a:t>
            </a:r>
            <a:r>
              <a:rPr lang="en-US" altLang="en-US" smtClean="0"/>
              <a:t>(     )  Tuples in reln. 1 and in reln. 2.</a:t>
            </a:r>
          </a:p>
          <a:p>
            <a:r>
              <a:rPr lang="en-US" altLang="en-US" sz="2400" smtClean="0"/>
              <a:t>Additional operations:</a:t>
            </a:r>
          </a:p>
          <a:p>
            <a:pPr lvl="1">
              <a:buSzPct val="75000"/>
            </a:pPr>
            <a:r>
              <a:rPr lang="en-US" altLang="en-US" smtClean="0"/>
              <a:t>Intersection, </a:t>
            </a:r>
            <a:r>
              <a:rPr lang="en-US" altLang="en-US" i="1" u="sng" smtClean="0">
                <a:solidFill>
                  <a:schemeClr val="accent2"/>
                </a:solidFill>
              </a:rPr>
              <a:t>join</a:t>
            </a:r>
            <a:r>
              <a:rPr lang="en-US" altLang="en-US" smtClean="0"/>
              <a:t>, division, renaming:  Not essential, but (very!) useful.</a:t>
            </a:r>
            <a:endParaRPr lang="en-US" altLang="en-US" dirty="0" smtClean="0"/>
          </a:p>
        </p:txBody>
      </p:sp>
      <p:grpSp>
        <p:nvGrpSpPr>
          <p:cNvPr id="11" name="Group 10"/>
          <p:cNvGrpSpPr/>
          <p:nvPr/>
        </p:nvGrpSpPr>
        <p:grpSpPr>
          <a:xfrm>
            <a:off x="2069306" y="1139371"/>
            <a:ext cx="2592320" cy="2396204"/>
            <a:chOff x="2043180" y="1566863"/>
            <a:chExt cx="2592320" cy="2955925"/>
          </a:xfrm>
        </p:grpSpPr>
        <p:grpSp>
          <p:nvGrpSpPr>
            <p:cNvPr id="12" name="Group 11"/>
            <p:cNvGrpSpPr/>
            <p:nvPr/>
          </p:nvGrpSpPr>
          <p:grpSpPr>
            <a:xfrm>
              <a:off x="2367416" y="1566863"/>
              <a:ext cx="2268084" cy="2955925"/>
              <a:chOff x="2367416" y="1566863"/>
              <a:chExt cx="2268084" cy="2955925"/>
            </a:xfrm>
          </p:grpSpPr>
          <p:graphicFrame>
            <p:nvGraphicFramePr>
              <p:cNvPr id="14" name="Object 2">
                <a:hlinkClick r:id="" action="ppaction://ole?verb=0"/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892542418"/>
                  </p:ext>
                </p:extLst>
              </p:nvPr>
            </p:nvGraphicFramePr>
            <p:xfrm>
              <a:off x="2367416" y="1566863"/>
              <a:ext cx="2214563" cy="7493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56" name="Equation" r:id="rId3" imgW="2212309" imgH="749586" progId="Equation.3">
                      <p:embed/>
                    </p:oleObj>
                  </mc:Choice>
                  <mc:Fallback>
                    <p:oleObj name="Equation" r:id="rId3" imgW="2212309" imgH="749586" progId="Equation.3">
                      <p:embed/>
                      <p:pic>
                        <p:nvPicPr>
                          <p:cNvPr id="26634" name="Object 2">
                            <a:hlinkClick r:id="" action="ppaction://ole?verb=0"/>
                          </p:cNvPr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367416" y="1566863"/>
                            <a:ext cx="2214563" cy="7493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5" name="Object 3">
                <a:hlinkClick r:id="" action="ppaction://ole?verb=0"/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4193896907"/>
                  </p:ext>
                </p:extLst>
              </p:nvPr>
            </p:nvGraphicFramePr>
            <p:xfrm>
              <a:off x="2590800" y="1981200"/>
              <a:ext cx="2044700" cy="101282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57" name="Equation" r:id="rId5" imgW="2042741" imgH="1012654" progId="Equation.3">
                      <p:embed/>
                    </p:oleObj>
                  </mc:Choice>
                  <mc:Fallback>
                    <p:oleObj name="Equation" r:id="rId5" imgW="2042741" imgH="1012654" progId="Equation.3">
                      <p:embed/>
                      <p:pic>
                        <p:nvPicPr>
                          <p:cNvPr id="26635" name="Object 3">
                            <a:hlinkClick r:id="" action="ppaction://ole?verb=0"/>
                          </p:cNvPr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590800" y="1981200"/>
                            <a:ext cx="2044700" cy="101282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6" name="Object 4">
                <a:hlinkClick r:id="" action="ppaction://ole?verb=0"/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751909801"/>
                  </p:ext>
                </p:extLst>
              </p:nvPr>
            </p:nvGraphicFramePr>
            <p:xfrm>
              <a:off x="3033849" y="3113088"/>
              <a:ext cx="520700" cy="14097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58" name="Equation" r:id="rId7" imgW="521382" imgH="1408842" progId="Equation.3">
                      <p:embed/>
                    </p:oleObj>
                  </mc:Choice>
                  <mc:Fallback>
                    <p:oleObj name="Equation" r:id="rId7" imgW="521382" imgH="1408842" progId="Equation.3">
                      <p:embed/>
                      <p:pic>
                        <p:nvPicPr>
                          <p:cNvPr id="26636" name="Object 4">
                            <a:hlinkClick r:id="" action="ppaction://ole?verb=0"/>
                          </p:cNvPr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033849" y="3113088"/>
                            <a:ext cx="520700" cy="14097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7" name="Object 5">
                <a:hlinkClick r:id="" action="ppaction://ole?verb=0"/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349629718"/>
                  </p:ext>
                </p:extLst>
              </p:nvPr>
            </p:nvGraphicFramePr>
            <p:xfrm>
              <a:off x="2971800" y="2316163"/>
              <a:ext cx="685800" cy="12573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59" name="Equation" r:id="rId9" imgW="1751147" imgH="1256706" progId="Equation.3">
                      <p:embed/>
                    </p:oleObj>
                  </mc:Choice>
                  <mc:Fallback>
                    <p:oleObj name="Equation" r:id="rId9" imgW="1751147" imgH="1256706" progId="Equation.3">
                      <p:embed/>
                      <p:pic>
                        <p:nvPicPr>
                          <p:cNvPr id="26637" name="Object 5">
                            <a:hlinkClick r:id="" action="ppaction://ole?verb=0"/>
                          </p:cNvPr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971800" y="2316163"/>
                            <a:ext cx="685800" cy="12573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13" name="Object 6">
              <a:hlinkClick r:id="" action="ppaction://ole?verb=0"/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1620531664"/>
                </p:ext>
              </p:extLst>
            </p:nvPr>
          </p:nvGraphicFramePr>
          <p:xfrm>
            <a:off x="2043180" y="3527426"/>
            <a:ext cx="639763" cy="495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60" name="Equation" r:id="rId11" imgW="639131" imgH="495168" progId="Equation.3">
                    <p:embed/>
                  </p:oleObj>
                </mc:Choice>
                <mc:Fallback>
                  <p:oleObj name="Equation" r:id="rId11" imgW="639131" imgH="495168" progId="Equation.3">
                    <p:embed/>
                    <p:pic>
                      <p:nvPicPr>
                        <p:cNvPr id="26631" name="Object 6">
                          <a:hlinkClick r:id="" action="ppaction://ole?verb=0"/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43180" y="3527426"/>
                          <a:ext cx="639763" cy="4953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5434577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 smtClean="0"/>
              <a:t>SELECT </a:t>
            </a:r>
            <a:r>
              <a:rPr lang="en-GB" b="1" dirty="0"/>
              <a:t>(</a:t>
            </a:r>
            <a:r>
              <a:rPr lang="el-GR" b="1" dirty="0"/>
              <a:t>σ</a:t>
            </a:r>
            <a:r>
              <a:rPr lang="el-GR" b="1" dirty="0" smtClean="0"/>
              <a:t>)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SELECT operation is used for selecting a subset of the tuples according to a given selection condition. </a:t>
            </a:r>
            <a:endParaRPr lang="en-GB" dirty="0" smtClean="0"/>
          </a:p>
          <a:p>
            <a:r>
              <a:rPr lang="en-GB" dirty="0" smtClean="0"/>
              <a:t>Sigma(σ)Symbol </a:t>
            </a:r>
            <a:r>
              <a:rPr lang="en-GB" dirty="0"/>
              <a:t>denotes it. </a:t>
            </a:r>
            <a:endParaRPr lang="en-GB" dirty="0" smtClean="0"/>
          </a:p>
          <a:p>
            <a:r>
              <a:rPr lang="en-GB" dirty="0" smtClean="0"/>
              <a:t>It </a:t>
            </a:r>
            <a:r>
              <a:rPr lang="en-GB" dirty="0"/>
              <a:t>is used as an expression to choose tuples which meet the selection condition. </a:t>
            </a:r>
            <a:endParaRPr lang="en-GB" dirty="0" smtClean="0"/>
          </a:p>
          <a:p>
            <a:r>
              <a:rPr lang="en-GB" dirty="0" smtClean="0"/>
              <a:t>Select </a:t>
            </a:r>
            <a:r>
              <a:rPr lang="en-GB" dirty="0"/>
              <a:t>operator selects tuples that satisfy a given predicate.</a:t>
            </a:r>
          </a:p>
        </p:txBody>
      </p:sp>
    </p:spTree>
    <p:extLst>
      <p:ext uri="{BB962C8B-B14F-4D97-AF65-F5344CB8AC3E}">
        <p14:creationId xmlns:p14="http://schemas.microsoft.com/office/powerpoint/2010/main" val="3784626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SELECT (</a:t>
            </a:r>
            <a:r>
              <a:rPr lang="el-GR" b="1" dirty="0"/>
              <a:t>σ)</a:t>
            </a:r>
            <a:endParaRPr lang="en-GB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746216" y="1444048"/>
            <a:ext cx="7261316" cy="341632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b="0" i="0" u="none" strike="noStrike" cap="none" normalizeH="0" baseline="0" dirty="0" err="1" smtClean="0">
                <a:ln>
                  <a:noFill/>
                </a:ln>
                <a:solidFill>
                  <a:srgbClr val="9C1D3D"/>
                </a:solidFill>
                <a:effectLst/>
                <a:latin typeface="Menlo"/>
              </a:rPr>
              <a:t>σ</a:t>
            </a:r>
            <a:r>
              <a:rPr kumimoji="0" lang="en-US" altLang="en-US" sz="3600" b="0" i="0" u="none" strike="noStrike" cap="none" normalizeH="0" baseline="-30000" dirty="0" err="1" smtClean="0">
                <a:ln>
                  <a:noFill/>
                </a:ln>
                <a:solidFill>
                  <a:srgbClr val="9C1D3D"/>
                </a:solidFill>
                <a:effectLst/>
                <a:latin typeface="Menlo"/>
              </a:rPr>
              <a:t>p</a:t>
            </a:r>
            <a:r>
              <a:rPr kumimoji="0" lang="en-US" altLang="en-US" sz="3600" b="0" i="0" u="none" strike="noStrike" cap="none" normalizeH="0" baseline="0" dirty="0" smtClean="0">
                <a:ln>
                  <a:noFill/>
                </a:ln>
                <a:solidFill>
                  <a:srgbClr val="9C1D3D"/>
                </a:solidFill>
                <a:effectLst/>
                <a:latin typeface="Menlo"/>
              </a:rPr>
              <a:t>(r)</a:t>
            </a:r>
          </a:p>
          <a:p>
            <a:pPr marL="0" marR="0" lvl="0" indent="0" algn="l" defTabSz="914400" rtl="0" eaLnBrk="0" fontAlgn="b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b="0" i="0" u="none" strike="noStrike" cap="none" normalizeH="0" baseline="0" dirty="0" smtClean="0">
                <a:ln>
                  <a:noFill/>
                </a:ln>
                <a:solidFill>
                  <a:srgbClr val="9C1D3D"/>
                </a:solidFill>
                <a:effectLst/>
                <a:latin typeface="Menlo"/>
              </a:rPr>
              <a:t>σ</a:t>
            </a:r>
            <a:r>
              <a:rPr kumimoji="0" lang="en-US" altLang="en-US" sz="3600" b="0" i="0" u="none" strike="noStrike" cap="none" normalizeH="0" baseline="0" dirty="0" smtClean="0">
                <a:ln>
                  <a:noFill/>
                </a:ln>
                <a:solidFill>
                  <a:srgbClr val="222222"/>
                </a:solidFill>
                <a:effectLst/>
                <a:latin typeface="Source Sans Pro"/>
              </a:rPr>
              <a:t> is the predicate</a:t>
            </a:r>
            <a:endParaRPr kumimoji="0" lang="en-US" altLang="en-US" sz="3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b="0" i="0" u="none" strike="noStrike" cap="none" normalizeH="0" baseline="0" dirty="0" smtClean="0">
                <a:ln>
                  <a:noFill/>
                </a:ln>
                <a:solidFill>
                  <a:srgbClr val="9C1D3D"/>
                </a:solidFill>
                <a:effectLst/>
                <a:latin typeface="Menlo"/>
              </a:rPr>
              <a:t>r</a:t>
            </a:r>
            <a:r>
              <a:rPr kumimoji="0" lang="en-US" altLang="en-US" sz="3600" b="0" i="0" u="none" strike="noStrike" cap="none" normalizeH="0" baseline="0" dirty="0" smtClean="0">
                <a:ln>
                  <a:noFill/>
                </a:ln>
                <a:solidFill>
                  <a:srgbClr val="222222"/>
                </a:solidFill>
                <a:effectLst/>
                <a:latin typeface="Source Sans Pro"/>
              </a:rPr>
              <a:t> stands for relation which is the name of the table</a:t>
            </a:r>
            <a:endParaRPr kumimoji="0" lang="en-US" altLang="en-US" sz="3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b="0" i="0" u="none" strike="noStrike" cap="none" normalizeH="0" baseline="0" dirty="0" smtClean="0">
                <a:ln>
                  <a:noFill/>
                </a:ln>
                <a:solidFill>
                  <a:srgbClr val="9C1D3D"/>
                </a:solidFill>
                <a:effectLst/>
                <a:latin typeface="Menlo"/>
              </a:rPr>
              <a:t>p</a:t>
            </a:r>
            <a:r>
              <a:rPr kumimoji="0" lang="en-US" altLang="en-US" sz="3600" b="0" i="0" u="none" strike="noStrike" cap="none" normalizeH="0" baseline="0" dirty="0" smtClean="0">
                <a:ln>
                  <a:noFill/>
                </a:ln>
                <a:solidFill>
                  <a:srgbClr val="222222"/>
                </a:solidFill>
                <a:effectLst/>
                <a:latin typeface="Source Sans Pro"/>
              </a:rPr>
              <a:t> is prepositional logic</a:t>
            </a:r>
            <a:endParaRPr kumimoji="0" lang="en-US" altLang="en-US" sz="3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733153" y="5167312"/>
            <a:ext cx="6124847" cy="52322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222222"/>
                </a:solidFill>
                <a:effectLst/>
                <a:latin typeface="Monaco"/>
              </a:rPr>
              <a:t>σ </a:t>
            </a:r>
            <a:r>
              <a:rPr kumimoji="0" lang="en-US" altLang="en-US" sz="2800" b="0" i="0" u="none" strike="noStrike" cap="none" normalizeH="0" baseline="-30000" dirty="0" smtClean="0">
                <a:ln>
                  <a:noFill/>
                </a:ln>
                <a:solidFill>
                  <a:srgbClr val="222222"/>
                </a:solidFill>
                <a:effectLst/>
                <a:latin typeface="Monaco"/>
              </a:rPr>
              <a:t>topic = "Database"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222222"/>
                </a:solidFill>
                <a:effectLst/>
                <a:latin typeface="Monaco"/>
              </a:rPr>
              <a:t> (Tutorials)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96387" y="5997476"/>
            <a:ext cx="680574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222222"/>
                </a:solidFill>
                <a:latin typeface="Source Sans Pro"/>
              </a:rPr>
              <a:t> Selects tuples from Tutorials where topic = 'Database'.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313028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Selects tuples from Tutorials where the topic is 'Database' and 'author' is </a:t>
            </a:r>
            <a:r>
              <a:rPr lang="en-GB" dirty="0" smtClean="0"/>
              <a:t>peter.</a:t>
            </a:r>
          </a:p>
          <a:p>
            <a:endParaRPr lang="en-US" dirty="0"/>
          </a:p>
          <a:p>
            <a:r>
              <a:rPr lang="en-US" altLang="en-US" dirty="0">
                <a:solidFill>
                  <a:srgbClr val="222222"/>
                </a:solidFill>
                <a:latin typeface="Monaco"/>
              </a:rPr>
              <a:t>σ </a:t>
            </a:r>
            <a:r>
              <a:rPr lang="en-US" altLang="en-US" baseline="-30000" dirty="0">
                <a:solidFill>
                  <a:srgbClr val="222222"/>
                </a:solidFill>
                <a:latin typeface="Monaco"/>
              </a:rPr>
              <a:t>topic = "Database" and author = </a:t>
            </a:r>
            <a:r>
              <a:rPr lang="en-US" altLang="en-US" baseline="-30000" dirty="0" smtClean="0">
                <a:solidFill>
                  <a:srgbClr val="222222"/>
                </a:solidFill>
                <a:latin typeface="Monaco"/>
              </a:rPr>
              <a:t>“peter"</a:t>
            </a:r>
            <a:r>
              <a:rPr lang="en-US" altLang="en-US" dirty="0" smtClean="0">
                <a:solidFill>
                  <a:srgbClr val="222222"/>
                </a:solidFill>
                <a:latin typeface="Monaco"/>
              </a:rPr>
              <a:t>( </a:t>
            </a:r>
            <a:r>
              <a:rPr lang="en-US" altLang="en-US" dirty="0">
                <a:solidFill>
                  <a:srgbClr val="222222"/>
                </a:solidFill>
                <a:latin typeface="Monaco"/>
              </a:rPr>
              <a:t>Tutorials) </a:t>
            </a:r>
            <a:r>
              <a:rPr lang="en-US" altLang="en-US" sz="2000" dirty="0"/>
              <a:t/>
            </a:r>
            <a:br>
              <a:rPr lang="en-US" altLang="en-US" sz="2000" dirty="0"/>
            </a:br>
            <a:endParaRPr lang="en-US" altLang="en-US" sz="5400" dirty="0">
              <a:latin typeface="Arial" panose="020B0604020202020204" pitchFamily="34" charset="0"/>
            </a:endParaRPr>
          </a:p>
          <a:p>
            <a:r>
              <a:rPr lang="en-GB" dirty="0"/>
              <a:t>Selects tuples from Customers where sales is greater than </a:t>
            </a:r>
            <a:r>
              <a:rPr lang="en-GB" dirty="0" smtClean="0"/>
              <a:t>50000</a:t>
            </a:r>
          </a:p>
          <a:p>
            <a:r>
              <a:rPr lang="en-US" altLang="en-US" dirty="0">
                <a:solidFill>
                  <a:srgbClr val="222222"/>
                </a:solidFill>
                <a:latin typeface="Monaco"/>
              </a:rPr>
              <a:t>σ </a:t>
            </a:r>
            <a:r>
              <a:rPr lang="en-US" altLang="en-US" baseline="-30000" dirty="0">
                <a:solidFill>
                  <a:srgbClr val="222222"/>
                </a:solidFill>
                <a:latin typeface="Monaco"/>
              </a:rPr>
              <a:t>sales &gt; 50000 </a:t>
            </a:r>
            <a:r>
              <a:rPr lang="en-US" altLang="en-US" dirty="0">
                <a:solidFill>
                  <a:srgbClr val="222222"/>
                </a:solidFill>
                <a:latin typeface="Monaco"/>
              </a:rPr>
              <a:t>(Customers)</a:t>
            </a:r>
            <a:r>
              <a:rPr lang="en-US" altLang="en-US" sz="2000" dirty="0"/>
              <a:t> </a:t>
            </a:r>
            <a:endParaRPr lang="en-US" altLang="en-US" sz="5400" dirty="0">
              <a:latin typeface="Arial" panose="020B0604020202020204" pitchFamily="34" charset="0"/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08368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Projection(</a:t>
            </a:r>
            <a:r>
              <a:rPr lang="el-GR" b="1" dirty="0"/>
              <a:t>π</a:t>
            </a:r>
            <a:r>
              <a:rPr lang="el-GR" b="1" dirty="0" smtClean="0"/>
              <a:t>)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GB" dirty="0"/>
              <a:t>This helps to extract the values of specified attributes to eliminates duplicate values. </a:t>
            </a:r>
            <a:endParaRPr lang="en-GB" dirty="0" smtClean="0"/>
          </a:p>
          <a:p>
            <a:r>
              <a:rPr lang="en-GB" dirty="0" smtClean="0"/>
              <a:t>(</a:t>
            </a:r>
            <a:r>
              <a:rPr lang="en-GB" dirty="0"/>
              <a:t>pi) symbol is used to choose attributes from a relation. </a:t>
            </a:r>
            <a:endParaRPr lang="en-GB" dirty="0" smtClean="0"/>
          </a:p>
          <a:p>
            <a:r>
              <a:rPr lang="en-GB" dirty="0" smtClean="0"/>
              <a:t>This </a:t>
            </a:r>
            <a:r>
              <a:rPr lang="en-GB" dirty="0"/>
              <a:t>operator helps you to keep specific columns from a relation and discards the other columns</a:t>
            </a:r>
            <a:r>
              <a:rPr lang="en-GB" dirty="0" smtClean="0"/>
              <a:t>.</a:t>
            </a:r>
          </a:p>
          <a:p>
            <a:endParaRPr lang="en-US" dirty="0"/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Notation − ∏</a:t>
            </a:r>
            <a:r>
              <a:rPr lang="en-US" altLang="en-US" sz="1900" baseline="-30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A1, A2, An</a:t>
            </a: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(r)</a:t>
            </a:r>
            <a:endParaRPr lang="en-US" altLang="en-US" sz="1400" dirty="0"/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Where A</a:t>
            </a:r>
            <a:r>
              <a:rPr lang="en-US" altLang="en-US" sz="800" baseline="-30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A</a:t>
            </a:r>
            <a:r>
              <a:rPr lang="en-US" altLang="en-US" sz="800" baseline="-30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, A</a:t>
            </a:r>
            <a:r>
              <a:rPr lang="en-US" altLang="en-US" sz="800" baseline="-30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are attribute names of relation </a:t>
            </a:r>
            <a:r>
              <a:rPr lang="en-US" altLang="en-US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altLang="en-US" sz="1400" dirty="0"/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Duplicate rows are automatically eliminated, as relation is a set.</a:t>
            </a:r>
            <a:endParaRPr lang="en-US" altLang="en-US" sz="4000" dirty="0">
              <a:latin typeface="Arial" panose="020B0604020202020204" pitchFamily="34" charset="0"/>
            </a:endParaRPr>
          </a:p>
          <a:p>
            <a:endParaRPr lang="en-GB" dirty="0" smtClean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363153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Consider the following </a:t>
            </a:r>
            <a:r>
              <a:rPr lang="en-GB" dirty="0" smtClean="0"/>
              <a:t>table</a:t>
            </a:r>
            <a:endParaRPr lang="en-GB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06616877"/>
              </p:ext>
            </p:extLst>
          </p:nvPr>
        </p:nvGraphicFramePr>
        <p:xfrm>
          <a:off x="628650" y="1825625"/>
          <a:ext cx="7886700" cy="213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95450631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50982075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7590181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GB" b="1" dirty="0" err="1">
                          <a:effectLst/>
                        </a:rPr>
                        <a:t>CustomerID</a:t>
                      </a:r>
                      <a:endParaRPr lang="en-GB" b="1" dirty="0">
                        <a:effectLst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b="1">
                          <a:effectLst/>
                        </a:rPr>
                        <a:t>CustomerName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b="1">
                          <a:effectLst/>
                        </a:rPr>
                        <a:t>Status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10053819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GB" dirty="0">
                          <a:effectLst/>
                        </a:rPr>
                        <a:t>1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dirty="0">
                          <a:effectLst/>
                        </a:rPr>
                        <a:t>Google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>
                          <a:effectLst/>
                        </a:rPr>
                        <a:t>Active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26772416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GB">
                          <a:effectLst/>
                        </a:rPr>
                        <a:t>2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dirty="0">
                          <a:effectLst/>
                        </a:rPr>
                        <a:t>Amazon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dirty="0">
                          <a:effectLst/>
                        </a:rPr>
                        <a:t>Active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15142233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GB">
                          <a:effectLst/>
                        </a:rPr>
                        <a:t>3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dirty="0">
                          <a:effectLst/>
                        </a:rPr>
                        <a:t>Apple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>
                          <a:effectLst/>
                        </a:rPr>
                        <a:t>Inactive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15570770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GB">
                          <a:effectLst/>
                        </a:rPr>
                        <a:t>4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dirty="0">
                          <a:effectLst/>
                        </a:rPr>
                        <a:t>Alibaba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dirty="0">
                          <a:effectLst/>
                        </a:rPr>
                        <a:t>Active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31871492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82555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222222"/>
                </a:solidFill>
                <a:latin typeface="Monaco"/>
              </a:rPr>
              <a:t>Π </a:t>
            </a:r>
            <a:r>
              <a:rPr lang="en-US" altLang="en-US" baseline="-30000" dirty="0" err="1">
                <a:solidFill>
                  <a:srgbClr val="222222"/>
                </a:solidFill>
                <a:latin typeface="Monaco"/>
              </a:rPr>
              <a:t>CustomerName</a:t>
            </a:r>
            <a:r>
              <a:rPr lang="en-US" altLang="en-US" baseline="-30000" dirty="0">
                <a:solidFill>
                  <a:srgbClr val="222222"/>
                </a:solidFill>
                <a:latin typeface="Monaco"/>
              </a:rPr>
              <a:t>, Status </a:t>
            </a:r>
            <a:r>
              <a:rPr lang="en-US" altLang="en-US" dirty="0">
                <a:solidFill>
                  <a:srgbClr val="222222"/>
                </a:solidFill>
                <a:latin typeface="Monaco"/>
              </a:rPr>
              <a:t>(Customers)</a:t>
            </a:r>
            <a:r>
              <a:rPr lang="en-US" altLang="en-US" sz="2000" dirty="0"/>
              <a:t> </a:t>
            </a:r>
            <a:endParaRPr lang="en-US" altLang="en-US" sz="5400" dirty="0">
              <a:latin typeface="Arial" panose="020B0604020202020204" pitchFamily="34" charset="0"/>
            </a:endParaRPr>
          </a:p>
          <a:p>
            <a:endParaRPr lang="en-GB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162300" y="2797334"/>
          <a:ext cx="3904706" cy="2133600"/>
        </p:xfrm>
        <a:graphic>
          <a:graphicData uri="http://schemas.openxmlformats.org/drawingml/2006/table">
            <a:tbl>
              <a:tblPr/>
              <a:tblGrid>
                <a:gridCol w="1952353">
                  <a:extLst>
                    <a:ext uri="{9D8B030D-6E8A-4147-A177-3AD203B41FA5}">
                      <a16:colId xmlns:a16="http://schemas.microsoft.com/office/drawing/2014/main" val="1678143378"/>
                    </a:ext>
                  </a:extLst>
                </a:gridCol>
                <a:gridCol w="1952353">
                  <a:extLst>
                    <a:ext uri="{9D8B030D-6E8A-4147-A177-3AD203B41FA5}">
                      <a16:colId xmlns:a16="http://schemas.microsoft.com/office/drawing/2014/main" val="109655468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GB" b="1">
                          <a:effectLst/>
                        </a:rPr>
                        <a:t>CustomerName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485A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85A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b="1">
                          <a:effectLst/>
                        </a:rPr>
                        <a:t>Status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485A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AB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80542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GB">
                          <a:effectLst/>
                        </a:rPr>
                        <a:t>Google</a:t>
                      </a: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F8A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AF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>
                          <a:effectLst/>
                        </a:rPr>
                        <a:t>Active</a:t>
                      </a: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70AF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A8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52751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GB">
                          <a:effectLst/>
                        </a:rPr>
                        <a:t>Amazon</a:t>
                      </a: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80A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A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>
                          <a:effectLst/>
                        </a:rPr>
                        <a:t>Active</a:t>
                      </a: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50A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21243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GB">
                          <a:effectLst/>
                        </a:rPr>
                        <a:t>Apple</a:t>
                      </a: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50A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AF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>
                          <a:effectLst/>
                        </a:rPr>
                        <a:t>Inactive</a:t>
                      </a: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88AF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19003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GB">
                          <a:effectLst/>
                        </a:rPr>
                        <a:t>Alibaba</a:t>
                      </a: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F0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B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AF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dirty="0">
                          <a:effectLst/>
                        </a:rPr>
                        <a:t>Active</a:t>
                      </a: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38B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AF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06364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144500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display the </a:t>
            </a:r>
            <a:r>
              <a:rPr lang="en-GB" dirty="0" err="1"/>
              <a:t>customerid,customername</a:t>
            </a:r>
            <a:r>
              <a:rPr lang="en-GB" dirty="0"/>
              <a:t> from customers where the status is </a:t>
            </a:r>
            <a:r>
              <a:rPr lang="en-GB" dirty="0" smtClean="0"/>
              <a:t>inactive</a:t>
            </a:r>
          </a:p>
          <a:p>
            <a:endParaRPr lang="en-US" dirty="0"/>
          </a:p>
          <a:p>
            <a:r>
              <a:rPr lang="en-GB" b="1" dirty="0"/>
              <a:t>π </a:t>
            </a:r>
            <a:r>
              <a:rPr lang="en-GB" b="1" dirty="0" err="1"/>
              <a:t>customerid,customername</a:t>
            </a:r>
            <a:r>
              <a:rPr lang="en-GB" b="1" dirty="0"/>
              <a:t> (σ status ="inactive"(customers))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979084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 smtClean="0"/>
              <a:t>Set Operations – </a:t>
            </a:r>
            <a:br>
              <a:rPr lang="en-US" dirty="0" smtClean="0"/>
            </a:br>
            <a:r>
              <a:rPr lang="en-GB" b="1" dirty="0" smtClean="0"/>
              <a:t>Union </a:t>
            </a:r>
            <a:r>
              <a:rPr lang="en-GB" b="1" dirty="0"/>
              <a:t>operation (</a:t>
            </a:r>
            <a:r>
              <a:rPr lang="el-GR" b="1" dirty="0"/>
              <a:t>υ</a:t>
            </a:r>
            <a:r>
              <a:rPr lang="el-GR" b="1" dirty="0" smtClean="0"/>
              <a:t>)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UNION is symbolized by ∪ symbol. </a:t>
            </a:r>
            <a:endParaRPr lang="en-GB" dirty="0" smtClean="0"/>
          </a:p>
          <a:p>
            <a:r>
              <a:rPr lang="en-GB" dirty="0" smtClean="0"/>
              <a:t>It </a:t>
            </a:r>
            <a:r>
              <a:rPr lang="en-GB" dirty="0"/>
              <a:t>includes all tuples that are in tables A or in B. </a:t>
            </a:r>
            <a:endParaRPr lang="en-GB" dirty="0" smtClean="0"/>
          </a:p>
          <a:p>
            <a:r>
              <a:rPr lang="en-GB" dirty="0" smtClean="0"/>
              <a:t>It </a:t>
            </a:r>
            <a:r>
              <a:rPr lang="en-GB" dirty="0"/>
              <a:t>also eliminates duplicate tuples. </a:t>
            </a:r>
            <a:endParaRPr lang="en-GB" dirty="0" smtClean="0"/>
          </a:p>
          <a:p>
            <a:r>
              <a:rPr lang="en-GB" dirty="0" smtClean="0"/>
              <a:t>So</a:t>
            </a:r>
            <a:r>
              <a:rPr lang="en-GB" dirty="0"/>
              <a:t>, set A </a:t>
            </a:r>
            <a:r>
              <a:rPr lang="en-GB" dirty="0" err="1" smtClean="0"/>
              <a:t>UaNION</a:t>
            </a:r>
            <a:r>
              <a:rPr lang="en-GB" dirty="0" smtClean="0"/>
              <a:t> </a:t>
            </a:r>
            <a:r>
              <a:rPr lang="en-GB" dirty="0"/>
              <a:t>set B would be expressed </a:t>
            </a:r>
            <a:r>
              <a:rPr lang="en-GB" dirty="0" smtClean="0"/>
              <a:t>as: AUB</a:t>
            </a:r>
          </a:p>
          <a:p>
            <a:r>
              <a:rPr lang="en-GB" dirty="0"/>
              <a:t>For a union operation to be valid, the following conditions must hold -</a:t>
            </a:r>
          </a:p>
          <a:p>
            <a:r>
              <a:rPr lang="en-GB" dirty="0"/>
              <a:t>R and S must be the same number of attributes.</a:t>
            </a:r>
          </a:p>
          <a:p>
            <a:r>
              <a:rPr lang="en-GB" dirty="0"/>
              <a:t>Attribute domains need to be compatible.</a:t>
            </a:r>
          </a:p>
          <a:p>
            <a:r>
              <a:rPr lang="en-GB" dirty="0"/>
              <a:t>Duplicate tuples should be automatically removed.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895191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Consider the following Tables</a:t>
            </a:r>
            <a:endParaRPr lang="en-GB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86817383"/>
              </p:ext>
            </p:extLst>
          </p:nvPr>
        </p:nvGraphicFramePr>
        <p:xfrm>
          <a:off x="941885" y="1586842"/>
          <a:ext cx="7692663" cy="2743200"/>
        </p:xfrm>
        <a:graphic>
          <a:graphicData uri="http://schemas.openxmlformats.org/drawingml/2006/table">
            <a:tbl>
              <a:tblPr/>
              <a:tblGrid>
                <a:gridCol w="1722154">
                  <a:extLst>
                    <a:ext uri="{9D8B030D-6E8A-4147-A177-3AD203B41FA5}">
                      <a16:colId xmlns:a16="http://schemas.microsoft.com/office/drawing/2014/main" val="1486415247"/>
                    </a:ext>
                  </a:extLst>
                </a:gridCol>
                <a:gridCol w="1613278">
                  <a:extLst>
                    <a:ext uri="{9D8B030D-6E8A-4147-A177-3AD203B41FA5}">
                      <a16:colId xmlns:a16="http://schemas.microsoft.com/office/drawing/2014/main" val="1127617551"/>
                    </a:ext>
                  </a:extLst>
                </a:gridCol>
                <a:gridCol w="1280166">
                  <a:extLst>
                    <a:ext uri="{9D8B030D-6E8A-4147-A177-3AD203B41FA5}">
                      <a16:colId xmlns:a16="http://schemas.microsoft.com/office/drawing/2014/main" val="3372198364"/>
                    </a:ext>
                  </a:extLst>
                </a:gridCol>
                <a:gridCol w="1711983">
                  <a:extLst>
                    <a:ext uri="{9D8B030D-6E8A-4147-A177-3AD203B41FA5}">
                      <a16:colId xmlns:a16="http://schemas.microsoft.com/office/drawing/2014/main" val="3411488048"/>
                    </a:ext>
                  </a:extLst>
                </a:gridCol>
                <a:gridCol w="1365082">
                  <a:extLst>
                    <a:ext uri="{9D8B030D-6E8A-4147-A177-3AD203B41FA5}">
                      <a16:colId xmlns:a16="http://schemas.microsoft.com/office/drawing/2014/main" val="93044178"/>
                    </a:ext>
                  </a:extLst>
                </a:gridCol>
              </a:tblGrid>
              <a:tr h="550110">
                <a:tc gridSpan="2">
                  <a:txBody>
                    <a:bodyPr/>
                    <a:lstStyle/>
                    <a:p>
                      <a:pPr algn="ctr" fontAlgn="t"/>
                      <a:r>
                        <a:rPr lang="en-GB" sz="2800" b="1" dirty="0">
                          <a:effectLst/>
                        </a:rPr>
                        <a:t>Table A</a:t>
                      </a:r>
                      <a:endParaRPr lang="en-GB" sz="2800" dirty="0">
                        <a:effectLst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3067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66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endParaRPr lang="en-GB" sz="2800">
                        <a:effectLst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8866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6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t"/>
                      <a:r>
                        <a:rPr lang="en-GB" sz="2800" b="1" dirty="0">
                          <a:effectLst/>
                        </a:rPr>
                        <a:t>Table B</a:t>
                      </a:r>
                      <a:endParaRPr lang="en-GB" sz="2800" dirty="0">
                        <a:effectLst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206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66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2540299"/>
                  </a:ext>
                </a:extLst>
              </a:tr>
              <a:tr h="903752">
                <a:tc>
                  <a:txBody>
                    <a:bodyPr/>
                    <a:lstStyle/>
                    <a:p>
                      <a:pPr algn="ctr" fontAlgn="t"/>
                      <a:r>
                        <a:rPr lang="en-GB" sz="2800" b="1" dirty="0">
                          <a:effectLst/>
                        </a:rPr>
                        <a:t>column 1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886D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86C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GB" sz="2800" b="1" dirty="0">
                          <a:effectLst/>
                        </a:rPr>
                        <a:t>column 2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486C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86F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endParaRPr lang="en-GB" sz="2800" b="1" dirty="0">
                        <a:effectLst/>
                      </a:endParaRP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086F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871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GB" sz="2800" b="1" dirty="0">
                          <a:effectLst/>
                        </a:rPr>
                        <a:t>column 1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8871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871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GB" sz="2800" b="1" dirty="0">
                          <a:effectLst/>
                        </a:rPr>
                        <a:t>column 2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8871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66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5965345"/>
                  </a:ext>
                </a:extLst>
              </a:tr>
              <a:tr h="550110">
                <a:tc>
                  <a:txBody>
                    <a:bodyPr/>
                    <a:lstStyle/>
                    <a:p>
                      <a:pPr algn="ctr" fontAlgn="t"/>
                      <a:r>
                        <a:rPr lang="en-US" sz="2800" dirty="0" smtClean="0">
                          <a:effectLst/>
                        </a:rPr>
                        <a:t>1</a:t>
                      </a:r>
                      <a:endParaRPr lang="en-GB" sz="2800" dirty="0">
                        <a:effectLst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C064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64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GB" sz="2800" dirty="0">
                          <a:effectLst/>
                        </a:rPr>
                        <a:t>1</a:t>
                      </a: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4864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86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endParaRPr lang="en-GB" sz="2800" dirty="0">
                        <a:effectLst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986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6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GB" sz="2800" dirty="0">
                          <a:effectLst/>
                        </a:rPr>
                        <a:t>1</a:t>
                      </a: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386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64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GB" sz="2800" dirty="0">
                          <a:effectLst/>
                        </a:rPr>
                        <a:t>1</a:t>
                      </a: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C064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64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5221445"/>
                  </a:ext>
                </a:extLst>
              </a:tr>
              <a:tr h="550110">
                <a:tc>
                  <a:txBody>
                    <a:bodyPr/>
                    <a:lstStyle/>
                    <a:p>
                      <a:pPr algn="ctr" fontAlgn="t"/>
                      <a:r>
                        <a:rPr lang="en-US" sz="2800" dirty="0" smtClean="0">
                          <a:effectLst/>
                        </a:rPr>
                        <a:t>1</a:t>
                      </a:r>
                      <a:endParaRPr lang="en-GB" sz="2800" dirty="0">
                        <a:effectLst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206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64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64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GB" sz="2800" dirty="0">
                          <a:effectLst/>
                        </a:rPr>
                        <a:t>2</a:t>
                      </a: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864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66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66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endParaRPr lang="en-GB" sz="2800" dirty="0">
                        <a:effectLst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E866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6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66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GB" sz="2800" dirty="0">
                          <a:effectLst/>
                        </a:rPr>
                        <a:t>1</a:t>
                      </a: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386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6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6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GB" sz="2800" dirty="0">
                          <a:effectLst/>
                        </a:rPr>
                        <a:t>3</a:t>
                      </a: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386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64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66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5060792"/>
                  </a:ext>
                </a:extLst>
              </a:tr>
            </a:tbl>
          </a:graphicData>
        </a:graphic>
      </p:graphicFrame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300" b="0" i="0" u="none" strike="noStrike" cap="none" normalizeH="0" baseline="0" smtClean="0">
                <a:ln>
                  <a:noFill/>
                </a:ln>
                <a:solidFill>
                  <a:srgbClr val="222222"/>
                </a:solidFill>
                <a:effectLst/>
                <a:latin typeface="Source Sans Pro"/>
              </a:rPr>
              <a:t>Consider the following tables.</a:t>
            </a:r>
            <a:endParaRPr kumimoji="0" lang="en-US" altLang="en-US" sz="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6623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8913" y="595018"/>
            <a:ext cx="4975316" cy="1325563"/>
          </a:xfrm>
        </p:spPr>
        <p:txBody>
          <a:bodyPr>
            <a:normAutofit/>
          </a:bodyPr>
          <a:lstStyle/>
          <a:p>
            <a:r>
              <a:rPr lang="en-US" sz="3200" dirty="0" smtClean="0"/>
              <a:t>Write the complete Values in Both A and B</a:t>
            </a:r>
            <a:endParaRPr lang="en-GB" sz="3200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55301617"/>
              </p:ext>
            </p:extLst>
          </p:nvPr>
        </p:nvGraphicFramePr>
        <p:xfrm>
          <a:off x="1098094" y="2176848"/>
          <a:ext cx="5106762" cy="3901440"/>
        </p:xfrm>
        <a:graphic>
          <a:graphicData uri="http://schemas.openxmlformats.org/drawingml/2006/table">
            <a:tbl>
              <a:tblPr/>
              <a:tblGrid>
                <a:gridCol w="2553381">
                  <a:extLst>
                    <a:ext uri="{9D8B030D-6E8A-4147-A177-3AD203B41FA5}">
                      <a16:colId xmlns:a16="http://schemas.microsoft.com/office/drawing/2014/main" val="356912177"/>
                    </a:ext>
                  </a:extLst>
                </a:gridCol>
                <a:gridCol w="2553381">
                  <a:extLst>
                    <a:ext uri="{9D8B030D-6E8A-4147-A177-3AD203B41FA5}">
                      <a16:colId xmlns:a16="http://schemas.microsoft.com/office/drawing/2014/main" val="2983037451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l" fontAlgn="t"/>
                      <a:r>
                        <a:rPr lang="en-GB" sz="2800" b="1" dirty="0">
                          <a:effectLst/>
                        </a:rPr>
                        <a:t>Table A ∪ </a:t>
                      </a:r>
                      <a:r>
                        <a:rPr lang="en-GB" sz="2800" b="1" dirty="0" smtClean="0">
                          <a:effectLst/>
                        </a:rPr>
                        <a:t>B  (Intermediate Result)</a:t>
                      </a:r>
                      <a:endParaRPr lang="en-GB" sz="2800" dirty="0">
                        <a:effectLst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98DF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DF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75033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t"/>
                      <a:r>
                        <a:rPr lang="en-GB" sz="2800" b="1" dirty="0">
                          <a:effectLst/>
                        </a:rPr>
                        <a:t>column 1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7077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077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GB" sz="2800" b="1" dirty="0">
                          <a:effectLst/>
                        </a:rPr>
                        <a:t>column 2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7077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DF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76797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t"/>
                      <a:r>
                        <a:rPr lang="en-GB" sz="2800" dirty="0">
                          <a:solidFill>
                            <a:srgbClr val="FF0000"/>
                          </a:solidFill>
                          <a:effectLst/>
                        </a:rPr>
                        <a:t>1</a:t>
                      </a: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486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6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GB" sz="2800" dirty="0">
                          <a:solidFill>
                            <a:srgbClr val="FF0000"/>
                          </a:solidFill>
                          <a:effectLst/>
                        </a:rPr>
                        <a:t>1</a:t>
                      </a: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706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DF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82729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t"/>
                      <a:r>
                        <a:rPr lang="en-GB" sz="2800" dirty="0">
                          <a:effectLst/>
                        </a:rPr>
                        <a:t>1</a:t>
                      </a: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A06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6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800" dirty="0" smtClean="0">
                          <a:effectLst/>
                        </a:rPr>
                        <a:t>1</a:t>
                      </a:r>
                      <a:endParaRPr lang="en-GB" sz="2800" dirty="0">
                        <a:effectLst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486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DF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66093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t"/>
                      <a:r>
                        <a:rPr lang="en-GB" sz="2800" dirty="0">
                          <a:effectLst/>
                        </a:rPr>
                        <a:t>1</a:t>
                      </a: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706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6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800" dirty="0" smtClean="0">
                          <a:effectLst/>
                        </a:rPr>
                        <a:t>2</a:t>
                      </a:r>
                      <a:endParaRPr lang="en-GB" sz="2800" dirty="0">
                        <a:effectLst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086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8DF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65518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t"/>
                      <a:r>
                        <a:rPr lang="en-US" sz="2800" dirty="0" smtClean="0">
                          <a:effectLst/>
                        </a:rPr>
                        <a:t>1</a:t>
                      </a:r>
                      <a:endParaRPr lang="en-GB" sz="2800" dirty="0">
                        <a:effectLst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706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6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8DF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800" dirty="0" smtClean="0">
                          <a:effectLst/>
                        </a:rPr>
                        <a:t>3</a:t>
                      </a:r>
                      <a:endParaRPr lang="en-GB" sz="2800" dirty="0">
                        <a:effectLst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086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8DF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DF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254442"/>
                  </a:ext>
                </a:extLst>
              </a:tr>
            </a:tbl>
          </a:graphicData>
        </a:graphic>
      </p:graphicFrame>
      <p:sp>
        <p:nvSpPr>
          <p:cNvPr id="6" name="Title 1"/>
          <p:cNvSpPr txBox="1">
            <a:spLocks/>
          </p:cNvSpPr>
          <p:nvPr/>
        </p:nvSpPr>
        <p:spPr>
          <a:xfrm>
            <a:off x="4978173" y="2794226"/>
            <a:ext cx="416582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32588784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Remove the </a:t>
            </a:r>
            <a:r>
              <a:rPr lang="en-US" dirty="0" smtClean="0"/>
              <a:t>Duplicates</a:t>
            </a:r>
            <a:endParaRPr lang="en-GB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4464797"/>
              </p:ext>
            </p:extLst>
          </p:nvPr>
        </p:nvGraphicFramePr>
        <p:xfrm>
          <a:off x="2757078" y="2547256"/>
          <a:ext cx="4923882" cy="3370217"/>
        </p:xfrm>
        <a:graphic>
          <a:graphicData uri="http://schemas.openxmlformats.org/drawingml/2006/table">
            <a:tbl>
              <a:tblPr/>
              <a:tblGrid>
                <a:gridCol w="2461941">
                  <a:extLst>
                    <a:ext uri="{9D8B030D-6E8A-4147-A177-3AD203B41FA5}">
                      <a16:colId xmlns:a16="http://schemas.microsoft.com/office/drawing/2014/main" val="1553644430"/>
                    </a:ext>
                  </a:extLst>
                </a:gridCol>
                <a:gridCol w="2461941">
                  <a:extLst>
                    <a:ext uri="{9D8B030D-6E8A-4147-A177-3AD203B41FA5}">
                      <a16:colId xmlns:a16="http://schemas.microsoft.com/office/drawing/2014/main" val="3015610814"/>
                    </a:ext>
                  </a:extLst>
                </a:gridCol>
              </a:tblGrid>
              <a:tr h="748937">
                <a:tc gridSpan="2">
                  <a:txBody>
                    <a:bodyPr/>
                    <a:lstStyle/>
                    <a:p>
                      <a:pPr algn="l" fontAlgn="t"/>
                      <a:r>
                        <a:rPr lang="en-GB" sz="3200" b="1" dirty="0">
                          <a:effectLst/>
                        </a:rPr>
                        <a:t>Table A ∪ </a:t>
                      </a:r>
                      <a:r>
                        <a:rPr lang="en-GB" sz="3200" b="1" dirty="0" smtClean="0">
                          <a:effectLst/>
                        </a:rPr>
                        <a:t>B (Final Result)</a:t>
                      </a:r>
                      <a:endParaRPr lang="en-GB" sz="3200" dirty="0">
                        <a:effectLst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903A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39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7474909"/>
                  </a:ext>
                </a:extLst>
              </a:tr>
              <a:tr h="655320">
                <a:tc>
                  <a:txBody>
                    <a:bodyPr/>
                    <a:lstStyle/>
                    <a:p>
                      <a:pPr algn="l" fontAlgn="t"/>
                      <a:r>
                        <a:rPr lang="en-GB" sz="3200" b="1" dirty="0">
                          <a:effectLst/>
                        </a:rPr>
                        <a:t>column 1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888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888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3200" b="1">
                          <a:effectLst/>
                        </a:rPr>
                        <a:t>column 2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888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3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4715203"/>
                  </a:ext>
                </a:extLst>
              </a:tr>
              <a:tr h="655320">
                <a:tc>
                  <a:txBody>
                    <a:bodyPr/>
                    <a:lstStyle/>
                    <a:p>
                      <a:pPr algn="l" fontAlgn="t"/>
                      <a:r>
                        <a:rPr lang="en-GB" sz="3200" dirty="0">
                          <a:effectLst/>
                        </a:rPr>
                        <a:t>1</a:t>
                      </a: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C03A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3A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3200" dirty="0">
                          <a:effectLst/>
                        </a:rPr>
                        <a:t>1</a:t>
                      </a: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83A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3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6469132"/>
                  </a:ext>
                </a:extLst>
              </a:tr>
              <a:tr h="655320">
                <a:tc>
                  <a:txBody>
                    <a:bodyPr/>
                    <a:lstStyle/>
                    <a:p>
                      <a:pPr algn="l" fontAlgn="t"/>
                      <a:r>
                        <a:rPr lang="en-GB" sz="3200" dirty="0">
                          <a:effectLst/>
                        </a:rPr>
                        <a:t>1</a:t>
                      </a: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83A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39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3200" dirty="0">
                          <a:effectLst/>
                        </a:rPr>
                        <a:t>2</a:t>
                      </a: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7039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3A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6379799"/>
                  </a:ext>
                </a:extLst>
              </a:tr>
              <a:tr h="655320">
                <a:tc>
                  <a:txBody>
                    <a:bodyPr/>
                    <a:lstStyle/>
                    <a:p>
                      <a:pPr algn="l" fontAlgn="t"/>
                      <a:r>
                        <a:rPr lang="en-GB" sz="3200" dirty="0">
                          <a:effectLst/>
                        </a:rPr>
                        <a:t>1</a:t>
                      </a: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503B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3A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3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3200" dirty="0">
                          <a:effectLst/>
                        </a:rPr>
                        <a:t>3</a:t>
                      </a: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C03A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39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3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29170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399487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Set Difference </a:t>
            </a:r>
            <a:r>
              <a:rPr lang="en-GB" b="1" dirty="0" smtClean="0"/>
              <a:t>(-)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- Symbol denotes it. </a:t>
            </a:r>
            <a:endParaRPr lang="en-GB" dirty="0" smtClean="0"/>
          </a:p>
          <a:p>
            <a:r>
              <a:rPr lang="en-GB" dirty="0" smtClean="0"/>
              <a:t>The </a:t>
            </a:r>
            <a:r>
              <a:rPr lang="en-GB" dirty="0"/>
              <a:t>result of A - B, is a relation which includes all tuples that are in A but not in B</a:t>
            </a:r>
            <a:r>
              <a:rPr lang="en-GB" dirty="0" smtClean="0"/>
              <a:t>.</a:t>
            </a:r>
          </a:p>
          <a:p>
            <a:r>
              <a:rPr lang="en-US" dirty="0" smtClean="0"/>
              <a:t>Rules</a:t>
            </a:r>
          </a:p>
          <a:p>
            <a:r>
              <a:rPr lang="en-GB" dirty="0"/>
              <a:t>The attribute name of A has to match with the attribute name in B.</a:t>
            </a:r>
          </a:p>
          <a:p>
            <a:r>
              <a:rPr lang="en-GB" dirty="0"/>
              <a:t>The two-operand relations A and B should be either compatible or Union compatible.</a:t>
            </a:r>
          </a:p>
          <a:p>
            <a:r>
              <a:rPr lang="en-GB" dirty="0"/>
              <a:t>It should be defined relation consisting of the tuples that are in relation A, but not in B.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890381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8913" y="595018"/>
            <a:ext cx="4975316" cy="1325563"/>
          </a:xfrm>
        </p:spPr>
        <p:txBody>
          <a:bodyPr>
            <a:normAutofit/>
          </a:bodyPr>
          <a:lstStyle/>
          <a:p>
            <a:r>
              <a:rPr lang="en-US" sz="3200" dirty="0" smtClean="0"/>
              <a:t>Write the complete Values in Both A and B</a:t>
            </a:r>
            <a:endParaRPr lang="en-GB" sz="3200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28568011"/>
              </p:ext>
            </p:extLst>
          </p:nvPr>
        </p:nvGraphicFramePr>
        <p:xfrm>
          <a:off x="1098094" y="2176848"/>
          <a:ext cx="5799094" cy="3840480"/>
        </p:xfrm>
        <a:graphic>
          <a:graphicData uri="http://schemas.openxmlformats.org/drawingml/2006/table">
            <a:tbl>
              <a:tblPr/>
              <a:tblGrid>
                <a:gridCol w="2899547">
                  <a:extLst>
                    <a:ext uri="{9D8B030D-6E8A-4147-A177-3AD203B41FA5}">
                      <a16:colId xmlns:a16="http://schemas.microsoft.com/office/drawing/2014/main" val="356912177"/>
                    </a:ext>
                  </a:extLst>
                </a:gridCol>
                <a:gridCol w="2899547">
                  <a:extLst>
                    <a:ext uri="{9D8B030D-6E8A-4147-A177-3AD203B41FA5}">
                      <a16:colId xmlns:a16="http://schemas.microsoft.com/office/drawing/2014/main" val="2983037451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l" fontAlgn="t"/>
                      <a:r>
                        <a:rPr lang="en-GB" sz="3200" b="1" dirty="0">
                          <a:effectLst/>
                        </a:rPr>
                        <a:t>Table A </a:t>
                      </a:r>
                      <a:r>
                        <a:rPr lang="en-GB" sz="3200" b="1" dirty="0" smtClean="0">
                          <a:effectLst/>
                        </a:rPr>
                        <a:t>- B  (Intermediate Result)</a:t>
                      </a:r>
                      <a:endParaRPr lang="en-GB" sz="3200" dirty="0">
                        <a:effectLst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98DF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DF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75033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GB" sz="3200" b="1" dirty="0">
                          <a:effectLst/>
                        </a:rPr>
                        <a:t>column 1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7077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077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3200" b="1" dirty="0">
                          <a:effectLst/>
                        </a:rPr>
                        <a:t>column 2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7077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DF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76797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GB" sz="3200" dirty="0">
                          <a:effectLst/>
                        </a:rPr>
                        <a:t>1</a:t>
                      </a: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486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6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3200" dirty="0">
                          <a:effectLst/>
                        </a:rPr>
                        <a:t>1</a:t>
                      </a: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706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DF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82729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GB" sz="3200" dirty="0">
                          <a:effectLst/>
                        </a:rPr>
                        <a:t>1</a:t>
                      </a: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A06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6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3200" dirty="0" smtClean="0">
                          <a:effectLst/>
                        </a:rPr>
                        <a:t>1</a:t>
                      </a:r>
                      <a:endParaRPr lang="en-GB" sz="3200" dirty="0">
                        <a:effectLst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486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DF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66093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GB" sz="3200" dirty="0">
                          <a:effectLst/>
                        </a:rPr>
                        <a:t>1</a:t>
                      </a: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706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6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3200" dirty="0" smtClean="0">
                          <a:effectLst/>
                        </a:rPr>
                        <a:t>2</a:t>
                      </a:r>
                      <a:endParaRPr lang="en-GB" sz="3200" dirty="0">
                        <a:effectLst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086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8DF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65518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sz="3200" dirty="0" smtClean="0">
                          <a:effectLst/>
                        </a:rPr>
                        <a:t>1</a:t>
                      </a:r>
                      <a:endParaRPr lang="en-GB" sz="3200" dirty="0">
                        <a:effectLst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706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6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8DF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3200" dirty="0" smtClean="0">
                          <a:effectLst/>
                        </a:rPr>
                        <a:t>3</a:t>
                      </a:r>
                      <a:endParaRPr lang="en-GB" sz="3200" dirty="0">
                        <a:effectLst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086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8DF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DF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254442"/>
                  </a:ext>
                </a:extLst>
              </a:tr>
            </a:tbl>
          </a:graphicData>
        </a:graphic>
      </p:graphicFrame>
      <p:sp>
        <p:nvSpPr>
          <p:cNvPr id="6" name="Title 1"/>
          <p:cNvSpPr txBox="1">
            <a:spLocks/>
          </p:cNvSpPr>
          <p:nvPr/>
        </p:nvSpPr>
        <p:spPr>
          <a:xfrm>
            <a:off x="4978173" y="2794226"/>
            <a:ext cx="416582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1217789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Keep only the values which is available in A and not in B</a:t>
            </a:r>
            <a:endParaRPr lang="en-GB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5759035"/>
              </p:ext>
            </p:extLst>
          </p:nvPr>
        </p:nvGraphicFramePr>
        <p:xfrm>
          <a:off x="2757078" y="2547256"/>
          <a:ext cx="4923882" cy="2059577"/>
        </p:xfrm>
        <a:graphic>
          <a:graphicData uri="http://schemas.openxmlformats.org/drawingml/2006/table">
            <a:tbl>
              <a:tblPr/>
              <a:tblGrid>
                <a:gridCol w="2461941">
                  <a:extLst>
                    <a:ext uri="{9D8B030D-6E8A-4147-A177-3AD203B41FA5}">
                      <a16:colId xmlns:a16="http://schemas.microsoft.com/office/drawing/2014/main" val="1553644430"/>
                    </a:ext>
                  </a:extLst>
                </a:gridCol>
                <a:gridCol w="2461941">
                  <a:extLst>
                    <a:ext uri="{9D8B030D-6E8A-4147-A177-3AD203B41FA5}">
                      <a16:colId xmlns:a16="http://schemas.microsoft.com/office/drawing/2014/main" val="3015610814"/>
                    </a:ext>
                  </a:extLst>
                </a:gridCol>
              </a:tblGrid>
              <a:tr h="748937">
                <a:tc gridSpan="2">
                  <a:txBody>
                    <a:bodyPr/>
                    <a:lstStyle/>
                    <a:p>
                      <a:pPr algn="l" fontAlgn="t"/>
                      <a:r>
                        <a:rPr lang="en-GB" sz="3200" b="1" dirty="0">
                          <a:effectLst/>
                        </a:rPr>
                        <a:t>Table A </a:t>
                      </a:r>
                      <a:r>
                        <a:rPr lang="en-GB" sz="3200" b="1" dirty="0" smtClean="0">
                          <a:effectLst/>
                        </a:rPr>
                        <a:t>- B (Final Result)</a:t>
                      </a:r>
                      <a:endParaRPr lang="en-GB" sz="3200" dirty="0">
                        <a:effectLst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903A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39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7474909"/>
                  </a:ext>
                </a:extLst>
              </a:tr>
              <a:tr h="655320">
                <a:tc>
                  <a:txBody>
                    <a:bodyPr/>
                    <a:lstStyle/>
                    <a:p>
                      <a:pPr algn="l" fontAlgn="t"/>
                      <a:r>
                        <a:rPr lang="en-GB" sz="3200" b="1" dirty="0">
                          <a:effectLst/>
                        </a:rPr>
                        <a:t>column 1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888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888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3200" b="1">
                          <a:effectLst/>
                        </a:rPr>
                        <a:t>column 2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888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3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4715203"/>
                  </a:ext>
                </a:extLst>
              </a:tr>
              <a:tr h="655320">
                <a:tc>
                  <a:txBody>
                    <a:bodyPr/>
                    <a:lstStyle/>
                    <a:p>
                      <a:pPr algn="l" fontAlgn="t"/>
                      <a:r>
                        <a:rPr lang="en-GB" sz="3200" dirty="0">
                          <a:effectLst/>
                        </a:rPr>
                        <a:t>1</a:t>
                      </a: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83A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39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3200" dirty="0">
                          <a:effectLst/>
                        </a:rPr>
                        <a:t>2</a:t>
                      </a: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7039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3A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63797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632582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smtClean="0"/>
              <a:t>Intersection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An intersection is defined by the symbol </a:t>
            </a:r>
            <a:r>
              <a:rPr lang="en-GB" dirty="0" smtClean="0"/>
              <a:t>∩</a:t>
            </a:r>
          </a:p>
          <a:p>
            <a:r>
              <a:rPr lang="en-GB" dirty="0"/>
              <a:t>A ∩ </a:t>
            </a:r>
            <a:r>
              <a:rPr lang="en-GB" dirty="0" smtClean="0"/>
              <a:t>B</a:t>
            </a:r>
          </a:p>
          <a:p>
            <a:r>
              <a:rPr lang="en-GB" dirty="0"/>
              <a:t>Defines a relation consisting of a set of all tuple that are in both A and B. However, A and B must be union-compatible.</a:t>
            </a:r>
          </a:p>
        </p:txBody>
      </p:sp>
      <p:pic>
        <p:nvPicPr>
          <p:cNvPr id="15362" name="Picture 2" descr="https://www.guru99.com/images/1/100518_0535_RelationalA4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1313" y="4237809"/>
            <a:ext cx="4829175" cy="1352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094476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8913" y="595018"/>
            <a:ext cx="4975316" cy="1325563"/>
          </a:xfrm>
        </p:spPr>
        <p:txBody>
          <a:bodyPr>
            <a:normAutofit/>
          </a:bodyPr>
          <a:lstStyle/>
          <a:p>
            <a:r>
              <a:rPr lang="en-US" sz="3200" dirty="0" smtClean="0"/>
              <a:t>Write the complete Values in Both A and B</a:t>
            </a:r>
            <a:endParaRPr lang="en-GB" sz="3200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16094281"/>
              </p:ext>
            </p:extLst>
          </p:nvPr>
        </p:nvGraphicFramePr>
        <p:xfrm>
          <a:off x="1098094" y="2176848"/>
          <a:ext cx="5799094" cy="4328160"/>
        </p:xfrm>
        <a:graphic>
          <a:graphicData uri="http://schemas.openxmlformats.org/drawingml/2006/table">
            <a:tbl>
              <a:tblPr/>
              <a:tblGrid>
                <a:gridCol w="2899547">
                  <a:extLst>
                    <a:ext uri="{9D8B030D-6E8A-4147-A177-3AD203B41FA5}">
                      <a16:colId xmlns:a16="http://schemas.microsoft.com/office/drawing/2014/main" val="356912177"/>
                    </a:ext>
                  </a:extLst>
                </a:gridCol>
                <a:gridCol w="2899547">
                  <a:extLst>
                    <a:ext uri="{9D8B030D-6E8A-4147-A177-3AD203B41FA5}">
                      <a16:colId xmlns:a16="http://schemas.microsoft.com/office/drawing/2014/main" val="2983037451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l" fontAlgn="t"/>
                      <a:r>
                        <a:rPr lang="en-GB" sz="3200" b="1" dirty="0">
                          <a:effectLst/>
                        </a:rPr>
                        <a:t>Table A </a:t>
                      </a:r>
                      <a:r>
                        <a:rPr lang="en-GB" sz="3200" dirty="0" smtClean="0"/>
                        <a:t>∩</a:t>
                      </a:r>
                      <a:r>
                        <a:rPr lang="en-GB" sz="3200" b="1" dirty="0" smtClean="0">
                          <a:effectLst/>
                        </a:rPr>
                        <a:t> B  (Intermediate Result)</a:t>
                      </a:r>
                      <a:endParaRPr lang="en-GB" sz="3200" dirty="0">
                        <a:effectLst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98DF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DF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75033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GB" sz="3200" b="1" dirty="0">
                          <a:effectLst/>
                        </a:rPr>
                        <a:t>column 1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7077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077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3200" b="1" dirty="0">
                          <a:effectLst/>
                        </a:rPr>
                        <a:t>column 2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7077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DF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76797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GB" sz="3200" dirty="0">
                          <a:effectLst/>
                        </a:rPr>
                        <a:t>1</a:t>
                      </a: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486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6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3200">
                          <a:effectLst/>
                        </a:rPr>
                        <a:t>1</a:t>
                      </a: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706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DF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82729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GB" sz="3200" dirty="0">
                          <a:effectLst/>
                        </a:rPr>
                        <a:t>1</a:t>
                      </a: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A06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6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3200" dirty="0" smtClean="0">
                          <a:effectLst/>
                        </a:rPr>
                        <a:t>1</a:t>
                      </a:r>
                      <a:endParaRPr lang="en-GB" sz="3200" dirty="0">
                        <a:effectLst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486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DF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66093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GB" sz="3200" dirty="0">
                          <a:effectLst/>
                        </a:rPr>
                        <a:t>1</a:t>
                      </a: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706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6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3200" dirty="0" smtClean="0">
                          <a:effectLst/>
                        </a:rPr>
                        <a:t>2</a:t>
                      </a:r>
                      <a:endParaRPr lang="en-GB" sz="3200" dirty="0">
                        <a:effectLst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086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8DF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65518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sz="3200" dirty="0" smtClean="0">
                          <a:effectLst/>
                        </a:rPr>
                        <a:t>1</a:t>
                      </a:r>
                      <a:endParaRPr lang="en-GB" sz="3200" dirty="0">
                        <a:effectLst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706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6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8DF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3200" dirty="0" smtClean="0">
                          <a:effectLst/>
                        </a:rPr>
                        <a:t>3</a:t>
                      </a:r>
                      <a:endParaRPr lang="en-GB" sz="3200" dirty="0">
                        <a:effectLst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086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8DF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DF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254442"/>
                  </a:ext>
                </a:extLst>
              </a:tr>
            </a:tbl>
          </a:graphicData>
        </a:graphic>
      </p:graphicFrame>
      <p:sp>
        <p:nvSpPr>
          <p:cNvPr id="6" name="Title 1"/>
          <p:cNvSpPr txBox="1">
            <a:spLocks/>
          </p:cNvSpPr>
          <p:nvPr/>
        </p:nvSpPr>
        <p:spPr>
          <a:xfrm>
            <a:off x="4978173" y="2794226"/>
            <a:ext cx="416582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37641656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Keep only the values which is available in </a:t>
            </a:r>
            <a:r>
              <a:rPr lang="en-US" dirty="0" smtClean="0"/>
              <a:t>Both A </a:t>
            </a:r>
            <a:r>
              <a:rPr lang="en-US" dirty="0"/>
              <a:t>and </a:t>
            </a:r>
            <a:r>
              <a:rPr lang="en-US" dirty="0" smtClean="0"/>
              <a:t>B</a:t>
            </a:r>
            <a:endParaRPr lang="en-GB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0767192"/>
              </p:ext>
            </p:extLst>
          </p:nvPr>
        </p:nvGraphicFramePr>
        <p:xfrm>
          <a:off x="2757078" y="2547256"/>
          <a:ext cx="4923882" cy="2059577"/>
        </p:xfrm>
        <a:graphic>
          <a:graphicData uri="http://schemas.openxmlformats.org/drawingml/2006/table">
            <a:tbl>
              <a:tblPr/>
              <a:tblGrid>
                <a:gridCol w="2461941">
                  <a:extLst>
                    <a:ext uri="{9D8B030D-6E8A-4147-A177-3AD203B41FA5}">
                      <a16:colId xmlns:a16="http://schemas.microsoft.com/office/drawing/2014/main" val="1553644430"/>
                    </a:ext>
                  </a:extLst>
                </a:gridCol>
                <a:gridCol w="2461941">
                  <a:extLst>
                    <a:ext uri="{9D8B030D-6E8A-4147-A177-3AD203B41FA5}">
                      <a16:colId xmlns:a16="http://schemas.microsoft.com/office/drawing/2014/main" val="3015610814"/>
                    </a:ext>
                  </a:extLst>
                </a:gridCol>
              </a:tblGrid>
              <a:tr h="748937">
                <a:tc gridSpan="2">
                  <a:txBody>
                    <a:bodyPr/>
                    <a:lstStyle/>
                    <a:p>
                      <a:pPr algn="l" fontAlgn="t"/>
                      <a:r>
                        <a:rPr lang="en-GB" sz="3200" b="1" dirty="0">
                          <a:effectLst/>
                        </a:rPr>
                        <a:t>Table A </a:t>
                      </a:r>
                      <a:r>
                        <a:rPr lang="en-GB" sz="3200" dirty="0" smtClean="0"/>
                        <a:t>∩</a:t>
                      </a:r>
                      <a:r>
                        <a:rPr lang="en-GB" sz="3200" b="1" dirty="0" smtClean="0">
                          <a:effectLst/>
                        </a:rPr>
                        <a:t> B (Final Result)</a:t>
                      </a:r>
                      <a:endParaRPr lang="en-GB" sz="3200" dirty="0">
                        <a:effectLst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903A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39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7474909"/>
                  </a:ext>
                </a:extLst>
              </a:tr>
              <a:tr h="655320">
                <a:tc>
                  <a:txBody>
                    <a:bodyPr/>
                    <a:lstStyle/>
                    <a:p>
                      <a:pPr algn="ctr" fontAlgn="t"/>
                      <a:r>
                        <a:rPr lang="en-GB" sz="3200" b="1" dirty="0">
                          <a:effectLst/>
                        </a:rPr>
                        <a:t>column 1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888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888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GB" sz="3200" b="1">
                          <a:effectLst/>
                        </a:rPr>
                        <a:t>column 2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888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3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4715203"/>
                  </a:ext>
                </a:extLst>
              </a:tr>
              <a:tr h="655320">
                <a:tc>
                  <a:txBody>
                    <a:bodyPr/>
                    <a:lstStyle/>
                    <a:p>
                      <a:pPr algn="ctr" fontAlgn="t"/>
                      <a:r>
                        <a:rPr lang="en-GB" sz="3200" dirty="0">
                          <a:effectLst/>
                        </a:rPr>
                        <a:t>1</a:t>
                      </a: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83A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39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3200" dirty="0" smtClean="0">
                          <a:effectLst/>
                        </a:rPr>
                        <a:t>1</a:t>
                      </a:r>
                      <a:endParaRPr lang="en-GB" sz="3200" dirty="0">
                        <a:effectLst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7039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3A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63797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177624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i="1" dirty="0"/>
              <a:t>Rename(ρ</a:t>
            </a:r>
            <a:r>
              <a:rPr lang="en-GB" b="1" i="1" dirty="0" smtClean="0"/>
              <a:t>)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b="1" i="1" dirty="0"/>
              <a:t> </a:t>
            </a:r>
            <a:r>
              <a:rPr lang="en-GB" dirty="0"/>
              <a:t>Rename operator is used to give another name to a relation. </a:t>
            </a:r>
            <a:endParaRPr lang="en-GB" dirty="0" smtClean="0"/>
          </a:p>
          <a:p>
            <a:r>
              <a:rPr lang="en-GB" dirty="0" smtClean="0"/>
              <a:t>Syntax:</a:t>
            </a:r>
          </a:p>
          <a:p>
            <a:r>
              <a:rPr lang="en-US" altLang="en-US" b="1" dirty="0" smtClean="0">
                <a:latin typeface="Consolas" panose="020B0609020204030204" pitchFamily="49" charset="0"/>
              </a:rPr>
              <a:t>ρ(</a:t>
            </a:r>
            <a:r>
              <a:rPr lang="en-US" altLang="en-US" b="1" dirty="0" err="1" smtClean="0">
                <a:latin typeface="Consolas" panose="020B0609020204030204" pitchFamily="49" charset="0"/>
              </a:rPr>
              <a:t>NewRelationname</a:t>
            </a:r>
            <a:r>
              <a:rPr lang="en-US" altLang="en-US" b="1" dirty="0" smtClean="0">
                <a:latin typeface="Consolas" panose="020B0609020204030204" pitchFamily="49" charset="0"/>
              </a:rPr>
              <a:t>, </a:t>
            </a:r>
            <a:r>
              <a:rPr lang="en-US" altLang="en-US" b="1" dirty="0" err="1" smtClean="0">
                <a:latin typeface="Consolas" panose="020B0609020204030204" pitchFamily="49" charset="0"/>
              </a:rPr>
              <a:t>OldRelationname</a:t>
            </a:r>
            <a:r>
              <a:rPr lang="en-US" altLang="en-US" b="1" dirty="0" smtClean="0">
                <a:latin typeface="Consolas" panose="020B0609020204030204" pitchFamily="49" charset="0"/>
              </a:rPr>
              <a:t>)</a:t>
            </a:r>
            <a:r>
              <a:rPr lang="en-US" altLang="en-US" sz="1600" dirty="0" smtClean="0"/>
              <a:t> </a:t>
            </a:r>
            <a:endParaRPr lang="en-US" altLang="en-US" sz="4400" dirty="0">
              <a:latin typeface="Arial" panose="020B0604020202020204" pitchFamily="34" charset="0"/>
            </a:endParaRPr>
          </a:p>
          <a:p>
            <a:pPr fontAlgn="base"/>
            <a:r>
              <a:rPr lang="en-GB" dirty="0"/>
              <a:t>To rename STUDENT relation to STUDENT1, we can use rename operator like:</a:t>
            </a:r>
          </a:p>
          <a:p>
            <a:r>
              <a:rPr lang="en-US" altLang="en-US" b="1" dirty="0">
                <a:latin typeface="Consolas" panose="020B0609020204030204" pitchFamily="49" charset="0"/>
              </a:rPr>
              <a:t>ρ(STUDENT1, STUDENT</a:t>
            </a:r>
            <a:r>
              <a:rPr lang="en-US" altLang="en-US" b="1" dirty="0" smtClean="0">
                <a:latin typeface="Consolas" panose="020B0609020204030204" pitchFamily="49" charset="0"/>
              </a:rPr>
              <a:t>)</a:t>
            </a:r>
          </a:p>
          <a:p>
            <a:r>
              <a:rPr lang="en-US" altLang="en-US" sz="1600" dirty="0"/>
              <a:t/>
            </a:r>
            <a:br>
              <a:rPr lang="en-US" altLang="en-US" sz="1600" dirty="0"/>
            </a:br>
            <a:r>
              <a:rPr lang="en-US" altLang="en-US" b="1" dirty="0" smtClean="0">
                <a:latin typeface="Consolas" panose="020B0609020204030204" pitchFamily="49" charset="0"/>
              </a:rPr>
              <a:t>ρ(S, </a:t>
            </a:r>
            <a:r>
              <a:rPr lang="en-US" altLang="en-US" b="1" dirty="0">
                <a:latin typeface="Consolas" panose="020B0609020204030204" pitchFamily="49" charset="0"/>
              </a:rPr>
              <a:t>STUDENT)</a:t>
            </a:r>
          </a:p>
          <a:p>
            <a:r>
              <a:rPr lang="en-GB" dirty="0"/>
              <a:t/>
            </a:r>
            <a:br>
              <a:rPr lang="en-GB" dirty="0"/>
            </a:br>
            <a:endParaRPr lang="en-GB" dirty="0" smtClean="0"/>
          </a:p>
          <a:p>
            <a:endParaRPr lang="en-GB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4571967" y="90100"/>
            <a:ext cx="65" cy="276999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4571967" y="90100"/>
            <a:ext cx="65" cy="276999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471366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If you want to create a relation STUDENT_NAMES with ROLL_NO and NAME from STUDENT, it can be done using rename operator as</a:t>
            </a:r>
            <a:r>
              <a:rPr lang="en-GB" dirty="0" smtClean="0"/>
              <a:t>:</a:t>
            </a:r>
          </a:p>
          <a:p>
            <a:endParaRPr lang="en-US" dirty="0"/>
          </a:p>
          <a:p>
            <a:r>
              <a:rPr lang="en-US" altLang="en-US" b="1" dirty="0">
                <a:latin typeface="Consolas" panose="020B0609020204030204" pitchFamily="49" charset="0"/>
              </a:rPr>
              <a:t>ρ(STUDENT_NAMES, ∏</a:t>
            </a:r>
            <a:r>
              <a:rPr lang="en-US" altLang="en-US" sz="1600" b="1" baseline="-30000" dirty="0">
                <a:latin typeface="Consolas" panose="020B0609020204030204" pitchFamily="49" charset="0"/>
              </a:rPr>
              <a:t>(ROLL_NO, NAME)</a:t>
            </a:r>
            <a:r>
              <a:rPr lang="en-US" altLang="en-US" b="1" dirty="0">
                <a:latin typeface="Consolas" panose="020B0609020204030204" pitchFamily="49" charset="0"/>
              </a:rPr>
              <a:t>(STUDENT</a:t>
            </a:r>
            <a:r>
              <a:rPr lang="en-US" altLang="en-US" b="1" dirty="0" smtClean="0">
                <a:latin typeface="Consolas" panose="020B0609020204030204" pitchFamily="49" charset="0"/>
              </a:rPr>
              <a:t>))</a:t>
            </a:r>
          </a:p>
          <a:p>
            <a:r>
              <a:rPr lang="en-US" altLang="en-US" sz="1600" b="1" dirty="0" smtClean="0">
                <a:latin typeface="Consolas" panose="020B0609020204030204" pitchFamily="49" charset="0"/>
              </a:rPr>
              <a:t>Student(</a:t>
            </a:r>
            <a:r>
              <a:rPr lang="en-US" altLang="en-US" sz="1600" b="1" dirty="0" err="1" smtClean="0">
                <a:latin typeface="Consolas" panose="020B0609020204030204" pitchFamily="49" charset="0"/>
              </a:rPr>
              <a:t>roll_no,name,age,grade</a:t>
            </a:r>
            <a:r>
              <a:rPr lang="en-US" altLang="en-US" sz="1600" b="1" dirty="0">
                <a:latin typeface="Consolas" panose="020B0609020204030204" pitchFamily="49" charset="0"/>
              </a:rPr>
              <a:t>)</a:t>
            </a:r>
            <a:r>
              <a:rPr lang="en-US" altLang="en-US" sz="1600" dirty="0"/>
              <a:t/>
            </a:r>
            <a:br>
              <a:rPr lang="en-US" altLang="en-US" sz="1600" dirty="0"/>
            </a:br>
            <a:endParaRPr lang="en-US" altLang="en-US" sz="4400" dirty="0">
              <a:latin typeface="Arial" panose="020B0604020202020204" pitchFamily="34" charset="0"/>
            </a:endParaRPr>
          </a:p>
          <a:p>
            <a:r>
              <a:rPr lang="en-US" altLang="en-US" b="1" dirty="0">
                <a:latin typeface="Consolas" panose="020B0609020204030204" pitchFamily="49" charset="0"/>
              </a:rPr>
              <a:t>∏</a:t>
            </a:r>
            <a:r>
              <a:rPr lang="en-US" altLang="en-US" b="1" baseline="-30000" dirty="0">
                <a:latin typeface="Consolas" panose="020B0609020204030204" pitchFamily="49" charset="0"/>
              </a:rPr>
              <a:t>(ROLL_NO, NAME)</a:t>
            </a:r>
            <a:r>
              <a:rPr lang="en-US" altLang="en-US" b="1" dirty="0">
                <a:latin typeface="Consolas" panose="020B0609020204030204" pitchFamily="49" charset="0"/>
              </a:rPr>
              <a:t>(</a:t>
            </a:r>
            <a:r>
              <a:rPr lang="en-US" altLang="en-US" b="1" dirty="0" smtClean="0">
                <a:latin typeface="Consolas" panose="020B0609020204030204" pitchFamily="49" charset="0"/>
              </a:rPr>
              <a:t>STUDENT)</a:t>
            </a:r>
          </a:p>
          <a:p>
            <a:r>
              <a:rPr lang="en-US" b="1" dirty="0" err="1" smtClean="0">
                <a:latin typeface="Consolas" panose="020B0609020204030204" pitchFamily="49" charset="0"/>
              </a:rPr>
              <a:t>Roll_no,name</a:t>
            </a:r>
            <a:r>
              <a:rPr lang="en-US" b="1" dirty="0" smtClean="0">
                <a:latin typeface="Consolas" panose="020B0609020204030204" pitchFamily="49" charset="0"/>
              </a:rPr>
              <a:t>(</a:t>
            </a:r>
            <a:r>
              <a:rPr lang="en-US" b="1" dirty="0" err="1" smtClean="0">
                <a:latin typeface="Consolas" panose="020B0609020204030204" pitchFamily="49" charset="0"/>
              </a:rPr>
              <a:t>student_names</a:t>
            </a:r>
            <a:r>
              <a:rPr lang="en-US" b="1" dirty="0" smtClean="0">
                <a:latin typeface="Consolas" panose="020B0609020204030204" pitchFamily="49" charset="0"/>
              </a:rPr>
              <a:t>)</a:t>
            </a:r>
          </a:p>
          <a:p>
            <a:endParaRPr lang="en-GB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4571967" y="90100"/>
            <a:ext cx="65" cy="276999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04428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SQL STATMENTS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Structured Query Language (SQL) is used to manage data in all relational databases like DB2, Oracle, SQL Server etc. SQL standards are </a:t>
            </a:r>
            <a:r>
              <a:rPr lang="en-GB" dirty="0" smtClean="0"/>
              <a:t>maintained </a:t>
            </a:r>
            <a:r>
              <a:rPr lang="en-GB" dirty="0"/>
              <a:t>by ISO. </a:t>
            </a:r>
            <a:endParaRPr lang="en-GB" dirty="0" smtClean="0"/>
          </a:p>
          <a:p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402" y="3473632"/>
            <a:ext cx="5210991" cy="3084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7649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SQL CAN DO?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GB" dirty="0"/>
              <a:t>SQL is a standard language for storing, </a:t>
            </a:r>
            <a:r>
              <a:rPr lang="en-GB" dirty="0" smtClean="0"/>
              <a:t>manipulating and retrieving data in databases.</a:t>
            </a:r>
          </a:p>
          <a:p>
            <a:r>
              <a:rPr lang="en-GB" dirty="0"/>
              <a:t>SQL can execute queries against a database</a:t>
            </a:r>
          </a:p>
          <a:p>
            <a:r>
              <a:rPr lang="en-GB" dirty="0"/>
              <a:t>SQL can retrieve data from a database</a:t>
            </a:r>
          </a:p>
          <a:p>
            <a:r>
              <a:rPr lang="en-GB" dirty="0"/>
              <a:t>SQL can insert records in a database</a:t>
            </a:r>
          </a:p>
          <a:p>
            <a:r>
              <a:rPr lang="en-GB" dirty="0"/>
              <a:t>SQL can update records in a database</a:t>
            </a:r>
          </a:p>
          <a:p>
            <a:r>
              <a:rPr lang="en-GB" dirty="0"/>
              <a:t>SQL can delete records from a database</a:t>
            </a:r>
          </a:p>
          <a:p>
            <a:r>
              <a:rPr lang="en-GB" dirty="0"/>
              <a:t>SQL can create new databases</a:t>
            </a:r>
          </a:p>
          <a:p>
            <a:r>
              <a:rPr lang="en-GB" dirty="0"/>
              <a:t>SQL can create new tables in a database</a:t>
            </a:r>
          </a:p>
          <a:p>
            <a:r>
              <a:rPr lang="en-GB" dirty="0"/>
              <a:t>SQL can create stored procedures in a database</a:t>
            </a:r>
          </a:p>
          <a:p>
            <a:r>
              <a:rPr lang="en-GB" dirty="0"/>
              <a:t>SQL can create views in a database</a:t>
            </a:r>
          </a:p>
          <a:p>
            <a:r>
              <a:rPr lang="en-GB" dirty="0"/>
              <a:t>SQL can set permissions on tables, procedures, and views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122219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18012"/>
            <a:ext cx="8934041" cy="6348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63227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Although SQL is an ANSI/ISO standard, there are different versions of the SQL language</a:t>
            </a:r>
            <a:r>
              <a:rPr lang="en-GB" dirty="0" smtClean="0"/>
              <a:t>.</a:t>
            </a:r>
          </a:p>
          <a:p>
            <a:r>
              <a:rPr lang="en-GB" dirty="0"/>
              <a:t> </a:t>
            </a:r>
            <a:r>
              <a:rPr lang="en-GB" dirty="0" smtClean="0"/>
              <a:t>They </a:t>
            </a:r>
            <a:r>
              <a:rPr lang="en-GB" dirty="0"/>
              <a:t>all support at least the major commands (such as SELECT, UPDATE, DELETE, INSERT, WHERE) in a similar manner.</a:t>
            </a:r>
          </a:p>
        </p:txBody>
      </p:sp>
    </p:spTree>
    <p:extLst>
      <p:ext uri="{BB962C8B-B14F-4D97-AF65-F5344CB8AC3E}">
        <p14:creationId xmlns:p14="http://schemas.microsoft.com/office/powerpoint/2010/main" val="3285038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SQL Data Types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SQL supports </a:t>
            </a:r>
            <a:endParaRPr lang="en-GB" dirty="0" smtClean="0"/>
          </a:p>
          <a:p>
            <a:r>
              <a:rPr lang="en-GB" dirty="0" smtClean="0"/>
              <a:t>SMALLINT</a:t>
            </a:r>
          </a:p>
          <a:p>
            <a:r>
              <a:rPr lang="en-GB" dirty="0" smtClean="0"/>
              <a:t>INTEGER </a:t>
            </a:r>
          </a:p>
          <a:p>
            <a:r>
              <a:rPr lang="en-GB" dirty="0" smtClean="0"/>
              <a:t>INT </a:t>
            </a:r>
            <a:r>
              <a:rPr lang="en-GB" dirty="0"/>
              <a:t>data types that are used for storing whole numbers</a:t>
            </a:r>
          </a:p>
        </p:txBody>
      </p:sp>
    </p:spTree>
    <p:extLst>
      <p:ext uri="{BB962C8B-B14F-4D97-AF65-F5344CB8AC3E}">
        <p14:creationId xmlns:p14="http://schemas.microsoft.com/office/powerpoint/2010/main" val="14211335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Non Integral Data Type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 err="1"/>
              <a:t>Nonintegral</a:t>
            </a:r>
            <a:r>
              <a:rPr lang="en-GB" dirty="0"/>
              <a:t> data types have an integer part and a fractional part. </a:t>
            </a:r>
            <a:endParaRPr lang="en-GB" dirty="0" smtClean="0"/>
          </a:p>
          <a:p>
            <a:r>
              <a:rPr lang="en-GB" dirty="0" smtClean="0"/>
              <a:t>Either </a:t>
            </a:r>
            <a:r>
              <a:rPr lang="en-GB" dirty="0"/>
              <a:t>NUMERIC, DECIMAL or NUMBER data types can be used to store </a:t>
            </a:r>
            <a:r>
              <a:rPr lang="en-GB" dirty="0" err="1"/>
              <a:t>nonintegral</a:t>
            </a:r>
            <a:r>
              <a:rPr lang="en-GB" dirty="0"/>
              <a:t> numbers</a:t>
            </a:r>
            <a:r>
              <a:rPr lang="en-GB" dirty="0" smtClean="0"/>
              <a:t>.</a:t>
            </a:r>
          </a:p>
          <a:p>
            <a:r>
              <a:rPr lang="en-GB" b="1" dirty="0"/>
              <a:t>Scale</a:t>
            </a:r>
            <a:r>
              <a:rPr lang="en-GB" dirty="0"/>
              <a:t> is the number of digits allowed after the decimal point. </a:t>
            </a:r>
            <a:endParaRPr lang="en-GB" dirty="0" smtClean="0"/>
          </a:p>
          <a:p>
            <a:r>
              <a:rPr lang="en-GB" b="1" dirty="0" smtClean="0"/>
              <a:t>Precision</a:t>
            </a:r>
            <a:r>
              <a:rPr lang="en-GB" dirty="0"/>
              <a:t> is the total number of </a:t>
            </a:r>
            <a:r>
              <a:rPr lang="en-GB" dirty="0" smtClean="0"/>
              <a:t>digits before and after decimal points</a:t>
            </a:r>
          </a:p>
          <a:p>
            <a:r>
              <a:rPr lang="en-GB" dirty="0" smtClean="0"/>
              <a:t>significant </a:t>
            </a:r>
            <a:r>
              <a:rPr lang="en-GB" dirty="0"/>
              <a:t>digits i.e. digits both before and after the decimal point. If Scale is not provided then NUMBER datatype can be used to store integral values.</a:t>
            </a:r>
          </a:p>
        </p:txBody>
      </p:sp>
    </p:spTree>
    <p:extLst>
      <p:ext uri="{BB962C8B-B14F-4D97-AF65-F5344CB8AC3E}">
        <p14:creationId xmlns:p14="http://schemas.microsoft.com/office/powerpoint/2010/main" val="4720156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22485570"/>
              </p:ext>
            </p:extLst>
          </p:nvPr>
        </p:nvGraphicFramePr>
        <p:xfrm>
          <a:off x="264487" y="349522"/>
          <a:ext cx="8061628" cy="63778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33322">
                  <a:extLst>
                    <a:ext uri="{9D8B030D-6E8A-4147-A177-3AD203B41FA5}">
                      <a16:colId xmlns:a16="http://schemas.microsoft.com/office/drawing/2014/main" val="4172158661"/>
                    </a:ext>
                  </a:extLst>
                </a:gridCol>
                <a:gridCol w="6328306">
                  <a:extLst>
                    <a:ext uri="{9D8B030D-6E8A-4147-A177-3AD203B41FA5}">
                      <a16:colId xmlns:a16="http://schemas.microsoft.com/office/drawing/2014/main" val="3803477768"/>
                    </a:ext>
                  </a:extLst>
                </a:gridCol>
              </a:tblGrid>
              <a:tr h="212595"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u="none" strike="noStrike" dirty="0">
                          <a:effectLst/>
                        </a:rPr>
                        <a:t>Data type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52" marR="7252" marT="725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u="none" strike="noStrike">
                          <a:effectLst/>
                        </a:rPr>
                        <a:t>Description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52" marR="7252" marT="7252" marB="0" anchor="b"/>
                </a:tc>
                <a:extLst>
                  <a:ext uri="{0D108BD9-81ED-4DB2-BD59-A6C34878D82A}">
                    <a16:rowId xmlns:a16="http://schemas.microsoft.com/office/drawing/2014/main" val="3429454155"/>
                  </a:ext>
                </a:extLst>
              </a:tr>
              <a:tr h="425189"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u="none" strike="noStrike">
                          <a:effectLst/>
                        </a:rPr>
                        <a:t>BIT(size)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52" marR="7252" marT="725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u="none" strike="noStrike">
                          <a:effectLst/>
                        </a:rPr>
                        <a:t>A bit-value type. The number of bits per value is specified in size. The size parameter can hold a value from 1 to 64. The default value for size is 1.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52" marR="7252" marT="7252" marB="0" anchor="b"/>
                </a:tc>
                <a:extLst>
                  <a:ext uri="{0D108BD9-81ED-4DB2-BD59-A6C34878D82A}">
                    <a16:rowId xmlns:a16="http://schemas.microsoft.com/office/drawing/2014/main" val="1219472875"/>
                  </a:ext>
                </a:extLst>
              </a:tr>
              <a:tr h="425189"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u="none" strike="noStrike">
                          <a:effectLst/>
                        </a:rPr>
                        <a:t>TINYINT(size)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52" marR="7252" marT="725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u="none" strike="noStrike">
                          <a:effectLst/>
                        </a:rPr>
                        <a:t>A very small integer. Signed range is from -128 to 127. Unsigned range is from 0 to 255. The size parameter specifies the maximum display width (which is 255)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52" marR="7252" marT="7252" marB="0" anchor="b"/>
                </a:tc>
                <a:extLst>
                  <a:ext uri="{0D108BD9-81ED-4DB2-BD59-A6C34878D82A}">
                    <a16:rowId xmlns:a16="http://schemas.microsoft.com/office/drawing/2014/main" val="3249130954"/>
                  </a:ext>
                </a:extLst>
              </a:tr>
              <a:tr h="212595"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u="none" strike="noStrike" dirty="0">
                          <a:effectLst/>
                        </a:rPr>
                        <a:t>BOOL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52" marR="7252" marT="725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u="none" strike="noStrike">
                          <a:effectLst/>
                        </a:rPr>
                        <a:t>Zero is considered as false, nonzero values are considered as true.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52" marR="7252" marT="7252" marB="0" anchor="b"/>
                </a:tc>
                <a:extLst>
                  <a:ext uri="{0D108BD9-81ED-4DB2-BD59-A6C34878D82A}">
                    <a16:rowId xmlns:a16="http://schemas.microsoft.com/office/drawing/2014/main" val="2159070143"/>
                  </a:ext>
                </a:extLst>
              </a:tr>
              <a:tr h="212595"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u="none" strike="noStrike">
                          <a:effectLst/>
                        </a:rPr>
                        <a:t>BOOLEAN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52" marR="7252" marT="725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u="none" strike="noStrike">
                          <a:effectLst/>
                        </a:rPr>
                        <a:t>Equal to BOOL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52" marR="7252" marT="7252" marB="0" anchor="b"/>
                </a:tc>
                <a:extLst>
                  <a:ext uri="{0D108BD9-81ED-4DB2-BD59-A6C34878D82A}">
                    <a16:rowId xmlns:a16="http://schemas.microsoft.com/office/drawing/2014/main" val="3305735373"/>
                  </a:ext>
                </a:extLst>
              </a:tr>
              <a:tr h="425189"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u="none" strike="noStrike" dirty="0">
                          <a:effectLst/>
                        </a:rPr>
                        <a:t>SMALLINT(size)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52" marR="7252" marT="725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u="none" strike="noStrike" dirty="0">
                          <a:effectLst/>
                        </a:rPr>
                        <a:t>A small integer. Signed range is from -32768 to 32767. Unsigned range is from 0 to 65535. The size parameter specifies the maximum display width (which is 255)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52" marR="7252" marT="7252" marB="0" anchor="b"/>
                </a:tc>
                <a:extLst>
                  <a:ext uri="{0D108BD9-81ED-4DB2-BD59-A6C34878D82A}">
                    <a16:rowId xmlns:a16="http://schemas.microsoft.com/office/drawing/2014/main" val="914110764"/>
                  </a:ext>
                </a:extLst>
              </a:tr>
              <a:tr h="425189"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u="none" strike="noStrike" dirty="0">
                          <a:effectLst/>
                        </a:rPr>
                        <a:t>MEDIUMINT(size)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52" marR="7252" marT="725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u="none" strike="noStrike">
                          <a:effectLst/>
                        </a:rPr>
                        <a:t>A medium integer. Signed range is from -8388608 to 8388607. Unsigned range is from 0 to 16777215. The size parameter specifies the maximum display width (which is 255)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52" marR="7252" marT="7252" marB="0" anchor="b"/>
                </a:tc>
                <a:extLst>
                  <a:ext uri="{0D108BD9-81ED-4DB2-BD59-A6C34878D82A}">
                    <a16:rowId xmlns:a16="http://schemas.microsoft.com/office/drawing/2014/main" val="1867136103"/>
                  </a:ext>
                </a:extLst>
              </a:tr>
              <a:tr h="425189"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u="none" strike="noStrike" dirty="0">
                          <a:effectLst/>
                        </a:rPr>
                        <a:t>INT(size)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52" marR="7252" marT="725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u="none" strike="noStrike">
                          <a:effectLst/>
                        </a:rPr>
                        <a:t>A medium integer. Signed range is from -2147483648 to 2147483647. Unsigned range is from 0 to 4294967295. The size parameter specifies the maximum display width (which is 255)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52" marR="7252" marT="7252" marB="0" anchor="b"/>
                </a:tc>
                <a:extLst>
                  <a:ext uri="{0D108BD9-81ED-4DB2-BD59-A6C34878D82A}">
                    <a16:rowId xmlns:a16="http://schemas.microsoft.com/office/drawing/2014/main" val="2687584168"/>
                  </a:ext>
                </a:extLst>
              </a:tr>
              <a:tr h="212595"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u="none" strike="noStrike">
                          <a:effectLst/>
                        </a:rPr>
                        <a:t>INTEGER(size)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52" marR="7252" marT="725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u="none" strike="noStrike">
                          <a:effectLst/>
                        </a:rPr>
                        <a:t>Equal to INT(size)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52" marR="7252" marT="7252" marB="0" anchor="b"/>
                </a:tc>
                <a:extLst>
                  <a:ext uri="{0D108BD9-81ED-4DB2-BD59-A6C34878D82A}">
                    <a16:rowId xmlns:a16="http://schemas.microsoft.com/office/drawing/2014/main" val="3473736528"/>
                  </a:ext>
                </a:extLst>
              </a:tr>
              <a:tr h="637786"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u="none" strike="noStrike">
                          <a:effectLst/>
                        </a:rPr>
                        <a:t>BIGINT(size)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52" marR="7252" marT="725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u="none" strike="noStrike" dirty="0">
                          <a:effectLst/>
                        </a:rPr>
                        <a:t>A large integer. Signed range is from -9223372036854775808 to 9223372036854775807. Unsigned range is from 0 to 18446744073709551615. The size parameter specifies the maximum display width (which is 255)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52" marR="7252" marT="7252" marB="0" anchor="b"/>
                </a:tc>
                <a:extLst>
                  <a:ext uri="{0D108BD9-81ED-4DB2-BD59-A6C34878D82A}">
                    <a16:rowId xmlns:a16="http://schemas.microsoft.com/office/drawing/2014/main" val="2545638107"/>
                  </a:ext>
                </a:extLst>
              </a:tr>
              <a:tr h="637786"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u="none" strike="noStrike">
                          <a:effectLst/>
                        </a:rPr>
                        <a:t>FLOAT(size, d)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52" marR="7252" marT="725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u="none" strike="noStrike" dirty="0">
                          <a:effectLst/>
                        </a:rPr>
                        <a:t>A floating point number. The total number of digits is specified in size. The number of digits after the decimal point is specified in the d parameter. This syntax is deprecated in MySQL 8.0.17, and it will be removed in future MySQL versions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52" marR="7252" marT="7252" marB="0" anchor="b"/>
                </a:tc>
                <a:extLst>
                  <a:ext uri="{0D108BD9-81ED-4DB2-BD59-A6C34878D82A}">
                    <a16:rowId xmlns:a16="http://schemas.microsoft.com/office/drawing/2014/main" val="4222988949"/>
                  </a:ext>
                </a:extLst>
              </a:tr>
              <a:tr h="637786"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u="none" strike="noStrike">
                          <a:effectLst/>
                        </a:rPr>
                        <a:t>FLOAT(p)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52" marR="7252" marT="725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u="none" strike="noStrike" dirty="0">
                          <a:effectLst/>
                        </a:rPr>
                        <a:t>A floating point number. MySQL uses the p value to determine whether to use FLOAT or DOUBLE for the resulting data type. If p is from 0 to 24, the data type becomes FLOAT(). If p is from 25 to 53, the data type becomes DOUBLE()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52" marR="7252" marT="7252" marB="0" anchor="b"/>
                </a:tc>
                <a:extLst>
                  <a:ext uri="{0D108BD9-81ED-4DB2-BD59-A6C34878D82A}">
                    <a16:rowId xmlns:a16="http://schemas.microsoft.com/office/drawing/2014/main" val="2985365966"/>
                  </a:ext>
                </a:extLst>
              </a:tr>
              <a:tr h="425189"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u="none" strike="noStrike">
                          <a:effectLst/>
                        </a:rPr>
                        <a:t>DOUBLE(size, d)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52" marR="7252" marT="725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u="none" strike="noStrike" dirty="0">
                          <a:effectLst/>
                        </a:rPr>
                        <a:t>A normal-size floating point number. The total number of digits is specified in size. The number of digits after the decimal point is specified in the d parameter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52" marR="7252" marT="7252" marB="0" anchor="b"/>
                </a:tc>
                <a:extLst>
                  <a:ext uri="{0D108BD9-81ED-4DB2-BD59-A6C34878D82A}">
                    <a16:rowId xmlns:a16="http://schemas.microsoft.com/office/drawing/2014/main" val="2101120045"/>
                  </a:ext>
                </a:extLst>
              </a:tr>
              <a:tr h="212595"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u="none" strike="noStrike">
                          <a:effectLst/>
                        </a:rPr>
                        <a:t>DOUBLE PRECISION(size, d)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52" marR="7252" marT="725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u="none" strike="noStrike" dirty="0">
                          <a:effectLst/>
                        </a:rPr>
                        <a:t> 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52" marR="7252" marT="7252" marB="0" anchor="b"/>
                </a:tc>
                <a:extLst>
                  <a:ext uri="{0D108BD9-81ED-4DB2-BD59-A6C34878D82A}">
                    <a16:rowId xmlns:a16="http://schemas.microsoft.com/office/drawing/2014/main" val="1095999955"/>
                  </a:ext>
                </a:extLst>
              </a:tr>
              <a:tr h="637786"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u="none" strike="noStrike" dirty="0">
                          <a:effectLst/>
                        </a:rPr>
                        <a:t>DECIMAL(size, d)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52" marR="7252" marT="725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u="none" strike="noStrike" dirty="0">
                          <a:effectLst/>
                        </a:rPr>
                        <a:t>An exact fixed-point number. The total number of digits is specified in size. The number of digits after the decimal point is specified in the d parameter. The maximum number for size is 65. The maximum number for d is 30. The default value for size is 10. The default value for d is 0.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52" marR="7252" marT="7252" marB="0" anchor="b"/>
                </a:tc>
                <a:extLst>
                  <a:ext uri="{0D108BD9-81ED-4DB2-BD59-A6C34878D82A}">
                    <a16:rowId xmlns:a16="http://schemas.microsoft.com/office/drawing/2014/main" val="2836552333"/>
                  </a:ext>
                </a:extLst>
              </a:tr>
              <a:tr h="212595"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u="none" strike="noStrike" dirty="0">
                          <a:effectLst/>
                        </a:rPr>
                        <a:t>DEC(size, d)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52" marR="7252" marT="725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u="none" strike="noStrike" dirty="0">
                          <a:effectLst/>
                        </a:rPr>
                        <a:t>Equal to DECIMAL(</a:t>
                      </a:r>
                      <a:r>
                        <a:rPr lang="en-GB" sz="1200" u="none" strike="noStrike" dirty="0" err="1">
                          <a:effectLst/>
                        </a:rPr>
                        <a:t>size,d</a:t>
                      </a:r>
                      <a:r>
                        <a:rPr lang="en-GB" sz="1200" u="none" strike="noStrike" dirty="0">
                          <a:effectLst/>
                        </a:rPr>
                        <a:t>)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52" marR="7252" marT="7252" marB="0" anchor="b"/>
                </a:tc>
                <a:extLst>
                  <a:ext uri="{0D108BD9-81ED-4DB2-BD59-A6C34878D82A}">
                    <a16:rowId xmlns:a16="http://schemas.microsoft.com/office/drawing/2014/main" val="24487580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732402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67422"/>
            <a:ext cx="3733800" cy="264795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8430" y="1981722"/>
            <a:ext cx="3476625" cy="253365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0887" y="5192349"/>
            <a:ext cx="2562225" cy="1019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06045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Date Data types</a:t>
            </a:r>
            <a:endParaRPr lang="en-GB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07770193"/>
              </p:ext>
            </p:extLst>
          </p:nvPr>
        </p:nvGraphicFramePr>
        <p:xfrm>
          <a:off x="628650" y="1554480"/>
          <a:ext cx="7886700" cy="462587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57796">
                  <a:extLst>
                    <a:ext uri="{9D8B030D-6E8A-4147-A177-3AD203B41FA5}">
                      <a16:colId xmlns:a16="http://schemas.microsoft.com/office/drawing/2014/main" val="2006380135"/>
                    </a:ext>
                  </a:extLst>
                </a:gridCol>
                <a:gridCol w="5928904">
                  <a:extLst>
                    <a:ext uri="{9D8B030D-6E8A-4147-A177-3AD203B41FA5}">
                      <a16:colId xmlns:a16="http://schemas.microsoft.com/office/drawing/2014/main" val="932483555"/>
                    </a:ext>
                  </a:extLst>
                </a:gridCol>
              </a:tblGrid>
              <a:tr h="186346">
                <a:tc>
                  <a:txBody>
                    <a:bodyPr/>
                    <a:lstStyle/>
                    <a:p>
                      <a:pPr algn="l" fontAlgn="t"/>
                      <a:r>
                        <a:rPr lang="en-GB" sz="1400" u="none" strike="noStrike" dirty="0">
                          <a:effectLst/>
                        </a:rPr>
                        <a:t>Data type</a:t>
                      </a:r>
                      <a:endParaRPr lang="en-GB" sz="1400" b="1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77041" marR="8560" marT="856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400" u="none" strike="noStrike">
                          <a:effectLst/>
                        </a:rPr>
                        <a:t>Description</a:t>
                      </a:r>
                      <a:endParaRPr lang="en-GB" sz="1400" b="1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8560" marR="8560" marT="8560" marB="0"/>
                </a:tc>
                <a:extLst>
                  <a:ext uri="{0D108BD9-81ED-4DB2-BD59-A6C34878D82A}">
                    <a16:rowId xmlns:a16="http://schemas.microsoft.com/office/drawing/2014/main" val="3596524703"/>
                  </a:ext>
                </a:extLst>
              </a:tr>
              <a:tr h="438277">
                <a:tc>
                  <a:txBody>
                    <a:bodyPr/>
                    <a:lstStyle/>
                    <a:p>
                      <a:pPr algn="l" fontAlgn="t"/>
                      <a:r>
                        <a:rPr lang="en-GB" sz="1400" u="none" strike="noStrike" dirty="0">
                          <a:effectLst/>
                        </a:rPr>
                        <a:t>DATE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77041" marR="8560" marT="856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400" u="none" strike="noStrike">
                          <a:effectLst/>
                        </a:rPr>
                        <a:t>A date. Format: YYYY-MM-DD. The supported range is from '1000-01-01' to '9999-12-31'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8560" marR="8560" marT="68481" marB="68481"/>
                </a:tc>
                <a:extLst>
                  <a:ext uri="{0D108BD9-81ED-4DB2-BD59-A6C34878D82A}">
                    <a16:rowId xmlns:a16="http://schemas.microsoft.com/office/drawing/2014/main" val="973523588"/>
                  </a:ext>
                </a:extLst>
              </a:tr>
              <a:tr h="890250">
                <a:tc>
                  <a:txBody>
                    <a:bodyPr/>
                    <a:lstStyle/>
                    <a:p>
                      <a:pPr algn="l" fontAlgn="t"/>
                      <a:r>
                        <a:rPr lang="en-GB" sz="1400" u="none" strike="noStrike" dirty="0">
                          <a:effectLst/>
                        </a:rPr>
                        <a:t>DATETIME(</a:t>
                      </a:r>
                      <a:r>
                        <a:rPr lang="en-GB" sz="1400" u="none" strike="noStrike" dirty="0" err="1">
                          <a:effectLst/>
                        </a:rPr>
                        <a:t>fsp</a:t>
                      </a:r>
                      <a:r>
                        <a:rPr lang="en-GB" sz="1400" u="none" strike="noStrike" dirty="0">
                          <a:effectLst/>
                        </a:rPr>
                        <a:t>)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77041" marR="8560" marT="856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400" u="none" strike="noStrike" dirty="0">
                          <a:effectLst/>
                        </a:rPr>
                        <a:t>A date and time combination. Format: YYYY-MM-DD </a:t>
                      </a:r>
                      <a:r>
                        <a:rPr lang="en-GB" sz="1400" u="none" strike="noStrike" dirty="0" err="1">
                          <a:effectLst/>
                        </a:rPr>
                        <a:t>hh:mm:ss</a:t>
                      </a:r>
                      <a:r>
                        <a:rPr lang="en-GB" sz="1400" u="none" strike="noStrike" dirty="0">
                          <a:effectLst/>
                        </a:rPr>
                        <a:t>. The supported range is from '1000-01-01 00:00:00' to '9999-12-31 23:59:59'. Adding DEFAULT and ON UPDATE in the column definition to get automatic initialization and updating to the current date and time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8560" marR="8560" marT="68481" marB="68481"/>
                </a:tc>
                <a:extLst>
                  <a:ext uri="{0D108BD9-81ED-4DB2-BD59-A6C34878D82A}">
                    <a16:rowId xmlns:a16="http://schemas.microsoft.com/office/drawing/2014/main" val="258756689"/>
                  </a:ext>
                </a:extLst>
              </a:tr>
              <a:tr h="1342223">
                <a:tc>
                  <a:txBody>
                    <a:bodyPr/>
                    <a:lstStyle/>
                    <a:p>
                      <a:pPr algn="l" fontAlgn="t"/>
                      <a:r>
                        <a:rPr lang="en-GB" sz="1400" u="none" strike="noStrike" dirty="0">
                          <a:effectLst/>
                        </a:rPr>
                        <a:t>TIMESTAMP(</a:t>
                      </a:r>
                      <a:r>
                        <a:rPr lang="en-GB" sz="1400" u="none" strike="noStrike" dirty="0" err="1">
                          <a:effectLst/>
                        </a:rPr>
                        <a:t>fsp</a:t>
                      </a:r>
                      <a:r>
                        <a:rPr lang="en-GB" sz="1400" u="none" strike="noStrike" dirty="0">
                          <a:effectLst/>
                        </a:rPr>
                        <a:t>)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77041" marR="8560" marT="856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400" u="none" strike="noStrike">
                          <a:effectLst/>
                        </a:rPr>
                        <a:t>A timestamp. TIMESTAMP values are stored as the number of seconds since the Unix epoch ('1970-01-01 00:00:00' UTC). Format: YYYY-MM-DD hh:mm:ss. The supported range is from '1970-01-01 00:00:01' UTC to '2038-01-09 03:14:07' UTC. Automatic initialization and updating to the current date and time can be specified using DEFAULT CURRENT_TIMESTAMP and ON UPDATE CURRENT_TIMESTAMP in the column definition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8560" marR="8560" marT="68481" marB="68481"/>
                </a:tc>
                <a:extLst>
                  <a:ext uri="{0D108BD9-81ED-4DB2-BD59-A6C34878D82A}">
                    <a16:rowId xmlns:a16="http://schemas.microsoft.com/office/drawing/2014/main" val="1392600992"/>
                  </a:ext>
                </a:extLst>
              </a:tr>
              <a:tr h="438277">
                <a:tc>
                  <a:txBody>
                    <a:bodyPr/>
                    <a:lstStyle/>
                    <a:p>
                      <a:pPr algn="l" fontAlgn="t"/>
                      <a:r>
                        <a:rPr lang="en-GB" sz="1400" u="none" strike="noStrike" dirty="0">
                          <a:effectLst/>
                        </a:rPr>
                        <a:t>TIME(</a:t>
                      </a:r>
                      <a:r>
                        <a:rPr lang="en-GB" sz="1400" u="none" strike="noStrike" dirty="0" err="1">
                          <a:effectLst/>
                        </a:rPr>
                        <a:t>fsp</a:t>
                      </a:r>
                      <a:r>
                        <a:rPr lang="en-GB" sz="1400" u="none" strike="noStrike" dirty="0">
                          <a:effectLst/>
                        </a:rPr>
                        <a:t>)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77041" marR="8560" marT="856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400" u="none" strike="noStrike">
                          <a:effectLst/>
                        </a:rPr>
                        <a:t>A time. Format: hh:mm:ss. The supported range is from '-838:59:59' to '838:59:59'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8560" marR="8560" marT="68481" marB="68481"/>
                </a:tc>
                <a:extLst>
                  <a:ext uri="{0D108BD9-81ED-4DB2-BD59-A6C34878D82A}">
                    <a16:rowId xmlns:a16="http://schemas.microsoft.com/office/drawing/2014/main" val="2963026246"/>
                  </a:ext>
                </a:extLst>
              </a:tr>
              <a:tr h="438277">
                <a:tc rowSpan="2">
                  <a:txBody>
                    <a:bodyPr/>
                    <a:lstStyle/>
                    <a:p>
                      <a:pPr algn="l" fontAlgn="t"/>
                      <a:r>
                        <a:rPr lang="en-GB" sz="1400" u="none" strike="noStrike" dirty="0">
                          <a:effectLst/>
                        </a:rPr>
                        <a:t>YEAR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77041" marR="8560" marT="856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400" u="none" strike="noStrike">
                          <a:effectLst/>
                        </a:rPr>
                        <a:t>A year in four-digit format. Values allowed in four-digit format: 1901 to 2155, and 0000.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8560" marR="8560" marT="68481" marB="68481"/>
                </a:tc>
                <a:extLst>
                  <a:ext uri="{0D108BD9-81ED-4DB2-BD59-A6C34878D82A}">
                    <a16:rowId xmlns:a16="http://schemas.microsoft.com/office/drawing/2014/main" val="561155795"/>
                  </a:ext>
                </a:extLst>
              </a:tr>
              <a:tr h="305381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400" u="none" strike="noStrike" dirty="0">
                          <a:effectLst/>
                        </a:rPr>
                        <a:t>MySQL 8.0 does not support year in two-digit format.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8560" marR="8560" marT="8560" marB="0"/>
                </a:tc>
                <a:extLst>
                  <a:ext uri="{0D108BD9-81ED-4DB2-BD59-A6C34878D82A}">
                    <a16:rowId xmlns:a16="http://schemas.microsoft.com/office/drawing/2014/main" val="42180250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815058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Sql</a:t>
            </a:r>
            <a:r>
              <a:rPr lang="en-US" dirty="0" smtClean="0"/>
              <a:t> String Data Types</a:t>
            </a:r>
            <a:endParaRPr lang="en-GB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SQL supports two </a:t>
            </a:r>
            <a:r>
              <a:rPr lang="en-GB" dirty="0" smtClean="0"/>
              <a:t>character / String </a:t>
            </a:r>
            <a:r>
              <a:rPr lang="en-GB" dirty="0"/>
              <a:t>data types for storing printable and displayable characters. They are used for storing information like name, address, description </a:t>
            </a:r>
            <a:r>
              <a:rPr lang="en-GB" dirty="0" err="1"/>
              <a:t>etc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429948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18145951"/>
              </p:ext>
            </p:extLst>
          </p:nvPr>
        </p:nvGraphicFramePr>
        <p:xfrm>
          <a:off x="275953" y="401774"/>
          <a:ext cx="8334103" cy="6680636"/>
        </p:xfrm>
        <a:graphic>
          <a:graphicData uri="http://schemas.openxmlformats.org/drawingml/2006/table">
            <a:tbl>
              <a:tblPr/>
              <a:tblGrid>
                <a:gridCol w="1983921">
                  <a:extLst>
                    <a:ext uri="{9D8B030D-6E8A-4147-A177-3AD203B41FA5}">
                      <a16:colId xmlns:a16="http://schemas.microsoft.com/office/drawing/2014/main" val="2717210676"/>
                    </a:ext>
                  </a:extLst>
                </a:gridCol>
                <a:gridCol w="3317966">
                  <a:extLst>
                    <a:ext uri="{9D8B030D-6E8A-4147-A177-3AD203B41FA5}">
                      <a16:colId xmlns:a16="http://schemas.microsoft.com/office/drawing/2014/main" val="2632240015"/>
                    </a:ext>
                  </a:extLst>
                </a:gridCol>
                <a:gridCol w="3032216">
                  <a:extLst>
                    <a:ext uri="{9D8B030D-6E8A-4147-A177-3AD203B41FA5}">
                      <a16:colId xmlns:a16="http://schemas.microsoft.com/office/drawing/2014/main" val="2247939816"/>
                    </a:ext>
                  </a:extLst>
                </a:gridCol>
              </a:tblGrid>
              <a:tr h="435908">
                <a:tc>
                  <a:txBody>
                    <a:bodyPr/>
                    <a:lstStyle/>
                    <a:p>
                      <a:pPr algn="l" fontAlgn="b"/>
                      <a:r>
                        <a:rPr lang="en-GB" sz="2400" dirty="0">
                          <a:effectLst/>
                        </a:rPr>
                        <a:t/>
                      </a:r>
                      <a:br>
                        <a:rPr lang="en-GB" sz="2400" dirty="0">
                          <a:effectLst/>
                        </a:rPr>
                      </a:br>
                      <a:r>
                        <a:rPr lang="en-GB" sz="2400" dirty="0">
                          <a:effectLst/>
                        </a:rPr>
                        <a:t>CHAR(n)</a:t>
                      </a:r>
                    </a:p>
                  </a:txBody>
                  <a:tcPr marL="32242" marR="32242" marT="32242" marB="32242" anchor="b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79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2400">
                          <a:effectLst/>
                        </a:rPr>
                        <a:t>VARCHAR2(n)</a:t>
                      </a:r>
                    </a:p>
                  </a:txBody>
                  <a:tcPr marL="32242" marR="32242" marT="32242" marB="32242" anchor="b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07A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2400"/>
                    </a:p>
                  </a:txBody>
                  <a:tcPr marL="61904" marR="61904" marT="30952" marB="30952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9134788"/>
                  </a:ext>
                </a:extLst>
              </a:tr>
              <a:tr h="807332">
                <a:tc>
                  <a:txBody>
                    <a:bodyPr/>
                    <a:lstStyle/>
                    <a:p>
                      <a:pPr algn="l" fontAlgn="t"/>
                      <a:r>
                        <a:rPr lang="en-GB" sz="2400" dirty="0">
                          <a:effectLst/>
                        </a:rPr>
                        <a:t>Useful for</a:t>
                      </a:r>
                    </a:p>
                  </a:txBody>
                  <a:tcPr marL="32242" marR="32242" marT="32242" marB="32242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GB" sz="2400">
                          <a:effectLst/>
                        </a:rPr>
                        <a:t>Storing characters having pre-determined length</a:t>
                      </a:r>
                    </a:p>
                  </a:txBody>
                  <a:tcPr marL="32242" marR="32242" marT="32242" marB="32242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GB" sz="2400">
                          <a:effectLst/>
                        </a:rPr>
                        <a:t>Storing characters whose length vary a lot</a:t>
                      </a:r>
                    </a:p>
                  </a:txBody>
                  <a:tcPr marL="32242" marR="32242" marT="32242" marB="32242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4001228"/>
                  </a:ext>
                </a:extLst>
              </a:tr>
              <a:tr h="807332">
                <a:tc>
                  <a:txBody>
                    <a:bodyPr/>
                    <a:lstStyle/>
                    <a:p>
                      <a:pPr algn="l" fontAlgn="t"/>
                      <a:r>
                        <a:rPr lang="en-GB" sz="2400" dirty="0">
                          <a:effectLst/>
                        </a:rPr>
                        <a:t>Storage size</a:t>
                      </a:r>
                    </a:p>
                  </a:txBody>
                  <a:tcPr marL="32242" marR="32242" marT="32242" marB="32242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GB" sz="2400">
                          <a:effectLst/>
                        </a:rPr>
                        <a:t>size for n characters</a:t>
                      </a:r>
                    </a:p>
                  </a:txBody>
                  <a:tcPr marL="32242" marR="32242" marT="32242" marB="32242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GB" sz="2400">
                          <a:effectLst/>
                        </a:rPr>
                        <a:t>size for actual no. of characters + fixed size to store length</a:t>
                      </a:r>
                    </a:p>
                  </a:txBody>
                  <a:tcPr marL="32242" marR="32242" marT="32242" marB="32242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0939310"/>
                  </a:ext>
                </a:extLst>
              </a:tr>
              <a:tr h="435908">
                <a:tc>
                  <a:txBody>
                    <a:bodyPr/>
                    <a:lstStyle/>
                    <a:p>
                      <a:pPr algn="l" fontAlgn="t"/>
                      <a:r>
                        <a:rPr lang="en-GB" sz="2400">
                          <a:effectLst/>
                        </a:rPr>
                        <a:t>Storage Characteristic</a:t>
                      </a:r>
                    </a:p>
                  </a:txBody>
                  <a:tcPr marL="32242" marR="32242" marT="32242" marB="32242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GB" sz="2400">
                          <a:effectLst/>
                        </a:rPr>
                        <a:t>Trailing spaces are applied if data to be stored has smaller length than n.</a:t>
                      </a:r>
                    </a:p>
                  </a:txBody>
                  <a:tcPr marL="32242" marR="32242" marT="32242" marB="32242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GB" sz="2400">
                          <a:effectLst/>
                        </a:rPr>
                        <a:t>Trailing spaces are not applied.</a:t>
                      </a:r>
                    </a:p>
                  </a:txBody>
                  <a:tcPr marL="32242" marR="32242" marT="32242" marB="32242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1265101"/>
                  </a:ext>
                </a:extLst>
              </a:tr>
              <a:tr h="250195">
                <a:tc>
                  <a:txBody>
                    <a:bodyPr/>
                    <a:lstStyle/>
                    <a:p>
                      <a:pPr algn="l" fontAlgn="t"/>
                      <a:r>
                        <a:rPr lang="en-GB" sz="2400" dirty="0">
                          <a:effectLst/>
                        </a:rPr>
                        <a:t>Maximum size</a:t>
                      </a:r>
                    </a:p>
                  </a:txBody>
                  <a:tcPr marL="32242" marR="32242" marT="32242" marB="32242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GB" sz="2400">
                          <a:effectLst/>
                        </a:rPr>
                        <a:t>2000 bytes</a:t>
                      </a:r>
                    </a:p>
                  </a:txBody>
                  <a:tcPr marL="32242" marR="32242" marT="32242" marB="32242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GB" sz="2400">
                          <a:effectLst/>
                        </a:rPr>
                        <a:t>4000 bytes</a:t>
                      </a:r>
                    </a:p>
                  </a:txBody>
                  <a:tcPr marL="32242" marR="32242" marT="32242" marB="32242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3697979"/>
                  </a:ext>
                </a:extLst>
              </a:tr>
              <a:tr h="1178756">
                <a:tc>
                  <a:txBody>
                    <a:bodyPr/>
                    <a:lstStyle/>
                    <a:p>
                      <a:pPr algn="l" fontAlgn="t"/>
                      <a:r>
                        <a:rPr lang="en-GB" sz="2400">
                          <a:effectLst/>
                        </a:rPr>
                        <a:t>Example</a:t>
                      </a:r>
                    </a:p>
                  </a:txBody>
                  <a:tcPr marL="32242" marR="32242" marT="32242" marB="32242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GB" sz="2400" dirty="0">
                          <a:effectLst/>
                        </a:rPr>
                        <a:t>A CHAR(10) field will store "Hello" as 10 bytes by appending 5 trailing spaces.</a:t>
                      </a:r>
                    </a:p>
                  </a:txBody>
                  <a:tcPr marL="32242" marR="32242" marT="32242" marB="32242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GB" sz="2400">
                          <a:effectLst/>
                        </a:rPr>
                        <a:t>A VARCHAR2(10) field will store "Hello" as 7 bytes (assuming 2 bytes to store length).</a:t>
                      </a:r>
                    </a:p>
                  </a:txBody>
                  <a:tcPr marL="32242" marR="32242" marT="32242" marB="32242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7071206"/>
                  </a:ext>
                </a:extLst>
              </a:tr>
              <a:tr h="435908">
                <a:tc>
                  <a:txBody>
                    <a:bodyPr/>
                    <a:lstStyle/>
                    <a:p>
                      <a:pPr algn="l" fontAlgn="t"/>
                      <a:r>
                        <a:rPr lang="en-GB" sz="2400">
                          <a:effectLst/>
                        </a:rPr>
                        <a:t>Alternate Name</a:t>
                      </a:r>
                    </a:p>
                  </a:txBody>
                  <a:tcPr marL="32242" marR="32242" marT="32242" marB="32242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GB" sz="2400" dirty="0">
                          <a:effectLst/>
                        </a:rPr>
                        <a:t>CHARACTER(n)</a:t>
                      </a:r>
                    </a:p>
                  </a:txBody>
                  <a:tcPr marL="32242" marR="32242" marT="32242" marB="32242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GB" sz="2400" dirty="0">
                          <a:effectLst/>
                        </a:rPr>
                        <a:t>CHARACTER VARYING(n)</a:t>
                      </a:r>
                    </a:p>
                  </a:txBody>
                  <a:tcPr marL="32242" marR="32242" marT="32242" marB="32242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99697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812085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327205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String Data Types</a:t>
            </a:r>
            <a:endParaRPr lang="en-GB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54502056"/>
              </p:ext>
            </p:extLst>
          </p:nvPr>
        </p:nvGraphicFramePr>
        <p:xfrm>
          <a:off x="628650" y="860023"/>
          <a:ext cx="7886700" cy="5462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44733">
                  <a:extLst>
                    <a:ext uri="{9D8B030D-6E8A-4147-A177-3AD203B41FA5}">
                      <a16:colId xmlns:a16="http://schemas.microsoft.com/office/drawing/2014/main" val="2314569557"/>
                    </a:ext>
                  </a:extLst>
                </a:gridCol>
                <a:gridCol w="5941967">
                  <a:extLst>
                    <a:ext uri="{9D8B030D-6E8A-4147-A177-3AD203B41FA5}">
                      <a16:colId xmlns:a16="http://schemas.microsoft.com/office/drawing/2014/main" val="2485148560"/>
                    </a:ext>
                  </a:extLst>
                </a:gridCol>
              </a:tblGrid>
              <a:tr h="171202"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u="none" strike="noStrike" dirty="0">
                          <a:effectLst/>
                        </a:rPr>
                        <a:t>Data type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60" marR="8560" marT="85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u="none" strike="noStrike">
                          <a:effectLst/>
                        </a:rPr>
                        <a:t>Description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60" marR="8560" marT="8560" marB="0" anchor="b"/>
                </a:tc>
                <a:extLst>
                  <a:ext uri="{0D108BD9-81ED-4DB2-BD59-A6C34878D82A}">
                    <a16:rowId xmlns:a16="http://schemas.microsoft.com/office/drawing/2014/main" val="3264672129"/>
                  </a:ext>
                </a:extLst>
              </a:tr>
              <a:tr h="309875"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u="none" strike="noStrike" dirty="0">
                          <a:effectLst/>
                        </a:rPr>
                        <a:t>CHAR(size)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60" marR="8560" marT="85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u="none" strike="noStrike" dirty="0">
                          <a:effectLst/>
                        </a:rPr>
                        <a:t>A FIXED length string (can contain letters, numbers, and special characters). The size parameter specifies the column length in characters - can be from 0 to 255. Default is 1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60" marR="8560" marT="8560" marB="0" anchor="b"/>
                </a:tc>
                <a:extLst>
                  <a:ext uri="{0D108BD9-81ED-4DB2-BD59-A6C34878D82A}">
                    <a16:rowId xmlns:a16="http://schemas.microsoft.com/office/drawing/2014/main" val="3624098140"/>
                  </a:ext>
                </a:extLst>
              </a:tr>
              <a:tr h="309875"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u="none" strike="noStrike" dirty="0">
                          <a:effectLst/>
                        </a:rPr>
                        <a:t>VARCHAR(size)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60" marR="8560" marT="85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u="none" strike="noStrike">
                          <a:effectLst/>
                        </a:rPr>
                        <a:t>A VARIABLE length string (can contain letters, numbers, and special characters). The size parameter specifies the maximum column length in characters - can be from 0 to 65535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60" marR="8560" marT="8560" marB="0" anchor="b"/>
                </a:tc>
                <a:extLst>
                  <a:ext uri="{0D108BD9-81ED-4DB2-BD59-A6C34878D82A}">
                    <a16:rowId xmlns:a16="http://schemas.microsoft.com/office/drawing/2014/main" val="2952102045"/>
                  </a:ext>
                </a:extLst>
              </a:tr>
              <a:tr h="309875"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u="none" strike="noStrike" dirty="0">
                          <a:effectLst/>
                        </a:rPr>
                        <a:t>BINARY(size)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60" marR="8560" marT="85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u="none" strike="noStrike">
                          <a:effectLst/>
                        </a:rPr>
                        <a:t>Equal to CHAR(), but stores binary byte strings. The size parameter specifies the column length in bytes. Default is 1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60" marR="8560" marT="8560" marB="0" anchor="b"/>
                </a:tc>
                <a:extLst>
                  <a:ext uri="{0D108BD9-81ED-4DB2-BD59-A6C34878D82A}">
                    <a16:rowId xmlns:a16="http://schemas.microsoft.com/office/drawing/2014/main" val="2567015034"/>
                  </a:ext>
                </a:extLst>
              </a:tr>
              <a:tr h="309875"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u="none" strike="noStrike">
                          <a:effectLst/>
                        </a:rPr>
                        <a:t>VARBINARY(size)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60" marR="8560" marT="85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u="none" strike="noStrike">
                          <a:effectLst/>
                        </a:rPr>
                        <a:t>Equal to VARCHAR(), but stores binary byte strings. The size parameter specifies the maximum column length in bytes.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60" marR="8560" marT="8560" marB="0" anchor="b"/>
                </a:tc>
                <a:extLst>
                  <a:ext uri="{0D108BD9-81ED-4DB2-BD59-A6C34878D82A}">
                    <a16:rowId xmlns:a16="http://schemas.microsoft.com/office/drawing/2014/main" val="3762102975"/>
                  </a:ext>
                </a:extLst>
              </a:tr>
              <a:tr h="171202"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u="none" strike="noStrike" dirty="0">
                          <a:effectLst/>
                        </a:rPr>
                        <a:t>TINYBLOB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60" marR="8560" marT="85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u="none" strike="noStrike">
                          <a:effectLst/>
                        </a:rPr>
                        <a:t>For BLOBs (Binary Large OBjects). Max length: 255 bytes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60" marR="8560" marT="8560" marB="0" anchor="b"/>
                </a:tc>
                <a:extLst>
                  <a:ext uri="{0D108BD9-81ED-4DB2-BD59-A6C34878D82A}">
                    <a16:rowId xmlns:a16="http://schemas.microsoft.com/office/drawing/2014/main" val="3147885488"/>
                  </a:ext>
                </a:extLst>
              </a:tr>
              <a:tr h="171202"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u="none" strike="noStrike" dirty="0">
                          <a:effectLst/>
                        </a:rPr>
                        <a:t>TINYTEXT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60" marR="8560" marT="85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u="none" strike="noStrike">
                          <a:effectLst/>
                        </a:rPr>
                        <a:t>Holds a string with a maximum length of 255 characters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60" marR="8560" marT="8560" marB="0" anchor="b"/>
                </a:tc>
                <a:extLst>
                  <a:ext uri="{0D108BD9-81ED-4DB2-BD59-A6C34878D82A}">
                    <a16:rowId xmlns:a16="http://schemas.microsoft.com/office/drawing/2014/main" val="2936838070"/>
                  </a:ext>
                </a:extLst>
              </a:tr>
              <a:tr h="171202"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u="none" strike="noStrike" dirty="0">
                          <a:effectLst/>
                        </a:rPr>
                        <a:t>TEXT(size)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60" marR="8560" marT="85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u="none" strike="noStrike" dirty="0">
                          <a:effectLst/>
                        </a:rPr>
                        <a:t>Holds a string with a maximum length of 65,535 bytes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60" marR="8560" marT="8560" marB="0" anchor="b"/>
                </a:tc>
                <a:extLst>
                  <a:ext uri="{0D108BD9-81ED-4DB2-BD59-A6C34878D82A}">
                    <a16:rowId xmlns:a16="http://schemas.microsoft.com/office/drawing/2014/main" val="1572879891"/>
                  </a:ext>
                </a:extLst>
              </a:tr>
              <a:tr h="171202"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u="none" strike="noStrike">
                          <a:effectLst/>
                        </a:rPr>
                        <a:t>BLOB(size)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60" marR="8560" marT="85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u="none" strike="noStrike" dirty="0">
                          <a:effectLst/>
                        </a:rPr>
                        <a:t>For BLOBs (Binary Large </a:t>
                      </a:r>
                      <a:r>
                        <a:rPr lang="en-GB" sz="1400" u="none" strike="noStrike" dirty="0" err="1">
                          <a:effectLst/>
                        </a:rPr>
                        <a:t>OBjects</a:t>
                      </a:r>
                      <a:r>
                        <a:rPr lang="en-GB" sz="1400" u="none" strike="noStrike" dirty="0">
                          <a:effectLst/>
                        </a:rPr>
                        <a:t>). Holds up to 65,535 bytes of data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60" marR="8560" marT="8560" marB="0" anchor="b"/>
                </a:tc>
                <a:extLst>
                  <a:ext uri="{0D108BD9-81ED-4DB2-BD59-A6C34878D82A}">
                    <a16:rowId xmlns:a16="http://schemas.microsoft.com/office/drawing/2014/main" val="3163833478"/>
                  </a:ext>
                </a:extLst>
              </a:tr>
              <a:tr h="171202"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u="none" strike="noStrike">
                          <a:effectLst/>
                        </a:rPr>
                        <a:t>MEDIUMTEXT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60" marR="8560" marT="85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u="none" strike="noStrike" dirty="0">
                          <a:effectLst/>
                        </a:rPr>
                        <a:t>Holds a string with a maximum length of 16,777,215 characters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60" marR="8560" marT="8560" marB="0" anchor="b"/>
                </a:tc>
                <a:extLst>
                  <a:ext uri="{0D108BD9-81ED-4DB2-BD59-A6C34878D82A}">
                    <a16:rowId xmlns:a16="http://schemas.microsoft.com/office/drawing/2014/main" val="1277042621"/>
                  </a:ext>
                </a:extLst>
              </a:tr>
              <a:tr h="171202"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u="none" strike="noStrike">
                          <a:effectLst/>
                        </a:rPr>
                        <a:t>MEDIUMBLOB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60" marR="8560" marT="85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u="none" strike="noStrike" dirty="0">
                          <a:effectLst/>
                        </a:rPr>
                        <a:t>For BLOBs (Binary Large </a:t>
                      </a:r>
                      <a:r>
                        <a:rPr lang="en-GB" sz="1400" u="none" strike="noStrike" dirty="0" err="1">
                          <a:effectLst/>
                        </a:rPr>
                        <a:t>OBjects</a:t>
                      </a:r>
                      <a:r>
                        <a:rPr lang="en-GB" sz="1400" u="none" strike="noStrike" dirty="0">
                          <a:effectLst/>
                        </a:rPr>
                        <a:t>). Holds up to 16,777,215 bytes of data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60" marR="8560" marT="8560" marB="0" anchor="b"/>
                </a:tc>
                <a:extLst>
                  <a:ext uri="{0D108BD9-81ED-4DB2-BD59-A6C34878D82A}">
                    <a16:rowId xmlns:a16="http://schemas.microsoft.com/office/drawing/2014/main" val="3507116450"/>
                  </a:ext>
                </a:extLst>
              </a:tr>
              <a:tr h="171202"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u="none" strike="noStrike">
                          <a:effectLst/>
                        </a:rPr>
                        <a:t>LONGTEXT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60" marR="8560" marT="85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u="none" strike="noStrike" dirty="0">
                          <a:effectLst/>
                        </a:rPr>
                        <a:t>Holds a string with a maximum length of 4,294,967,295 characters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60" marR="8560" marT="8560" marB="0" anchor="b"/>
                </a:tc>
                <a:extLst>
                  <a:ext uri="{0D108BD9-81ED-4DB2-BD59-A6C34878D82A}">
                    <a16:rowId xmlns:a16="http://schemas.microsoft.com/office/drawing/2014/main" val="1352672614"/>
                  </a:ext>
                </a:extLst>
              </a:tr>
              <a:tr h="171202"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u="none" strike="noStrike">
                          <a:effectLst/>
                        </a:rPr>
                        <a:t>LONGBLOB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60" marR="8560" marT="85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u="none" strike="noStrike" dirty="0">
                          <a:effectLst/>
                        </a:rPr>
                        <a:t>For BLOBs (Binary Large </a:t>
                      </a:r>
                      <a:r>
                        <a:rPr lang="en-GB" sz="1400" u="none" strike="noStrike" dirty="0" err="1">
                          <a:effectLst/>
                        </a:rPr>
                        <a:t>OBjects</a:t>
                      </a:r>
                      <a:r>
                        <a:rPr lang="en-GB" sz="1400" u="none" strike="noStrike" dirty="0">
                          <a:effectLst/>
                        </a:rPr>
                        <a:t>). Holds up to 4,294,967,295 bytes of data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60" marR="8560" marT="8560" marB="0" anchor="b"/>
                </a:tc>
                <a:extLst>
                  <a:ext uri="{0D108BD9-81ED-4DB2-BD59-A6C34878D82A}">
                    <a16:rowId xmlns:a16="http://schemas.microsoft.com/office/drawing/2014/main" val="2277860528"/>
                  </a:ext>
                </a:extLst>
              </a:tr>
              <a:tr h="460533"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u="none" strike="noStrike">
                          <a:effectLst/>
                        </a:rPr>
                        <a:t>ENUM(val1, val2, val3, ...)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60" marR="8560" marT="85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u="none" strike="noStrike" dirty="0">
                          <a:effectLst/>
                        </a:rPr>
                        <a:t>A string object that can have only one value, chosen from a list of possible values. You can list up to 65535 values in an ENUM list. If a value is inserted that is not in the list, a blank value will be inserted. The values are sorted in the order you enter them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60" marR="8560" marT="8560" marB="0" anchor="b"/>
                </a:tc>
                <a:extLst>
                  <a:ext uri="{0D108BD9-81ED-4DB2-BD59-A6C34878D82A}">
                    <a16:rowId xmlns:a16="http://schemas.microsoft.com/office/drawing/2014/main" val="2130656108"/>
                  </a:ext>
                </a:extLst>
              </a:tr>
              <a:tr h="309875"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u="none" strike="noStrike">
                          <a:effectLst/>
                        </a:rPr>
                        <a:t>SET(val1, val2, val3, ...)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60" marR="8560" marT="85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u="none" strike="noStrike" dirty="0">
                          <a:effectLst/>
                        </a:rPr>
                        <a:t>A string object that can have 0 or more values, chosen from a list of possible values. You can list up to 64 values in a SET list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60" marR="8560" marT="8560" marB="0" anchor="b"/>
                </a:tc>
                <a:extLst>
                  <a:ext uri="{0D108BD9-81ED-4DB2-BD59-A6C34878D82A}">
                    <a16:rowId xmlns:a16="http://schemas.microsoft.com/office/drawing/2014/main" val="20135102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832019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1823</TotalTime>
  <Words>2178</Words>
  <Application>Microsoft Office PowerPoint</Application>
  <PresentationFormat>On-screen Show (4:3)</PresentationFormat>
  <Paragraphs>347</Paragraphs>
  <Slides>38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50" baseType="lpstr">
      <vt:lpstr>Arial</vt:lpstr>
      <vt:lpstr>Calibri</vt:lpstr>
      <vt:lpstr>Calibri Light</vt:lpstr>
      <vt:lpstr>Consolas</vt:lpstr>
      <vt:lpstr>Helvetica</vt:lpstr>
      <vt:lpstr>Menlo</vt:lpstr>
      <vt:lpstr>Monaco</vt:lpstr>
      <vt:lpstr>Source Sans Pro</vt:lpstr>
      <vt:lpstr>Symbol</vt:lpstr>
      <vt:lpstr>Verdana</vt:lpstr>
      <vt:lpstr>Office Theme</vt:lpstr>
      <vt:lpstr>Equation</vt:lpstr>
      <vt:lpstr>DATABASE MANAGEMENT SYSTEMS</vt:lpstr>
      <vt:lpstr>UNIT - 2</vt:lpstr>
      <vt:lpstr>Query Languages</vt:lpstr>
      <vt:lpstr>Procedural Language/ Relational Algebra</vt:lpstr>
      <vt:lpstr>Non Procedural Languages</vt:lpstr>
      <vt:lpstr>The fundamental operations of relational algebra are as follows −</vt:lpstr>
      <vt:lpstr>PowerPoint Presentation</vt:lpstr>
      <vt:lpstr>SELECT (σ)</vt:lpstr>
      <vt:lpstr>SELECT (σ)</vt:lpstr>
      <vt:lpstr>PowerPoint Presentation</vt:lpstr>
      <vt:lpstr>Projection(π)</vt:lpstr>
      <vt:lpstr>Consider the following table</vt:lpstr>
      <vt:lpstr>PowerPoint Presentation</vt:lpstr>
      <vt:lpstr>PowerPoint Presentation</vt:lpstr>
      <vt:lpstr>Set Operations –  Union operation (υ)</vt:lpstr>
      <vt:lpstr>Consider the following Tables</vt:lpstr>
      <vt:lpstr>Write the complete Values in Both A and B</vt:lpstr>
      <vt:lpstr>Remove the Duplicates</vt:lpstr>
      <vt:lpstr>Set Difference (-)</vt:lpstr>
      <vt:lpstr>Write the complete Values in Both A and B</vt:lpstr>
      <vt:lpstr>Keep only the values which is available in A and not in B</vt:lpstr>
      <vt:lpstr>Intersection</vt:lpstr>
      <vt:lpstr>Write the complete Values in Both A and B</vt:lpstr>
      <vt:lpstr>Keep only the values which is available in Both A and B</vt:lpstr>
      <vt:lpstr>Rename(ρ)</vt:lpstr>
      <vt:lpstr>PowerPoint Presentation</vt:lpstr>
      <vt:lpstr>SQL STATMENTS</vt:lpstr>
      <vt:lpstr>What SQL CAN DO?</vt:lpstr>
      <vt:lpstr>PowerPoint Presentation</vt:lpstr>
      <vt:lpstr>PowerPoint Presentation</vt:lpstr>
      <vt:lpstr>SQL Data Types</vt:lpstr>
      <vt:lpstr>Non Integral Data Type</vt:lpstr>
      <vt:lpstr>PowerPoint Presentation</vt:lpstr>
      <vt:lpstr>PowerPoint Presentation</vt:lpstr>
      <vt:lpstr>Date Data types</vt:lpstr>
      <vt:lpstr>Sql String Data Types</vt:lpstr>
      <vt:lpstr>PowerPoint Presentation</vt:lpstr>
      <vt:lpstr>String Data Types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DATABASE MANAGEMENT SYSTEMS</dc:title>
  <dc:creator>NIRMALA</dc:creator>
  <cp:lastModifiedBy>NIRMALA</cp:lastModifiedBy>
  <cp:revision>43</cp:revision>
  <dcterms:created xsi:type="dcterms:W3CDTF">2020-12-16T07:21:01Z</dcterms:created>
  <dcterms:modified xsi:type="dcterms:W3CDTF">2021-11-29T02:19:35Z</dcterms:modified>
</cp:coreProperties>
</file>