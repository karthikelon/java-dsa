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9"/>
  </p:notesMasterIdLst>
  <p:sldIdLst>
    <p:sldId id="256" r:id="rId2"/>
    <p:sldId id="257" r:id="rId3"/>
    <p:sldId id="260" r:id="rId4"/>
    <p:sldId id="259" r:id="rId5"/>
    <p:sldId id="261" r:id="rId6"/>
    <p:sldId id="262" r:id="rId7"/>
    <p:sldId id="263" r:id="rId8"/>
    <p:sldId id="264" r:id="rId9"/>
    <p:sldId id="258" r:id="rId10"/>
    <p:sldId id="274" r:id="rId11"/>
    <p:sldId id="272" r:id="rId12"/>
    <p:sldId id="273" r:id="rId13"/>
    <p:sldId id="275" r:id="rId14"/>
    <p:sldId id="276" r:id="rId15"/>
    <p:sldId id="265" r:id="rId16"/>
    <p:sldId id="266" r:id="rId17"/>
    <p:sldId id="269" r:id="rId18"/>
    <p:sldId id="270" r:id="rId19"/>
    <p:sldId id="271" r:id="rId20"/>
    <p:sldId id="277" r:id="rId21"/>
    <p:sldId id="278" r:id="rId22"/>
    <p:sldId id="279" r:id="rId23"/>
    <p:sldId id="281" r:id="rId24"/>
    <p:sldId id="288" r:id="rId25"/>
    <p:sldId id="289" r:id="rId26"/>
    <p:sldId id="290" r:id="rId27"/>
    <p:sldId id="282" r:id="rId28"/>
    <p:sldId id="283" r:id="rId29"/>
    <p:sldId id="286" r:id="rId30"/>
    <p:sldId id="287" r:id="rId31"/>
    <p:sldId id="284" r:id="rId32"/>
    <p:sldId id="285"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11" r:id="rId50"/>
    <p:sldId id="313" r:id="rId51"/>
    <p:sldId id="312" r:id="rId52"/>
    <p:sldId id="314" r:id="rId53"/>
    <p:sldId id="315" r:id="rId54"/>
    <p:sldId id="316" r:id="rId55"/>
    <p:sldId id="317" r:id="rId56"/>
    <p:sldId id="318" r:id="rId57"/>
    <p:sldId id="319" r:id="rId58"/>
    <p:sldId id="310" r:id="rId59"/>
    <p:sldId id="321" r:id="rId60"/>
    <p:sldId id="320" r:id="rId61"/>
    <p:sldId id="330" r:id="rId62"/>
    <p:sldId id="331" r:id="rId63"/>
    <p:sldId id="332" r:id="rId64"/>
    <p:sldId id="333" r:id="rId65"/>
    <p:sldId id="334" r:id="rId66"/>
    <p:sldId id="335" r:id="rId67"/>
    <p:sldId id="322" r:id="rId68"/>
    <p:sldId id="336" r:id="rId69"/>
    <p:sldId id="338" r:id="rId70"/>
    <p:sldId id="327" r:id="rId71"/>
    <p:sldId id="328" r:id="rId72"/>
    <p:sldId id="345" r:id="rId73"/>
    <p:sldId id="329" r:id="rId74"/>
    <p:sldId id="326" r:id="rId75"/>
    <p:sldId id="340" r:id="rId76"/>
    <p:sldId id="342" r:id="rId77"/>
    <p:sldId id="343" r:id="rId78"/>
    <p:sldId id="346" r:id="rId79"/>
    <p:sldId id="344" r:id="rId80"/>
    <p:sldId id="307" r:id="rId81"/>
    <p:sldId id="351" r:id="rId82"/>
    <p:sldId id="352" r:id="rId83"/>
    <p:sldId id="353" r:id="rId84"/>
    <p:sldId id="354" r:id="rId85"/>
    <p:sldId id="355" r:id="rId86"/>
    <p:sldId id="356" r:id="rId87"/>
    <p:sldId id="360" r:id="rId88"/>
    <p:sldId id="361" r:id="rId89"/>
    <p:sldId id="362" r:id="rId90"/>
    <p:sldId id="363" r:id="rId91"/>
    <p:sldId id="364" r:id="rId92"/>
    <p:sldId id="308" r:id="rId93"/>
    <p:sldId id="347" r:id="rId94"/>
    <p:sldId id="348" r:id="rId95"/>
    <p:sldId id="365" r:id="rId96"/>
    <p:sldId id="366" r:id="rId97"/>
    <p:sldId id="367" r:id="rId98"/>
    <p:sldId id="368" r:id="rId99"/>
    <p:sldId id="369" r:id="rId100"/>
    <p:sldId id="370" r:id="rId101"/>
    <p:sldId id="371" r:id="rId102"/>
    <p:sldId id="372" r:id="rId103"/>
    <p:sldId id="373" r:id="rId104"/>
    <p:sldId id="374" r:id="rId105"/>
    <p:sldId id="375" r:id="rId106"/>
    <p:sldId id="376" r:id="rId107"/>
    <p:sldId id="377" r:id="rId108"/>
    <p:sldId id="378" r:id="rId109"/>
    <p:sldId id="379" r:id="rId110"/>
    <p:sldId id="380" r:id="rId111"/>
    <p:sldId id="383" r:id="rId112"/>
    <p:sldId id="381" r:id="rId113"/>
    <p:sldId id="382" r:id="rId114"/>
    <p:sldId id="349" r:id="rId115"/>
    <p:sldId id="350" r:id="rId116"/>
    <p:sldId id="384" r:id="rId117"/>
    <p:sldId id="385" r:id="rId118"/>
    <p:sldId id="386" r:id="rId119"/>
    <p:sldId id="387" r:id="rId120"/>
    <p:sldId id="389" r:id="rId121"/>
    <p:sldId id="390" r:id="rId122"/>
    <p:sldId id="391" r:id="rId123"/>
    <p:sldId id="392" r:id="rId124"/>
    <p:sldId id="393" r:id="rId125"/>
    <p:sldId id="396" r:id="rId126"/>
    <p:sldId id="397" r:id="rId127"/>
    <p:sldId id="398" r:id="rId128"/>
    <p:sldId id="399" r:id="rId129"/>
    <p:sldId id="400" r:id="rId130"/>
    <p:sldId id="401" r:id="rId131"/>
    <p:sldId id="402" r:id="rId132"/>
    <p:sldId id="403" r:id="rId133"/>
    <p:sldId id="404" r:id="rId134"/>
    <p:sldId id="405" r:id="rId135"/>
    <p:sldId id="406" r:id="rId136"/>
    <p:sldId id="407" r:id="rId137"/>
    <p:sldId id="408" r:id="rId138"/>
    <p:sldId id="409" r:id="rId139"/>
    <p:sldId id="410" r:id="rId140"/>
    <p:sldId id="411" r:id="rId141"/>
    <p:sldId id="412" r:id="rId142"/>
    <p:sldId id="413" r:id="rId143"/>
    <p:sldId id="414" r:id="rId144"/>
    <p:sldId id="415" r:id="rId145"/>
    <p:sldId id="416" r:id="rId146"/>
    <p:sldId id="417" r:id="rId147"/>
    <p:sldId id="418" r:id="rId148"/>
    <p:sldId id="419" r:id="rId149"/>
    <p:sldId id="420" r:id="rId150"/>
    <p:sldId id="421" r:id="rId151"/>
    <p:sldId id="422" r:id="rId152"/>
    <p:sldId id="423" r:id="rId153"/>
    <p:sldId id="424" r:id="rId154"/>
    <p:sldId id="425" r:id="rId155"/>
    <p:sldId id="426" r:id="rId156"/>
    <p:sldId id="427" r:id="rId157"/>
    <p:sldId id="428" r:id="rId158"/>
    <p:sldId id="429" r:id="rId159"/>
    <p:sldId id="430" r:id="rId160"/>
    <p:sldId id="431" r:id="rId161"/>
    <p:sldId id="432" r:id="rId162"/>
    <p:sldId id="433" r:id="rId163"/>
    <p:sldId id="434" r:id="rId164"/>
    <p:sldId id="324" r:id="rId165"/>
    <p:sldId id="339" r:id="rId166"/>
    <p:sldId id="435" r:id="rId167"/>
    <p:sldId id="436" r:id="rId168"/>
    <p:sldId id="437" r:id="rId169"/>
    <p:sldId id="438" r:id="rId170"/>
    <p:sldId id="439" r:id="rId171"/>
    <p:sldId id="440" r:id="rId172"/>
    <p:sldId id="441" r:id="rId173"/>
    <p:sldId id="442" r:id="rId174"/>
    <p:sldId id="443" r:id="rId175"/>
    <p:sldId id="444" r:id="rId176"/>
    <p:sldId id="445" r:id="rId177"/>
    <p:sldId id="446" r:id="rId1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060575-03CD-40F8-BDB6-1F2F78042740}">
          <p14:sldIdLst>
            <p14:sldId id="256"/>
            <p14:sldId id="257"/>
            <p14:sldId id="260"/>
            <p14:sldId id="259"/>
            <p14:sldId id="261"/>
            <p14:sldId id="262"/>
            <p14:sldId id="263"/>
            <p14:sldId id="264"/>
            <p14:sldId id="258"/>
            <p14:sldId id="274"/>
            <p14:sldId id="272"/>
            <p14:sldId id="273"/>
            <p14:sldId id="275"/>
            <p14:sldId id="276"/>
            <p14:sldId id="265"/>
            <p14:sldId id="266"/>
            <p14:sldId id="269"/>
            <p14:sldId id="270"/>
            <p14:sldId id="271"/>
            <p14:sldId id="277"/>
            <p14:sldId id="278"/>
            <p14:sldId id="279"/>
            <p14:sldId id="281"/>
            <p14:sldId id="288"/>
            <p14:sldId id="289"/>
            <p14:sldId id="290"/>
            <p14:sldId id="282"/>
            <p14:sldId id="283"/>
            <p14:sldId id="286"/>
            <p14:sldId id="287"/>
            <p14:sldId id="284"/>
            <p14:sldId id="285"/>
            <p14:sldId id="291"/>
            <p14:sldId id="292"/>
            <p14:sldId id="293"/>
            <p14:sldId id="294"/>
            <p14:sldId id="295"/>
            <p14:sldId id="296"/>
            <p14:sldId id="297"/>
            <p14:sldId id="298"/>
            <p14:sldId id="299"/>
            <p14:sldId id="300"/>
            <p14:sldId id="301"/>
            <p14:sldId id="302"/>
            <p14:sldId id="303"/>
            <p14:sldId id="304"/>
            <p14:sldId id="305"/>
            <p14:sldId id="306"/>
            <p14:sldId id="311"/>
            <p14:sldId id="313"/>
            <p14:sldId id="312"/>
            <p14:sldId id="314"/>
            <p14:sldId id="315"/>
            <p14:sldId id="316"/>
            <p14:sldId id="317"/>
            <p14:sldId id="318"/>
            <p14:sldId id="319"/>
            <p14:sldId id="310"/>
            <p14:sldId id="321"/>
            <p14:sldId id="320"/>
            <p14:sldId id="330"/>
            <p14:sldId id="331"/>
            <p14:sldId id="332"/>
            <p14:sldId id="333"/>
            <p14:sldId id="334"/>
            <p14:sldId id="335"/>
            <p14:sldId id="322"/>
            <p14:sldId id="336"/>
            <p14:sldId id="338"/>
            <p14:sldId id="327"/>
            <p14:sldId id="328"/>
            <p14:sldId id="345"/>
            <p14:sldId id="329"/>
            <p14:sldId id="326"/>
            <p14:sldId id="340"/>
            <p14:sldId id="342"/>
            <p14:sldId id="343"/>
            <p14:sldId id="346"/>
            <p14:sldId id="344"/>
            <p14:sldId id="307"/>
            <p14:sldId id="351"/>
            <p14:sldId id="352"/>
            <p14:sldId id="353"/>
            <p14:sldId id="354"/>
            <p14:sldId id="355"/>
            <p14:sldId id="356"/>
            <p14:sldId id="360"/>
            <p14:sldId id="361"/>
            <p14:sldId id="362"/>
            <p14:sldId id="363"/>
            <p14:sldId id="364"/>
            <p14:sldId id="308"/>
            <p14:sldId id="347"/>
            <p14:sldId id="348"/>
            <p14:sldId id="365"/>
            <p14:sldId id="366"/>
            <p14:sldId id="367"/>
            <p14:sldId id="368"/>
            <p14:sldId id="369"/>
            <p14:sldId id="370"/>
            <p14:sldId id="371"/>
            <p14:sldId id="372"/>
            <p14:sldId id="373"/>
            <p14:sldId id="374"/>
            <p14:sldId id="375"/>
            <p14:sldId id="376"/>
            <p14:sldId id="377"/>
            <p14:sldId id="378"/>
            <p14:sldId id="379"/>
            <p14:sldId id="380"/>
            <p14:sldId id="383"/>
            <p14:sldId id="381"/>
            <p14:sldId id="382"/>
            <p14:sldId id="349"/>
            <p14:sldId id="350"/>
            <p14:sldId id="384"/>
            <p14:sldId id="385"/>
            <p14:sldId id="386"/>
            <p14:sldId id="387"/>
            <p14:sldId id="389"/>
            <p14:sldId id="390"/>
            <p14:sldId id="391"/>
            <p14:sldId id="392"/>
            <p14:sldId id="393"/>
            <p14:sldId id="396"/>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 id="431"/>
            <p14:sldId id="432"/>
            <p14:sldId id="433"/>
            <p14:sldId id="434"/>
            <p14:sldId id="324"/>
            <p14:sldId id="339"/>
            <p14:sldId id="435"/>
            <p14:sldId id="436"/>
            <p14:sldId id="437"/>
            <p14:sldId id="438"/>
            <p14:sldId id="439"/>
            <p14:sldId id="440"/>
            <p14:sldId id="441"/>
            <p14:sldId id="442"/>
            <p14:sldId id="443"/>
            <p14:sldId id="444"/>
            <p14:sldId id="445"/>
            <p14:sldId id="44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8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433930-FEDB-483F-971D-1E65F530E350}" type="datetimeFigureOut">
              <a:rPr lang="en-GB" smtClean="0"/>
              <a:t>29/10/2021</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E63887-12B8-4C36-9D39-BE774B9E8A80}" type="slidenum">
              <a:rPr lang="en-GB" smtClean="0"/>
              <a:t>‹#›</a:t>
            </a:fld>
            <a:endParaRPr lang="en-GB"/>
          </a:p>
        </p:txBody>
      </p:sp>
    </p:spTree>
    <p:extLst>
      <p:ext uri="{BB962C8B-B14F-4D97-AF65-F5344CB8AC3E}">
        <p14:creationId xmlns:p14="http://schemas.microsoft.com/office/powerpoint/2010/main" val="464267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CFAF01E-7261-4BC7-BA04-D010342C6909}" type="slidenum">
              <a:rPr lang="en-US" smtClean="0"/>
              <a:pPr/>
              <a:t>113</a:t>
            </a:fld>
            <a:endParaRPr lang="en-US"/>
          </a:p>
        </p:txBody>
      </p:sp>
    </p:spTree>
    <p:extLst>
      <p:ext uri="{BB962C8B-B14F-4D97-AF65-F5344CB8AC3E}">
        <p14:creationId xmlns:p14="http://schemas.microsoft.com/office/powerpoint/2010/main" val="3999642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AE26AE0A-F119-425B-9406-763B3C3061A1}" type="datetimeFigureOut">
              <a:rPr lang="en-GB" smtClean="0"/>
              <a:t>29/10/2021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50D56F-95E0-4A6C-BEBE-5CEEFA3B0E0F}" type="slidenum">
              <a:rPr lang="en-GB" smtClean="0"/>
              <a:t>‹#›</a:t>
            </a:fld>
            <a:endParaRPr lang="en-GB"/>
          </a:p>
        </p:txBody>
      </p:sp>
    </p:spTree>
    <p:extLst>
      <p:ext uri="{BB962C8B-B14F-4D97-AF65-F5344CB8AC3E}">
        <p14:creationId xmlns:p14="http://schemas.microsoft.com/office/powerpoint/2010/main" val="1826914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AE26AE0A-F119-425B-9406-763B3C3061A1}" type="datetimeFigureOut">
              <a:rPr lang="en-GB" smtClean="0"/>
              <a:t>29/10/2021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50D56F-95E0-4A6C-BEBE-5CEEFA3B0E0F}" type="slidenum">
              <a:rPr lang="en-GB" smtClean="0"/>
              <a:t>‹#›</a:t>
            </a:fld>
            <a:endParaRPr lang="en-GB"/>
          </a:p>
        </p:txBody>
      </p:sp>
    </p:spTree>
    <p:extLst>
      <p:ext uri="{BB962C8B-B14F-4D97-AF65-F5344CB8AC3E}">
        <p14:creationId xmlns:p14="http://schemas.microsoft.com/office/powerpoint/2010/main" val="1283176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E26AE0A-F119-425B-9406-763B3C3061A1}" type="datetimeFigureOut">
              <a:rPr lang="en-GB" smtClean="0"/>
              <a:t>29/10/2021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50D56F-95E0-4A6C-BEBE-5CEEFA3B0E0F}" type="slidenum">
              <a:rPr lang="en-GB" smtClean="0"/>
              <a:t>‹#›</a:t>
            </a:fld>
            <a:endParaRPr lang="en-GB"/>
          </a:p>
        </p:txBody>
      </p:sp>
    </p:spTree>
    <p:extLst>
      <p:ext uri="{BB962C8B-B14F-4D97-AF65-F5344CB8AC3E}">
        <p14:creationId xmlns:p14="http://schemas.microsoft.com/office/powerpoint/2010/main" val="1325793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AE26AE0A-F119-425B-9406-763B3C3061A1}" type="datetimeFigureOut">
              <a:rPr lang="en-GB" smtClean="0"/>
              <a:t>29/10/2021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950D56F-95E0-4A6C-BEBE-5CEEFA3B0E0F}" type="slidenum">
              <a:rPr lang="en-GB" smtClean="0"/>
              <a:t>‹#›</a:t>
            </a:fld>
            <a:endParaRPr lang="en-GB"/>
          </a:p>
        </p:txBody>
      </p:sp>
    </p:spTree>
    <p:extLst>
      <p:ext uri="{BB962C8B-B14F-4D97-AF65-F5344CB8AC3E}">
        <p14:creationId xmlns:p14="http://schemas.microsoft.com/office/powerpoint/2010/main" val="2160102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AE26AE0A-F119-425B-9406-763B3C3061A1}" type="datetimeFigureOut">
              <a:rPr lang="en-GB" smtClean="0"/>
              <a:t>29/10/2021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950D56F-95E0-4A6C-BEBE-5CEEFA3B0E0F}" type="slidenum">
              <a:rPr lang="en-GB" smtClean="0"/>
              <a:t>‹#›</a:t>
            </a:fld>
            <a:endParaRPr lang="en-GB"/>
          </a:p>
        </p:txBody>
      </p:sp>
    </p:spTree>
    <p:extLst>
      <p:ext uri="{BB962C8B-B14F-4D97-AF65-F5344CB8AC3E}">
        <p14:creationId xmlns:p14="http://schemas.microsoft.com/office/powerpoint/2010/main" val="2521465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AE26AE0A-F119-425B-9406-763B3C3061A1}" type="datetimeFigureOut">
              <a:rPr lang="en-GB" smtClean="0"/>
              <a:t>29/10/2021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950D56F-95E0-4A6C-BEBE-5CEEFA3B0E0F}" type="slidenum">
              <a:rPr lang="en-GB" smtClean="0"/>
              <a:t>‹#›</a:t>
            </a:fld>
            <a:endParaRPr lang="en-GB"/>
          </a:p>
        </p:txBody>
      </p:sp>
    </p:spTree>
    <p:extLst>
      <p:ext uri="{BB962C8B-B14F-4D97-AF65-F5344CB8AC3E}">
        <p14:creationId xmlns:p14="http://schemas.microsoft.com/office/powerpoint/2010/main" val="1781897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26AE0A-F119-425B-9406-763B3C3061A1}" type="datetimeFigureOut">
              <a:rPr lang="en-GB" smtClean="0"/>
              <a:t>29/10/2021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950D56F-95E0-4A6C-BEBE-5CEEFA3B0E0F}" type="slidenum">
              <a:rPr lang="en-GB" smtClean="0"/>
              <a:t>‹#›</a:t>
            </a:fld>
            <a:endParaRPr lang="en-GB"/>
          </a:p>
        </p:txBody>
      </p:sp>
    </p:spTree>
    <p:extLst>
      <p:ext uri="{BB962C8B-B14F-4D97-AF65-F5344CB8AC3E}">
        <p14:creationId xmlns:p14="http://schemas.microsoft.com/office/powerpoint/2010/main" val="4248517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E26AE0A-F119-425B-9406-763B3C3061A1}" type="datetimeFigureOut">
              <a:rPr lang="en-GB" smtClean="0"/>
              <a:t>29/10/2021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950D56F-95E0-4A6C-BEBE-5CEEFA3B0E0F}" type="slidenum">
              <a:rPr lang="en-GB" smtClean="0"/>
              <a:t>‹#›</a:t>
            </a:fld>
            <a:endParaRPr lang="en-GB"/>
          </a:p>
        </p:txBody>
      </p:sp>
    </p:spTree>
    <p:extLst>
      <p:ext uri="{BB962C8B-B14F-4D97-AF65-F5344CB8AC3E}">
        <p14:creationId xmlns:p14="http://schemas.microsoft.com/office/powerpoint/2010/main" val="856757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E26AE0A-F119-425B-9406-763B3C3061A1}" type="datetimeFigureOut">
              <a:rPr lang="en-GB" smtClean="0"/>
              <a:t>29/10/2021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950D56F-95E0-4A6C-BEBE-5CEEFA3B0E0F}" type="slidenum">
              <a:rPr lang="en-GB" smtClean="0"/>
              <a:t>‹#›</a:t>
            </a:fld>
            <a:endParaRPr lang="en-GB"/>
          </a:p>
        </p:txBody>
      </p:sp>
    </p:spTree>
    <p:extLst>
      <p:ext uri="{BB962C8B-B14F-4D97-AF65-F5344CB8AC3E}">
        <p14:creationId xmlns:p14="http://schemas.microsoft.com/office/powerpoint/2010/main" val="3698777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AE26AE0A-F119-425B-9406-763B3C3061A1}" type="datetimeFigureOut">
              <a:rPr lang="en-GB" smtClean="0"/>
              <a:t>29/10/2021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50D56F-95E0-4A6C-BEBE-5CEEFA3B0E0F}" type="slidenum">
              <a:rPr lang="en-GB" smtClean="0"/>
              <a:t>‹#›</a:t>
            </a:fld>
            <a:endParaRPr lang="en-GB"/>
          </a:p>
        </p:txBody>
      </p:sp>
    </p:spTree>
    <p:extLst>
      <p:ext uri="{BB962C8B-B14F-4D97-AF65-F5344CB8AC3E}">
        <p14:creationId xmlns:p14="http://schemas.microsoft.com/office/powerpoint/2010/main" val="611316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AE26AE0A-F119-425B-9406-763B3C3061A1}" type="datetimeFigureOut">
              <a:rPr lang="en-GB" smtClean="0"/>
              <a:t>29/10/2021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50D56F-95E0-4A6C-BEBE-5CEEFA3B0E0F}" type="slidenum">
              <a:rPr lang="en-GB" smtClean="0"/>
              <a:t>‹#›</a:t>
            </a:fld>
            <a:endParaRPr lang="en-GB"/>
          </a:p>
        </p:txBody>
      </p:sp>
    </p:spTree>
    <p:extLst>
      <p:ext uri="{BB962C8B-B14F-4D97-AF65-F5344CB8AC3E}">
        <p14:creationId xmlns:p14="http://schemas.microsoft.com/office/powerpoint/2010/main" val="3475548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26AE0A-F119-425B-9406-763B3C3061A1}" type="datetimeFigureOut">
              <a:rPr lang="en-GB" smtClean="0"/>
              <a:t>29/10/2021</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50D56F-95E0-4A6C-BEBE-5CEEFA3B0E0F}" type="slidenum">
              <a:rPr lang="en-GB" smtClean="0"/>
              <a:t>‹#›</a:t>
            </a:fld>
            <a:endParaRPr lang="en-GB"/>
          </a:p>
        </p:txBody>
      </p:sp>
    </p:spTree>
    <p:extLst>
      <p:ext uri="{BB962C8B-B14F-4D97-AF65-F5344CB8AC3E}">
        <p14:creationId xmlns:p14="http://schemas.microsoft.com/office/powerpoint/2010/main" val="5184141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my.safaribooksonline.com/9788131731925/gloss01"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cid:string,rno:integer,time:string" TargetMode="External"/><Relationship Id="rId2" Type="http://schemas.openxmlformats.org/officeDocument/2006/relationships/hyperlink" Target="cid:string,cname:string"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creately.com/blog/wp-content/uploads/2012/03/Recursive-Relationship-ER-Diagrams.jpeg" TargetMode="Externa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4.wmf"/><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160.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6.wmf"/><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5.png"/></Relationships>
</file>

<file path=ppt/slides/_rels/slide16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9.wmf"/><Relationship Id="rId7" Type="http://schemas.openxmlformats.org/officeDocument/2006/relationships/image" Target="../media/image47.png"/><Relationship Id="rId2" Type="http://schemas.openxmlformats.org/officeDocument/2006/relationships/image" Target="../media/image48.wmf"/><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43.wmf"/><Relationship Id="rId4" Type="http://schemas.openxmlformats.org/officeDocument/2006/relationships/image" Target="../media/image50.wmf"/></Relationships>
</file>

<file path=ppt/slides/_rels/slide162.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52.wmf"/><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7.png"/><Relationship Id="rId4" Type="http://schemas.openxmlformats.org/officeDocument/2006/relationships/image" Target="../media/image51.png"/></Relationships>
</file>

<file path=ppt/slides/_rels/slide163.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image" Target="../media/image48.wmf"/><Relationship Id="rId7" Type="http://schemas.openxmlformats.org/officeDocument/2006/relationships/image" Target="../media/image43.wmf"/><Relationship Id="rId2" Type="http://schemas.openxmlformats.org/officeDocument/2006/relationships/image" Target="../media/image44.wmf"/><Relationship Id="rId1" Type="http://schemas.openxmlformats.org/officeDocument/2006/relationships/slideLayout" Target="../slideLayouts/slideLayout7.xml"/><Relationship Id="rId6" Type="http://schemas.openxmlformats.org/officeDocument/2006/relationships/image" Target="../media/image52.wmf"/><Relationship Id="rId5" Type="http://schemas.openxmlformats.org/officeDocument/2006/relationships/image" Target="../media/image50.wmf"/><Relationship Id="rId4" Type="http://schemas.openxmlformats.org/officeDocument/2006/relationships/image" Target="../media/image49.wmf"/></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DATABASE MANAGEMENT SYSTEMS</a:t>
            </a:r>
            <a:endParaRPr lang="en-GB" b="1" dirty="0"/>
          </a:p>
        </p:txBody>
      </p:sp>
      <p:sp>
        <p:nvSpPr>
          <p:cNvPr id="3" name="Subtitle 2"/>
          <p:cNvSpPr>
            <a:spLocks noGrp="1"/>
          </p:cNvSpPr>
          <p:nvPr>
            <p:ph type="subTitle" idx="1"/>
          </p:nvPr>
        </p:nvSpPr>
        <p:spPr/>
        <p:txBody>
          <a:bodyPr/>
          <a:lstStyle/>
          <a:p>
            <a:r>
              <a:rPr lang="en-GB" sz="4000" b="1" dirty="0" smtClean="0"/>
              <a:t>COURSE CODE : </a:t>
            </a:r>
            <a:r>
              <a:rPr lang="en-GB" sz="4000" b="1" dirty="0" smtClean="0"/>
              <a:t>21CA1204</a:t>
            </a:r>
            <a:r>
              <a:rPr lang="en-GB" sz="4000" b="1" dirty="0"/>
              <a:t>	</a:t>
            </a:r>
          </a:p>
          <a:p>
            <a:endParaRPr lang="en-GB" dirty="0"/>
          </a:p>
        </p:txBody>
      </p:sp>
    </p:spTree>
    <p:extLst>
      <p:ext uri="{BB962C8B-B14F-4D97-AF65-F5344CB8AC3E}">
        <p14:creationId xmlns:p14="http://schemas.microsoft.com/office/powerpoint/2010/main" val="11823918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UNIT - 1</a:t>
            </a:r>
            <a:endParaRPr lang="en-GB" dirty="0"/>
          </a:p>
        </p:txBody>
      </p:sp>
      <p:sp>
        <p:nvSpPr>
          <p:cNvPr id="3" name="Content Placeholder 2"/>
          <p:cNvSpPr>
            <a:spLocks noGrp="1"/>
          </p:cNvSpPr>
          <p:nvPr>
            <p:ph idx="1"/>
          </p:nvPr>
        </p:nvSpPr>
        <p:spPr>
          <a:xfrm>
            <a:off x="838200" y="1228725"/>
            <a:ext cx="10515600" cy="4948238"/>
          </a:xfrm>
        </p:spPr>
        <p:txBody>
          <a:bodyPr>
            <a:normAutofit fontScale="70000" lnSpcReduction="20000"/>
          </a:bodyPr>
          <a:lstStyle/>
          <a:p>
            <a:r>
              <a:rPr lang="en-GB" b="1" dirty="0"/>
              <a:t>INTRODUCTION, DATABASE DESIGN AND RELATIONAL </a:t>
            </a:r>
            <a:r>
              <a:rPr lang="en-GB" b="1" dirty="0" smtClean="0"/>
              <a:t>MODEL</a:t>
            </a:r>
          </a:p>
          <a:p>
            <a:r>
              <a:rPr lang="en-GB" dirty="0" smtClean="0"/>
              <a:t>Introduction</a:t>
            </a:r>
          </a:p>
          <a:p>
            <a:r>
              <a:rPr lang="en-GB" dirty="0" smtClean="0"/>
              <a:t>Database </a:t>
            </a:r>
            <a:r>
              <a:rPr lang="en-GB" dirty="0"/>
              <a:t>System Applications, </a:t>
            </a:r>
            <a:endParaRPr lang="en-GB" dirty="0" smtClean="0"/>
          </a:p>
          <a:p>
            <a:r>
              <a:rPr lang="en-GB" dirty="0" smtClean="0"/>
              <a:t>Purpose </a:t>
            </a:r>
            <a:r>
              <a:rPr lang="en-GB" dirty="0"/>
              <a:t>of Database Systems, </a:t>
            </a:r>
            <a:endParaRPr lang="en-GB" dirty="0" smtClean="0"/>
          </a:p>
          <a:p>
            <a:r>
              <a:rPr lang="en-GB" dirty="0" smtClean="0"/>
              <a:t>View </a:t>
            </a:r>
            <a:r>
              <a:rPr lang="en-GB" dirty="0"/>
              <a:t>of </a:t>
            </a:r>
            <a:r>
              <a:rPr lang="en-GB" dirty="0" smtClean="0"/>
              <a:t>Data</a:t>
            </a:r>
          </a:p>
          <a:p>
            <a:r>
              <a:rPr lang="en-GB" dirty="0" smtClean="0"/>
              <a:t>Database </a:t>
            </a:r>
            <a:r>
              <a:rPr lang="en-GB" dirty="0"/>
              <a:t>Languages, </a:t>
            </a:r>
            <a:endParaRPr lang="en-GB" dirty="0" smtClean="0"/>
          </a:p>
          <a:p>
            <a:r>
              <a:rPr lang="en-GB" dirty="0" smtClean="0"/>
              <a:t>Database </a:t>
            </a:r>
            <a:r>
              <a:rPr lang="en-GB" dirty="0"/>
              <a:t>and Application </a:t>
            </a:r>
            <a:r>
              <a:rPr lang="en-GB" dirty="0" smtClean="0"/>
              <a:t>Architecture</a:t>
            </a:r>
          </a:p>
          <a:p>
            <a:r>
              <a:rPr lang="en-GB" dirty="0" smtClean="0"/>
              <a:t>Database Users and Administrators</a:t>
            </a:r>
          </a:p>
          <a:p>
            <a:r>
              <a:rPr lang="en-GB" dirty="0" smtClean="0"/>
              <a:t>Database Schema</a:t>
            </a:r>
          </a:p>
          <a:p>
            <a:r>
              <a:rPr lang="en-GB" dirty="0" smtClean="0"/>
              <a:t>Keys</a:t>
            </a:r>
          </a:p>
          <a:p>
            <a:r>
              <a:rPr lang="en-GB" dirty="0" smtClean="0"/>
              <a:t>Schema Diagrams</a:t>
            </a:r>
          </a:p>
          <a:p>
            <a:r>
              <a:rPr lang="en-GB" dirty="0" smtClean="0"/>
              <a:t>ER diagrams</a:t>
            </a:r>
          </a:p>
          <a:p>
            <a:r>
              <a:rPr lang="en-GB" dirty="0" smtClean="0"/>
              <a:t>Mapping Cardinalities</a:t>
            </a:r>
          </a:p>
          <a:p>
            <a:r>
              <a:rPr lang="en-GB" dirty="0" smtClean="0"/>
              <a:t>Alternatives </a:t>
            </a:r>
            <a:r>
              <a:rPr lang="en-GB" dirty="0"/>
              <a:t>Notations for </a:t>
            </a:r>
            <a:r>
              <a:rPr lang="en-GB" dirty="0" err="1"/>
              <a:t>Modeling</a:t>
            </a:r>
            <a:r>
              <a:rPr lang="en-GB" dirty="0"/>
              <a:t> Data – Data Flow Diagram. 	</a:t>
            </a:r>
          </a:p>
          <a:p>
            <a:pPr marL="0" indent="0">
              <a:buNone/>
            </a:pPr>
            <a:endParaRPr lang="en-GB" dirty="0"/>
          </a:p>
        </p:txBody>
      </p:sp>
    </p:spTree>
    <p:extLst>
      <p:ext uri="{BB962C8B-B14F-4D97-AF65-F5344CB8AC3E}">
        <p14:creationId xmlns:p14="http://schemas.microsoft.com/office/powerpoint/2010/main" val="30984675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925" y="2536825"/>
            <a:ext cx="10515600" cy="1325563"/>
          </a:xfrm>
        </p:spPr>
        <p:txBody>
          <a:bodyPr/>
          <a:lstStyle/>
          <a:p>
            <a:pPr algn="ctr"/>
            <a:r>
              <a:rPr lang="en-US" dirty="0" smtClean="0"/>
              <a:t>INTRODUCTION</a:t>
            </a:r>
            <a:endParaRPr lang="en-GB" dirty="0"/>
          </a:p>
        </p:txBody>
      </p:sp>
    </p:spTree>
    <p:extLst>
      <p:ext uri="{BB962C8B-B14F-4D97-AF65-F5344CB8AC3E}">
        <p14:creationId xmlns:p14="http://schemas.microsoft.com/office/powerpoint/2010/main" val="8949316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a:t>
            </a:r>
            <a:endParaRPr lang="en-GB" dirty="0"/>
          </a:p>
        </p:txBody>
      </p:sp>
      <p:sp>
        <p:nvSpPr>
          <p:cNvPr id="3" name="Content Placeholder 2"/>
          <p:cNvSpPr>
            <a:spLocks noGrp="1"/>
          </p:cNvSpPr>
          <p:nvPr>
            <p:ph idx="1"/>
          </p:nvPr>
        </p:nvSpPr>
        <p:spPr/>
        <p:txBody>
          <a:bodyPr/>
          <a:lstStyle/>
          <a:p>
            <a:r>
              <a:rPr lang="en-US" dirty="0" smtClean="0">
                <a:latin typeface="Arial" pitchFamily="34" charset="0"/>
                <a:cs typeface="Arial" pitchFamily="34" charset="0"/>
              </a:rPr>
              <a:t>Data refers to raw facts</a:t>
            </a:r>
          </a:p>
          <a:p>
            <a:r>
              <a:rPr lang="en-US" b="0" dirty="0" smtClean="0">
                <a:latin typeface="Arial" pitchFamily="34" charset="0"/>
                <a:cs typeface="Arial" pitchFamily="34" charset="0"/>
              </a:rPr>
              <a:t>Data may be numerical data which may be integers or floating point numbers,  and non-numerical data such as characters, date and etc.,</a:t>
            </a:r>
          </a:p>
          <a:p>
            <a:pPr>
              <a:buNone/>
            </a:pPr>
            <a:r>
              <a:rPr lang="en-US" b="0" dirty="0" smtClean="0">
                <a:latin typeface="Arial" pitchFamily="34" charset="0"/>
                <a:cs typeface="Arial" pitchFamily="34" charset="0"/>
              </a:rPr>
              <a:t>				</a:t>
            </a:r>
          </a:p>
          <a:p>
            <a:endParaRPr lang="en-GB" dirty="0"/>
          </a:p>
        </p:txBody>
      </p:sp>
    </p:spTree>
    <p:extLst>
      <p:ext uri="{BB962C8B-B14F-4D97-AF65-F5344CB8AC3E}">
        <p14:creationId xmlns:p14="http://schemas.microsoft.com/office/powerpoint/2010/main" val="41761624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defRPr/>
            </a:pPr>
            <a:r>
              <a:rPr lang="en-US" dirty="0" smtClean="0">
                <a:latin typeface="Arial" pitchFamily="34" charset="0"/>
                <a:cs typeface="Arial" pitchFamily="34" charset="0"/>
              </a:rPr>
              <a:t>Example</a:t>
            </a:r>
          </a:p>
        </p:txBody>
      </p:sp>
      <p:grpSp>
        <p:nvGrpSpPr>
          <p:cNvPr id="2" name="Group 4"/>
          <p:cNvGrpSpPr>
            <a:grpSpLocks/>
          </p:cNvGrpSpPr>
          <p:nvPr/>
        </p:nvGrpSpPr>
        <p:grpSpPr bwMode="auto">
          <a:xfrm>
            <a:off x="3935413" y="1844675"/>
            <a:ext cx="990600" cy="2286000"/>
            <a:chOff x="480" y="1776"/>
            <a:chExt cx="624" cy="1440"/>
          </a:xfrm>
        </p:grpSpPr>
        <p:sp>
          <p:nvSpPr>
            <p:cNvPr id="6155" name="Oval 5"/>
            <p:cNvSpPr>
              <a:spLocks noChangeArrowheads="1"/>
            </p:cNvSpPr>
            <p:nvPr/>
          </p:nvSpPr>
          <p:spPr bwMode="auto">
            <a:xfrm>
              <a:off x="480" y="1776"/>
              <a:ext cx="624" cy="144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6156" name="Text Box 6"/>
            <p:cNvSpPr txBox="1">
              <a:spLocks noChangeArrowheads="1"/>
            </p:cNvSpPr>
            <p:nvPr/>
          </p:nvSpPr>
          <p:spPr bwMode="auto">
            <a:xfrm>
              <a:off x="624" y="1920"/>
              <a:ext cx="480" cy="1134"/>
            </a:xfrm>
            <a:prstGeom prst="rect">
              <a:avLst/>
            </a:prstGeom>
            <a:noFill/>
            <a:ln w="9525">
              <a:noFill/>
              <a:miter lim="800000"/>
              <a:headEnd/>
              <a:tailEnd/>
            </a:ln>
          </p:spPr>
          <p:txBody>
            <a:bodyPr>
              <a:spAutoFit/>
            </a:bodyPr>
            <a:lstStyle/>
            <a:p>
              <a:pPr algn="l"/>
              <a:r>
                <a:rPr lang="en-US" sz="2800" dirty="0">
                  <a:cs typeface="Arial" charset="0"/>
                </a:rPr>
                <a:t>98</a:t>
              </a:r>
            </a:p>
            <a:p>
              <a:pPr algn="l"/>
              <a:r>
                <a:rPr lang="en-US" sz="2800" dirty="0">
                  <a:cs typeface="Arial" charset="0"/>
                </a:rPr>
                <a:t>89</a:t>
              </a:r>
            </a:p>
            <a:p>
              <a:pPr algn="l"/>
              <a:r>
                <a:rPr lang="en-US" sz="2800" dirty="0">
                  <a:cs typeface="Arial" charset="0"/>
                </a:rPr>
                <a:t>87</a:t>
              </a:r>
            </a:p>
            <a:p>
              <a:pPr algn="l"/>
              <a:r>
                <a:rPr lang="en-US" sz="2800" dirty="0">
                  <a:cs typeface="Arial" charset="0"/>
                </a:rPr>
                <a:t>92</a:t>
              </a:r>
              <a:endParaRPr lang="en-US" sz="2800" dirty="0"/>
            </a:p>
          </p:txBody>
        </p:sp>
      </p:grpSp>
      <p:grpSp>
        <p:nvGrpSpPr>
          <p:cNvPr id="3" name="Group 7"/>
          <p:cNvGrpSpPr>
            <a:grpSpLocks/>
          </p:cNvGrpSpPr>
          <p:nvPr/>
        </p:nvGrpSpPr>
        <p:grpSpPr bwMode="auto">
          <a:xfrm>
            <a:off x="6491288" y="1881188"/>
            <a:ext cx="2057400" cy="2286000"/>
            <a:chOff x="480" y="1776"/>
            <a:chExt cx="624" cy="1440"/>
          </a:xfrm>
        </p:grpSpPr>
        <p:sp>
          <p:nvSpPr>
            <p:cNvPr id="6153" name="Oval 8"/>
            <p:cNvSpPr>
              <a:spLocks noChangeArrowheads="1"/>
            </p:cNvSpPr>
            <p:nvPr/>
          </p:nvSpPr>
          <p:spPr bwMode="auto">
            <a:xfrm>
              <a:off x="480" y="1776"/>
              <a:ext cx="624" cy="144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6154" name="Text Box 9"/>
            <p:cNvSpPr txBox="1">
              <a:spLocks noChangeArrowheads="1"/>
            </p:cNvSpPr>
            <p:nvPr/>
          </p:nvSpPr>
          <p:spPr bwMode="auto">
            <a:xfrm>
              <a:off x="624" y="1920"/>
              <a:ext cx="480" cy="1134"/>
            </a:xfrm>
            <a:prstGeom prst="rect">
              <a:avLst/>
            </a:prstGeom>
            <a:noFill/>
            <a:ln w="9525">
              <a:noFill/>
              <a:miter lim="800000"/>
              <a:headEnd/>
              <a:tailEnd/>
            </a:ln>
          </p:spPr>
          <p:txBody>
            <a:bodyPr>
              <a:spAutoFit/>
            </a:bodyPr>
            <a:lstStyle/>
            <a:p>
              <a:pPr algn="l"/>
              <a:r>
                <a:rPr lang="en-US" sz="2800">
                  <a:cs typeface="Arial" charset="0"/>
                </a:rPr>
                <a:t>phy</a:t>
              </a:r>
            </a:p>
            <a:p>
              <a:pPr algn="l"/>
              <a:r>
                <a:rPr lang="en-US" sz="2800">
                  <a:cs typeface="Arial" charset="0"/>
                </a:rPr>
                <a:t>chem</a:t>
              </a:r>
            </a:p>
            <a:p>
              <a:pPr algn="l"/>
              <a:r>
                <a:rPr lang="en-US" sz="2800">
                  <a:cs typeface="Arial" charset="0"/>
                </a:rPr>
                <a:t>maths</a:t>
              </a:r>
            </a:p>
            <a:p>
              <a:pPr algn="l"/>
              <a:r>
                <a:rPr lang="en-US" sz="2800">
                  <a:cs typeface="Arial" charset="0"/>
                </a:rPr>
                <a:t>biology</a:t>
              </a:r>
              <a:endParaRPr lang="en-US" sz="2800"/>
            </a:p>
          </p:txBody>
        </p:sp>
      </p:grpSp>
      <p:sp>
        <p:nvSpPr>
          <p:cNvPr id="6152" name="Text Box 10"/>
          <p:cNvSpPr txBox="1">
            <a:spLocks noChangeArrowheads="1"/>
          </p:cNvSpPr>
          <p:nvPr/>
        </p:nvSpPr>
        <p:spPr bwMode="auto">
          <a:xfrm>
            <a:off x="1739901" y="4329114"/>
            <a:ext cx="5724525" cy="1800225"/>
          </a:xfrm>
          <a:prstGeom prst="rect">
            <a:avLst/>
          </a:prstGeom>
          <a:noFill/>
          <a:ln w="9525">
            <a:noFill/>
            <a:miter lim="800000"/>
            <a:headEnd/>
            <a:tailEnd/>
          </a:ln>
        </p:spPr>
        <p:txBody>
          <a:bodyPr>
            <a:spAutoFit/>
          </a:bodyPr>
          <a:lstStyle/>
          <a:p>
            <a:pPr algn="l">
              <a:spcBef>
                <a:spcPct val="50000"/>
              </a:spcBef>
            </a:pPr>
            <a:r>
              <a:rPr lang="en-US" sz="2800" dirty="0"/>
              <a:t>The above numbers may be anything: It may be distance in </a:t>
            </a:r>
            <a:r>
              <a:rPr lang="en-US" sz="2800" dirty="0" err="1"/>
              <a:t>kms</a:t>
            </a:r>
            <a:r>
              <a:rPr lang="en-US" sz="2800" dirty="0"/>
              <a:t> or amount in rupees or no of days or marks in each subject etc.,</a:t>
            </a:r>
          </a:p>
        </p:txBody>
      </p:sp>
      <p:sp>
        <p:nvSpPr>
          <p:cNvPr id="13" name="Slide Number Placeholder 12"/>
          <p:cNvSpPr>
            <a:spLocks noGrp="1"/>
          </p:cNvSpPr>
          <p:nvPr>
            <p:ph type="sldNum" sz="quarter" idx="12"/>
          </p:nvPr>
        </p:nvSpPr>
        <p:spPr/>
        <p:txBody>
          <a:bodyPr/>
          <a:lstStyle/>
          <a:p>
            <a:fld id="{C8E6D33F-E187-4F70-BDF3-C2B81C57EFE3}" type="slidenum">
              <a:rPr lang="en-US" smtClean="0"/>
              <a:pPr/>
              <a:t>5</a:t>
            </a:fld>
            <a:endParaRPr lang="en-US"/>
          </a:p>
        </p:txBody>
      </p:sp>
      <p:sp>
        <p:nvSpPr>
          <p:cNvPr id="14" name="Footer Placeholder 13"/>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514641295"/>
      </p:ext>
    </p:extLst>
  </p:cSld>
  <p:clrMapOvr>
    <a:masterClrMapping/>
  </p:clrMapOvr>
  <p:transition advTm="10000"/>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Information</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dirty="0" smtClean="0">
                <a:latin typeface="Arial" pitchFamily="34" charset="0"/>
                <a:cs typeface="Arial" pitchFamily="34" charset="0"/>
              </a:rPr>
              <a:t>Processed Data is referred as Information. It delivers some meanings to the user</a:t>
            </a:r>
          </a:p>
          <a:p>
            <a:endParaRPr lang="en-US" dirty="0">
              <a:latin typeface="Arial" pitchFamily="34" charset="0"/>
              <a:cs typeface="Arial" pitchFamily="34" charset="0"/>
            </a:endParaRPr>
          </a:p>
        </p:txBody>
      </p:sp>
      <p:grpSp>
        <p:nvGrpSpPr>
          <p:cNvPr id="4" name="Group 5"/>
          <p:cNvGrpSpPr>
            <a:grpSpLocks/>
          </p:cNvGrpSpPr>
          <p:nvPr/>
        </p:nvGrpSpPr>
        <p:grpSpPr bwMode="auto">
          <a:xfrm>
            <a:off x="3810000" y="2971800"/>
            <a:ext cx="4191000" cy="2286000"/>
            <a:chOff x="960" y="1440"/>
            <a:chExt cx="2640" cy="1440"/>
          </a:xfrm>
        </p:grpSpPr>
        <p:grpSp>
          <p:nvGrpSpPr>
            <p:cNvPr id="5" name="Group 6"/>
            <p:cNvGrpSpPr>
              <a:grpSpLocks/>
            </p:cNvGrpSpPr>
            <p:nvPr/>
          </p:nvGrpSpPr>
          <p:grpSpPr bwMode="auto">
            <a:xfrm>
              <a:off x="2928" y="1440"/>
              <a:ext cx="624" cy="1440"/>
              <a:chOff x="480" y="1776"/>
              <a:chExt cx="624" cy="1440"/>
            </a:xfrm>
          </p:grpSpPr>
          <p:sp>
            <p:nvSpPr>
              <p:cNvPr id="13" name="Oval 7"/>
              <p:cNvSpPr>
                <a:spLocks noChangeArrowheads="1"/>
              </p:cNvSpPr>
              <p:nvPr/>
            </p:nvSpPr>
            <p:spPr bwMode="auto">
              <a:xfrm>
                <a:off x="480" y="1776"/>
                <a:ext cx="624" cy="144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4" name="Text Box 8"/>
              <p:cNvSpPr txBox="1">
                <a:spLocks noChangeArrowheads="1"/>
              </p:cNvSpPr>
              <p:nvPr/>
            </p:nvSpPr>
            <p:spPr bwMode="auto">
              <a:xfrm>
                <a:off x="624" y="1920"/>
                <a:ext cx="480" cy="1134"/>
              </a:xfrm>
              <a:prstGeom prst="rect">
                <a:avLst/>
              </a:prstGeom>
              <a:noFill/>
              <a:ln w="9525">
                <a:noFill/>
                <a:miter lim="800000"/>
                <a:headEnd/>
                <a:tailEnd/>
              </a:ln>
            </p:spPr>
            <p:txBody>
              <a:bodyPr>
                <a:spAutoFit/>
              </a:bodyPr>
              <a:lstStyle/>
              <a:p>
                <a:pPr algn="l"/>
                <a:r>
                  <a:rPr lang="en-US" sz="2800">
                    <a:cs typeface="Arial" charset="0"/>
                  </a:rPr>
                  <a:t>98</a:t>
                </a:r>
              </a:p>
              <a:p>
                <a:pPr algn="l"/>
                <a:r>
                  <a:rPr lang="en-US" sz="2800">
                    <a:cs typeface="Arial" charset="0"/>
                  </a:rPr>
                  <a:t>89</a:t>
                </a:r>
              </a:p>
              <a:p>
                <a:pPr algn="l"/>
                <a:r>
                  <a:rPr lang="en-US" sz="2800">
                    <a:cs typeface="Arial" charset="0"/>
                  </a:rPr>
                  <a:t>87</a:t>
                </a:r>
              </a:p>
              <a:p>
                <a:pPr algn="l"/>
                <a:r>
                  <a:rPr lang="en-US" sz="2800">
                    <a:cs typeface="Arial" charset="0"/>
                  </a:rPr>
                  <a:t>92</a:t>
                </a:r>
                <a:endParaRPr lang="en-US" sz="2800"/>
              </a:p>
            </p:txBody>
          </p:sp>
        </p:grpSp>
        <p:grpSp>
          <p:nvGrpSpPr>
            <p:cNvPr id="6" name="Group 9"/>
            <p:cNvGrpSpPr>
              <a:grpSpLocks/>
            </p:cNvGrpSpPr>
            <p:nvPr/>
          </p:nvGrpSpPr>
          <p:grpSpPr bwMode="auto">
            <a:xfrm>
              <a:off x="960" y="1440"/>
              <a:ext cx="1296" cy="1440"/>
              <a:chOff x="480" y="1776"/>
              <a:chExt cx="624" cy="1440"/>
            </a:xfrm>
          </p:grpSpPr>
          <p:sp>
            <p:nvSpPr>
              <p:cNvPr id="11" name="Oval 10"/>
              <p:cNvSpPr>
                <a:spLocks noChangeArrowheads="1"/>
              </p:cNvSpPr>
              <p:nvPr/>
            </p:nvSpPr>
            <p:spPr bwMode="auto">
              <a:xfrm>
                <a:off x="480" y="1776"/>
                <a:ext cx="624" cy="144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2" name="Text Box 11"/>
              <p:cNvSpPr txBox="1">
                <a:spLocks noChangeArrowheads="1"/>
              </p:cNvSpPr>
              <p:nvPr/>
            </p:nvSpPr>
            <p:spPr bwMode="auto">
              <a:xfrm>
                <a:off x="624" y="1920"/>
                <a:ext cx="480" cy="1134"/>
              </a:xfrm>
              <a:prstGeom prst="rect">
                <a:avLst/>
              </a:prstGeom>
              <a:noFill/>
              <a:ln w="9525">
                <a:noFill/>
                <a:miter lim="800000"/>
                <a:headEnd/>
                <a:tailEnd/>
              </a:ln>
            </p:spPr>
            <p:txBody>
              <a:bodyPr>
                <a:spAutoFit/>
              </a:bodyPr>
              <a:lstStyle/>
              <a:p>
                <a:pPr algn="l"/>
                <a:r>
                  <a:rPr lang="en-US" sz="2800">
                    <a:cs typeface="Arial" charset="0"/>
                  </a:rPr>
                  <a:t>phy</a:t>
                </a:r>
              </a:p>
              <a:p>
                <a:pPr algn="l"/>
                <a:r>
                  <a:rPr lang="en-US" sz="2800">
                    <a:cs typeface="Arial" charset="0"/>
                  </a:rPr>
                  <a:t>chem</a:t>
                </a:r>
              </a:p>
              <a:p>
                <a:pPr algn="l"/>
                <a:r>
                  <a:rPr lang="en-US" sz="2800">
                    <a:cs typeface="Arial" charset="0"/>
                  </a:rPr>
                  <a:t>maths</a:t>
                </a:r>
              </a:p>
              <a:p>
                <a:pPr algn="l"/>
                <a:r>
                  <a:rPr lang="en-US" sz="2800">
                    <a:cs typeface="Arial" charset="0"/>
                  </a:rPr>
                  <a:t>biology</a:t>
                </a:r>
                <a:endParaRPr lang="en-US" sz="2800"/>
              </a:p>
            </p:txBody>
          </p:sp>
        </p:grpSp>
        <p:sp>
          <p:nvSpPr>
            <p:cNvPr id="7" name="Rectangle 12"/>
            <p:cNvSpPr>
              <a:spLocks noChangeArrowheads="1"/>
            </p:cNvSpPr>
            <p:nvPr/>
          </p:nvSpPr>
          <p:spPr bwMode="auto">
            <a:xfrm>
              <a:off x="1056" y="1632"/>
              <a:ext cx="2544" cy="240"/>
            </a:xfrm>
            <a:prstGeom prst="rect">
              <a:avLst/>
            </a:prstGeom>
            <a:noFill/>
            <a:ln w="9525">
              <a:solidFill>
                <a:schemeClr val="tx1"/>
              </a:solidFill>
              <a:miter lim="800000"/>
              <a:headEnd/>
              <a:tailEnd/>
            </a:ln>
          </p:spPr>
          <p:txBody>
            <a:bodyPr wrap="none" anchor="ctr"/>
            <a:lstStyle/>
            <a:p>
              <a:endParaRPr lang="en-US"/>
            </a:p>
          </p:txBody>
        </p:sp>
        <p:sp>
          <p:nvSpPr>
            <p:cNvPr id="8" name="Rectangle 13"/>
            <p:cNvSpPr>
              <a:spLocks noChangeArrowheads="1"/>
            </p:cNvSpPr>
            <p:nvPr/>
          </p:nvSpPr>
          <p:spPr bwMode="auto">
            <a:xfrm>
              <a:off x="1056" y="1920"/>
              <a:ext cx="2544" cy="192"/>
            </a:xfrm>
            <a:prstGeom prst="rect">
              <a:avLst/>
            </a:prstGeom>
            <a:noFill/>
            <a:ln w="9525">
              <a:solidFill>
                <a:schemeClr val="tx1"/>
              </a:solidFill>
              <a:miter lim="800000"/>
              <a:headEnd/>
              <a:tailEnd/>
            </a:ln>
          </p:spPr>
          <p:txBody>
            <a:bodyPr wrap="none" anchor="ctr"/>
            <a:lstStyle/>
            <a:p>
              <a:endParaRPr lang="en-US"/>
            </a:p>
          </p:txBody>
        </p:sp>
        <p:sp>
          <p:nvSpPr>
            <p:cNvPr id="9" name="Rectangle 14"/>
            <p:cNvSpPr>
              <a:spLocks noChangeArrowheads="1"/>
            </p:cNvSpPr>
            <p:nvPr/>
          </p:nvSpPr>
          <p:spPr bwMode="auto">
            <a:xfrm>
              <a:off x="1056" y="2208"/>
              <a:ext cx="2544" cy="192"/>
            </a:xfrm>
            <a:prstGeom prst="rect">
              <a:avLst/>
            </a:prstGeom>
            <a:noFill/>
            <a:ln w="9525">
              <a:solidFill>
                <a:schemeClr val="tx1"/>
              </a:solidFill>
              <a:miter lim="800000"/>
              <a:headEnd/>
              <a:tailEnd/>
            </a:ln>
          </p:spPr>
          <p:txBody>
            <a:bodyPr wrap="none" anchor="ctr"/>
            <a:lstStyle/>
            <a:p>
              <a:endParaRPr lang="en-US"/>
            </a:p>
          </p:txBody>
        </p:sp>
        <p:sp>
          <p:nvSpPr>
            <p:cNvPr id="10" name="Rectangle 15"/>
            <p:cNvSpPr>
              <a:spLocks noChangeArrowheads="1"/>
            </p:cNvSpPr>
            <p:nvPr/>
          </p:nvSpPr>
          <p:spPr bwMode="auto">
            <a:xfrm>
              <a:off x="1056" y="2448"/>
              <a:ext cx="2544" cy="240"/>
            </a:xfrm>
            <a:prstGeom prst="rect">
              <a:avLst/>
            </a:prstGeom>
            <a:noFill/>
            <a:ln w="9525">
              <a:solidFill>
                <a:schemeClr val="tx1"/>
              </a:solidFill>
              <a:miter lim="800000"/>
              <a:headEnd/>
              <a:tailEnd/>
            </a:ln>
          </p:spPr>
          <p:txBody>
            <a:bodyPr wrap="none" anchor="ctr"/>
            <a:lstStyle/>
            <a:p>
              <a:endParaRPr lang="en-US"/>
            </a:p>
          </p:txBody>
        </p:sp>
      </p:grpSp>
      <p:sp>
        <p:nvSpPr>
          <p:cNvPr id="15" name="Slide Number Placeholder 14"/>
          <p:cNvSpPr>
            <a:spLocks noGrp="1"/>
          </p:cNvSpPr>
          <p:nvPr>
            <p:ph type="sldNum" sz="quarter" idx="12"/>
          </p:nvPr>
        </p:nvSpPr>
        <p:spPr/>
        <p:txBody>
          <a:bodyPr/>
          <a:lstStyle/>
          <a:p>
            <a:fld id="{C8E6D33F-E187-4F70-BDF3-C2B81C57EFE3}" type="slidenum">
              <a:rPr lang="en-US" smtClean="0"/>
              <a:pPr/>
              <a:t>6</a:t>
            </a:fld>
            <a:endParaRPr lang="en-US"/>
          </a:p>
        </p:txBody>
      </p:sp>
      <p:sp>
        <p:nvSpPr>
          <p:cNvPr id="16" name="Footer Placeholder 15"/>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469938827"/>
      </p:ext>
    </p:extLst>
  </p:cSld>
  <p:clrMapOvr>
    <a:masterClrMapping/>
  </p:clrMapOvr>
  <p:transition advTm="9000"/>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r>
              <a:rPr lang="en-US" dirty="0" smtClean="0">
                <a:latin typeface="Arial" pitchFamily="34" charset="0"/>
                <a:cs typeface="Arial" pitchFamily="34" charset="0"/>
              </a:rPr>
              <a:t>Database</a:t>
            </a:r>
            <a:endParaRPr lang="en-US" dirty="0">
              <a:latin typeface="Arial" pitchFamily="34" charset="0"/>
              <a:cs typeface="Arial" pitchFamily="34" charset="0"/>
            </a:endParaRPr>
          </a:p>
        </p:txBody>
      </p:sp>
      <p:sp>
        <p:nvSpPr>
          <p:cNvPr id="3" name="Content Placeholder 2"/>
          <p:cNvSpPr>
            <a:spLocks noGrp="1"/>
          </p:cNvSpPr>
          <p:nvPr>
            <p:ph idx="1"/>
          </p:nvPr>
        </p:nvSpPr>
        <p:spPr>
          <a:xfrm>
            <a:off x="1981200" y="838200"/>
            <a:ext cx="8229600" cy="5867400"/>
          </a:xfrm>
        </p:spPr>
        <p:txBody>
          <a:bodyPr/>
          <a:lstStyle/>
          <a:p>
            <a:r>
              <a:rPr lang="en-US" dirty="0" smtClean="0">
                <a:latin typeface="Arial" pitchFamily="34" charset="0"/>
                <a:cs typeface="Arial" pitchFamily="34" charset="0"/>
              </a:rPr>
              <a:t>Database is an organized, collection of related information</a:t>
            </a:r>
          </a:p>
          <a:p>
            <a:r>
              <a:rPr lang="en-US" dirty="0" err="1" smtClean="0">
                <a:latin typeface="Arial" pitchFamily="34" charset="0"/>
                <a:cs typeface="Arial" pitchFamily="34" charset="0"/>
              </a:rPr>
              <a:t>Eg</a:t>
            </a:r>
            <a:r>
              <a:rPr lang="en-US" dirty="0" smtClean="0">
                <a:latin typeface="Arial" pitchFamily="34" charset="0"/>
                <a:cs typeface="Arial" pitchFamily="34" charset="0"/>
              </a:rPr>
              <a:t>. telephone </a:t>
            </a:r>
            <a:r>
              <a:rPr lang="en-US" dirty="0">
                <a:latin typeface="Arial" pitchFamily="34" charset="0"/>
                <a:cs typeface="Arial" pitchFamily="34" charset="0"/>
              </a:rPr>
              <a:t>directory, dictionary, and college database.</a:t>
            </a:r>
          </a:p>
          <a:p>
            <a:endParaRPr lang="en-US" dirty="0">
              <a:latin typeface="Arial" pitchFamily="34" charset="0"/>
              <a:cs typeface="Arial" pitchFamily="34" charset="0"/>
            </a:endParaRPr>
          </a:p>
        </p:txBody>
      </p:sp>
      <p:grpSp>
        <p:nvGrpSpPr>
          <p:cNvPr id="4" name="Group 3"/>
          <p:cNvGrpSpPr/>
          <p:nvPr/>
        </p:nvGrpSpPr>
        <p:grpSpPr>
          <a:xfrm>
            <a:off x="2438400" y="2895600"/>
            <a:ext cx="7462838" cy="3794374"/>
            <a:chOff x="71438" y="1557338"/>
            <a:chExt cx="8686800" cy="5260975"/>
          </a:xfrm>
        </p:grpSpPr>
        <p:grpSp>
          <p:nvGrpSpPr>
            <p:cNvPr id="5" name="Group 4"/>
            <p:cNvGrpSpPr>
              <a:grpSpLocks/>
            </p:cNvGrpSpPr>
            <p:nvPr/>
          </p:nvGrpSpPr>
          <p:grpSpPr bwMode="auto">
            <a:xfrm>
              <a:off x="71438" y="1557338"/>
              <a:ext cx="4191000" cy="2746375"/>
              <a:chOff x="960" y="1440"/>
              <a:chExt cx="2640" cy="1730"/>
            </a:xfrm>
          </p:grpSpPr>
          <p:grpSp>
            <p:nvGrpSpPr>
              <p:cNvPr id="39" name="Group 5"/>
              <p:cNvGrpSpPr>
                <a:grpSpLocks/>
              </p:cNvGrpSpPr>
              <p:nvPr/>
            </p:nvGrpSpPr>
            <p:grpSpPr bwMode="auto">
              <a:xfrm>
                <a:off x="2928" y="1440"/>
                <a:ext cx="624" cy="1730"/>
                <a:chOff x="480" y="1776"/>
                <a:chExt cx="624" cy="1730"/>
              </a:xfrm>
            </p:grpSpPr>
            <p:sp>
              <p:nvSpPr>
                <p:cNvPr id="47" name="Oval 6"/>
                <p:cNvSpPr>
                  <a:spLocks noChangeArrowheads="1"/>
                </p:cNvSpPr>
                <p:nvPr/>
              </p:nvSpPr>
              <p:spPr bwMode="auto">
                <a:xfrm>
                  <a:off x="480" y="1776"/>
                  <a:ext cx="624" cy="144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48" name="Text Box 7"/>
                <p:cNvSpPr txBox="1">
                  <a:spLocks noChangeArrowheads="1"/>
                </p:cNvSpPr>
                <p:nvPr/>
              </p:nvSpPr>
              <p:spPr bwMode="auto">
                <a:xfrm>
                  <a:off x="624" y="1920"/>
                  <a:ext cx="480" cy="1586"/>
                </a:xfrm>
                <a:prstGeom prst="rect">
                  <a:avLst/>
                </a:prstGeom>
                <a:noFill/>
                <a:ln w="9525">
                  <a:noFill/>
                  <a:miter lim="800000"/>
                  <a:headEnd/>
                  <a:tailEnd/>
                </a:ln>
              </p:spPr>
              <p:txBody>
                <a:bodyPr>
                  <a:spAutoFit/>
                </a:bodyPr>
                <a:lstStyle/>
                <a:p>
                  <a:pPr algn="l"/>
                  <a:r>
                    <a:rPr lang="en-US" sz="2800">
                      <a:cs typeface="Arial" charset="0"/>
                    </a:rPr>
                    <a:t>98</a:t>
                  </a:r>
                </a:p>
                <a:p>
                  <a:pPr algn="l"/>
                  <a:r>
                    <a:rPr lang="en-US" sz="2800">
                      <a:cs typeface="Arial" charset="0"/>
                    </a:rPr>
                    <a:t>89</a:t>
                  </a:r>
                </a:p>
                <a:p>
                  <a:pPr algn="l"/>
                  <a:r>
                    <a:rPr lang="en-US" sz="2800">
                      <a:cs typeface="Arial" charset="0"/>
                    </a:rPr>
                    <a:t>87</a:t>
                  </a:r>
                </a:p>
                <a:p>
                  <a:pPr algn="l"/>
                  <a:r>
                    <a:rPr lang="en-US" sz="2800">
                      <a:cs typeface="Arial" charset="0"/>
                    </a:rPr>
                    <a:t>92</a:t>
                  </a:r>
                  <a:endParaRPr lang="en-US" sz="2800"/>
                </a:p>
              </p:txBody>
            </p:sp>
          </p:grpSp>
          <p:grpSp>
            <p:nvGrpSpPr>
              <p:cNvPr id="40" name="Group 8"/>
              <p:cNvGrpSpPr>
                <a:grpSpLocks/>
              </p:cNvGrpSpPr>
              <p:nvPr/>
            </p:nvGrpSpPr>
            <p:grpSpPr bwMode="auto">
              <a:xfrm>
                <a:off x="960" y="1440"/>
                <a:ext cx="1296" cy="1730"/>
                <a:chOff x="480" y="1776"/>
                <a:chExt cx="624" cy="1730"/>
              </a:xfrm>
            </p:grpSpPr>
            <p:sp>
              <p:nvSpPr>
                <p:cNvPr id="45" name="Oval 9"/>
                <p:cNvSpPr>
                  <a:spLocks noChangeArrowheads="1"/>
                </p:cNvSpPr>
                <p:nvPr/>
              </p:nvSpPr>
              <p:spPr bwMode="auto">
                <a:xfrm>
                  <a:off x="480" y="1776"/>
                  <a:ext cx="624" cy="144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46" name="Text Box 10"/>
                <p:cNvSpPr txBox="1">
                  <a:spLocks noChangeArrowheads="1"/>
                </p:cNvSpPr>
                <p:nvPr/>
              </p:nvSpPr>
              <p:spPr bwMode="auto">
                <a:xfrm>
                  <a:off x="624" y="1920"/>
                  <a:ext cx="480" cy="1586"/>
                </a:xfrm>
                <a:prstGeom prst="rect">
                  <a:avLst/>
                </a:prstGeom>
                <a:noFill/>
                <a:ln w="9525">
                  <a:noFill/>
                  <a:miter lim="800000"/>
                  <a:headEnd/>
                  <a:tailEnd/>
                </a:ln>
              </p:spPr>
              <p:txBody>
                <a:bodyPr>
                  <a:spAutoFit/>
                </a:bodyPr>
                <a:lstStyle/>
                <a:p>
                  <a:pPr algn="l"/>
                  <a:r>
                    <a:rPr lang="en-US" sz="2800">
                      <a:cs typeface="Arial" charset="0"/>
                    </a:rPr>
                    <a:t>phy</a:t>
                  </a:r>
                </a:p>
                <a:p>
                  <a:pPr algn="l"/>
                  <a:r>
                    <a:rPr lang="en-US" sz="2800">
                      <a:cs typeface="Arial" charset="0"/>
                    </a:rPr>
                    <a:t>chem</a:t>
                  </a:r>
                </a:p>
                <a:p>
                  <a:pPr algn="l"/>
                  <a:r>
                    <a:rPr lang="en-US" sz="2800">
                      <a:cs typeface="Arial" charset="0"/>
                    </a:rPr>
                    <a:t>maths</a:t>
                  </a:r>
                </a:p>
                <a:p>
                  <a:pPr algn="l"/>
                  <a:r>
                    <a:rPr lang="en-US" sz="2800">
                      <a:cs typeface="Arial" charset="0"/>
                    </a:rPr>
                    <a:t>biology</a:t>
                  </a:r>
                  <a:endParaRPr lang="en-US" sz="2800"/>
                </a:p>
              </p:txBody>
            </p:sp>
          </p:grpSp>
          <p:sp>
            <p:nvSpPr>
              <p:cNvPr id="41" name="Rectangle 11"/>
              <p:cNvSpPr>
                <a:spLocks noChangeArrowheads="1"/>
              </p:cNvSpPr>
              <p:nvPr/>
            </p:nvSpPr>
            <p:spPr bwMode="auto">
              <a:xfrm>
                <a:off x="1056" y="1632"/>
                <a:ext cx="2544" cy="240"/>
              </a:xfrm>
              <a:prstGeom prst="rect">
                <a:avLst/>
              </a:prstGeom>
              <a:noFill/>
              <a:ln w="9525">
                <a:solidFill>
                  <a:schemeClr val="tx1"/>
                </a:solidFill>
                <a:miter lim="800000"/>
                <a:headEnd/>
                <a:tailEnd/>
              </a:ln>
            </p:spPr>
            <p:txBody>
              <a:bodyPr wrap="none" anchor="ctr"/>
              <a:lstStyle/>
              <a:p>
                <a:endParaRPr lang="en-US"/>
              </a:p>
            </p:txBody>
          </p:sp>
          <p:sp>
            <p:nvSpPr>
              <p:cNvPr id="42" name="Rectangle 12"/>
              <p:cNvSpPr>
                <a:spLocks noChangeArrowheads="1"/>
              </p:cNvSpPr>
              <p:nvPr/>
            </p:nvSpPr>
            <p:spPr bwMode="auto">
              <a:xfrm>
                <a:off x="1056" y="1920"/>
                <a:ext cx="2544" cy="192"/>
              </a:xfrm>
              <a:prstGeom prst="rect">
                <a:avLst/>
              </a:prstGeom>
              <a:noFill/>
              <a:ln w="9525">
                <a:solidFill>
                  <a:schemeClr val="tx1"/>
                </a:solidFill>
                <a:miter lim="800000"/>
                <a:headEnd/>
                <a:tailEnd/>
              </a:ln>
            </p:spPr>
            <p:txBody>
              <a:bodyPr wrap="none" anchor="ctr"/>
              <a:lstStyle/>
              <a:p>
                <a:endParaRPr lang="en-US"/>
              </a:p>
            </p:txBody>
          </p:sp>
          <p:sp>
            <p:nvSpPr>
              <p:cNvPr id="43" name="Rectangle 13"/>
              <p:cNvSpPr>
                <a:spLocks noChangeArrowheads="1"/>
              </p:cNvSpPr>
              <p:nvPr/>
            </p:nvSpPr>
            <p:spPr bwMode="auto">
              <a:xfrm>
                <a:off x="1056" y="2208"/>
                <a:ext cx="2544" cy="192"/>
              </a:xfrm>
              <a:prstGeom prst="rect">
                <a:avLst/>
              </a:prstGeom>
              <a:noFill/>
              <a:ln w="9525">
                <a:solidFill>
                  <a:schemeClr val="tx1"/>
                </a:solidFill>
                <a:miter lim="800000"/>
                <a:headEnd/>
                <a:tailEnd/>
              </a:ln>
            </p:spPr>
            <p:txBody>
              <a:bodyPr wrap="none" anchor="ctr"/>
              <a:lstStyle/>
              <a:p>
                <a:endParaRPr lang="en-US"/>
              </a:p>
            </p:txBody>
          </p:sp>
          <p:sp>
            <p:nvSpPr>
              <p:cNvPr id="44" name="Rectangle 14"/>
              <p:cNvSpPr>
                <a:spLocks noChangeArrowheads="1"/>
              </p:cNvSpPr>
              <p:nvPr/>
            </p:nvSpPr>
            <p:spPr bwMode="auto">
              <a:xfrm>
                <a:off x="1056" y="2448"/>
                <a:ext cx="2544" cy="240"/>
              </a:xfrm>
              <a:prstGeom prst="rect">
                <a:avLst/>
              </a:prstGeom>
              <a:noFill/>
              <a:ln w="9525">
                <a:solidFill>
                  <a:schemeClr val="tx1"/>
                </a:solidFill>
                <a:miter lim="800000"/>
                <a:headEnd/>
                <a:tailEnd/>
              </a:ln>
            </p:spPr>
            <p:txBody>
              <a:bodyPr wrap="none" anchor="ctr"/>
              <a:lstStyle/>
              <a:p>
                <a:endParaRPr lang="en-US"/>
              </a:p>
            </p:txBody>
          </p:sp>
        </p:grpSp>
        <p:grpSp>
          <p:nvGrpSpPr>
            <p:cNvPr id="6" name="Group 15"/>
            <p:cNvGrpSpPr>
              <a:grpSpLocks/>
            </p:cNvGrpSpPr>
            <p:nvPr/>
          </p:nvGrpSpPr>
          <p:grpSpPr bwMode="auto">
            <a:xfrm>
              <a:off x="4567238" y="1557338"/>
              <a:ext cx="4191000" cy="2746375"/>
              <a:chOff x="960" y="1440"/>
              <a:chExt cx="2640" cy="1730"/>
            </a:xfrm>
          </p:grpSpPr>
          <p:grpSp>
            <p:nvGrpSpPr>
              <p:cNvPr id="29" name="Group 16"/>
              <p:cNvGrpSpPr>
                <a:grpSpLocks/>
              </p:cNvGrpSpPr>
              <p:nvPr/>
            </p:nvGrpSpPr>
            <p:grpSpPr bwMode="auto">
              <a:xfrm>
                <a:off x="2928" y="1440"/>
                <a:ext cx="624" cy="1730"/>
                <a:chOff x="480" y="1776"/>
                <a:chExt cx="624" cy="1730"/>
              </a:xfrm>
            </p:grpSpPr>
            <p:sp>
              <p:nvSpPr>
                <p:cNvPr id="37" name="Oval 17"/>
                <p:cNvSpPr>
                  <a:spLocks noChangeArrowheads="1"/>
                </p:cNvSpPr>
                <p:nvPr/>
              </p:nvSpPr>
              <p:spPr bwMode="auto">
                <a:xfrm>
                  <a:off x="480" y="1776"/>
                  <a:ext cx="624" cy="144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38" name="Text Box 18"/>
                <p:cNvSpPr txBox="1">
                  <a:spLocks noChangeArrowheads="1"/>
                </p:cNvSpPr>
                <p:nvPr/>
              </p:nvSpPr>
              <p:spPr bwMode="auto">
                <a:xfrm>
                  <a:off x="624" y="1920"/>
                  <a:ext cx="480" cy="1586"/>
                </a:xfrm>
                <a:prstGeom prst="rect">
                  <a:avLst/>
                </a:prstGeom>
                <a:noFill/>
                <a:ln w="9525">
                  <a:noFill/>
                  <a:miter lim="800000"/>
                  <a:headEnd/>
                  <a:tailEnd/>
                </a:ln>
              </p:spPr>
              <p:txBody>
                <a:bodyPr>
                  <a:spAutoFit/>
                </a:bodyPr>
                <a:lstStyle/>
                <a:p>
                  <a:pPr algn="l"/>
                  <a:r>
                    <a:rPr lang="en-US" sz="2800">
                      <a:cs typeface="Arial" charset="0"/>
                    </a:rPr>
                    <a:t>76</a:t>
                  </a:r>
                </a:p>
                <a:p>
                  <a:pPr algn="l"/>
                  <a:r>
                    <a:rPr lang="en-US" sz="2800">
                      <a:cs typeface="Arial" charset="0"/>
                    </a:rPr>
                    <a:t>87</a:t>
                  </a:r>
                </a:p>
                <a:p>
                  <a:pPr algn="l"/>
                  <a:r>
                    <a:rPr lang="en-US" sz="2800">
                      <a:cs typeface="Arial" charset="0"/>
                    </a:rPr>
                    <a:t>79</a:t>
                  </a:r>
                </a:p>
                <a:p>
                  <a:pPr algn="l"/>
                  <a:r>
                    <a:rPr lang="en-US" sz="2800">
                      <a:cs typeface="Arial" charset="0"/>
                    </a:rPr>
                    <a:t>88</a:t>
                  </a:r>
                  <a:endParaRPr lang="en-US" sz="2800"/>
                </a:p>
              </p:txBody>
            </p:sp>
          </p:grpSp>
          <p:grpSp>
            <p:nvGrpSpPr>
              <p:cNvPr id="30" name="Group 19"/>
              <p:cNvGrpSpPr>
                <a:grpSpLocks/>
              </p:cNvGrpSpPr>
              <p:nvPr/>
            </p:nvGrpSpPr>
            <p:grpSpPr bwMode="auto">
              <a:xfrm>
                <a:off x="960" y="1440"/>
                <a:ext cx="1296" cy="1730"/>
                <a:chOff x="480" y="1776"/>
                <a:chExt cx="624" cy="1730"/>
              </a:xfrm>
            </p:grpSpPr>
            <p:sp>
              <p:nvSpPr>
                <p:cNvPr id="35" name="Oval 20"/>
                <p:cNvSpPr>
                  <a:spLocks noChangeArrowheads="1"/>
                </p:cNvSpPr>
                <p:nvPr/>
              </p:nvSpPr>
              <p:spPr bwMode="auto">
                <a:xfrm>
                  <a:off x="480" y="1776"/>
                  <a:ext cx="624" cy="144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36" name="Text Box 21"/>
                <p:cNvSpPr txBox="1">
                  <a:spLocks noChangeArrowheads="1"/>
                </p:cNvSpPr>
                <p:nvPr/>
              </p:nvSpPr>
              <p:spPr bwMode="auto">
                <a:xfrm>
                  <a:off x="624" y="1920"/>
                  <a:ext cx="480" cy="1586"/>
                </a:xfrm>
                <a:prstGeom prst="rect">
                  <a:avLst/>
                </a:prstGeom>
                <a:noFill/>
                <a:ln w="9525">
                  <a:noFill/>
                  <a:miter lim="800000"/>
                  <a:headEnd/>
                  <a:tailEnd/>
                </a:ln>
              </p:spPr>
              <p:txBody>
                <a:bodyPr>
                  <a:spAutoFit/>
                </a:bodyPr>
                <a:lstStyle/>
                <a:p>
                  <a:pPr algn="l"/>
                  <a:r>
                    <a:rPr lang="en-US" sz="2800">
                      <a:cs typeface="Arial" charset="0"/>
                    </a:rPr>
                    <a:t>phy</a:t>
                  </a:r>
                </a:p>
                <a:p>
                  <a:pPr algn="l"/>
                  <a:r>
                    <a:rPr lang="en-US" sz="2800">
                      <a:cs typeface="Arial" charset="0"/>
                    </a:rPr>
                    <a:t>chem</a:t>
                  </a:r>
                </a:p>
                <a:p>
                  <a:pPr algn="l"/>
                  <a:r>
                    <a:rPr lang="en-US" sz="2800">
                      <a:cs typeface="Arial" charset="0"/>
                    </a:rPr>
                    <a:t>maths</a:t>
                  </a:r>
                </a:p>
                <a:p>
                  <a:pPr algn="l"/>
                  <a:r>
                    <a:rPr lang="en-US" sz="2800">
                      <a:cs typeface="Arial" charset="0"/>
                    </a:rPr>
                    <a:t>biology</a:t>
                  </a:r>
                  <a:endParaRPr lang="en-US" sz="2800"/>
                </a:p>
              </p:txBody>
            </p:sp>
          </p:grpSp>
          <p:sp>
            <p:nvSpPr>
              <p:cNvPr id="31" name="Rectangle 22"/>
              <p:cNvSpPr>
                <a:spLocks noChangeArrowheads="1"/>
              </p:cNvSpPr>
              <p:nvPr/>
            </p:nvSpPr>
            <p:spPr bwMode="auto">
              <a:xfrm>
                <a:off x="1056" y="1632"/>
                <a:ext cx="2544" cy="240"/>
              </a:xfrm>
              <a:prstGeom prst="rect">
                <a:avLst/>
              </a:prstGeom>
              <a:noFill/>
              <a:ln w="9525">
                <a:solidFill>
                  <a:schemeClr val="tx1"/>
                </a:solidFill>
                <a:miter lim="800000"/>
                <a:headEnd/>
                <a:tailEnd/>
              </a:ln>
            </p:spPr>
            <p:txBody>
              <a:bodyPr wrap="none" anchor="ctr"/>
              <a:lstStyle/>
              <a:p>
                <a:endParaRPr lang="en-US"/>
              </a:p>
            </p:txBody>
          </p:sp>
          <p:sp>
            <p:nvSpPr>
              <p:cNvPr id="32" name="Rectangle 23"/>
              <p:cNvSpPr>
                <a:spLocks noChangeArrowheads="1"/>
              </p:cNvSpPr>
              <p:nvPr/>
            </p:nvSpPr>
            <p:spPr bwMode="auto">
              <a:xfrm>
                <a:off x="1056" y="1920"/>
                <a:ext cx="2544" cy="192"/>
              </a:xfrm>
              <a:prstGeom prst="rect">
                <a:avLst/>
              </a:prstGeom>
              <a:noFill/>
              <a:ln w="9525">
                <a:solidFill>
                  <a:schemeClr val="tx1"/>
                </a:solidFill>
                <a:miter lim="800000"/>
                <a:headEnd/>
                <a:tailEnd/>
              </a:ln>
            </p:spPr>
            <p:txBody>
              <a:bodyPr wrap="none" anchor="ctr"/>
              <a:lstStyle/>
              <a:p>
                <a:endParaRPr lang="en-US"/>
              </a:p>
            </p:txBody>
          </p:sp>
          <p:sp>
            <p:nvSpPr>
              <p:cNvPr id="33" name="Rectangle 24"/>
              <p:cNvSpPr>
                <a:spLocks noChangeArrowheads="1"/>
              </p:cNvSpPr>
              <p:nvPr/>
            </p:nvSpPr>
            <p:spPr bwMode="auto">
              <a:xfrm>
                <a:off x="1056" y="2208"/>
                <a:ext cx="2544" cy="192"/>
              </a:xfrm>
              <a:prstGeom prst="rect">
                <a:avLst/>
              </a:prstGeom>
              <a:noFill/>
              <a:ln w="9525">
                <a:solidFill>
                  <a:schemeClr val="tx1"/>
                </a:solidFill>
                <a:miter lim="800000"/>
                <a:headEnd/>
                <a:tailEnd/>
              </a:ln>
            </p:spPr>
            <p:txBody>
              <a:bodyPr wrap="none" anchor="ctr"/>
              <a:lstStyle/>
              <a:p>
                <a:endParaRPr lang="en-US"/>
              </a:p>
            </p:txBody>
          </p:sp>
          <p:sp>
            <p:nvSpPr>
              <p:cNvPr id="34" name="Rectangle 25"/>
              <p:cNvSpPr>
                <a:spLocks noChangeArrowheads="1"/>
              </p:cNvSpPr>
              <p:nvPr/>
            </p:nvSpPr>
            <p:spPr bwMode="auto">
              <a:xfrm>
                <a:off x="1056" y="2448"/>
                <a:ext cx="2544" cy="240"/>
              </a:xfrm>
              <a:prstGeom prst="rect">
                <a:avLst/>
              </a:prstGeom>
              <a:noFill/>
              <a:ln w="9525">
                <a:solidFill>
                  <a:schemeClr val="tx1"/>
                </a:solidFill>
                <a:miter lim="800000"/>
                <a:headEnd/>
                <a:tailEnd/>
              </a:ln>
            </p:spPr>
            <p:txBody>
              <a:bodyPr wrap="none" anchor="ctr"/>
              <a:lstStyle/>
              <a:p>
                <a:endParaRPr lang="en-US"/>
              </a:p>
            </p:txBody>
          </p:sp>
        </p:grpSp>
        <p:grpSp>
          <p:nvGrpSpPr>
            <p:cNvPr id="7" name="Group 26"/>
            <p:cNvGrpSpPr>
              <a:grpSpLocks/>
            </p:cNvGrpSpPr>
            <p:nvPr/>
          </p:nvGrpSpPr>
          <p:grpSpPr bwMode="auto">
            <a:xfrm>
              <a:off x="4567238" y="4071938"/>
              <a:ext cx="4191000" cy="2746375"/>
              <a:chOff x="960" y="1440"/>
              <a:chExt cx="2640" cy="1730"/>
            </a:xfrm>
          </p:grpSpPr>
          <p:grpSp>
            <p:nvGrpSpPr>
              <p:cNvPr id="19" name="Group 27"/>
              <p:cNvGrpSpPr>
                <a:grpSpLocks/>
              </p:cNvGrpSpPr>
              <p:nvPr/>
            </p:nvGrpSpPr>
            <p:grpSpPr bwMode="auto">
              <a:xfrm>
                <a:off x="2928" y="1440"/>
                <a:ext cx="624" cy="1730"/>
                <a:chOff x="480" y="1776"/>
                <a:chExt cx="624" cy="1730"/>
              </a:xfrm>
            </p:grpSpPr>
            <p:sp>
              <p:nvSpPr>
                <p:cNvPr id="27" name="Oval 28"/>
                <p:cNvSpPr>
                  <a:spLocks noChangeArrowheads="1"/>
                </p:cNvSpPr>
                <p:nvPr/>
              </p:nvSpPr>
              <p:spPr bwMode="auto">
                <a:xfrm>
                  <a:off x="480" y="1776"/>
                  <a:ext cx="624" cy="144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8" name="Text Box 29"/>
                <p:cNvSpPr txBox="1">
                  <a:spLocks noChangeArrowheads="1"/>
                </p:cNvSpPr>
                <p:nvPr/>
              </p:nvSpPr>
              <p:spPr bwMode="auto">
                <a:xfrm>
                  <a:off x="624" y="1920"/>
                  <a:ext cx="480" cy="1586"/>
                </a:xfrm>
                <a:prstGeom prst="rect">
                  <a:avLst/>
                </a:prstGeom>
                <a:noFill/>
                <a:ln w="9525">
                  <a:noFill/>
                  <a:miter lim="800000"/>
                  <a:headEnd/>
                  <a:tailEnd/>
                </a:ln>
              </p:spPr>
              <p:txBody>
                <a:bodyPr>
                  <a:spAutoFit/>
                </a:bodyPr>
                <a:lstStyle/>
                <a:p>
                  <a:pPr algn="l"/>
                  <a:r>
                    <a:rPr lang="en-US" sz="2800">
                      <a:cs typeface="Arial" charset="0"/>
                    </a:rPr>
                    <a:t>91</a:t>
                  </a:r>
                </a:p>
                <a:p>
                  <a:pPr algn="l"/>
                  <a:r>
                    <a:rPr lang="en-US" sz="2800">
                      <a:cs typeface="Arial" charset="0"/>
                    </a:rPr>
                    <a:t>67</a:t>
                  </a:r>
                </a:p>
                <a:p>
                  <a:pPr algn="l"/>
                  <a:r>
                    <a:rPr lang="en-US" sz="2800">
                      <a:cs typeface="Arial" charset="0"/>
                    </a:rPr>
                    <a:t>87</a:t>
                  </a:r>
                </a:p>
                <a:p>
                  <a:pPr algn="l"/>
                  <a:r>
                    <a:rPr lang="en-US" sz="2800">
                      <a:cs typeface="Arial" charset="0"/>
                    </a:rPr>
                    <a:t>77</a:t>
                  </a:r>
                  <a:endParaRPr lang="en-US" sz="2800"/>
                </a:p>
              </p:txBody>
            </p:sp>
          </p:grpSp>
          <p:grpSp>
            <p:nvGrpSpPr>
              <p:cNvPr id="20" name="Group 30"/>
              <p:cNvGrpSpPr>
                <a:grpSpLocks/>
              </p:cNvGrpSpPr>
              <p:nvPr/>
            </p:nvGrpSpPr>
            <p:grpSpPr bwMode="auto">
              <a:xfrm>
                <a:off x="960" y="1440"/>
                <a:ext cx="1296" cy="1730"/>
                <a:chOff x="480" y="1776"/>
                <a:chExt cx="624" cy="1730"/>
              </a:xfrm>
            </p:grpSpPr>
            <p:sp>
              <p:nvSpPr>
                <p:cNvPr id="25" name="Oval 31"/>
                <p:cNvSpPr>
                  <a:spLocks noChangeArrowheads="1"/>
                </p:cNvSpPr>
                <p:nvPr/>
              </p:nvSpPr>
              <p:spPr bwMode="auto">
                <a:xfrm>
                  <a:off x="480" y="1776"/>
                  <a:ext cx="624" cy="144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6" name="Text Box 32"/>
                <p:cNvSpPr txBox="1">
                  <a:spLocks noChangeArrowheads="1"/>
                </p:cNvSpPr>
                <p:nvPr/>
              </p:nvSpPr>
              <p:spPr bwMode="auto">
                <a:xfrm>
                  <a:off x="624" y="1920"/>
                  <a:ext cx="480" cy="1586"/>
                </a:xfrm>
                <a:prstGeom prst="rect">
                  <a:avLst/>
                </a:prstGeom>
                <a:noFill/>
                <a:ln w="9525">
                  <a:noFill/>
                  <a:miter lim="800000"/>
                  <a:headEnd/>
                  <a:tailEnd/>
                </a:ln>
              </p:spPr>
              <p:txBody>
                <a:bodyPr>
                  <a:spAutoFit/>
                </a:bodyPr>
                <a:lstStyle/>
                <a:p>
                  <a:pPr algn="l"/>
                  <a:r>
                    <a:rPr lang="en-US" sz="2800">
                      <a:cs typeface="Arial" charset="0"/>
                    </a:rPr>
                    <a:t>phy</a:t>
                  </a:r>
                </a:p>
                <a:p>
                  <a:pPr algn="l"/>
                  <a:r>
                    <a:rPr lang="en-US" sz="2800">
                      <a:cs typeface="Arial" charset="0"/>
                    </a:rPr>
                    <a:t>chem</a:t>
                  </a:r>
                </a:p>
                <a:p>
                  <a:pPr algn="l"/>
                  <a:r>
                    <a:rPr lang="en-US" sz="2800">
                      <a:cs typeface="Arial" charset="0"/>
                    </a:rPr>
                    <a:t>maths</a:t>
                  </a:r>
                </a:p>
                <a:p>
                  <a:pPr algn="l"/>
                  <a:r>
                    <a:rPr lang="en-US" sz="2800">
                      <a:cs typeface="Arial" charset="0"/>
                    </a:rPr>
                    <a:t>biology</a:t>
                  </a:r>
                  <a:endParaRPr lang="en-US" sz="2800"/>
                </a:p>
              </p:txBody>
            </p:sp>
          </p:grpSp>
          <p:sp>
            <p:nvSpPr>
              <p:cNvPr id="21" name="Rectangle 33"/>
              <p:cNvSpPr>
                <a:spLocks noChangeArrowheads="1"/>
              </p:cNvSpPr>
              <p:nvPr/>
            </p:nvSpPr>
            <p:spPr bwMode="auto">
              <a:xfrm>
                <a:off x="1056" y="1632"/>
                <a:ext cx="2544" cy="240"/>
              </a:xfrm>
              <a:prstGeom prst="rect">
                <a:avLst/>
              </a:prstGeom>
              <a:noFill/>
              <a:ln w="9525">
                <a:solidFill>
                  <a:schemeClr val="tx1"/>
                </a:solidFill>
                <a:miter lim="800000"/>
                <a:headEnd/>
                <a:tailEnd/>
              </a:ln>
            </p:spPr>
            <p:txBody>
              <a:bodyPr wrap="none" anchor="ctr"/>
              <a:lstStyle/>
              <a:p>
                <a:endParaRPr lang="en-US"/>
              </a:p>
            </p:txBody>
          </p:sp>
          <p:sp>
            <p:nvSpPr>
              <p:cNvPr id="22" name="Rectangle 34"/>
              <p:cNvSpPr>
                <a:spLocks noChangeArrowheads="1"/>
              </p:cNvSpPr>
              <p:nvPr/>
            </p:nvSpPr>
            <p:spPr bwMode="auto">
              <a:xfrm>
                <a:off x="1056" y="1920"/>
                <a:ext cx="2544" cy="192"/>
              </a:xfrm>
              <a:prstGeom prst="rect">
                <a:avLst/>
              </a:prstGeom>
              <a:noFill/>
              <a:ln w="9525">
                <a:solidFill>
                  <a:schemeClr val="tx1"/>
                </a:solidFill>
                <a:miter lim="800000"/>
                <a:headEnd/>
                <a:tailEnd/>
              </a:ln>
            </p:spPr>
            <p:txBody>
              <a:bodyPr wrap="none" anchor="ctr"/>
              <a:lstStyle/>
              <a:p>
                <a:endParaRPr lang="en-US"/>
              </a:p>
            </p:txBody>
          </p:sp>
          <p:sp>
            <p:nvSpPr>
              <p:cNvPr id="23" name="Rectangle 35"/>
              <p:cNvSpPr>
                <a:spLocks noChangeArrowheads="1"/>
              </p:cNvSpPr>
              <p:nvPr/>
            </p:nvSpPr>
            <p:spPr bwMode="auto">
              <a:xfrm>
                <a:off x="1056" y="2208"/>
                <a:ext cx="2544" cy="192"/>
              </a:xfrm>
              <a:prstGeom prst="rect">
                <a:avLst/>
              </a:prstGeom>
              <a:noFill/>
              <a:ln w="9525">
                <a:solidFill>
                  <a:schemeClr val="tx1"/>
                </a:solidFill>
                <a:miter lim="800000"/>
                <a:headEnd/>
                <a:tailEnd/>
              </a:ln>
            </p:spPr>
            <p:txBody>
              <a:bodyPr wrap="none" anchor="ctr"/>
              <a:lstStyle/>
              <a:p>
                <a:endParaRPr lang="en-US"/>
              </a:p>
            </p:txBody>
          </p:sp>
          <p:sp>
            <p:nvSpPr>
              <p:cNvPr id="24" name="Rectangle 36"/>
              <p:cNvSpPr>
                <a:spLocks noChangeArrowheads="1"/>
              </p:cNvSpPr>
              <p:nvPr/>
            </p:nvSpPr>
            <p:spPr bwMode="auto">
              <a:xfrm>
                <a:off x="1056" y="2448"/>
                <a:ext cx="2544" cy="240"/>
              </a:xfrm>
              <a:prstGeom prst="rect">
                <a:avLst/>
              </a:prstGeom>
              <a:noFill/>
              <a:ln w="9525">
                <a:solidFill>
                  <a:schemeClr val="tx1"/>
                </a:solidFill>
                <a:miter lim="800000"/>
                <a:headEnd/>
                <a:tailEnd/>
              </a:ln>
            </p:spPr>
            <p:txBody>
              <a:bodyPr wrap="none" anchor="ctr"/>
              <a:lstStyle/>
              <a:p>
                <a:endParaRPr lang="en-US"/>
              </a:p>
            </p:txBody>
          </p:sp>
        </p:grpSp>
        <p:grpSp>
          <p:nvGrpSpPr>
            <p:cNvPr id="8" name="Group 37"/>
            <p:cNvGrpSpPr>
              <a:grpSpLocks/>
            </p:cNvGrpSpPr>
            <p:nvPr/>
          </p:nvGrpSpPr>
          <p:grpSpPr bwMode="auto">
            <a:xfrm>
              <a:off x="147638" y="4071938"/>
              <a:ext cx="4191000" cy="2746375"/>
              <a:chOff x="960" y="1440"/>
              <a:chExt cx="2640" cy="1730"/>
            </a:xfrm>
          </p:grpSpPr>
          <p:grpSp>
            <p:nvGrpSpPr>
              <p:cNvPr id="9" name="Group 38"/>
              <p:cNvGrpSpPr>
                <a:grpSpLocks/>
              </p:cNvGrpSpPr>
              <p:nvPr/>
            </p:nvGrpSpPr>
            <p:grpSpPr bwMode="auto">
              <a:xfrm>
                <a:off x="2928" y="1440"/>
                <a:ext cx="624" cy="1730"/>
                <a:chOff x="480" y="1776"/>
                <a:chExt cx="624" cy="1730"/>
              </a:xfrm>
            </p:grpSpPr>
            <p:sp>
              <p:nvSpPr>
                <p:cNvPr id="17" name="Oval 39"/>
                <p:cNvSpPr>
                  <a:spLocks noChangeArrowheads="1"/>
                </p:cNvSpPr>
                <p:nvPr/>
              </p:nvSpPr>
              <p:spPr bwMode="auto">
                <a:xfrm>
                  <a:off x="480" y="1776"/>
                  <a:ext cx="624" cy="144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8" name="Text Box 40"/>
                <p:cNvSpPr txBox="1">
                  <a:spLocks noChangeArrowheads="1"/>
                </p:cNvSpPr>
                <p:nvPr/>
              </p:nvSpPr>
              <p:spPr bwMode="auto">
                <a:xfrm>
                  <a:off x="624" y="1920"/>
                  <a:ext cx="480" cy="1586"/>
                </a:xfrm>
                <a:prstGeom prst="rect">
                  <a:avLst/>
                </a:prstGeom>
                <a:noFill/>
                <a:ln w="9525">
                  <a:noFill/>
                  <a:miter lim="800000"/>
                  <a:headEnd/>
                  <a:tailEnd/>
                </a:ln>
              </p:spPr>
              <p:txBody>
                <a:bodyPr>
                  <a:spAutoFit/>
                </a:bodyPr>
                <a:lstStyle/>
                <a:p>
                  <a:pPr algn="l"/>
                  <a:r>
                    <a:rPr lang="en-US" sz="2800" dirty="0">
                      <a:cs typeface="Arial" charset="0"/>
                    </a:rPr>
                    <a:t>86</a:t>
                  </a:r>
                </a:p>
                <a:p>
                  <a:pPr algn="l"/>
                  <a:r>
                    <a:rPr lang="en-US" sz="2800" dirty="0">
                      <a:cs typeface="Arial" charset="0"/>
                    </a:rPr>
                    <a:t>80</a:t>
                  </a:r>
                </a:p>
                <a:p>
                  <a:pPr algn="l"/>
                  <a:r>
                    <a:rPr lang="en-US" sz="2800" dirty="0">
                      <a:cs typeface="Arial" charset="0"/>
                    </a:rPr>
                    <a:t>79</a:t>
                  </a:r>
                </a:p>
                <a:p>
                  <a:pPr algn="l"/>
                  <a:r>
                    <a:rPr lang="en-US" sz="2800" dirty="0">
                      <a:cs typeface="Arial" charset="0"/>
                    </a:rPr>
                    <a:t>88</a:t>
                  </a:r>
                  <a:endParaRPr lang="en-US" sz="2800" dirty="0"/>
                </a:p>
              </p:txBody>
            </p:sp>
          </p:grpSp>
          <p:grpSp>
            <p:nvGrpSpPr>
              <p:cNvPr id="10" name="Group 41"/>
              <p:cNvGrpSpPr>
                <a:grpSpLocks/>
              </p:cNvGrpSpPr>
              <p:nvPr/>
            </p:nvGrpSpPr>
            <p:grpSpPr bwMode="auto">
              <a:xfrm>
                <a:off x="960" y="1440"/>
                <a:ext cx="1296" cy="1730"/>
                <a:chOff x="480" y="1776"/>
                <a:chExt cx="624" cy="1730"/>
              </a:xfrm>
            </p:grpSpPr>
            <p:sp>
              <p:nvSpPr>
                <p:cNvPr id="15" name="Oval 42"/>
                <p:cNvSpPr>
                  <a:spLocks noChangeArrowheads="1"/>
                </p:cNvSpPr>
                <p:nvPr/>
              </p:nvSpPr>
              <p:spPr bwMode="auto">
                <a:xfrm>
                  <a:off x="480" y="1776"/>
                  <a:ext cx="624" cy="144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6" name="Text Box 43"/>
                <p:cNvSpPr txBox="1">
                  <a:spLocks noChangeArrowheads="1"/>
                </p:cNvSpPr>
                <p:nvPr/>
              </p:nvSpPr>
              <p:spPr bwMode="auto">
                <a:xfrm>
                  <a:off x="624" y="1920"/>
                  <a:ext cx="480" cy="1586"/>
                </a:xfrm>
                <a:prstGeom prst="rect">
                  <a:avLst/>
                </a:prstGeom>
                <a:noFill/>
                <a:ln w="9525">
                  <a:noFill/>
                  <a:miter lim="800000"/>
                  <a:headEnd/>
                  <a:tailEnd/>
                </a:ln>
              </p:spPr>
              <p:txBody>
                <a:bodyPr>
                  <a:spAutoFit/>
                </a:bodyPr>
                <a:lstStyle/>
                <a:p>
                  <a:pPr algn="l"/>
                  <a:r>
                    <a:rPr lang="en-US" sz="2800">
                      <a:cs typeface="Arial" charset="0"/>
                    </a:rPr>
                    <a:t>phy</a:t>
                  </a:r>
                </a:p>
                <a:p>
                  <a:pPr algn="l"/>
                  <a:r>
                    <a:rPr lang="en-US" sz="2800">
                      <a:cs typeface="Arial" charset="0"/>
                    </a:rPr>
                    <a:t>chem</a:t>
                  </a:r>
                </a:p>
                <a:p>
                  <a:pPr algn="l"/>
                  <a:r>
                    <a:rPr lang="en-US" sz="2800">
                      <a:cs typeface="Arial" charset="0"/>
                    </a:rPr>
                    <a:t>maths</a:t>
                  </a:r>
                </a:p>
                <a:p>
                  <a:pPr algn="l"/>
                  <a:r>
                    <a:rPr lang="en-US" sz="2800">
                      <a:cs typeface="Arial" charset="0"/>
                    </a:rPr>
                    <a:t>biology</a:t>
                  </a:r>
                  <a:endParaRPr lang="en-US" sz="2800"/>
                </a:p>
              </p:txBody>
            </p:sp>
          </p:grpSp>
          <p:sp>
            <p:nvSpPr>
              <p:cNvPr id="11" name="Rectangle 44"/>
              <p:cNvSpPr>
                <a:spLocks noChangeArrowheads="1"/>
              </p:cNvSpPr>
              <p:nvPr/>
            </p:nvSpPr>
            <p:spPr bwMode="auto">
              <a:xfrm>
                <a:off x="1056" y="1632"/>
                <a:ext cx="2544" cy="240"/>
              </a:xfrm>
              <a:prstGeom prst="rect">
                <a:avLst/>
              </a:prstGeom>
              <a:noFill/>
              <a:ln w="9525">
                <a:solidFill>
                  <a:schemeClr val="tx1"/>
                </a:solidFill>
                <a:miter lim="800000"/>
                <a:headEnd/>
                <a:tailEnd/>
              </a:ln>
            </p:spPr>
            <p:txBody>
              <a:bodyPr wrap="none" anchor="ctr"/>
              <a:lstStyle/>
              <a:p>
                <a:endParaRPr lang="en-US"/>
              </a:p>
            </p:txBody>
          </p:sp>
          <p:sp>
            <p:nvSpPr>
              <p:cNvPr id="12" name="Rectangle 45"/>
              <p:cNvSpPr>
                <a:spLocks noChangeArrowheads="1"/>
              </p:cNvSpPr>
              <p:nvPr/>
            </p:nvSpPr>
            <p:spPr bwMode="auto">
              <a:xfrm>
                <a:off x="1056" y="1920"/>
                <a:ext cx="2544" cy="192"/>
              </a:xfrm>
              <a:prstGeom prst="rect">
                <a:avLst/>
              </a:prstGeom>
              <a:noFill/>
              <a:ln w="9525">
                <a:solidFill>
                  <a:schemeClr val="tx1"/>
                </a:solidFill>
                <a:miter lim="800000"/>
                <a:headEnd/>
                <a:tailEnd/>
              </a:ln>
            </p:spPr>
            <p:txBody>
              <a:bodyPr wrap="none" anchor="ctr"/>
              <a:lstStyle/>
              <a:p>
                <a:endParaRPr lang="en-US"/>
              </a:p>
            </p:txBody>
          </p:sp>
          <p:sp>
            <p:nvSpPr>
              <p:cNvPr id="13" name="Rectangle 46"/>
              <p:cNvSpPr>
                <a:spLocks noChangeArrowheads="1"/>
              </p:cNvSpPr>
              <p:nvPr/>
            </p:nvSpPr>
            <p:spPr bwMode="auto">
              <a:xfrm>
                <a:off x="1056" y="2208"/>
                <a:ext cx="2544" cy="192"/>
              </a:xfrm>
              <a:prstGeom prst="rect">
                <a:avLst/>
              </a:prstGeom>
              <a:noFill/>
              <a:ln w="9525">
                <a:solidFill>
                  <a:schemeClr val="tx1"/>
                </a:solidFill>
                <a:miter lim="800000"/>
                <a:headEnd/>
                <a:tailEnd/>
              </a:ln>
            </p:spPr>
            <p:txBody>
              <a:bodyPr wrap="none" anchor="ctr"/>
              <a:lstStyle/>
              <a:p>
                <a:endParaRPr lang="en-US"/>
              </a:p>
            </p:txBody>
          </p:sp>
          <p:sp>
            <p:nvSpPr>
              <p:cNvPr id="14" name="Rectangle 47"/>
              <p:cNvSpPr>
                <a:spLocks noChangeArrowheads="1"/>
              </p:cNvSpPr>
              <p:nvPr/>
            </p:nvSpPr>
            <p:spPr bwMode="auto">
              <a:xfrm>
                <a:off x="1056" y="2448"/>
                <a:ext cx="2544" cy="240"/>
              </a:xfrm>
              <a:prstGeom prst="rect">
                <a:avLst/>
              </a:prstGeom>
              <a:noFill/>
              <a:ln w="9525">
                <a:solidFill>
                  <a:schemeClr val="tx1"/>
                </a:solidFill>
                <a:miter lim="800000"/>
                <a:headEnd/>
                <a:tailEnd/>
              </a:ln>
            </p:spPr>
            <p:txBody>
              <a:bodyPr wrap="none" anchor="ctr"/>
              <a:lstStyle/>
              <a:p>
                <a:endParaRPr lang="en-US"/>
              </a:p>
            </p:txBody>
          </p:sp>
        </p:grpSp>
      </p:grpSp>
      <p:sp>
        <p:nvSpPr>
          <p:cNvPr id="49" name="Slide Number Placeholder 48"/>
          <p:cNvSpPr>
            <a:spLocks noGrp="1"/>
          </p:cNvSpPr>
          <p:nvPr>
            <p:ph type="sldNum" sz="quarter" idx="12"/>
          </p:nvPr>
        </p:nvSpPr>
        <p:spPr/>
        <p:txBody>
          <a:bodyPr/>
          <a:lstStyle/>
          <a:p>
            <a:fld id="{C8E6D33F-E187-4F70-BDF3-C2B81C57EFE3}" type="slidenum">
              <a:rPr lang="en-US" smtClean="0"/>
              <a:pPr/>
              <a:t>7</a:t>
            </a:fld>
            <a:endParaRPr lang="en-US"/>
          </a:p>
        </p:txBody>
      </p:sp>
      <p:sp>
        <p:nvSpPr>
          <p:cNvPr id="50" name="Footer Placeholder 49"/>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40442661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rmAutofit fontScale="90000"/>
          </a:bodyPr>
          <a:lstStyle/>
          <a:p>
            <a:r>
              <a:rPr lang="en-US" dirty="0" smtClean="0">
                <a:latin typeface="Arial" pitchFamily="34" charset="0"/>
                <a:cs typeface="Arial" pitchFamily="34" charset="0"/>
              </a:rPr>
              <a:t>Database Management Systems</a:t>
            </a:r>
            <a:endParaRPr lang="en-US" dirty="0">
              <a:latin typeface="Arial" pitchFamily="34" charset="0"/>
              <a:cs typeface="Arial" pitchFamily="34" charset="0"/>
            </a:endParaRPr>
          </a:p>
        </p:txBody>
      </p:sp>
      <p:sp>
        <p:nvSpPr>
          <p:cNvPr id="3" name="Content Placeholder 2"/>
          <p:cNvSpPr>
            <a:spLocks noGrp="1"/>
          </p:cNvSpPr>
          <p:nvPr>
            <p:ph idx="1"/>
          </p:nvPr>
        </p:nvSpPr>
        <p:spPr>
          <a:xfrm>
            <a:off x="971550" y="1143001"/>
            <a:ext cx="10529888" cy="5386387"/>
          </a:xfrm>
        </p:spPr>
        <p:txBody>
          <a:bodyPr>
            <a:normAutofit lnSpcReduction="10000"/>
          </a:bodyPr>
          <a:lstStyle/>
          <a:p>
            <a:r>
              <a:rPr lang="en-US" dirty="0">
                <a:latin typeface="Arial" pitchFamily="34" charset="0"/>
                <a:cs typeface="Arial" pitchFamily="34" charset="0"/>
              </a:rPr>
              <a:t>A database management system or DBMS is software designed to </a:t>
            </a:r>
            <a:r>
              <a:rPr lang="en-US" dirty="0" smtClean="0">
                <a:latin typeface="Arial" pitchFamily="34" charset="0"/>
                <a:cs typeface="Arial" pitchFamily="34" charset="0"/>
              </a:rPr>
              <a:t>store, modify, maintaining </a:t>
            </a:r>
            <a:r>
              <a:rPr lang="en-US" dirty="0">
                <a:latin typeface="Arial" pitchFamily="34" charset="0"/>
                <a:cs typeface="Arial" pitchFamily="34" charset="0"/>
              </a:rPr>
              <a:t>and utilizing large collection of data</a:t>
            </a:r>
            <a:r>
              <a:rPr lang="en-US" dirty="0" smtClean="0">
                <a:latin typeface="Arial" pitchFamily="34" charset="0"/>
                <a:cs typeface="Arial" pitchFamily="34" charset="0"/>
              </a:rPr>
              <a:t>.</a:t>
            </a:r>
          </a:p>
          <a:p>
            <a:endParaRPr lang="en-US" dirty="0">
              <a:latin typeface="Arial" pitchFamily="34" charset="0"/>
              <a:cs typeface="Arial" pitchFamily="34" charset="0"/>
            </a:endParaRPr>
          </a:p>
          <a:p>
            <a:r>
              <a:rPr lang="en-GB" dirty="0"/>
              <a:t>A </a:t>
            </a:r>
            <a:r>
              <a:rPr lang="en-GB" b="1" dirty="0"/>
              <a:t>database-management system (DBMS) </a:t>
            </a:r>
            <a:r>
              <a:rPr lang="en-GB" dirty="0"/>
              <a:t>is a collection of interrelated data </a:t>
            </a:r>
            <a:r>
              <a:rPr lang="en-GB" dirty="0" smtClean="0"/>
              <a:t>and a </a:t>
            </a:r>
            <a:r>
              <a:rPr lang="en-GB" dirty="0"/>
              <a:t>set of programs to access those data</a:t>
            </a:r>
            <a:endParaRPr lang="en-US" dirty="0">
              <a:latin typeface="Arial" pitchFamily="34" charset="0"/>
              <a:cs typeface="Arial" pitchFamily="34" charset="0"/>
            </a:endParaRPr>
          </a:p>
          <a:p>
            <a:pPr>
              <a:lnSpc>
                <a:spcPct val="80000"/>
              </a:lnSpc>
            </a:pPr>
            <a:r>
              <a:rPr lang="en-US" dirty="0">
                <a:latin typeface="Arial" pitchFamily="34" charset="0"/>
                <a:cs typeface="Arial" pitchFamily="34" charset="0"/>
              </a:rPr>
              <a:t> </a:t>
            </a:r>
            <a:r>
              <a:rPr lang="en-US" sz="1800" dirty="0">
                <a:latin typeface="Arial" pitchFamily="34" charset="0"/>
                <a:cs typeface="Arial" pitchFamily="34" charset="0"/>
              </a:rPr>
              <a:t> </a:t>
            </a:r>
            <a:r>
              <a:rPr lang="en-US" sz="1800" b="1" dirty="0">
                <a:latin typeface="Arial" pitchFamily="34" charset="0"/>
                <a:cs typeface="Arial" pitchFamily="34" charset="0"/>
              </a:rPr>
              <a:t>Database Applications:</a:t>
            </a:r>
          </a:p>
          <a:p>
            <a:pPr lvl="1">
              <a:lnSpc>
                <a:spcPct val="80000"/>
              </a:lnSpc>
            </a:pPr>
            <a:r>
              <a:rPr lang="en-US" sz="1600" b="1" dirty="0">
                <a:solidFill>
                  <a:srgbClr val="33CC33"/>
                </a:solidFill>
                <a:latin typeface="Arial" pitchFamily="34" charset="0"/>
                <a:cs typeface="Arial" pitchFamily="34" charset="0"/>
              </a:rPr>
              <a:t>Banking:</a:t>
            </a:r>
            <a:r>
              <a:rPr lang="en-US" sz="1600" b="1" dirty="0">
                <a:latin typeface="Arial" pitchFamily="34" charset="0"/>
                <a:cs typeface="Arial" pitchFamily="34" charset="0"/>
              </a:rPr>
              <a:t> all transactions</a:t>
            </a:r>
          </a:p>
          <a:p>
            <a:pPr lvl="1">
              <a:lnSpc>
                <a:spcPct val="80000"/>
              </a:lnSpc>
            </a:pPr>
            <a:r>
              <a:rPr lang="en-US" sz="1600" b="1" dirty="0">
                <a:solidFill>
                  <a:srgbClr val="33CC33"/>
                </a:solidFill>
                <a:latin typeface="Arial" pitchFamily="34" charset="0"/>
                <a:cs typeface="Arial" pitchFamily="34" charset="0"/>
              </a:rPr>
              <a:t>Airlines:</a:t>
            </a:r>
            <a:r>
              <a:rPr lang="en-US" sz="1600" b="1" dirty="0">
                <a:latin typeface="Arial" pitchFamily="34" charset="0"/>
                <a:cs typeface="Arial" pitchFamily="34" charset="0"/>
              </a:rPr>
              <a:t> reservations, schedules</a:t>
            </a:r>
          </a:p>
          <a:p>
            <a:pPr lvl="1">
              <a:lnSpc>
                <a:spcPct val="80000"/>
              </a:lnSpc>
            </a:pPr>
            <a:r>
              <a:rPr lang="en-US" sz="1600" b="1" dirty="0">
                <a:solidFill>
                  <a:srgbClr val="33CC33"/>
                </a:solidFill>
                <a:latin typeface="Arial" pitchFamily="34" charset="0"/>
                <a:cs typeface="Arial" pitchFamily="34" charset="0"/>
              </a:rPr>
              <a:t>Universities</a:t>
            </a:r>
            <a:r>
              <a:rPr lang="en-US" sz="1600" b="1" dirty="0">
                <a:latin typeface="Arial" pitchFamily="34" charset="0"/>
                <a:cs typeface="Arial" pitchFamily="34" charset="0"/>
              </a:rPr>
              <a:t>:  registration, grades</a:t>
            </a:r>
          </a:p>
          <a:p>
            <a:pPr lvl="1">
              <a:lnSpc>
                <a:spcPct val="80000"/>
              </a:lnSpc>
            </a:pPr>
            <a:r>
              <a:rPr lang="en-US" sz="1600" b="1" dirty="0">
                <a:solidFill>
                  <a:srgbClr val="33CC33"/>
                </a:solidFill>
                <a:latin typeface="Arial" pitchFamily="34" charset="0"/>
                <a:cs typeface="Arial" pitchFamily="34" charset="0"/>
              </a:rPr>
              <a:t>Sales:</a:t>
            </a:r>
            <a:r>
              <a:rPr lang="en-US" sz="1600" b="1" dirty="0">
                <a:latin typeface="Arial" pitchFamily="34" charset="0"/>
                <a:cs typeface="Arial" pitchFamily="34" charset="0"/>
              </a:rPr>
              <a:t> customers, products, purchases</a:t>
            </a:r>
          </a:p>
          <a:p>
            <a:pPr lvl="1">
              <a:lnSpc>
                <a:spcPct val="80000"/>
              </a:lnSpc>
            </a:pPr>
            <a:r>
              <a:rPr lang="en-US" sz="1600" b="1" dirty="0">
                <a:solidFill>
                  <a:srgbClr val="33CC33"/>
                </a:solidFill>
                <a:latin typeface="Arial" pitchFamily="34" charset="0"/>
                <a:cs typeface="Arial" pitchFamily="34" charset="0"/>
              </a:rPr>
              <a:t>Online retailers:</a:t>
            </a:r>
            <a:r>
              <a:rPr lang="en-US" sz="1600" b="1" dirty="0">
                <a:latin typeface="Arial" pitchFamily="34" charset="0"/>
                <a:cs typeface="Arial" pitchFamily="34" charset="0"/>
              </a:rPr>
              <a:t> order tracking, customized recommendations</a:t>
            </a:r>
          </a:p>
          <a:p>
            <a:pPr lvl="1">
              <a:lnSpc>
                <a:spcPct val="80000"/>
              </a:lnSpc>
            </a:pPr>
            <a:r>
              <a:rPr lang="en-US" sz="1600" b="1" dirty="0">
                <a:solidFill>
                  <a:srgbClr val="33CC33"/>
                </a:solidFill>
                <a:latin typeface="Arial" pitchFamily="34" charset="0"/>
                <a:cs typeface="Arial" pitchFamily="34" charset="0"/>
              </a:rPr>
              <a:t>Manufacturing:</a:t>
            </a:r>
            <a:r>
              <a:rPr lang="en-US" sz="1600" b="1" dirty="0">
                <a:latin typeface="Arial" pitchFamily="34" charset="0"/>
                <a:cs typeface="Arial" pitchFamily="34" charset="0"/>
              </a:rPr>
              <a:t> production, inventory, orders, supply chain</a:t>
            </a:r>
          </a:p>
          <a:p>
            <a:pPr lvl="1">
              <a:lnSpc>
                <a:spcPct val="80000"/>
              </a:lnSpc>
            </a:pPr>
            <a:r>
              <a:rPr lang="en-US" sz="1600" b="1" dirty="0">
                <a:solidFill>
                  <a:srgbClr val="33CC33"/>
                </a:solidFill>
                <a:latin typeface="Arial" pitchFamily="34" charset="0"/>
                <a:cs typeface="Arial" pitchFamily="34" charset="0"/>
              </a:rPr>
              <a:t>Human resources</a:t>
            </a:r>
            <a:r>
              <a:rPr lang="en-US" sz="1600" b="1" dirty="0">
                <a:latin typeface="Arial" pitchFamily="34" charset="0"/>
                <a:cs typeface="Arial" pitchFamily="34" charset="0"/>
              </a:rPr>
              <a:t>:  employee records, salaries, tax deductions</a:t>
            </a:r>
          </a:p>
          <a:p>
            <a:pPr lvl="1">
              <a:lnSpc>
                <a:spcPct val="80000"/>
              </a:lnSpc>
            </a:pPr>
            <a:endParaRPr lang="en-US" sz="1600" dirty="0">
              <a:latin typeface="Arial" pitchFamily="34" charset="0"/>
              <a:cs typeface="Arial" pitchFamily="34" charset="0"/>
            </a:endParaRPr>
          </a:p>
          <a:p>
            <a:pPr>
              <a:lnSpc>
                <a:spcPct val="80000"/>
              </a:lnSpc>
            </a:pPr>
            <a:r>
              <a:rPr lang="en-US" sz="1800" dirty="0">
                <a:latin typeface="Arial" pitchFamily="34" charset="0"/>
                <a:cs typeface="Arial" pitchFamily="34" charset="0"/>
              </a:rPr>
              <a:t>Databases touch all aspects of our lives</a:t>
            </a:r>
            <a:endParaRPr lang="en-US" dirty="0">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8</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3862227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 u need a DBMS?</a:t>
            </a:r>
            <a:endParaRPr lang="en-GB" dirty="0"/>
          </a:p>
        </p:txBody>
      </p:sp>
      <p:sp>
        <p:nvSpPr>
          <p:cNvPr id="3" name="Content Placeholder 2"/>
          <p:cNvSpPr>
            <a:spLocks noGrp="1"/>
          </p:cNvSpPr>
          <p:nvPr>
            <p:ph idx="1"/>
          </p:nvPr>
        </p:nvSpPr>
        <p:spPr/>
        <p:txBody>
          <a:bodyPr/>
          <a:lstStyle/>
          <a:p>
            <a:r>
              <a:rPr lang="en-GB" b="1" dirty="0"/>
              <a:t>A Database Management System Is an Extension of Human Logic</a:t>
            </a:r>
          </a:p>
          <a:p>
            <a:r>
              <a:rPr lang="en-GB" b="1" dirty="0"/>
              <a:t>Computers Can Quickly Answer Lots of Questions</a:t>
            </a:r>
          </a:p>
          <a:p>
            <a:r>
              <a:rPr lang="en-GB" b="1" dirty="0"/>
              <a:t>Some Questions Can Be Really Complicated</a:t>
            </a:r>
          </a:p>
          <a:p>
            <a:r>
              <a:rPr lang="en-GB" b="1" dirty="0"/>
              <a:t> We Are Easily Overwhelmed With Information</a:t>
            </a:r>
          </a:p>
          <a:p>
            <a:r>
              <a:rPr lang="en-GB" b="1" dirty="0"/>
              <a:t>Automation Is the Key to Efficiency</a:t>
            </a:r>
          </a:p>
          <a:p>
            <a:r>
              <a:rPr lang="en-GB" b="1" dirty="0"/>
              <a:t>A DBMS Is Better Than Manual Processes in so Many </a:t>
            </a:r>
            <a:r>
              <a:rPr lang="en-GB" b="1" dirty="0" smtClean="0"/>
              <a:t>Ways</a:t>
            </a:r>
            <a:endParaRPr lang="en-GB" b="1" dirty="0"/>
          </a:p>
        </p:txBody>
      </p:sp>
    </p:spTree>
    <p:extLst>
      <p:ext uri="{BB962C8B-B14F-4D97-AF65-F5344CB8AC3E}">
        <p14:creationId xmlns:p14="http://schemas.microsoft.com/office/powerpoint/2010/main" val="8819535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1050" y="2436812"/>
            <a:ext cx="10515600" cy="1325563"/>
          </a:xfrm>
        </p:spPr>
        <p:txBody>
          <a:bodyPr/>
          <a:lstStyle/>
          <a:p>
            <a:pPr algn="ctr"/>
            <a:r>
              <a:rPr lang="en-US" dirty="0" smtClean="0"/>
              <a:t>DATABASE APPLICATIONS</a:t>
            </a:r>
            <a:endParaRPr lang="en-GB" dirty="0"/>
          </a:p>
        </p:txBody>
      </p:sp>
    </p:spTree>
    <p:extLst>
      <p:ext uri="{BB962C8B-B14F-4D97-AF65-F5344CB8AC3E}">
        <p14:creationId xmlns:p14="http://schemas.microsoft.com/office/powerpoint/2010/main" val="8371017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i="1" dirty="0" smtClean="0"/>
              <a:t>ENTERPRISE INFORMATION</a:t>
            </a:r>
            <a:endParaRPr lang="en-GB" dirty="0"/>
          </a:p>
        </p:txBody>
      </p:sp>
      <p:sp>
        <p:nvSpPr>
          <p:cNvPr id="3" name="Content Placeholder 2"/>
          <p:cNvSpPr>
            <a:spLocks noGrp="1"/>
          </p:cNvSpPr>
          <p:nvPr>
            <p:ph idx="1"/>
          </p:nvPr>
        </p:nvSpPr>
        <p:spPr/>
        <p:txBody>
          <a:bodyPr>
            <a:normAutofit fontScale="92500" lnSpcReduction="10000"/>
          </a:bodyPr>
          <a:lstStyle/>
          <a:p>
            <a:r>
              <a:rPr lang="en-GB" i="1" dirty="0" smtClean="0"/>
              <a:t>Sales</a:t>
            </a:r>
            <a:r>
              <a:rPr lang="en-GB" dirty="0"/>
              <a:t>: For customer, product, and purchase information.</a:t>
            </a:r>
          </a:p>
          <a:p>
            <a:r>
              <a:rPr lang="en-GB" i="1" dirty="0" smtClean="0"/>
              <a:t>Accounting</a:t>
            </a:r>
            <a:r>
              <a:rPr lang="en-GB" dirty="0"/>
              <a:t>: For payments, receipts, account balances, assets and </a:t>
            </a:r>
            <a:r>
              <a:rPr lang="en-GB" dirty="0" smtClean="0"/>
              <a:t>other accounting </a:t>
            </a:r>
            <a:r>
              <a:rPr lang="en-GB" dirty="0"/>
              <a:t>information.</a:t>
            </a:r>
          </a:p>
          <a:p>
            <a:r>
              <a:rPr lang="en-GB" i="1" dirty="0" smtClean="0"/>
              <a:t>Human </a:t>
            </a:r>
            <a:r>
              <a:rPr lang="en-GB" i="1" dirty="0"/>
              <a:t>resources</a:t>
            </a:r>
            <a:r>
              <a:rPr lang="en-GB" dirty="0"/>
              <a:t>: For information about employees, salaries, payroll </a:t>
            </a:r>
            <a:r>
              <a:rPr lang="en-GB" dirty="0" smtClean="0"/>
              <a:t>taxes, and </a:t>
            </a:r>
            <a:r>
              <a:rPr lang="en-GB" dirty="0"/>
              <a:t>benefits, and for generation of </a:t>
            </a:r>
            <a:r>
              <a:rPr lang="en-GB" dirty="0" err="1"/>
              <a:t>paychecks</a:t>
            </a:r>
            <a:r>
              <a:rPr lang="en-GB" dirty="0"/>
              <a:t>.</a:t>
            </a:r>
          </a:p>
          <a:p>
            <a:r>
              <a:rPr lang="en-GB" i="1" dirty="0" smtClean="0"/>
              <a:t>Manufacturing</a:t>
            </a:r>
            <a:r>
              <a:rPr lang="en-GB" dirty="0"/>
              <a:t>: For management of the supply chain and for tracking </a:t>
            </a:r>
            <a:r>
              <a:rPr lang="en-GB" dirty="0" smtClean="0"/>
              <a:t>production of </a:t>
            </a:r>
            <a:r>
              <a:rPr lang="en-GB" dirty="0"/>
              <a:t>items in factories, inventories of items </a:t>
            </a:r>
            <a:r>
              <a:rPr lang="en-GB" dirty="0" err="1"/>
              <a:t>inwarehouses</a:t>
            </a:r>
            <a:r>
              <a:rPr lang="en-GB" dirty="0"/>
              <a:t> and </a:t>
            </a:r>
            <a:r>
              <a:rPr lang="en-GB" dirty="0" smtClean="0"/>
              <a:t>stores, and </a:t>
            </a:r>
            <a:r>
              <a:rPr lang="en-GB" dirty="0"/>
              <a:t>orders for items</a:t>
            </a:r>
            <a:r>
              <a:rPr lang="en-GB" dirty="0" smtClean="0"/>
              <a:t>.</a:t>
            </a:r>
          </a:p>
          <a:p>
            <a:r>
              <a:rPr lang="en-GB" i="1" dirty="0"/>
              <a:t>Online retailers</a:t>
            </a:r>
            <a:r>
              <a:rPr lang="en-GB" dirty="0"/>
              <a:t>: For sales data noted above plus online order </a:t>
            </a:r>
            <a:r>
              <a:rPr lang="en-GB" dirty="0" smtClean="0"/>
              <a:t>tracking, generation </a:t>
            </a:r>
            <a:r>
              <a:rPr lang="en-GB" dirty="0"/>
              <a:t>of recommendation lists, and maintenance of online </a:t>
            </a:r>
            <a:r>
              <a:rPr lang="en-GB" dirty="0" smtClean="0"/>
              <a:t>product evaluations</a:t>
            </a:r>
            <a:endParaRPr lang="en-GB" dirty="0"/>
          </a:p>
        </p:txBody>
      </p:sp>
    </p:spTree>
    <p:extLst>
      <p:ext uri="{BB962C8B-B14F-4D97-AF65-F5344CB8AC3E}">
        <p14:creationId xmlns:p14="http://schemas.microsoft.com/office/powerpoint/2010/main" val="4893968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dirty="0" smtClean="0"/>
              <a:t>Banking and Finance</a:t>
            </a:r>
            <a:endParaRPr lang="en-GB" dirty="0"/>
          </a:p>
        </p:txBody>
      </p:sp>
      <p:sp>
        <p:nvSpPr>
          <p:cNvPr id="3" name="Content Placeholder 2"/>
          <p:cNvSpPr>
            <a:spLocks noGrp="1"/>
          </p:cNvSpPr>
          <p:nvPr>
            <p:ph idx="1"/>
          </p:nvPr>
        </p:nvSpPr>
        <p:spPr/>
        <p:txBody>
          <a:bodyPr>
            <a:normAutofit fontScale="92500"/>
          </a:bodyPr>
          <a:lstStyle/>
          <a:p>
            <a:r>
              <a:rPr lang="en-GB" dirty="0" smtClean="0"/>
              <a:t>◦ </a:t>
            </a:r>
            <a:r>
              <a:rPr lang="en-GB" i="1" dirty="0"/>
              <a:t>Banking</a:t>
            </a:r>
            <a:r>
              <a:rPr lang="en-GB" dirty="0"/>
              <a:t>: For customer information, accounts, loans, and banking transactions.</a:t>
            </a:r>
          </a:p>
          <a:p>
            <a:r>
              <a:rPr lang="en-GB" dirty="0"/>
              <a:t>◦ </a:t>
            </a:r>
            <a:r>
              <a:rPr lang="en-GB" i="1" dirty="0"/>
              <a:t>Credit card transactions</a:t>
            </a:r>
            <a:r>
              <a:rPr lang="en-GB" dirty="0"/>
              <a:t>: For purchases on credit cards and generation of</a:t>
            </a:r>
          </a:p>
          <a:p>
            <a:r>
              <a:rPr lang="en-GB" dirty="0"/>
              <a:t>monthly statements.</a:t>
            </a:r>
          </a:p>
          <a:p>
            <a:r>
              <a:rPr lang="en-GB" dirty="0"/>
              <a:t>◦ </a:t>
            </a:r>
            <a:r>
              <a:rPr lang="en-GB" i="1" dirty="0"/>
              <a:t>Finance</a:t>
            </a:r>
            <a:r>
              <a:rPr lang="en-GB" dirty="0"/>
              <a:t>: For storing information about holdings, sales, and purchases of</a:t>
            </a:r>
          </a:p>
          <a:p>
            <a:r>
              <a:rPr lang="en-GB" dirty="0"/>
              <a:t>financial instruments such as stocks and bonds; also for storing real-time</a:t>
            </a:r>
          </a:p>
          <a:p>
            <a:r>
              <a:rPr lang="en-GB" dirty="0"/>
              <a:t>market data to enable online trading by customers and automated trading</a:t>
            </a:r>
          </a:p>
          <a:p>
            <a:r>
              <a:rPr lang="en-GB" dirty="0"/>
              <a:t>by the firm.</a:t>
            </a:r>
          </a:p>
        </p:txBody>
      </p:sp>
    </p:spTree>
    <p:extLst>
      <p:ext uri="{BB962C8B-B14F-4D97-AF65-F5344CB8AC3E}">
        <p14:creationId xmlns:p14="http://schemas.microsoft.com/office/powerpoint/2010/main" val="15226221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dirty="0" smtClean="0"/>
              <a:t>Universities</a:t>
            </a:r>
            <a:endParaRPr lang="en-GB" dirty="0"/>
          </a:p>
        </p:txBody>
      </p:sp>
      <p:sp>
        <p:nvSpPr>
          <p:cNvPr id="3" name="Content Placeholder 2"/>
          <p:cNvSpPr>
            <a:spLocks noGrp="1"/>
          </p:cNvSpPr>
          <p:nvPr>
            <p:ph idx="1"/>
          </p:nvPr>
        </p:nvSpPr>
        <p:spPr/>
        <p:txBody>
          <a:bodyPr/>
          <a:lstStyle/>
          <a:p>
            <a:r>
              <a:rPr lang="en-GB" dirty="0" smtClean="0"/>
              <a:t>For </a:t>
            </a:r>
            <a:r>
              <a:rPr lang="en-GB" dirty="0"/>
              <a:t>student information, course registrations, and grades (</a:t>
            </a:r>
            <a:r>
              <a:rPr lang="en-GB" dirty="0" smtClean="0"/>
              <a:t>in addition </a:t>
            </a:r>
            <a:r>
              <a:rPr lang="en-GB" dirty="0"/>
              <a:t>to standard enterprise information such as human resources </a:t>
            </a:r>
            <a:r>
              <a:rPr lang="en-GB" dirty="0" smtClean="0"/>
              <a:t>and accounting</a:t>
            </a:r>
            <a:r>
              <a:rPr lang="en-GB" dirty="0"/>
              <a:t>).</a:t>
            </a:r>
          </a:p>
        </p:txBody>
      </p:sp>
    </p:spTree>
    <p:extLst>
      <p:ext uri="{BB962C8B-B14F-4D97-AF65-F5344CB8AC3E}">
        <p14:creationId xmlns:p14="http://schemas.microsoft.com/office/powerpoint/2010/main" val="41118673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i="1" dirty="0"/>
              <a:t>Airlines</a:t>
            </a:r>
            <a:r>
              <a:rPr lang="en-GB" dirty="0"/>
              <a:t>: For reservations and schedule information. Airlines were among </a:t>
            </a:r>
            <a:r>
              <a:rPr lang="en-GB" dirty="0" smtClean="0"/>
              <a:t>the first </a:t>
            </a:r>
            <a:r>
              <a:rPr lang="en-GB" dirty="0"/>
              <a:t>to use databases in a geographically distributed manner.</a:t>
            </a:r>
          </a:p>
          <a:p>
            <a:pPr marL="0" indent="0">
              <a:buNone/>
            </a:pPr>
            <a:r>
              <a:rPr lang="en-GB" i="1" dirty="0" smtClean="0"/>
              <a:t>Telecommunication</a:t>
            </a:r>
            <a:r>
              <a:rPr lang="en-GB" dirty="0"/>
              <a:t>: For keeping records of calls made, generating </a:t>
            </a:r>
            <a:r>
              <a:rPr lang="en-GB" dirty="0" smtClean="0"/>
              <a:t>monthly bills</a:t>
            </a:r>
            <a:r>
              <a:rPr lang="en-GB" dirty="0"/>
              <a:t>, maintaining balances on prepaid calling cards, and storing </a:t>
            </a:r>
            <a:r>
              <a:rPr lang="en-GB" dirty="0" smtClean="0"/>
              <a:t>information about </a:t>
            </a:r>
            <a:r>
              <a:rPr lang="en-GB" dirty="0"/>
              <a:t>the communication networks.</a:t>
            </a:r>
          </a:p>
        </p:txBody>
      </p:sp>
    </p:spTree>
    <p:extLst>
      <p:ext uri="{BB962C8B-B14F-4D97-AF65-F5344CB8AC3E}">
        <p14:creationId xmlns:p14="http://schemas.microsoft.com/office/powerpoint/2010/main" val="9273608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Arial" pitchFamily="34" charset="0"/>
                <a:cs typeface="Arial" pitchFamily="34" charset="0"/>
              </a:rPr>
              <a:t>Database Systems Vs File Systems</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a:bodyPr>
          <a:lstStyle/>
          <a:p>
            <a:r>
              <a:rPr lang="en-US" dirty="0">
                <a:latin typeface="Arial" pitchFamily="34" charset="0"/>
                <a:cs typeface="Arial" pitchFamily="34" charset="0"/>
              </a:rPr>
              <a:t>FILE BASED DATA MANAGEMENT</a:t>
            </a:r>
          </a:p>
          <a:p>
            <a:r>
              <a:rPr lang="en-US" dirty="0">
                <a:latin typeface="Arial" pitchFamily="34" charset="0"/>
                <a:cs typeface="Arial" pitchFamily="34" charset="0"/>
              </a:rPr>
              <a:t> Before advent of database , file system—manual file system was </a:t>
            </a:r>
            <a:r>
              <a:rPr lang="en-US" dirty="0" smtClean="0">
                <a:latin typeface="Arial" pitchFamily="34" charset="0"/>
                <a:cs typeface="Arial" pitchFamily="34" charset="0"/>
              </a:rPr>
              <a:t>used</a:t>
            </a:r>
            <a:endParaRPr lang="en-US" dirty="0">
              <a:latin typeface="Arial" pitchFamily="34" charset="0"/>
              <a:cs typeface="Arial" pitchFamily="34" charset="0"/>
            </a:endParaRPr>
          </a:p>
          <a:p>
            <a:r>
              <a:rPr lang="en-US" dirty="0">
                <a:latin typeface="Arial" pitchFamily="34" charset="0"/>
                <a:cs typeface="Arial" pitchFamily="34" charset="0"/>
              </a:rPr>
              <a:t>1) Collection of file, folders each tagged and kept in a filing cabinet</a:t>
            </a:r>
          </a:p>
          <a:p>
            <a:r>
              <a:rPr lang="en-US" dirty="0">
                <a:latin typeface="Arial" pitchFamily="34" charset="0"/>
                <a:cs typeface="Arial" pitchFamily="34" charset="0"/>
              </a:rPr>
              <a:t>2) When data was relatively small—few reporting requirements—manual system was ok </a:t>
            </a:r>
          </a:p>
          <a:p>
            <a:r>
              <a:rPr lang="en-US" dirty="0">
                <a:latin typeface="Arial" pitchFamily="34" charset="0"/>
                <a:cs typeface="Arial" pitchFamily="34" charset="0"/>
              </a:rPr>
              <a:t>3) Requirements grew—manual system complex (files, folders collection growing—time consuming &amp; cumbersome</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15</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33063395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0"/>
            <a:ext cx="8229600" cy="6248400"/>
          </a:xfrm>
        </p:spPr>
        <p:txBody>
          <a:bodyPr>
            <a:normAutofit fontScale="85000" lnSpcReduction="10000"/>
          </a:bodyPr>
          <a:lstStyle/>
          <a:p>
            <a:r>
              <a:rPr lang="en-US" dirty="0">
                <a:latin typeface="Arial" pitchFamily="34" charset="0"/>
                <a:cs typeface="Arial" pitchFamily="34" charset="0"/>
              </a:rPr>
              <a:t>The conventional file system was much faster and efficient than manual counterparts but not flexibly than modern DBMS.</a:t>
            </a:r>
          </a:p>
          <a:p>
            <a:r>
              <a:rPr lang="en-US" u="sng" dirty="0">
                <a:latin typeface="Arial" pitchFamily="34" charset="0"/>
                <a:cs typeface="Arial" pitchFamily="34" charset="0"/>
              </a:rPr>
              <a:t> </a:t>
            </a:r>
            <a:r>
              <a:rPr lang="en-US" b="1" u="sng" dirty="0" smtClean="0">
                <a:latin typeface="Arial" pitchFamily="34" charset="0"/>
                <a:cs typeface="Arial" pitchFamily="34" charset="0"/>
              </a:rPr>
              <a:t>DISADVANTAGE </a:t>
            </a:r>
            <a:r>
              <a:rPr lang="en-US" b="1" u="sng" dirty="0">
                <a:latin typeface="Arial" pitchFamily="34" charset="0"/>
                <a:cs typeface="Arial" pitchFamily="34" charset="0"/>
              </a:rPr>
              <a:t>OF FILE BASE SYSTEM</a:t>
            </a:r>
          </a:p>
          <a:p>
            <a:r>
              <a:rPr lang="en-US" b="1" dirty="0">
                <a:latin typeface="Arial" pitchFamily="34" charset="0"/>
                <a:cs typeface="Arial" pitchFamily="34" charset="0"/>
              </a:rPr>
              <a:t>Need for programming and skilled </a:t>
            </a:r>
            <a:r>
              <a:rPr lang="en-US" b="1" dirty="0" smtClean="0">
                <a:latin typeface="Arial" pitchFamily="34" charset="0"/>
                <a:cs typeface="Arial" pitchFamily="34" charset="0"/>
              </a:rPr>
              <a:t>personnel</a:t>
            </a:r>
            <a:endParaRPr lang="en-US" dirty="0">
              <a:latin typeface="Arial" pitchFamily="34" charset="0"/>
              <a:cs typeface="Arial" pitchFamily="34" charset="0"/>
            </a:endParaRPr>
          </a:p>
          <a:p>
            <a:pPr lvl="0"/>
            <a:r>
              <a:rPr lang="en-US" dirty="0">
                <a:latin typeface="Arial" pitchFamily="34" charset="0"/>
                <a:cs typeface="Arial" pitchFamily="34" charset="0"/>
              </a:rPr>
              <a:t>Need different application programs </a:t>
            </a:r>
          </a:p>
          <a:p>
            <a:pPr lvl="1"/>
            <a:r>
              <a:rPr lang="en-US" dirty="0">
                <a:latin typeface="Arial" pitchFamily="34" charset="0"/>
                <a:cs typeface="Arial" pitchFamily="34" charset="0"/>
              </a:rPr>
              <a:t>to extract records </a:t>
            </a:r>
          </a:p>
          <a:p>
            <a:pPr lvl="1"/>
            <a:r>
              <a:rPr lang="en-US" dirty="0">
                <a:latin typeface="Arial" pitchFamily="34" charset="0"/>
                <a:cs typeface="Arial" pitchFamily="34" charset="0"/>
              </a:rPr>
              <a:t>to add records etc </a:t>
            </a:r>
          </a:p>
          <a:p>
            <a:pPr lvl="0"/>
            <a:r>
              <a:rPr lang="en-US" dirty="0">
                <a:latin typeface="Arial" pitchFamily="34" charset="0"/>
                <a:cs typeface="Arial" pitchFamily="34" charset="0"/>
              </a:rPr>
              <a:t>For Each query an application program has to be written</a:t>
            </a:r>
          </a:p>
          <a:p>
            <a:pPr lvl="0"/>
            <a:r>
              <a:rPr lang="en-US" dirty="0">
                <a:latin typeface="Arial" pitchFamily="34" charset="0"/>
                <a:cs typeface="Arial" pitchFamily="34" charset="0"/>
              </a:rPr>
              <a:t>For different reports to be generate, different programs to be </a:t>
            </a:r>
            <a:r>
              <a:rPr lang="en-US" dirty="0" smtClean="0">
                <a:latin typeface="Arial" pitchFamily="34" charset="0"/>
                <a:cs typeface="Arial" pitchFamily="34" charset="0"/>
              </a:rPr>
              <a:t>written</a:t>
            </a:r>
            <a:r>
              <a:rPr lang="en-US" dirty="0">
                <a:latin typeface="Arial" pitchFamily="34" charset="0"/>
                <a:cs typeface="Arial" pitchFamily="34" charset="0"/>
              </a:rPr>
              <a:t>	</a:t>
            </a:r>
          </a:p>
          <a:p>
            <a:r>
              <a:rPr lang="en-US" b="1" dirty="0">
                <a:latin typeface="Arial" pitchFamily="34" charset="0"/>
                <a:cs typeface="Arial" pitchFamily="34" charset="0"/>
              </a:rPr>
              <a:t>Lack of data security </a:t>
            </a:r>
            <a:endParaRPr lang="en-US" dirty="0">
              <a:latin typeface="Arial" pitchFamily="34" charset="0"/>
              <a:cs typeface="Arial" pitchFamily="34" charset="0"/>
            </a:endParaRPr>
          </a:p>
          <a:p>
            <a:pPr lvl="0"/>
            <a:r>
              <a:rPr lang="en-US" dirty="0" smtClean="0">
                <a:latin typeface="Arial" pitchFamily="34" charset="0"/>
                <a:cs typeface="Arial" pitchFamily="34" charset="0"/>
              </a:rPr>
              <a:t>Password </a:t>
            </a:r>
            <a:r>
              <a:rPr lang="en-US" dirty="0">
                <a:latin typeface="Arial" pitchFamily="34" charset="0"/>
                <a:cs typeface="Arial" pitchFamily="34" charset="0"/>
              </a:rPr>
              <a:t>security alone is maintained and it is not sufficient when different users have access permissions to different subsets of data</a:t>
            </a:r>
          </a:p>
          <a:p>
            <a:pPr lvl="0"/>
            <a:r>
              <a:rPr lang="en-US" dirty="0">
                <a:latin typeface="Arial" pitchFamily="34" charset="0"/>
                <a:cs typeface="Arial" pitchFamily="34" charset="0"/>
              </a:rPr>
              <a:t>To safeguard confidentiality was difficult </a:t>
            </a:r>
          </a:p>
          <a:p>
            <a:pPr lvl="0"/>
            <a:r>
              <a:rPr lang="en-US" dirty="0">
                <a:latin typeface="Arial" pitchFamily="34" charset="0"/>
                <a:cs typeface="Arial" pitchFamily="34" charset="0"/>
              </a:rPr>
              <a:t>To lock part of files or part of the system not possible</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16</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14088306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28600"/>
            <a:ext cx="8229600" cy="6477000"/>
          </a:xfrm>
        </p:spPr>
        <p:txBody>
          <a:bodyPr>
            <a:normAutofit lnSpcReduction="10000"/>
          </a:bodyPr>
          <a:lstStyle/>
          <a:p>
            <a:r>
              <a:rPr lang="en-US" b="1" dirty="0">
                <a:latin typeface="Arial" pitchFamily="34" charset="0"/>
                <a:cs typeface="Arial" pitchFamily="34" charset="0"/>
              </a:rPr>
              <a:t>Information </a:t>
            </a:r>
            <a:r>
              <a:rPr lang="en-US" b="1" dirty="0" smtClean="0">
                <a:latin typeface="Arial" pitchFamily="34" charset="0"/>
                <a:cs typeface="Arial" pitchFamily="34" charset="0"/>
              </a:rPr>
              <a:t>compartmentalization</a:t>
            </a:r>
            <a:endParaRPr lang="en-US" dirty="0">
              <a:latin typeface="Arial" pitchFamily="34" charset="0"/>
              <a:cs typeface="Arial" pitchFamily="34" charset="0"/>
            </a:endParaRPr>
          </a:p>
          <a:p>
            <a:pPr lvl="0"/>
            <a:r>
              <a:rPr lang="en-US" dirty="0">
                <a:latin typeface="Arial" pitchFamily="34" charset="0"/>
                <a:cs typeface="Arial" pitchFamily="34" charset="0"/>
              </a:rPr>
              <a:t>Promote data ownership and thus promoting the storage of same data in different location</a:t>
            </a:r>
          </a:p>
          <a:p>
            <a:pPr lvl="0"/>
            <a:r>
              <a:rPr lang="en-US" dirty="0">
                <a:latin typeface="Arial" pitchFamily="34" charset="0"/>
                <a:cs typeface="Arial" pitchFamily="34" charset="0"/>
              </a:rPr>
              <a:t>Professional says as information islands or information compartmentalization, data at different locations are to be </a:t>
            </a:r>
            <a:r>
              <a:rPr lang="en-US" b="1" dirty="0">
                <a:latin typeface="Arial" pitchFamily="34" charset="0"/>
                <a:cs typeface="Arial" pitchFamily="34" charset="0"/>
              </a:rPr>
              <a:t>consistently updated</a:t>
            </a:r>
            <a:r>
              <a:rPr lang="en-US" dirty="0">
                <a:latin typeface="Arial" pitchFamily="34" charset="0"/>
                <a:cs typeface="Arial" pitchFamily="34" charset="0"/>
              </a:rPr>
              <a:t>, islands of information often contains different versions of data</a:t>
            </a:r>
          </a:p>
          <a:p>
            <a:r>
              <a:rPr lang="en-US" b="1" dirty="0">
                <a:latin typeface="Arial" pitchFamily="34" charset="0"/>
                <a:cs typeface="Arial" pitchFamily="34" charset="0"/>
              </a:rPr>
              <a:t>Structural </a:t>
            </a:r>
            <a:r>
              <a:rPr lang="en-US" b="1" dirty="0" smtClean="0">
                <a:latin typeface="Arial" pitchFamily="34" charset="0"/>
                <a:cs typeface="Arial" pitchFamily="34" charset="0"/>
              </a:rPr>
              <a:t>Dependency</a:t>
            </a:r>
            <a:endParaRPr lang="en-US" dirty="0">
              <a:latin typeface="Arial" pitchFamily="34" charset="0"/>
              <a:cs typeface="Arial" pitchFamily="34" charset="0"/>
            </a:endParaRPr>
          </a:p>
          <a:p>
            <a:pPr lvl="0"/>
            <a:r>
              <a:rPr lang="en-US" dirty="0">
                <a:latin typeface="Arial" pitchFamily="34" charset="0"/>
                <a:cs typeface="Arial" pitchFamily="34" charset="0"/>
              </a:rPr>
              <a:t>Change in file structure/addition/deletion of a field requires modification of all programs using that files</a:t>
            </a:r>
          </a:p>
          <a:p>
            <a:pPr lvl="0"/>
            <a:r>
              <a:rPr lang="en-US" dirty="0">
                <a:latin typeface="Arial" pitchFamily="34" charset="0"/>
                <a:cs typeface="Arial" pitchFamily="34" charset="0"/>
              </a:rPr>
              <a:t>It exhibits structural dependency</a:t>
            </a:r>
          </a:p>
          <a:p>
            <a:r>
              <a:rPr lang="en-US" dirty="0">
                <a:latin typeface="Arial" pitchFamily="34" charset="0"/>
                <a:cs typeface="Arial" pitchFamily="34" charset="0"/>
              </a:rPr>
              <a:t>Changing from integer to decimal will make change in program</a:t>
            </a:r>
          </a:p>
        </p:txBody>
      </p:sp>
      <p:sp>
        <p:nvSpPr>
          <p:cNvPr id="4" name="Slide Number Placeholder 3"/>
          <p:cNvSpPr>
            <a:spLocks noGrp="1"/>
          </p:cNvSpPr>
          <p:nvPr>
            <p:ph type="sldNum" sz="quarter" idx="12"/>
          </p:nvPr>
        </p:nvSpPr>
        <p:spPr/>
        <p:txBody>
          <a:bodyPr/>
          <a:lstStyle/>
          <a:p>
            <a:fld id="{C8E6D33F-E187-4F70-BDF3-C2B81C57EFE3}" type="slidenum">
              <a:rPr lang="en-US" smtClean="0"/>
              <a:pPr/>
              <a:t>17</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38216798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0"/>
            <a:ext cx="8229600" cy="6172200"/>
          </a:xfrm>
        </p:spPr>
        <p:txBody>
          <a:bodyPr>
            <a:normAutofit fontScale="92500" lnSpcReduction="20000"/>
          </a:bodyPr>
          <a:lstStyle/>
          <a:p>
            <a:r>
              <a:rPr lang="en-US" b="1" dirty="0">
                <a:latin typeface="Arial" pitchFamily="34" charset="0"/>
                <a:cs typeface="Arial" pitchFamily="34" charset="0"/>
              </a:rPr>
              <a:t>Data Dependency</a:t>
            </a:r>
          </a:p>
          <a:p>
            <a:pPr lvl="0"/>
            <a:r>
              <a:rPr lang="en-US" dirty="0">
                <a:latin typeface="Arial" pitchFamily="34" charset="0"/>
                <a:cs typeface="Arial" pitchFamily="34" charset="0"/>
              </a:rPr>
              <a:t>File data characteristic change</a:t>
            </a:r>
          </a:p>
          <a:p>
            <a:pPr lvl="0"/>
            <a:r>
              <a:rPr lang="en-US" dirty="0">
                <a:latin typeface="Arial" pitchFamily="34" charset="0"/>
                <a:cs typeface="Arial" pitchFamily="34" charset="0"/>
              </a:rPr>
              <a:t>Normal representation is ASCII</a:t>
            </a:r>
          </a:p>
          <a:p>
            <a:pPr lvl="0"/>
            <a:r>
              <a:rPr lang="en-US" dirty="0">
                <a:latin typeface="Arial" pitchFamily="34" charset="0"/>
                <a:cs typeface="Arial" pitchFamily="34" charset="0"/>
              </a:rPr>
              <a:t>Specify opening of a specific file type either random or sequential</a:t>
            </a:r>
          </a:p>
          <a:p>
            <a:pPr lvl="0"/>
            <a:r>
              <a:rPr lang="en-US" dirty="0">
                <a:latin typeface="Arial" pitchFamily="34" charset="0"/>
                <a:cs typeface="Arial" pitchFamily="34" charset="0"/>
              </a:rPr>
              <a:t>How to store and how to retrieve is to be clearly defined</a:t>
            </a:r>
          </a:p>
          <a:p>
            <a:r>
              <a:rPr lang="en-US" b="1" dirty="0" smtClean="0">
                <a:latin typeface="Arial" pitchFamily="34" charset="0"/>
                <a:cs typeface="Arial" pitchFamily="34" charset="0"/>
              </a:rPr>
              <a:t>Data Redundancy</a:t>
            </a:r>
            <a:endParaRPr lang="en-US" dirty="0">
              <a:latin typeface="Arial" pitchFamily="34" charset="0"/>
              <a:cs typeface="Arial" pitchFamily="34" charset="0"/>
            </a:endParaRPr>
          </a:p>
          <a:p>
            <a:r>
              <a:rPr lang="en-US" dirty="0">
                <a:latin typeface="Arial" pitchFamily="34" charset="0"/>
                <a:cs typeface="Arial" pitchFamily="34" charset="0"/>
              </a:rPr>
              <a:t>Employee details stored in personnel dept ,account department,  production planning  department etc</a:t>
            </a:r>
          </a:p>
          <a:p>
            <a:r>
              <a:rPr lang="en-US" dirty="0">
                <a:latin typeface="Arial" pitchFamily="34" charset="0"/>
                <a:cs typeface="Arial" pitchFamily="34" charset="0"/>
              </a:rPr>
              <a:t> </a:t>
            </a:r>
            <a:r>
              <a:rPr lang="en-US" b="1" dirty="0">
                <a:latin typeface="Arial" pitchFamily="34" charset="0"/>
                <a:cs typeface="Arial" pitchFamily="34" charset="0"/>
              </a:rPr>
              <a:t>Data </a:t>
            </a:r>
            <a:r>
              <a:rPr lang="en-US" b="1" dirty="0" smtClean="0">
                <a:latin typeface="Arial" pitchFamily="34" charset="0"/>
                <a:cs typeface="Arial" pitchFamily="34" charset="0"/>
              </a:rPr>
              <a:t>Inconsistency</a:t>
            </a:r>
            <a:endParaRPr lang="en-US" dirty="0">
              <a:latin typeface="Arial" pitchFamily="34" charset="0"/>
              <a:cs typeface="Arial" pitchFamily="34" charset="0"/>
            </a:endParaRPr>
          </a:p>
          <a:p>
            <a:r>
              <a:rPr lang="en-US" dirty="0">
                <a:latin typeface="Arial" pitchFamily="34" charset="0"/>
                <a:cs typeface="Arial" pitchFamily="34" charset="0"/>
              </a:rPr>
              <a:t>Data stored at different location / departments and modification / deletion / addition can create data inconsistencies </a:t>
            </a:r>
          </a:p>
          <a:p>
            <a:r>
              <a:rPr lang="en-US" dirty="0" err="1">
                <a:latin typeface="Arial" pitchFamily="34" charset="0"/>
                <a:cs typeface="Arial" pitchFamily="34" charset="0"/>
              </a:rPr>
              <a:t>Eg</a:t>
            </a:r>
            <a:r>
              <a:rPr lang="en-US" dirty="0">
                <a:latin typeface="Arial" pitchFamily="34" charset="0"/>
                <a:cs typeface="Arial" pitchFamily="34" charset="0"/>
              </a:rPr>
              <a:t>:-employee leaves organization should be properly updated in all departments</a:t>
            </a:r>
          </a:p>
          <a:p>
            <a:endParaRPr lang="en-US" b="1" dirty="0">
              <a:latin typeface="Arial" pitchFamily="34" charset="0"/>
              <a:cs typeface="Arial" pitchFamily="34" charset="0"/>
            </a:endParaRPr>
          </a:p>
          <a:p>
            <a:endParaRPr lang="en-US" dirty="0">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18</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30047458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668963"/>
          </a:xfrm>
        </p:spPr>
        <p:txBody>
          <a:bodyPr/>
          <a:lstStyle/>
          <a:p>
            <a:pPr>
              <a:lnSpc>
                <a:spcPct val="80000"/>
              </a:lnSpc>
              <a:buNone/>
            </a:pPr>
            <a:r>
              <a:rPr lang="en-US" sz="2700" b="1" dirty="0">
                <a:latin typeface="Arial" pitchFamily="34" charset="0"/>
                <a:cs typeface="Arial" pitchFamily="34" charset="0"/>
              </a:rPr>
              <a:t>Concurrent access by multiple users</a:t>
            </a:r>
          </a:p>
          <a:p>
            <a:pPr>
              <a:lnSpc>
                <a:spcPct val="80000"/>
              </a:lnSpc>
            </a:pPr>
            <a:r>
              <a:rPr lang="en-US" sz="3000" dirty="0">
                <a:latin typeface="Arial" pitchFamily="34" charset="0"/>
                <a:cs typeface="Arial" pitchFamily="34" charset="0"/>
              </a:rPr>
              <a:t>Concurrent accessed needed for performance</a:t>
            </a:r>
          </a:p>
          <a:p>
            <a:pPr>
              <a:lnSpc>
                <a:spcPct val="80000"/>
              </a:lnSpc>
            </a:pPr>
            <a:r>
              <a:rPr lang="en-US" sz="3000" dirty="0">
                <a:latin typeface="Arial" pitchFamily="34" charset="0"/>
                <a:cs typeface="Arial" pitchFamily="34" charset="0"/>
              </a:rPr>
              <a:t>Uncontrolled concurrent accesses can lead to inconsistencies</a:t>
            </a:r>
          </a:p>
          <a:p>
            <a:pPr lvl="1">
              <a:lnSpc>
                <a:spcPct val="80000"/>
              </a:lnSpc>
            </a:pPr>
            <a:r>
              <a:rPr lang="en-US" sz="3000" dirty="0">
                <a:latin typeface="Arial" pitchFamily="34" charset="0"/>
                <a:cs typeface="Arial" pitchFamily="34" charset="0"/>
              </a:rPr>
              <a:t>Example: Two people reading a balance and updating it at the same time</a:t>
            </a:r>
          </a:p>
          <a:p>
            <a:pPr lvl="3">
              <a:lnSpc>
                <a:spcPct val="80000"/>
              </a:lnSpc>
            </a:pPr>
            <a:endParaRPr lang="en-US" sz="1200" dirty="0">
              <a:latin typeface="Arial" pitchFamily="34" charset="0"/>
              <a:cs typeface="Arial" pitchFamily="34" charset="0"/>
            </a:endParaRPr>
          </a:p>
          <a:p>
            <a:pPr>
              <a:lnSpc>
                <a:spcPct val="80000"/>
              </a:lnSpc>
              <a:buNone/>
            </a:pPr>
            <a:r>
              <a:rPr lang="en-US" sz="2700" b="1" dirty="0">
                <a:latin typeface="Arial" pitchFamily="34" charset="0"/>
                <a:cs typeface="Arial" pitchFamily="34" charset="0"/>
              </a:rPr>
              <a:t>Security problems</a:t>
            </a:r>
          </a:p>
          <a:p>
            <a:pPr>
              <a:lnSpc>
                <a:spcPct val="80000"/>
              </a:lnSpc>
            </a:pPr>
            <a:r>
              <a:rPr lang="en-US" sz="3000" dirty="0">
                <a:latin typeface="Arial" pitchFamily="34" charset="0"/>
                <a:cs typeface="Arial" pitchFamily="34" charset="0"/>
              </a:rPr>
              <a:t>Hard to provide user access to some, but not all, data</a:t>
            </a:r>
          </a:p>
        </p:txBody>
      </p:sp>
      <p:sp>
        <p:nvSpPr>
          <p:cNvPr id="4" name="Slide Number Placeholder 3"/>
          <p:cNvSpPr>
            <a:spLocks noGrp="1"/>
          </p:cNvSpPr>
          <p:nvPr>
            <p:ph type="sldNum" sz="quarter" idx="12"/>
          </p:nvPr>
        </p:nvSpPr>
        <p:spPr/>
        <p:txBody>
          <a:bodyPr/>
          <a:lstStyle/>
          <a:p>
            <a:fld id="{C8E6D33F-E187-4F70-BDF3-C2B81C57EFE3}" type="slidenum">
              <a:rPr lang="en-US" smtClean="0"/>
              <a:pPr/>
              <a:t>19</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8707039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r>
              <a:rPr lang="en-US" b="1" dirty="0">
                <a:latin typeface="Arial" pitchFamily="34" charset="0"/>
                <a:cs typeface="Arial" pitchFamily="34" charset="0"/>
              </a:rPr>
              <a:t>ADVANTAGE OF </a:t>
            </a:r>
            <a:r>
              <a:rPr lang="en-US" b="1" dirty="0" smtClean="0">
                <a:latin typeface="Arial" pitchFamily="34" charset="0"/>
                <a:cs typeface="Arial" pitchFamily="34" charset="0"/>
              </a:rPr>
              <a:t>DBMS</a:t>
            </a:r>
            <a:endParaRPr lang="en-US" dirty="0">
              <a:latin typeface="Arial" pitchFamily="34" charset="0"/>
              <a:cs typeface="Arial" pitchFamily="34" charset="0"/>
            </a:endParaRPr>
          </a:p>
        </p:txBody>
      </p:sp>
      <p:sp>
        <p:nvSpPr>
          <p:cNvPr id="3" name="Content Placeholder 2"/>
          <p:cNvSpPr>
            <a:spLocks noGrp="1"/>
          </p:cNvSpPr>
          <p:nvPr>
            <p:ph idx="1"/>
          </p:nvPr>
        </p:nvSpPr>
        <p:spPr>
          <a:xfrm>
            <a:off x="1981200" y="838200"/>
            <a:ext cx="8229600" cy="5791200"/>
          </a:xfrm>
        </p:spPr>
        <p:txBody>
          <a:bodyPr>
            <a:normAutofit fontScale="85000" lnSpcReduction="20000"/>
          </a:bodyPr>
          <a:lstStyle/>
          <a:p>
            <a:r>
              <a:rPr lang="en-US" b="1" dirty="0">
                <a:latin typeface="Arial" pitchFamily="34" charset="0"/>
                <a:cs typeface="Arial" pitchFamily="34" charset="0"/>
              </a:rPr>
              <a:t>Data </a:t>
            </a:r>
            <a:r>
              <a:rPr lang="en-US" b="1" dirty="0" smtClean="0">
                <a:latin typeface="Arial" pitchFamily="34" charset="0"/>
                <a:cs typeface="Arial" pitchFamily="34" charset="0"/>
              </a:rPr>
              <a:t>independence</a:t>
            </a:r>
            <a:endParaRPr lang="en-US" dirty="0">
              <a:latin typeface="Arial" pitchFamily="34" charset="0"/>
              <a:cs typeface="Arial" pitchFamily="34" charset="0"/>
            </a:endParaRPr>
          </a:p>
          <a:p>
            <a:r>
              <a:rPr lang="en-US" dirty="0">
                <a:latin typeface="Arial" pitchFamily="34" charset="0"/>
                <a:cs typeface="Arial" pitchFamily="34" charset="0"/>
              </a:rPr>
              <a:t>Application programs should be independent as possible from details of data representation &amp; storage</a:t>
            </a:r>
            <a:r>
              <a:rPr lang="en-US" dirty="0" smtClean="0">
                <a:latin typeface="Arial" pitchFamily="34" charset="0"/>
                <a:cs typeface="Arial" pitchFamily="34" charset="0"/>
              </a:rPr>
              <a:t>.</a:t>
            </a:r>
            <a:endParaRPr lang="en-US" dirty="0">
              <a:latin typeface="Arial" pitchFamily="34" charset="0"/>
              <a:cs typeface="Arial" pitchFamily="34" charset="0"/>
            </a:endParaRPr>
          </a:p>
          <a:p>
            <a:r>
              <a:rPr lang="en-US" b="1" dirty="0">
                <a:latin typeface="Arial" pitchFamily="34" charset="0"/>
                <a:cs typeface="Arial" pitchFamily="34" charset="0"/>
              </a:rPr>
              <a:t>Efficient data access</a:t>
            </a:r>
          </a:p>
          <a:p>
            <a:r>
              <a:rPr lang="en-US" dirty="0">
                <a:latin typeface="Arial" pitchFamily="34" charset="0"/>
                <a:cs typeface="Arial" pitchFamily="34" charset="0"/>
              </a:rPr>
              <a:t>Data can be effectively retrieved when data is stored on external storage device </a:t>
            </a:r>
            <a:endParaRPr lang="en-US" dirty="0" smtClean="0">
              <a:latin typeface="Arial" pitchFamily="34" charset="0"/>
              <a:cs typeface="Arial" pitchFamily="34" charset="0"/>
            </a:endParaRPr>
          </a:p>
          <a:p>
            <a:r>
              <a:rPr lang="en-US" b="1" dirty="0">
                <a:latin typeface="Arial" pitchFamily="34" charset="0"/>
                <a:cs typeface="Arial" pitchFamily="34" charset="0"/>
              </a:rPr>
              <a:t>Data integrity &amp; Security</a:t>
            </a:r>
            <a:endParaRPr lang="en-US" dirty="0">
              <a:latin typeface="Arial" pitchFamily="34" charset="0"/>
              <a:cs typeface="Arial" pitchFamily="34" charset="0"/>
            </a:endParaRPr>
          </a:p>
          <a:p>
            <a:r>
              <a:rPr lang="en-US" dirty="0">
                <a:latin typeface="Arial" pitchFamily="34" charset="0"/>
                <a:cs typeface="Arial" pitchFamily="34" charset="0"/>
              </a:rPr>
              <a:t>DBMS can enforce integrity constraints on data </a:t>
            </a:r>
          </a:p>
          <a:p>
            <a:r>
              <a:rPr lang="en-US" dirty="0">
                <a:latin typeface="Arial" pitchFamily="34" charset="0"/>
                <a:cs typeface="Arial" pitchFamily="34" charset="0"/>
              </a:rPr>
              <a:t>DBMS can check, before inserting salary for an employee the dept budget not exceeded.</a:t>
            </a:r>
          </a:p>
          <a:p>
            <a:r>
              <a:rPr lang="en-US" dirty="0">
                <a:latin typeface="Arial" pitchFamily="34" charset="0"/>
                <a:cs typeface="Arial" pitchFamily="34" charset="0"/>
              </a:rPr>
              <a:t>Security restrictions can be </a:t>
            </a:r>
            <a:r>
              <a:rPr lang="en-US" dirty="0" smtClean="0">
                <a:latin typeface="Arial" pitchFamily="34" charset="0"/>
                <a:cs typeface="Arial" pitchFamily="34" charset="0"/>
              </a:rPr>
              <a:t>applied</a:t>
            </a:r>
            <a:endParaRPr lang="en-US" dirty="0">
              <a:latin typeface="Arial" pitchFamily="34" charset="0"/>
              <a:cs typeface="Arial" pitchFamily="34" charset="0"/>
            </a:endParaRPr>
          </a:p>
          <a:p>
            <a:r>
              <a:rPr lang="en-US" b="1" dirty="0">
                <a:latin typeface="Arial" pitchFamily="34" charset="0"/>
                <a:cs typeface="Arial" pitchFamily="34" charset="0"/>
              </a:rPr>
              <a:t>Access controls is enforced</a:t>
            </a:r>
            <a:r>
              <a:rPr lang="en-US" dirty="0">
                <a:latin typeface="Arial" pitchFamily="34" charset="0"/>
                <a:cs typeface="Arial" pitchFamily="34" charset="0"/>
              </a:rPr>
              <a:t> </a:t>
            </a:r>
          </a:p>
          <a:p>
            <a:r>
              <a:rPr lang="en-US" dirty="0">
                <a:latin typeface="Arial" pitchFamily="34" charset="0"/>
                <a:cs typeface="Arial" pitchFamily="34" charset="0"/>
              </a:rPr>
              <a:t>What data is visible to different classes of </a:t>
            </a:r>
            <a:r>
              <a:rPr lang="en-US" dirty="0" smtClean="0">
                <a:latin typeface="Arial" pitchFamily="34" charset="0"/>
                <a:cs typeface="Arial" pitchFamily="34" charset="0"/>
              </a:rPr>
              <a:t>users</a:t>
            </a:r>
            <a:endParaRPr lang="en-US" dirty="0">
              <a:latin typeface="Arial" pitchFamily="34" charset="0"/>
              <a:cs typeface="Arial" pitchFamily="34" charset="0"/>
            </a:endParaRPr>
          </a:p>
          <a:p>
            <a:r>
              <a:rPr lang="en-US" b="1" dirty="0">
                <a:latin typeface="Arial" pitchFamily="34" charset="0"/>
                <a:cs typeface="Arial" pitchFamily="34" charset="0"/>
              </a:rPr>
              <a:t>Data administration</a:t>
            </a:r>
          </a:p>
          <a:p>
            <a:r>
              <a:rPr lang="en-US" dirty="0">
                <a:latin typeface="Arial" pitchFamily="34" charset="0"/>
                <a:cs typeface="Arial" pitchFamily="34" charset="0"/>
              </a:rPr>
              <a:t>When several users share data centralizing the administration of data can offer significant </a:t>
            </a:r>
            <a:r>
              <a:rPr lang="en-US" dirty="0" smtClean="0">
                <a:latin typeface="Arial" pitchFamily="34" charset="0"/>
                <a:cs typeface="Arial" pitchFamily="34" charset="0"/>
              </a:rPr>
              <a:t>improvements</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20</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644297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normAutofit fontScale="92500" lnSpcReduction="20000"/>
          </a:bodyPr>
          <a:lstStyle/>
          <a:p>
            <a:r>
              <a:rPr lang="en-US" b="1" dirty="0">
                <a:latin typeface="Arial" pitchFamily="34" charset="0"/>
                <a:cs typeface="Arial" pitchFamily="34" charset="0"/>
              </a:rPr>
              <a:t>Concurrent access and crash recovery</a:t>
            </a:r>
          </a:p>
          <a:p>
            <a:r>
              <a:rPr lang="en-US" dirty="0">
                <a:latin typeface="Arial" pitchFamily="34" charset="0"/>
                <a:cs typeface="Arial" pitchFamily="34" charset="0"/>
              </a:rPr>
              <a:t>Concurrent access to data, in such a manner that users can think of the </a:t>
            </a:r>
            <a:r>
              <a:rPr lang="en-US" dirty="0" smtClean="0">
                <a:latin typeface="Arial" pitchFamily="34" charset="0"/>
                <a:cs typeface="Arial" pitchFamily="34" charset="0"/>
              </a:rPr>
              <a:t>data </a:t>
            </a:r>
            <a:r>
              <a:rPr lang="en-US" dirty="0">
                <a:latin typeface="Arial" pitchFamily="34" charset="0"/>
                <a:cs typeface="Arial" pitchFamily="34" charset="0"/>
              </a:rPr>
              <a:t>being accessed by only one user at a time</a:t>
            </a:r>
          </a:p>
          <a:p>
            <a:r>
              <a:rPr lang="en-US" dirty="0">
                <a:latin typeface="Arial" pitchFamily="34" charset="0"/>
                <a:cs typeface="Arial" pitchFamily="34" charset="0"/>
              </a:rPr>
              <a:t>DBMS protects users from effects of system </a:t>
            </a:r>
            <a:r>
              <a:rPr lang="en-US" dirty="0" smtClean="0">
                <a:latin typeface="Arial" pitchFamily="34" charset="0"/>
                <a:cs typeface="Arial" pitchFamily="34" charset="0"/>
              </a:rPr>
              <a:t>failures</a:t>
            </a:r>
            <a:endParaRPr lang="en-US" dirty="0">
              <a:latin typeface="Arial" pitchFamily="34" charset="0"/>
              <a:cs typeface="Arial" pitchFamily="34" charset="0"/>
            </a:endParaRPr>
          </a:p>
          <a:p>
            <a:r>
              <a:rPr lang="en-US" b="1" dirty="0">
                <a:latin typeface="Arial" pitchFamily="34" charset="0"/>
                <a:cs typeface="Arial" pitchFamily="34" charset="0"/>
              </a:rPr>
              <a:t>Reduced application development time</a:t>
            </a:r>
          </a:p>
          <a:p>
            <a:r>
              <a:rPr lang="en-US" dirty="0">
                <a:latin typeface="Arial" pitchFamily="34" charset="0"/>
                <a:cs typeface="Arial" pitchFamily="34" charset="0"/>
              </a:rPr>
              <a:t>It supports many important functions that are common to much application accessing data stored in the </a:t>
            </a:r>
            <a:r>
              <a:rPr lang="en-US" dirty="0" smtClean="0">
                <a:latin typeface="Arial" pitchFamily="34" charset="0"/>
                <a:cs typeface="Arial" pitchFamily="34" charset="0"/>
              </a:rPr>
              <a:t>DBMS</a:t>
            </a:r>
            <a:endParaRPr lang="en-US" dirty="0">
              <a:latin typeface="Arial" pitchFamily="34" charset="0"/>
              <a:cs typeface="Arial" pitchFamily="34" charset="0"/>
            </a:endParaRPr>
          </a:p>
          <a:p>
            <a:r>
              <a:rPr lang="en-US" b="1" dirty="0">
                <a:latin typeface="Arial" pitchFamily="34" charset="0"/>
                <a:cs typeface="Arial" pitchFamily="34" charset="0"/>
              </a:rPr>
              <a:t>Describing and storing data in a DBMS</a:t>
            </a:r>
          </a:p>
          <a:p>
            <a:r>
              <a:rPr lang="en-US" dirty="0">
                <a:latin typeface="Arial" pitchFamily="34" charset="0"/>
                <a:cs typeface="Arial" pitchFamily="34" charset="0"/>
              </a:rPr>
              <a:t>A data model is a collection of high level data description that hide many low level storage details. </a:t>
            </a:r>
          </a:p>
          <a:p>
            <a:r>
              <a:rPr lang="en-US" b="1" dirty="0">
                <a:latin typeface="Arial" pitchFamily="34" charset="0"/>
                <a:cs typeface="Arial" pitchFamily="34" charset="0"/>
              </a:rPr>
              <a:t>Conflicting requirements can be balanced</a:t>
            </a:r>
          </a:p>
          <a:p>
            <a:r>
              <a:rPr lang="en-US" dirty="0">
                <a:latin typeface="Arial" pitchFamily="34" charset="0"/>
                <a:cs typeface="Arial" pitchFamily="34" charset="0"/>
              </a:rPr>
              <a:t>Knowing the overall requirements helps database designers in creating a database design that is best for the organization</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21</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2901468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View of </a:t>
            </a:r>
            <a:r>
              <a:rPr lang="en-GB" dirty="0" smtClean="0"/>
              <a:t>Data / Database Architecture</a:t>
            </a:r>
            <a:endParaRPr lang="en-GB" dirty="0"/>
          </a:p>
        </p:txBody>
      </p:sp>
    </p:spTree>
    <p:extLst>
      <p:ext uri="{BB962C8B-B14F-4D97-AF65-F5344CB8AC3E}">
        <p14:creationId xmlns:p14="http://schemas.microsoft.com/office/powerpoint/2010/main" val="17560086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DBMS Architecture</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a:bodyPr>
          <a:lstStyle/>
          <a:p>
            <a:r>
              <a:rPr lang="en-US" dirty="0">
                <a:latin typeface="Arial" pitchFamily="34" charset="0"/>
                <a:cs typeface="Arial" pitchFamily="34" charset="0"/>
              </a:rPr>
              <a:t>The DBMS architecture describes how data in the database is viewed by the </a:t>
            </a:r>
            <a:r>
              <a:rPr lang="en-US" dirty="0" smtClean="0">
                <a:latin typeface="Arial" pitchFamily="34" charset="0"/>
                <a:cs typeface="Arial" pitchFamily="34" charset="0"/>
              </a:rPr>
              <a:t>users.</a:t>
            </a:r>
          </a:p>
          <a:p>
            <a:r>
              <a:rPr lang="en-GB" b="1" dirty="0"/>
              <a:t>Database abstraction </a:t>
            </a:r>
            <a:r>
              <a:rPr lang="en-GB" dirty="0"/>
              <a:t>also hides the implementation details of the data from the </a:t>
            </a:r>
            <a:r>
              <a:rPr lang="en-GB" dirty="0" smtClean="0"/>
              <a:t>user</a:t>
            </a:r>
          </a:p>
          <a:p>
            <a:r>
              <a:rPr lang="en-GB" dirty="0"/>
              <a:t>The major purpose of a database system is to provide users with an abstract view of the data i.e. </a:t>
            </a:r>
            <a:endParaRPr lang="en-GB" dirty="0" smtClean="0"/>
          </a:p>
          <a:p>
            <a:r>
              <a:rPr lang="en-GB" dirty="0" smtClean="0"/>
              <a:t>The </a:t>
            </a:r>
            <a:r>
              <a:rPr lang="en-GB" dirty="0"/>
              <a:t>system hides certain details of how the data are stored and maintained.</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23</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13533659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to Understand Abstraction</a:t>
            </a:r>
            <a:endParaRPr lang="en-GB" dirty="0"/>
          </a:p>
        </p:txBody>
      </p:sp>
      <p:sp>
        <p:nvSpPr>
          <p:cNvPr id="3" name="Content Placeholder 2"/>
          <p:cNvSpPr>
            <a:spLocks noGrp="1"/>
          </p:cNvSpPr>
          <p:nvPr>
            <p:ph idx="1"/>
          </p:nvPr>
        </p:nvSpPr>
        <p:spPr/>
        <p:txBody>
          <a:bodyPr>
            <a:normAutofit/>
          </a:bodyPr>
          <a:lstStyle/>
          <a:p>
            <a:pPr fontAlgn="base"/>
            <a:r>
              <a:rPr lang="en-US" dirty="0" smtClean="0"/>
              <a:t>User Level</a:t>
            </a:r>
            <a:endParaRPr lang="en-GB" dirty="0" smtClean="0"/>
          </a:p>
          <a:p>
            <a:pPr fontAlgn="base"/>
            <a:r>
              <a:rPr lang="en-GB" dirty="0" smtClean="0"/>
              <a:t>A </a:t>
            </a:r>
            <a:r>
              <a:rPr lang="en-GB" dirty="0"/>
              <a:t>layman is walking on the street in front of your college. </a:t>
            </a:r>
            <a:endParaRPr lang="en-GB" dirty="0" smtClean="0"/>
          </a:p>
          <a:p>
            <a:pPr fontAlgn="base"/>
            <a:r>
              <a:rPr lang="en-GB" dirty="0" smtClean="0"/>
              <a:t>When </a:t>
            </a:r>
            <a:r>
              <a:rPr lang="en-GB" dirty="0"/>
              <a:t>he looks at your college what all does he knows about the college</a:t>
            </a:r>
            <a:r>
              <a:rPr lang="en-GB" dirty="0" smtClean="0"/>
              <a:t>!</a:t>
            </a:r>
          </a:p>
          <a:p>
            <a:pPr fontAlgn="base"/>
            <a:r>
              <a:rPr lang="en-GB" dirty="0" smtClean="0"/>
              <a:t>He </a:t>
            </a:r>
            <a:r>
              <a:rPr lang="en-GB" dirty="0"/>
              <a:t>knows the name of the college then he might know that it is a Science or Arts college, it is run by so a so society etc. </a:t>
            </a:r>
            <a:endParaRPr lang="en-GB" dirty="0" smtClean="0"/>
          </a:p>
          <a:p>
            <a:pPr fontAlgn="base"/>
            <a:endParaRPr lang="en-GB" dirty="0"/>
          </a:p>
        </p:txBody>
      </p:sp>
    </p:spTree>
    <p:extLst>
      <p:ext uri="{BB962C8B-B14F-4D97-AF65-F5344CB8AC3E}">
        <p14:creationId xmlns:p14="http://schemas.microsoft.com/office/powerpoint/2010/main" val="18556388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Level</a:t>
            </a:r>
            <a:endParaRPr lang="en-GB" dirty="0"/>
          </a:p>
        </p:txBody>
      </p:sp>
      <p:sp>
        <p:nvSpPr>
          <p:cNvPr id="3" name="Content Placeholder 2"/>
          <p:cNvSpPr>
            <a:spLocks noGrp="1"/>
          </p:cNvSpPr>
          <p:nvPr>
            <p:ph idx="1"/>
          </p:nvPr>
        </p:nvSpPr>
        <p:spPr/>
        <p:txBody>
          <a:bodyPr/>
          <a:lstStyle/>
          <a:p>
            <a:r>
              <a:rPr lang="en-GB" dirty="0" smtClean="0"/>
              <a:t>You are </a:t>
            </a:r>
            <a:r>
              <a:rPr lang="en-GB" dirty="0"/>
              <a:t>a student of the college </a:t>
            </a:r>
            <a:endParaRPr lang="en-GB" dirty="0" smtClean="0"/>
          </a:p>
          <a:p>
            <a:r>
              <a:rPr lang="en-GB" dirty="0" smtClean="0"/>
              <a:t>You know more about the person on the street</a:t>
            </a:r>
          </a:p>
          <a:p>
            <a:r>
              <a:rPr lang="en-GB" dirty="0" smtClean="0"/>
              <a:t>You know </a:t>
            </a:r>
            <a:r>
              <a:rPr lang="en-GB" dirty="0"/>
              <a:t>the number of courses held in the college, most of the teachers in the college, the course fees of the course which you are learning, the different buildings of the college etc</a:t>
            </a:r>
            <a:r>
              <a:rPr lang="en-GB" dirty="0" smtClean="0"/>
              <a:t>.</a:t>
            </a:r>
          </a:p>
          <a:p>
            <a:endParaRPr lang="en-GB" dirty="0"/>
          </a:p>
          <a:p>
            <a:endParaRPr lang="en-GB" dirty="0"/>
          </a:p>
        </p:txBody>
      </p:sp>
    </p:spTree>
    <p:extLst>
      <p:ext uri="{BB962C8B-B14F-4D97-AF65-F5344CB8AC3E}">
        <p14:creationId xmlns:p14="http://schemas.microsoft.com/office/powerpoint/2010/main" val="19394009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Physical Level</a:t>
            </a:r>
            <a:endParaRPr lang="en-GB" dirty="0"/>
          </a:p>
        </p:txBody>
      </p:sp>
      <p:sp>
        <p:nvSpPr>
          <p:cNvPr id="3" name="Content Placeholder 2"/>
          <p:cNvSpPr>
            <a:spLocks noGrp="1"/>
          </p:cNvSpPr>
          <p:nvPr>
            <p:ph idx="1"/>
          </p:nvPr>
        </p:nvSpPr>
        <p:spPr/>
        <p:txBody>
          <a:bodyPr/>
          <a:lstStyle/>
          <a:p>
            <a:r>
              <a:rPr lang="en-GB" dirty="0"/>
              <a:t>Now, consider the administrative staff of the college</a:t>
            </a:r>
            <a:r>
              <a:rPr lang="en-GB" dirty="0" smtClean="0"/>
              <a:t>.</a:t>
            </a:r>
          </a:p>
          <a:p>
            <a:r>
              <a:rPr lang="en-GB" dirty="0" smtClean="0"/>
              <a:t>These </a:t>
            </a:r>
            <a:r>
              <a:rPr lang="en-GB" dirty="0"/>
              <a:t>people know even more information about the college than a student of the college </a:t>
            </a:r>
            <a:endParaRPr lang="en-GB" dirty="0" smtClean="0"/>
          </a:p>
          <a:p>
            <a:r>
              <a:rPr lang="en-GB" dirty="0" smtClean="0"/>
              <a:t>like </a:t>
            </a:r>
            <a:r>
              <a:rPr lang="en-GB" dirty="0"/>
              <a:t>how courses are conducted, </a:t>
            </a:r>
            <a:endParaRPr lang="en-GB" dirty="0" smtClean="0"/>
          </a:p>
          <a:p>
            <a:r>
              <a:rPr lang="en-GB" dirty="0" smtClean="0"/>
              <a:t>how </a:t>
            </a:r>
            <a:r>
              <a:rPr lang="en-GB" dirty="0"/>
              <a:t>teachers are appointed, </a:t>
            </a:r>
            <a:endParaRPr lang="en-GB" dirty="0" smtClean="0"/>
          </a:p>
          <a:p>
            <a:r>
              <a:rPr lang="en-GB" dirty="0" smtClean="0"/>
              <a:t>what </a:t>
            </a:r>
            <a:r>
              <a:rPr lang="en-GB" dirty="0"/>
              <a:t>is the fee structure of the courses </a:t>
            </a:r>
            <a:endParaRPr lang="en-GB" dirty="0" smtClean="0"/>
          </a:p>
          <a:p>
            <a:r>
              <a:rPr lang="en-GB" dirty="0" smtClean="0"/>
              <a:t>what </a:t>
            </a:r>
            <a:r>
              <a:rPr lang="en-GB" dirty="0"/>
              <a:t>new courses are to be started etc. </a:t>
            </a:r>
            <a:endParaRPr lang="en-GB" dirty="0" smtClean="0"/>
          </a:p>
          <a:p>
            <a:r>
              <a:rPr lang="en-GB" dirty="0" smtClean="0"/>
              <a:t>Now</a:t>
            </a:r>
            <a:r>
              <a:rPr lang="en-GB" dirty="0"/>
              <a:t>, these 3 people are looking at the same thing (i.e. the college) from 3 different levels of abstraction.</a:t>
            </a:r>
          </a:p>
        </p:txBody>
      </p:sp>
    </p:spTree>
    <p:extLst>
      <p:ext uri="{BB962C8B-B14F-4D97-AF65-F5344CB8AC3E}">
        <p14:creationId xmlns:p14="http://schemas.microsoft.com/office/powerpoint/2010/main" val="9995393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3 Levels of Abstraction</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a:bodyPr>
          <a:lstStyle/>
          <a:p>
            <a:pPr lvl="0"/>
            <a:r>
              <a:rPr lang="en-US" dirty="0" smtClean="0">
                <a:latin typeface="Arial" pitchFamily="34" charset="0"/>
                <a:cs typeface="Arial" pitchFamily="34" charset="0"/>
              </a:rPr>
              <a:t>The architecture is defined at 3 levels. This </a:t>
            </a:r>
            <a:r>
              <a:rPr lang="en-US" dirty="0">
                <a:latin typeface="Arial" pitchFamily="34" charset="0"/>
                <a:cs typeface="Arial" pitchFamily="34" charset="0"/>
              </a:rPr>
              <a:t>architecture is proposed by ANSI/SPARC (American National Standards Institute/Standards Planning and Requirements Committee) and hence, is also known as </a:t>
            </a:r>
            <a:r>
              <a:rPr lang="en-US" b="1" dirty="0">
                <a:latin typeface="Arial" pitchFamily="34" charset="0"/>
                <a:cs typeface="Arial" pitchFamily="34" charset="0"/>
                <a:hlinkClick r:id="rId2"/>
              </a:rPr>
              <a:t>ANSI/SPARC architecture</a:t>
            </a:r>
            <a:endParaRPr lang="en-US" dirty="0" smtClean="0">
              <a:latin typeface="Arial" pitchFamily="34" charset="0"/>
              <a:cs typeface="Arial" pitchFamily="34" charset="0"/>
            </a:endParaRPr>
          </a:p>
          <a:p>
            <a:pPr lvl="1"/>
            <a:r>
              <a:rPr lang="en-US" dirty="0" smtClean="0">
                <a:latin typeface="Arial" pitchFamily="34" charset="0"/>
                <a:cs typeface="Arial" pitchFamily="34" charset="0"/>
              </a:rPr>
              <a:t>Physical level / Internal Level</a:t>
            </a:r>
            <a:endParaRPr lang="en-US" dirty="0">
              <a:latin typeface="Arial" pitchFamily="34" charset="0"/>
              <a:cs typeface="Arial" pitchFamily="34" charset="0"/>
            </a:endParaRPr>
          </a:p>
          <a:p>
            <a:pPr lvl="1"/>
            <a:r>
              <a:rPr lang="en-US" dirty="0">
                <a:latin typeface="Arial" pitchFamily="34" charset="0"/>
                <a:cs typeface="Arial" pitchFamily="34" charset="0"/>
              </a:rPr>
              <a:t>Logical </a:t>
            </a:r>
            <a:r>
              <a:rPr lang="en-US" dirty="0" smtClean="0">
                <a:latin typeface="Arial" pitchFamily="34" charset="0"/>
                <a:cs typeface="Arial" pitchFamily="34" charset="0"/>
              </a:rPr>
              <a:t>level / Conceptual </a:t>
            </a:r>
            <a:endParaRPr lang="en-US" dirty="0">
              <a:latin typeface="Arial" pitchFamily="34" charset="0"/>
              <a:cs typeface="Arial" pitchFamily="34" charset="0"/>
            </a:endParaRPr>
          </a:p>
          <a:p>
            <a:pPr lvl="1"/>
            <a:r>
              <a:rPr lang="en-US" dirty="0" smtClean="0">
                <a:latin typeface="Arial" pitchFamily="34" charset="0"/>
                <a:cs typeface="Arial" pitchFamily="34" charset="0"/>
              </a:rPr>
              <a:t>View </a:t>
            </a:r>
            <a:r>
              <a:rPr lang="en-US" dirty="0">
                <a:latin typeface="Arial" pitchFamily="34" charset="0"/>
                <a:cs typeface="Arial" pitchFamily="34" charset="0"/>
              </a:rPr>
              <a:t>or external level</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27</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6441195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DBMS Architecture Diagram</a:t>
            </a:r>
            <a:endParaRPr lang="en-US" dirty="0">
              <a:latin typeface="Arial" pitchFamily="34" charset="0"/>
              <a:cs typeface="Arial" pitchFamily="34" charset="0"/>
            </a:endParaRPr>
          </a:p>
        </p:txBody>
      </p:sp>
      <p:pic>
        <p:nvPicPr>
          <p:cNvPr id="4" name="Picture 8"/>
          <p:cNvPicPr>
            <a:picLocks noGrp="1" noChangeAspect="1" noChangeArrowheads="1"/>
          </p:cNvPicPr>
          <p:nvPr>
            <p:ph idx="1"/>
          </p:nvPr>
        </p:nvPicPr>
        <p:blipFill>
          <a:blip r:embed="rId2"/>
          <a:srcRect l="3358" t="14328" r="1120" b="10448"/>
          <a:stretch>
            <a:fillRect/>
          </a:stretch>
        </p:blipFill>
        <p:spPr bwMode="auto">
          <a:xfrm>
            <a:off x="2264519" y="1600201"/>
            <a:ext cx="7662962" cy="4525963"/>
          </a:xfrm>
          <a:prstGeom prst="rect">
            <a:avLst/>
          </a:prstGeom>
          <a:noFill/>
          <a:ln w="38100" cmpd="dbl">
            <a:solidFill>
              <a:schemeClr val="tx2"/>
            </a:solidFill>
            <a:miter lim="800000"/>
            <a:headEnd/>
            <a:tailEnd/>
          </a:ln>
        </p:spPr>
      </p:pic>
      <p:sp>
        <p:nvSpPr>
          <p:cNvPr id="5" name="Slide Number Placeholder 4"/>
          <p:cNvSpPr>
            <a:spLocks noGrp="1"/>
          </p:cNvSpPr>
          <p:nvPr>
            <p:ph type="sldNum" sz="quarter" idx="12"/>
          </p:nvPr>
        </p:nvSpPr>
        <p:spPr/>
        <p:txBody>
          <a:bodyPr/>
          <a:lstStyle/>
          <a:p>
            <a:fld id="{C8E6D33F-E187-4F70-BDF3-C2B81C57EFE3}" type="slidenum">
              <a:rPr lang="en-US" smtClean="0"/>
              <a:pPr/>
              <a:t>28</a:t>
            </a:fld>
            <a:endParaRPr lang="en-US"/>
          </a:p>
        </p:txBody>
      </p:sp>
      <p:sp>
        <p:nvSpPr>
          <p:cNvPr id="6" name="Footer Placeholder 5"/>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13603907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itchFamily="34" charset="0"/>
                <a:cs typeface="Arial" pitchFamily="34" charset="0"/>
              </a:rPr>
              <a:t>Physical </a:t>
            </a:r>
            <a:r>
              <a:rPr lang="en-US" b="1" dirty="0" smtClean="0">
                <a:latin typeface="Arial" pitchFamily="34" charset="0"/>
                <a:cs typeface="Arial" pitchFamily="34" charset="0"/>
              </a:rPr>
              <a:t>level</a:t>
            </a:r>
            <a:endParaRPr lang="en-GB" dirty="0"/>
          </a:p>
        </p:txBody>
      </p:sp>
      <p:sp>
        <p:nvSpPr>
          <p:cNvPr id="3" name="Content Placeholder 2"/>
          <p:cNvSpPr>
            <a:spLocks noGrp="1"/>
          </p:cNvSpPr>
          <p:nvPr>
            <p:ph idx="1"/>
          </p:nvPr>
        </p:nvSpPr>
        <p:spPr/>
        <p:txBody>
          <a:bodyPr>
            <a:normAutofit/>
          </a:bodyPr>
          <a:lstStyle/>
          <a:p>
            <a:r>
              <a:rPr lang="en-US" dirty="0" smtClean="0">
                <a:latin typeface="Arial" pitchFamily="34" charset="0"/>
                <a:cs typeface="Arial" pitchFamily="34" charset="0"/>
              </a:rPr>
              <a:t>Lowest </a:t>
            </a:r>
            <a:r>
              <a:rPr lang="en-US" dirty="0">
                <a:latin typeface="Arial" pitchFamily="34" charset="0"/>
                <a:cs typeface="Arial" pitchFamily="34" charset="0"/>
              </a:rPr>
              <a:t>level of abstraction.</a:t>
            </a:r>
          </a:p>
          <a:p>
            <a:pPr lvl="0"/>
            <a:r>
              <a:rPr lang="en-US" dirty="0">
                <a:latin typeface="Arial" pitchFamily="34" charset="0"/>
                <a:cs typeface="Arial" pitchFamily="34" charset="0"/>
              </a:rPr>
              <a:t>It describes how the data are actually stored.</a:t>
            </a:r>
          </a:p>
          <a:p>
            <a:pPr lvl="0"/>
            <a:r>
              <a:rPr lang="en-US" dirty="0">
                <a:latin typeface="Arial" pitchFamily="34" charset="0"/>
                <a:cs typeface="Arial" pitchFamily="34" charset="0"/>
              </a:rPr>
              <a:t>It describes data structures in detail.</a:t>
            </a:r>
          </a:p>
          <a:p>
            <a:pPr lvl="0"/>
            <a:r>
              <a:rPr lang="en-US" dirty="0">
                <a:latin typeface="Arial" pitchFamily="34" charset="0"/>
                <a:cs typeface="Arial" pitchFamily="34" charset="0"/>
              </a:rPr>
              <a:t>At this level achieve various aspects are considered for optimal runtime performance and storage space utilization. </a:t>
            </a:r>
          </a:p>
          <a:p>
            <a:pPr lvl="0"/>
            <a:r>
              <a:rPr lang="en-US" dirty="0">
                <a:latin typeface="Arial" pitchFamily="34" charset="0"/>
                <a:cs typeface="Arial" pitchFamily="34" charset="0"/>
              </a:rPr>
              <a:t>These aspects include storage space allocation techniques for data and indexes, access paths such as indexes, data compression and encryption techniques, and record </a:t>
            </a:r>
            <a:r>
              <a:rPr lang="en-US" dirty="0" smtClean="0">
                <a:latin typeface="Arial" pitchFamily="34" charset="0"/>
                <a:cs typeface="Arial" pitchFamily="34" charset="0"/>
              </a:rPr>
              <a:t>placement</a:t>
            </a:r>
          </a:p>
        </p:txBody>
      </p:sp>
    </p:spTree>
    <p:extLst>
      <p:ext uri="{BB962C8B-B14F-4D97-AF65-F5344CB8AC3E}">
        <p14:creationId xmlns:p14="http://schemas.microsoft.com/office/powerpoint/2010/main" val="36780974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itchFamily="34" charset="0"/>
                <a:cs typeface="Arial" pitchFamily="34" charset="0"/>
              </a:rPr>
              <a:t>Logical level</a:t>
            </a:r>
            <a:r>
              <a:rPr lang="en-US" dirty="0">
                <a:latin typeface="Arial" pitchFamily="34" charset="0"/>
                <a:cs typeface="Arial" pitchFamily="34" charset="0"/>
              </a:rPr>
              <a:t> </a:t>
            </a:r>
            <a:endParaRPr lang="en-GB" dirty="0"/>
          </a:p>
        </p:txBody>
      </p:sp>
      <p:sp>
        <p:nvSpPr>
          <p:cNvPr id="3" name="Content Placeholder 2"/>
          <p:cNvSpPr>
            <a:spLocks noGrp="1"/>
          </p:cNvSpPr>
          <p:nvPr>
            <p:ph idx="1"/>
          </p:nvPr>
        </p:nvSpPr>
        <p:spPr/>
        <p:txBody>
          <a:bodyPr/>
          <a:lstStyle/>
          <a:p>
            <a:pPr lvl="0"/>
            <a:r>
              <a:rPr lang="en-US" dirty="0" smtClean="0">
                <a:latin typeface="Arial" pitchFamily="34" charset="0"/>
                <a:cs typeface="Arial" pitchFamily="34" charset="0"/>
              </a:rPr>
              <a:t>Next </a:t>
            </a:r>
            <a:r>
              <a:rPr lang="en-US" dirty="0">
                <a:latin typeface="Arial" pitchFamily="34" charset="0"/>
                <a:cs typeface="Arial" pitchFamily="34" charset="0"/>
              </a:rPr>
              <a:t>level of abstraction.</a:t>
            </a:r>
          </a:p>
          <a:p>
            <a:pPr lvl="0"/>
            <a:r>
              <a:rPr lang="en-US" dirty="0">
                <a:latin typeface="Arial" pitchFamily="34" charset="0"/>
                <a:cs typeface="Arial" pitchFamily="34" charset="0"/>
              </a:rPr>
              <a:t>It describes what data are stored in database and what relationship exists between those data.</a:t>
            </a:r>
          </a:p>
          <a:p>
            <a:r>
              <a:rPr lang="en-GB" dirty="0" smtClean="0">
                <a:latin typeface="Arial" pitchFamily="34" charset="0"/>
                <a:cs typeface="Arial" pitchFamily="34" charset="0"/>
              </a:rPr>
              <a:t>Defines </a:t>
            </a:r>
            <a:r>
              <a:rPr lang="en-GB" dirty="0">
                <a:latin typeface="Arial" pitchFamily="34" charset="0"/>
                <a:cs typeface="Arial" pitchFamily="34" charset="0"/>
              </a:rPr>
              <a:t>all database entities, their attributes, and their relationships</a:t>
            </a:r>
          </a:p>
          <a:p>
            <a:r>
              <a:rPr lang="en-GB" dirty="0">
                <a:latin typeface="Arial" pitchFamily="34" charset="0"/>
                <a:cs typeface="Arial" pitchFamily="34" charset="0"/>
              </a:rPr>
              <a:t>Security and integrity information</a:t>
            </a:r>
          </a:p>
          <a:p>
            <a:pPr lvl="0"/>
            <a:endParaRPr lang="en-GB" dirty="0">
              <a:latin typeface="Arial" pitchFamily="34" charset="0"/>
              <a:cs typeface="Arial" pitchFamily="34" charset="0"/>
            </a:endParaRPr>
          </a:p>
        </p:txBody>
      </p:sp>
    </p:spTree>
    <p:extLst>
      <p:ext uri="{BB962C8B-B14F-4D97-AF65-F5344CB8AC3E}">
        <p14:creationId xmlns:p14="http://schemas.microsoft.com/office/powerpoint/2010/main" val="22307768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1"/>
            <a:ext cx="8229600" cy="5821363"/>
          </a:xfrm>
        </p:spPr>
        <p:txBody>
          <a:bodyPr>
            <a:normAutofit/>
          </a:bodyPr>
          <a:lstStyle/>
          <a:p>
            <a:pPr marL="0" indent="0">
              <a:buNone/>
            </a:pPr>
            <a:r>
              <a:rPr lang="en-US" b="1" dirty="0" smtClean="0">
                <a:latin typeface="Arial" pitchFamily="34" charset="0"/>
                <a:cs typeface="Arial" pitchFamily="34" charset="0"/>
              </a:rPr>
              <a:t>View </a:t>
            </a:r>
            <a:r>
              <a:rPr lang="en-US" b="1" dirty="0">
                <a:latin typeface="Arial" pitchFamily="34" charset="0"/>
                <a:cs typeface="Arial" pitchFamily="34" charset="0"/>
              </a:rPr>
              <a:t>or external level</a:t>
            </a:r>
          </a:p>
          <a:p>
            <a:pPr>
              <a:buNone/>
            </a:pPr>
            <a:endParaRPr lang="en-US" dirty="0">
              <a:latin typeface="Arial" pitchFamily="34" charset="0"/>
              <a:cs typeface="Arial" pitchFamily="34" charset="0"/>
            </a:endParaRPr>
          </a:p>
          <a:p>
            <a:pPr lvl="0"/>
            <a:r>
              <a:rPr lang="en-US" dirty="0">
                <a:latin typeface="Arial" pitchFamily="34" charset="0"/>
                <a:cs typeface="Arial" pitchFamily="34" charset="0"/>
              </a:rPr>
              <a:t>It describes only some part of entire database.</a:t>
            </a:r>
          </a:p>
          <a:p>
            <a:pPr lvl="0"/>
            <a:r>
              <a:rPr lang="en-US" dirty="0">
                <a:latin typeface="Arial" pitchFamily="34" charset="0"/>
                <a:cs typeface="Arial" pitchFamily="34" charset="0"/>
              </a:rPr>
              <a:t>It access only database and not concerned about physical storage location and data structures.  </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31</a:t>
            </a:fld>
            <a:endParaRPr lang="en-US" dirty="0"/>
          </a:p>
        </p:txBody>
      </p:sp>
      <p:sp>
        <p:nvSpPr>
          <p:cNvPr id="5" name="Footer Placeholder 4"/>
          <p:cNvSpPr>
            <a:spLocks noGrp="1"/>
          </p:cNvSpPr>
          <p:nvPr>
            <p:ph type="ftr" sz="quarter" idx="11"/>
          </p:nvPr>
        </p:nvSpPr>
        <p:spPr/>
        <p:txBody>
          <a:bodyPr/>
          <a:lstStyle/>
          <a:p>
            <a:r>
              <a:rPr lang="en-US" dirty="0" smtClean="0"/>
              <a:t>Prepared by : </a:t>
            </a:r>
            <a:r>
              <a:rPr lang="en-US" dirty="0" err="1" smtClean="0"/>
              <a:t>M.Nirmala</a:t>
            </a:r>
            <a:r>
              <a:rPr lang="en-US" dirty="0" smtClean="0"/>
              <a:t> / AP / MCA</a:t>
            </a:r>
            <a:endParaRPr lang="en-US" dirty="0"/>
          </a:p>
        </p:txBody>
      </p:sp>
    </p:spTree>
    <p:extLst>
      <p:ext uri="{BB962C8B-B14F-4D97-AF65-F5344CB8AC3E}">
        <p14:creationId xmlns:p14="http://schemas.microsoft.com/office/powerpoint/2010/main" val="23755804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3458" y="0"/>
            <a:ext cx="9827342" cy="6553200"/>
          </a:xfrm>
        </p:spPr>
        <p:txBody>
          <a:bodyPr>
            <a:normAutofit fontScale="92500"/>
          </a:bodyPr>
          <a:lstStyle/>
          <a:p>
            <a:r>
              <a:rPr lang="en-US" dirty="0" smtClean="0">
                <a:latin typeface="Arial" pitchFamily="34" charset="0"/>
                <a:cs typeface="Arial" pitchFamily="34" charset="0"/>
              </a:rPr>
              <a:t>Student </a:t>
            </a:r>
            <a:r>
              <a:rPr lang="en-US" dirty="0">
                <a:latin typeface="Arial" pitchFamily="34" charset="0"/>
                <a:cs typeface="Arial" pitchFamily="34" charset="0"/>
              </a:rPr>
              <a:t>information it </a:t>
            </a:r>
            <a:r>
              <a:rPr lang="en-US" dirty="0" smtClean="0">
                <a:latin typeface="Arial" pitchFamily="34" charset="0"/>
                <a:cs typeface="Arial" pitchFamily="34" charset="0"/>
              </a:rPr>
              <a:t>contains</a:t>
            </a:r>
            <a:r>
              <a:rPr lang="en-US" dirty="0">
                <a:latin typeface="Arial" pitchFamily="34" charset="0"/>
                <a:cs typeface="Arial" pitchFamily="34" charset="0"/>
              </a:rPr>
              <a:t> </a:t>
            </a:r>
          </a:p>
          <a:p>
            <a:pPr lvl="1"/>
            <a:r>
              <a:rPr lang="en-US" dirty="0" err="1">
                <a:latin typeface="Arial" pitchFamily="34" charset="0"/>
                <a:cs typeface="Arial" pitchFamily="34" charset="0"/>
              </a:rPr>
              <a:t>studentid</a:t>
            </a:r>
            <a:endParaRPr lang="en-US" dirty="0">
              <a:latin typeface="Arial" pitchFamily="34" charset="0"/>
              <a:cs typeface="Arial" pitchFamily="34" charset="0"/>
            </a:endParaRPr>
          </a:p>
          <a:p>
            <a:pPr lvl="1"/>
            <a:r>
              <a:rPr lang="en-US" dirty="0" err="1">
                <a:latin typeface="Arial" pitchFamily="34" charset="0"/>
                <a:cs typeface="Arial" pitchFamily="34" charset="0"/>
              </a:rPr>
              <a:t>stuname</a:t>
            </a:r>
            <a:endParaRPr lang="en-US" dirty="0">
              <a:latin typeface="Arial" pitchFamily="34" charset="0"/>
              <a:cs typeface="Arial" pitchFamily="34" charset="0"/>
            </a:endParaRPr>
          </a:p>
          <a:p>
            <a:pPr lvl="1"/>
            <a:r>
              <a:rPr lang="en-US" dirty="0" err="1">
                <a:latin typeface="Arial" pitchFamily="34" charset="0"/>
                <a:cs typeface="Arial" pitchFamily="34" charset="0"/>
              </a:rPr>
              <a:t>stuage</a:t>
            </a:r>
            <a:endParaRPr lang="en-US" dirty="0">
              <a:latin typeface="Arial" pitchFamily="34" charset="0"/>
              <a:cs typeface="Arial" pitchFamily="34" charset="0"/>
            </a:endParaRPr>
          </a:p>
          <a:p>
            <a:pPr lvl="1"/>
            <a:r>
              <a:rPr lang="en-US" dirty="0" err="1">
                <a:latin typeface="Arial" pitchFamily="34" charset="0"/>
                <a:cs typeface="Arial" pitchFamily="34" charset="0"/>
              </a:rPr>
              <a:t>stusex</a:t>
            </a:r>
            <a:endParaRPr lang="en-US" dirty="0">
              <a:latin typeface="Arial" pitchFamily="34" charset="0"/>
              <a:cs typeface="Arial" pitchFamily="34" charset="0"/>
            </a:endParaRPr>
          </a:p>
          <a:p>
            <a:pPr lvl="1"/>
            <a:r>
              <a:rPr lang="en-US" dirty="0" err="1" smtClean="0">
                <a:latin typeface="Arial" pitchFamily="34" charset="0"/>
                <a:cs typeface="Arial" pitchFamily="34" charset="0"/>
              </a:rPr>
              <a:t>stugrade</a:t>
            </a:r>
            <a:r>
              <a:rPr lang="en-US" dirty="0">
                <a:latin typeface="Arial" pitchFamily="34" charset="0"/>
                <a:cs typeface="Arial" pitchFamily="34" charset="0"/>
              </a:rPr>
              <a:t> </a:t>
            </a:r>
          </a:p>
          <a:p>
            <a:r>
              <a:rPr lang="en-US" b="1" dirty="0">
                <a:latin typeface="Arial" pitchFamily="34" charset="0"/>
                <a:cs typeface="Arial" pitchFamily="34" charset="0"/>
              </a:rPr>
              <a:t>Physical level:</a:t>
            </a:r>
            <a:endParaRPr lang="en-US" dirty="0">
              <a:latin typeface="Arial" pitchFamily="34" charset="0"/>
              <a:cs typeface="Arial" pitchFamily="34" charset="0"/>
            </a:endParaRPr>
          </a:p>
          <a:p>
            <a:r>
              <a:rPr lang="en-US" dirty="0">
                <a:latin typeface="Arial" pitchFamily="34" charset="0"/>
                <a:cs typeface="Arial" pitchFamily="34" charset="0"/>
              </a:rPr>
              <a:t>Student information are stored as block of consecutive storage </a:t>
            </a:r>
            <a:r>
              <a:rPr lang="en-US" dirty="0" smtClean="0">
                <a:latin typeface="Arial" pitchFamily="34" charset="0"/>
                <a:cs typeface="Arial" pitchFamily="34" charset="0"/>
              </a:rPr>
              <a:t>locations. 79 </a:t>
            </a:r>
            <a:r>
              <a:rPr lang="en-US" dirty="0">
                <a:latin typeface="Arial" pitchFamily="34" charset="0"/>
                <a:cs typeface="Arial" pitchFamily="34" charset="0"/>
              </a:rPr>
              <a:t>memory locations are needed</a:t>
            </a:r>
            <a:r>
              <a:rPr lang="en-US" dirty="0" smtClean="0">
                <a:latin typeface="Arial" pitchFamily="34" charset="0"/>
                <a:cs typeface="Arial" pitchFamily="34" charset="0"/>
              </a:rPr>
              <a:t>.</a:t>
            </a:r>
            <a:endParaRPr lang="en-US" dirty="0">
              <a:latin typeface="Arial" pitchFamily="34" charset="0"/>
              <a:cs typeface="Arial" pitchFamily="34" charset="0"/>
            </a:endParaRPr>
          </a:p>
          <a:p>
            <a:r>
              <a:rPr lang="en-US" b="1" dirty="0">
                <a:latin typeface="Arial" pitchFamily="34" charset="0"/>
                <a:cs typeface="Arial" pitchFamily="34" charset="0"/>
              </a:rPr>
              <a:t>Logical level:</a:t>
            </a:r>
            <a:endParaRPr lang="en-US" dirty="0">
              <a:latin typeface="Arial" pitchFamily="34" charset="0"/>
              <a:cs typeface="Arial" pitchFamily="34" charset="0"/>
            </a:endParaRPr>
          </a:p>
          <a:p>
            <a:r>
              <a:rPr lang="en-US" dirty="0" smtClean="0">
                <a:latin typeface="Arial" pitchFamily="34" charset="0"/>
                <a:cs typeface="Arial" pitchFamily="34" charset="0"/>
              </a:rPr>
              <a:t>Char </a:t>
            </a:r>
            <a:r>
              <a:rPr lang="en-US" dirty="0" err="1">
                <a:latin typeface="Arial" pitchFamily="34" charset="0"/>
                <a:cs typeface="Arial" pitchFamily="34" charset="0"/>
              </a:rPr>
              <a:t>stuid</a:t>
            </a:r>
            <a:r>
              <a:rPr lang="en-US" dirty="0">
                <a:latin typeface="Arial" pitchFamily="34" charset="0"/>
                <a:cs typeface="Arial" pitchFamily="34" charset="0"/>
              </a:rPr>
              <a:t> [25], </a:t>
            </a:r>
            <a:r>
              <a:rPr lang="en-US" dirty="0" err="1">
                <a:latin typeface="Arial" pitchFamily="34" charset="0"/>
                <a:cs typeface="Arial" pitchFamily="34" charset="0"/>
              </a:rPr>
              <a:t>stuname</a:t>
            </a:r>
            <a:r>
              <a:rPr lang="en-US" dirty="0">
                <a:latin typeface="Arial" pitchFamily="34" charset="0"/>
                <a:cs typeface="Arial" pitchFamily="34" charset="0"/>
              </a:rPr>
              <a:t> [50], </a:t>
            </a:r>
            <a:r>
              <a:rPr lang="en-US" dirty="0" err="1">
                <a:latin typeface="Arial" pitchFamily="34" charset="0"/>
                <a:cs typeface="Arial" pitchFamily="34" charset="0"/>
              </a:rPr>
              <a:t>stusex</a:t>
            </a:r>
            <a:r>
              <a:rPr lang="en-US" dirty="0">
                <a:latin typeface="Arial" pitchFamily="34" charset="0"/>
                <a:cs typeface="Arial" pitchFamily="34" charset="0"/>
              </a:rPr>
              <a:t>, and </a:t>
            </a:r>
            <a:r>
              <a:rPr lang="en-US" dirty="0" err="1">
                <a:latin typeface="Arial" pitchFamily="34" charset="0"/>
                <a:cs typeface="Arial" pitchFamily="34" charset="0"/>
              </a:rPr>
              <a:t>stugrade</a:t>
            </a:r>
            <a:r>
              <a:rPr lang="en-US" dirty="0">
                <a:latin typeface="Arial" pitchFamily="34" charset="0"/>
                <a:cs typeface="Arial" pitchFamily="34" charset="0"/>
              </a:rPr>
              <a:t>;</a:t>
            </a:r>
          </a:p>
          <a:p>
            <a:r>
              <a:rPr lang="en-US" dirty="0" err="1" smtClean="0">
                <a:latin typeface="Arial" pitchFamily="34" charset="0"/>
                <a:cs typeface="Arial" pitchFamily="34" charset="0"/>
              </a:rPr>
              <a:t>int</a:t>
            </a:r>
            <a:r>
              <a:rPr lang="en-US" dirty="0" smtClean="0">
                <a:latin typeface="Arial" pitchFamily="34" charset="0"/>
                <a:cs typeface="Arial" pitchFamily="34" charset="0"/>
              </a:rPr>
              <a:t> </a:t>
            </a:r>
            <a:r>
              <a:rPr lang="en-US" dirty="0">
                <a:latin typeface="Arial" pitchFamily="34" charset="0"/>
                <a:cs typeface="Arial" pitchFamily="34" charset="0"/>
              </a:rPr>
              <a:t>age;</a:t>
            </a:r>
          </a:p>
          <a:p>
            <a:r>
              <a:rPr lang="en-US" b="1" dirty="0" smtClean="0">
                <a:latin typeface="Arial" pitchFamily="34" charset="0"/>
                <a:cs typeface="Arial" pitchFamily="34" charset="0"/>
              </a:rPr>
              <a:t>External </a:t>
            </a:r>
            <a:r>
              <a:rPr lang="en-US" b="1" dirty="0">
                <a:latin typeface="Arial" pitchFamily="34" charset="0"/>
                <a:cs typeface="Arial" pitchFamily="34" charset="0"/>
              </a:rPr>
              <a:t>level:</a:t>
            </a:r>
            <a:endParaRPr lang="en-US" dirty="0">
              <a:latin typeface="Arial" pitchFamily="34" charset="0"/>
              <a:cs typeface="Arial" pitchFamily="34" charset="0"/>
            </a:endParaRPr>
          </a:p>
          <a:p>
            <a:r>
              <a:rPr lang="en-US" dirty="0">
                <a:latin typeface="Arial" pitchFamily="34" charset="0"/>
                <a:cs typeface="Arial" pitchFamily="34" charset="0"/>
              </a:rPr>
              <a:t>It uses set of application program to </a:t>
            </a:r>
            <a:r>
              <a:rPr lang="en-US" dirty="0" err="1">
                <a:latin typeface="Arial" pitchFamily="34" charset="0"/>
                <a:cs typeface="Arial" pitchFamily="34" charset="0"/>
              </a:rPr>
              <a:t>retrive</a:t>
            </a:r>
            <a:r>
              <a:rPr lang="en-US" dirty="0">
                <a:latin typeface="Arial" pitchFamily="34" charset="0"/>
                <a:cs typeface="Arial" pitchFamily="34" charset="0"/>
              </a:rPr>
              <a:t> data from database</a:t>
            </a:r>
          </a:p>
          <a:p>
            <a:r>
              <a:rPr lang="en-US" dirty="0">
                <a:latin typeface="Arial" pitchFamily="34" charset="0"/>
                <a:cs typeface="Arial" pitchFamily="34" charset="0"/>
              </a:rPr>
              <a:t>Select * from student where </a:t>
            </a:r>
            <a:r>
              <a:rPr lang="en-US" dirty="0" err="1">
                <a:latin typeface="Arial" pitchFamily="34" charset="0"/>
                <a:cs typeface="Arial" pitchFamily="34" charset="0"/>
              </a:rPr>
              <a:t>stuid</a:t>
            </a:r>
            <a:r>
              <a:rPr lang="en-US" dirty="0">
                <a:latin typeface="Arial" pitchFamily="34" charset="0"/>
                <a:cs typeface="Arial" pitchFamily="34" charset="0"/>
              </a:rPr>
              <a:t>=’1001</a:t>
            </a:r>
            <a:r>
              <a:rPr lang="en-US" dirty="0" smtClean="0">
                <a:latin typeface="Arial" pitchFamily="34" charset="0"/>
                <a:cs typeface="Arial" pitchFamily="34" charset="0"/>
              </a:rPr>
              <a: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32</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92527102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895600" y="1"/>
            <a:ext cx="6750050" cy="706437"/>
          </a:xfrm>
        </p:spPr>
        <p:txBody>
          <a:bodyPr>
            <a:normAutofit/>
          </a:bodyPr>
          <a:lstStyle/>
          <a:p>
            <a:pPr eaLnBrk="1" hangingPunct="1">
              <a:defRPr/>
            </a:pPr>
            <a:r>
              <a:rPr lang="en-US" dirty="0" smtClean="0">
                <a:latin typeface="Arial" pitchFamily="34" charset="0"/>
                <a:cs typeface="Arial" pitchFamily="34" charset="0"/>
              </a:rPr>
              <a:t>Instances and Schemas</a:t>
            </a:r>
          </a:p>
        </p:txBody>
      </p:sp>
      <p:sp>
        <p:nvSpPr>
          <p:cNvPr id="14342" name="Rectangle 3"/>
          <p:cNvSpPr>
            <a:spLocks noGrp="1" noChangeArrowheads="1"/>
          </p:cNvSpPr>
          <p:nvPr>
            <p:ph idx="1"/>
          </p:nvPr>
        </p:nvSpPr>
        <p:spPr>
          <a:xfrm>
            <a:off x="1981200" y="1143000"/>
            <a:ext cx="8229600" cy="5486400"/>
          </a:xfrm>
        </p:spPr>
        <p:txBody>
          <a:bodyPr>
            <a:normAutofit lnSpcReduction="10000"/>
          </a:bodyPr>
          <a:lstStyle/>
          <a:p>
            <a:pPr eaLnBrk="1" hangingPunct="1">
              <a:lnSpc>
                <a:spcPct val="80000"/>
              </a:lnSpc>
            </a:pPr>
            <a:r>
              <a:rPr lang="en-US" sz="2200" dirty="0">
                <a:latin typeface="Arial" pitchFamily="34" charset="0"/>
                <a:cs typeface="Arial" pitchFamily="34" charset="0"/>
              </a:rPr>
              <a:t>Similar to types and variables in programming languages</a:t>
            </a:r>
          </a:p>
          <a:p>
            <a:pPr eaLnBrk="1" hangingPunct="1">
              <a:lnSpc>
                <a:spcPct val="80000"/>
              </a:lnSpc>
            </a:pPr>
            <a:r>
              <a:rPr lang="en-US" sz="2200" b="1" dirty="0">
                <a:solidFill>
                  <a:schemeClr val="tx2"/>
                </a:solidFill>
                <a:latin typeface="Arial" pitchFamily="34" charset="0"/>
                <a:cs typeface="Arial" pitchFamily="34" charset="0"/>
              </a:rPr>
              <a:t>Schema</a:t>
            </a:r>
            <a:r>
              <a:rPr lang="en-US" sz="2200" b="1" dirty="0">
                <a:latin typeface="Arial" pitchFamily="34" charset="0"/>
                <a:cs typeface="Arial" pitchFamily="34" charset="0"/>
              </a:rPr>
              <a:t> </a:t>
            </a:r>
            <a:r>
              <a:rPr lang="en-US" sz="2200" dirty="0">
                <a:latin typeface="Arial" pitchFamily="34" charset="0"/>
                <a:cs typeface="Arial" pitchFamily="34" charset="0"/>
              </a:rPr>
              <a:t>–Overall design of a database  is called as schema </a:t>
            </a:r>
          </a:p>
          <a:p>
            <a:pPr lvl="1" eaLnBrk="1" hangingPunct="1">
              <a:lnSpc>
                <a:spcPct val="80000"/>
              </a:lnSpc>
            </a:pPr>
            <a:r>
              <a:rPr lang="en-US" sz="2200" dirty="0">
                <a:latin typeface="Arial" pitchFamily="34" charset="0"/>
                <a:cs typeface="Arial" pitchFamily="34" charset="0"/>
              </a:rPr>
              <a:t>Example: The database consists of information about a set of customers and accounts and the relationship between them)</a:t>
            </a:r>
          </a:p>
          <a:p>
            <a:pPr lvl="1" eaLnBrk="1" hangingPunct="1">
              <a:lnSpc>
                <a:spcPct val="80000"/>
              </a:lnSpc>
            </a:pPr>
            <a:r>
              <a:rPr lang="en-US" sz="2200" dirty="0">
                <a:latin typeface="Arial" pitchFamily="34" charset="0"/>
                <a:cs typeface="Arial" pitchFamily="34" charset="0"/>
              </a:rPr>
              <a:t>Analogous to type information of a variable in a program</a:t>
            </a:r>
          </a:p>
          <a:p>
            <a:pPr lvl="1" eaLnBrk="1" hangingPunct="1">
              <a:lnSpc>
                <a:spcPct val="80000"/>
              </a:lnSpc>
            </a:pPr>
            <a:r>
              <a:rPr lang="en-US" sz="2200" dirty="0">
                <a:latin typeface="Arial" pitchFamily="34" charset="0"/>
                <a:cs typeface="Arial" pitchFamily="34" charset="0"/>
              </a:rPr>
              <a:t>Physical schema: database design at the physical level</a:t>
            </a:r>
          </a:p>
          <a:p>
            <a:pPr lvl="1" eaLnBrk="1" hangingPunct="1">
              <a:lnSpc>
                <a:spcPct val="80000"/>
              </a:lnSpc>
            </a:pPr>
            <a:r>
              <a:rPr lang="en-US" sz="2200" dirty="0">
                <a:latin typeface="Arial" pitchFamily="34" charset="0"/>
                <a:cs typeface="Arial" pitchFamily="34" charset="0"/>
              </a:rPr>
              <a:t>Logical schema: database design at the logical level</a:t>
            </a:r>
          </a:p>
          <a:p>
            <a:r>
              <a:rPr lang="en-US" sz="2400" b="1" dirty="0">
                <a:latin typeface="Arial" pitchFamily="34" charset="0"/>
                <a:cs typeface="Arial" pitchFamily="34" charset="0"/>
              </a:rPr>
              <a:t>Instance</a:t>
            </a:r>
          </a:p>
          <a:p>
            <a:r>
              <a:rPr lang="en-US" sz="2400" dirty="0">
                <a:latin typeface="Arial" pitchFamily="34" charset="0"/>
                <a:cs typeface="Arial" pitchFamily="34" charset="0"/>
              </a:rPr>
              <a:t>Collection of information stored in the database at a particular moment is called an instance of a database. </a:t>
            </a:r>
            <a:r>
              <a:rPr lang="en-US" sz="2400" b="1" dirty="0">
                <a:latin typeface="Arial" pitchFamily="34" charset="0"/>
                <a:cs typeface="Arial" pitchFamily="34" charset="0"/>
              </a:rPr>
              <a:t> </a:t>
            </a:r>
          </a:p>
          <a:p>
            <a:pPr lvl="1" eaLnBrk="1" hangingPunct="1">
              <a:lnSpc>
                <a:spcPct val="80000"/>
              </a:lnSpc>
            </a:pPr>
            <a:r>
              <a:rPr lang="en-US" sz="2200" dirty="0">
                <a:latin typeface="Arial" pitchFamily="34" charset="0"/>
                <a:cs typeface="Arial" pitchFamily="34" charset="0"/>
              </a:rPr>
              <a:t>Analogous to the value of a variable</a:t>
            </a:r>
          </a:p>
          <a:p>
            <a:pPr eaLnBrk="1" hangingPunct="1">
              <a:lnSpc>
                <a:spcPct val="80000"/>
              </a:lnSpc>
            </a:pPr>
            <a:r>
              <a:rPr lang="en-US" sz="2200" dirty="0">
                <a:solidFill>
                  <a:schemeClr val="tx2"/>
                </a:solidFill>
                <a:latin typeface="Arial" pitchFamily="34" charset="0"/>
                <a:cs typeface="Arial" pitchFamily="34" charset="0"/>
              </a:rPr>
              <a:t>Physical Data Independence</a:t>
            </a:r>
            <a:r>
              <a:rPr lang="en-US" sz="2200" dirty="0">
                <a:latin typeface="Arial" pitchFamily="34" charset="0"/>
                <a:cs typeface="Arial" pitchFamily="34" charset="0"/>
              </a:rPr>
              <a:t> – the ability to modify the physical schema without changing the logical schema</a:t>
            </a:r>
          </a:p>
          <a:p>
            <a:pPr lvl="1" eaLnBrk="1" hangingPunct="1">
              <a:lnSpc>
                <a:spcPct val="80000"/>
              </a:lnSpc>
            </a:pPr>
            <a:r>
              <a:rPr lang="en-US" sz="2200" dirty="0">
                <a:latin typeface="Arial" pitchFamily="34" charset="0"/>
                <a:cs typeface="Arial" pitchFamily="34" charset="0"/>
              </a:rPr>
              <a:t>Applications depend on the logical schema</a:t>
            </a:r>
          </a:p>
          <a:p>
            <a:pPr lvl="1" eaLnBrk="1" hangingPunct="1">
              <a:lnSpc>
                <a:spcPct val="80000"/>
              </a:lnSpc>
            </a:pPr>
            <a:r>
              <a:rPr lang="en-US" sz="2200" dirty="0">
                <a:latin typeface="Arial" pitchFamily="34" charset="0"/>
                <a:cs typeface="Arial" pitchFamily="34" charset="0"/>
              </a:rPr>
              <a:t>In general, the interfaces between the various levels and components should be well defined so that changes in some parts do not seriously influence others</a:t>
            </a:r>
          </a:p>
        </p:txBody>
      </p:sp>
      <p:sp>
        <p:nvSpPr>
          <p:cNvPr id="14340" name="Slide Number Placeholder 5"/>
          <p:cNvSpPr>
            <a:spLocks noGrp="1"/>
          </p:cNvSpPr>
          <p:nvPr>
            <p:ph type="sldNum" sz="quarter" idx="12"/>
          </p:nvPr>
        </p:nvSpPr>
        <p:spPr>
          <a:noFill/>
        </p:spPr>
        <p:txBody>
          <a:bodyPr/>
          <a:lstStyle/>
          <a:p>
            <a:fld id="{1C1C6FDD-4786-4251-8E75-F82543854F51}" type="slidenum">
              <a:rPr lang="en-US"/>
              <a:pPr/>
              <a:t>33</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5861012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09601"/>
            <a:ext cx="8229600" cy="5516563"/>
          </a:xfrm>
        </p:spPr>
        <p:txBody>
          <a:bodyPr>
            <a:normAutofit/>
          </a:bodyPr>
          <a:lstStyle/>
          <a:p>
            <a:r>
              <a:rPr lang="en-US" b="1" dirty="0" err="1">
                <a:latin typeface="Arial" pitchFamily="34" charset="0"/>
                <a:cs typeface="Arial" pitchFamily="34" charset="0"/>
              </a:rPr>
              <a:t>Eg</a:t>
            </a:r>
            <a:r>
              <a:rPr lang="en-US" b="1" dirty="0">
                <a:latin typeface="Arial" pitchFamily="34" charset="0"/>
                <a:cs typeface="Arial" pitchFamily="34" charset="0"/>
              </a:rPr>
              <a:t> of instance &amp; schema</a:t>
            </a:r>
            <a:r>
              <a:rPr lang="en-US" b="1" dirty="0" smtClean="0">
                <a:latin typeface="Arial" pitchFamily="34" charset="0"/>
                <a:cs typeface="Arial" pitchFamily="34" charset="0"/>
              </a:rPr>
              <a:t>:</a:t>
            </a:r>
            <a:endParaRPr lang="en-US" dirty="0">
              <a:latin typeface="Arial" pitchFamily="34" charset="0"/>
              <a:cs typeface="Arial" pitchFamily="34" charset="0"/>
            </a:endParaRPr>
          </a:p>
          <a:p>
            <a:r>
              <a:rPr lang="en-US" dirty="0">
                <a:latin typeface="Arial" pitchFamily="34" charset="0"/>
                <a:cs typeface="Arial" pitchFamily="34" charset="0"/>
              </a:rPr>
              <a:t>In a program, various variable declarations are referred as schema.</a:t>
            </a:r>
          </a:p>
          <a:p>
            <a:r>
              <a:rPr lang="en-US" dirty="0">
                <a:latin typeface="Arial" pitchFamily="34" charset="0"/>
                <a:cs typeface="Arial" pitchFamily="34" charset="0"/>
              </a:rPr>
              <a:t>Every variable has a particular value at a given instance of database schema </a:t>
            </a:r>
          </a:p>
          <a:p>
            <a:endParaRPr lang="en-US" b="1" dirty="0" smtClean="0">
              <a:latin typeface="Arial" pitchFamily="34" charset="0"/>
              <a:cs typeface="Arial" pitchFamily="34" charset="0"/>
            </a:endParaRPr>
          </a:p>
          <a:p>
            <a:r>
              <a:rPr lang="en-US" b="1" dirty="0" smtClean="0">
                <a:latin typeface="Arial" pitchFamily="34" charset="0"/>
                <a:cs typeface="Arial" pitchFamily="34" charset="0"/>
              </a:rPr>
              <a:t>Database </a:t>
            </a:r>
            <a:r>
              <a:rPr lang="en-US" b="1" dirty="0">
                <a:latin typeface="Arial" pitchFamily="34" charset="0"/>
                <a:cs typeface="Arial" pitchFamily="34" charset="0"/>
              </a:rPr>
              <a:t>schemas</a:t>
            </a:r>
          </a:p>
          <a:p>
            <a:r>
              <a:rPr lang="en-US" dirty="0">
                <a:latin typeface="Arial" pitchFamily="34" charset="0"/>
                <a:cs typeface="Arial" pitchFamily="34" charset="0"/>
              </a:rPr>
              <a:t>3 types of schemas</a:t>
            </a:r>
            <a:r>
              <a:rPr lang="en-US" dirty="0" smtClean="0">
                <a:latin typeface="Arial" pitchFamily="34" charset="0"/>
                <a:cs typeface="Arial" pitchFamily="34" charset="0"/>
              </a:rPr>
              <a:t>:</a:t>
            </a:r>
            <a:endParaRPr lang="en-US" dirty="0">
              <a:latin typeface="Arial" pitchFamily="34" charset="0"/>
              <a:cs typeface="Arial" pitchFamily="34" charset="0"/>
            </a:endParaRPr>
          </a:p>
          <a:p>
            <a:pPr lvl="1"/>
            <a:r>
              <a:rPr lang="en-US" dirty="0">
                <a:latin typeface="Arial" pitchFamily="34" charset="0"/>
                <a:cs typeface="Arial" pitchFamily="34" charset="0"/>
              </a:rPr>
              <a:t>1. Conceptual schema.</a:t>
            </a:r>
          </a:p>
          <a:p>
            <a:pPr lvl="1"/>
            <a:r>
              <a:rPr lang="en-US" dirty="0">
                <a:latin typeface="Arial" pitchFamily="34" charset="0"/>
                <a:cs typeface="Arial" pitchFamily="34" charset="0"/>
              </a:rPr>
              <a:t>2. Physical schema/ internal.</a:t>
            </a:r>
          </a:p>
          <a:p>
            <a:pPr lvl="1"/>
            <a:r>
              <a:rPr lang="en-US" dirty="0">
                <a:latin typeface="Arial" pitchFamily="34" charset="0"/>
                <a:cs typeface="Arial" pitchFamily="34" charset="0"/>
              </a:rPr>
              <a:t>3. Logical schema/external. </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34</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13249359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Database Schemas</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35</a:t>
            </a:fld>
            <a:endParaRPr lang="en-US"/>
          </a:p>
        </p:txBody>
      </p:sp>
      <p:sp>
        <p:nvSpPr>
          <p:cNvPr id="1040" name="Rectangle 1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1027" name="Group 3"/>
          <p:cNvGrpSpPr>
            <a:grpSpLocks noChangeAspect="1"/>
          </p:cNvGrpSpPr>
          <p:nvPr/>
        </p:nvGrpSpPr>
        <p:grpSpPr bwMode="auto">
          <a:xfrm>
            <a:off x="1905000" y="2133600"/>
            <a:ext cx="8382000" cy="4191000"/>
            <a:chOff x="3877" y="6326"/>
            <a:chExt cx="6450" cy="4783"/>
          </a:xfrm>
        </p:grpSpPr>
        <p:sp>
          <p:nvSpPr>
            <p:cNvPr id="1039" name="AutoShape 15"/>
            <p:cNvSpPr>
              <a:spLocks noChangeAspect="1" noChangeArrowheads="1" noTextEdit="1"/>
            </p:cNvSpPr>
            <p:nvPr/>
          </p:nvSpPr>
          <p:spPr bwMode="auto">
            <a:xfrm>
              <a:off x="3877" y="6326"/>
              <a:ext cx="6450" cy="4783"/>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8" name="Rectangle 14"/>
            <p:cNvSpPr>
              <a:spLocks noChangeArrowheads="1"/>
            </p:cNvSpPr>
            <p:nvPr/>
          </p:nvSpPr>
          <p:spPr bwMode="auto">
            <a:xfrm>
              <a:off x="3877" y="6481"/>
              <a:ext cx="1800" cy="771"/>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fontAlgn="base">
                <a:spcBef>
                  <a:spcPct val="0"/>
                </a:spcBef>
                <a:spcAft>
                  <a:spcPct val="0"/>
                </a:spcAft>
              </a:pPr>
              <a:r>
                <a:rPr lang="en-US" sz="1200">
                  <a:latin typeface="Arial" pitchFamily="34" charset="0"/>
                  <a:ea typeface="Times New Roman" pitchFamily="18" charset="0"/>
                </a:rPr>
                <a:t>External schema 1</a:t>
              </a:r>
              <a:endParaRPr lang="en-US">
                <a:latin typeface="Arial" pitchFamily="34" charset="0"/>
              </a:endParaRPr>
            </a:p>
          </p:txBody>
        </p:sp>
        <p:sp>
          <p:nvSpPr>
            <p:cNvPr id="1037" name="Rectangle 13"/>
            <p:cNvSpPr>
              <a:spLocks noChangeArrowheads="1"/>
            </p:cNvSpPr>
            <p:nvPr/>
          </p:nvSpPr>
          <p:spPr bwMode="auto">
            <a:xfrm>
              <a:off x="6277" y="6481"/>
              <a:ext cx="1800" cy="771"/>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fontAlgn="base">
                <a:spcBef>
                  <a:spcPct val="0"/>
                </a:spcBef>
                <a:spcAft>
                  <a:spcPct val="0"/>
                </a:spcAft>
              </a:pPr>
              <a:r>
                <a:rPr lang="en-US" sz="1200" dirty="0">
                  <a:latin typeface="Arial" pitchFamily="34" charset="0"/>
                  <a:ea typeface="Times New Roman" pitchFamily="18" charset="0"/>
                </a:rPr>
                <a:t>External schema 2</a:t>
              </a:r>
              <a:endParaRPr lang="en-US" dirty="0">
                <a:latin typeface="Arial" pitchFamily="34" charset="0"/>
              </a:endParaRPr>
            </a:p>
          </p:txBody>
        </p:sp>
        <p:sp>
          <p:nvSpPr>
            <p:cNvPr id="1036" name="Rectangle 12"/>
            <p:cNvSpPr>
              <a:spLocks noChangeArrowheads="1"/>
            </p:cNvSpPr>
            <p:nvPr/>
          </p:nvSpPr>
          <p:spPr bwMode="auto">
            <a:xfrm>
              <a:off x="8527" y="6481"/>
              <a:ext cx="1650" cy="771"/>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fontAlgn="base">
                <a:spcBef>
                  <a:spcPct val="0"/>
                </a:spcBef>
                <a:spcAft>
                  <a:spcPct val="0"/>
                </a:spcAft>
              </a:pPr>
              <a:r>
                <a:rPr lang="en-US" sz="1200">
                  <a:latin typeface="Arial" pitchFamily="34" charset="0"/>
                  <a:ea typeface="Times New Roman" pitchFamily="18" charset="0"/>
                </a:rPr>
                <a:t>External schema 3</a:t>
              </a:r>
              <a:endParaRPr lang="en-US">
                <a:latin typeface="Arial" pitchFamily="34" charset="0"/>
              </a:endParaRPr>
            </a:p>
          </p:txBody>
        </p:sp>
        <p:sp>
          <p:nvSpPr>
            <p:cNvPr id="1035" name="Rectangle 11"/>
            <p:cNvSpPr>
              <a:spLocks noChangeArrowheads="1"/>
            </p:cNvSpPr>
            <p:nvPr/>
          </p:nvSpPr>
          <p:spPr bwMode="auto">
            <a:xfrm>
              <a:off x="6277" y="7869"/>
              <a:ext cx="1650" cy="61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n-US" sz="1200">
                  <a:latin typeface="Arial" pitchFamily="34" charset="0"/>
                  <a:ea typeface="Times New Roman" pitchFamily="18" charset="0"/>
                </a:rPr>
                <a:t>Conceptual schema</a:t>
              </a:r>
              <a:endParaRPr lang="en-US">
                <a:latin typeface="Arial" pitchFamily="34" charset="0"/>
              </a:endParaRPr>
            </a:p>
          </p:txBody>
        </p:sp>
        <p:sp>
          <p:nvSpPr>
            <p:cNvPr id="1034" name="Rectangle 10"/>
            <p:cNvSpPr>
              <a:spLocks noChangeArrowheads="1"/>
            </p:cNvSpPr>
            <p:nvPr/>
          </p:nvSpPr>
          <p:spPr bwMode="auto">
            <a:xfrm>
              <a:off x="6277" y="9103"/>
              <a:ext cx="1650" cy="61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n-US" sz="1200">
                  <a:latin typeface="Arial" pitchFamily="34" charset="0"/>
                  <a:ea typeface="Times New Roman" pitchFamily="18" charset="0"/>
                </a:rPr>
                <a:t>Physical schema</a:t>
              </a:r>
              <a:endParaRPr lang="en-US">
                <a:latin typeface="Arial" pitchFamily="34" charset="0"/>
              </a:endParaRPr>
            </a:p>
          </p:txBody>
        </p:sp>
        <p:sp>
          <p:nvSpPr>
            <p:cNvPr id="1033" name="AutoShape 9"/>
            <p:cNvSpPr>
              <a:spLocks noChangeArrowheads="1"/>
            </p:cNvSpPr>
            <p:nvPr/>
          </p:nvSpPr>
          <p:spPr bwMode="auto">
            <a:xfrm flipH="1">
              <a:off x="6727" y="10183"/>
              <a:ext cx="750" cy="926"/>
            </a:xfrm>
            <a:prstGeom prst="can">
              <a:avLst>
                <a:gd name="adj" fmla="val 43613"/>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r>
                <a:rPr lang="en-US" sz="1200" dirty="0">
                  <a:latin typeface="Arial" pitchFamily="34" charset="0"/>
                  <a:ea typeface="Times New Roman" pitchFamily="18" charset="0"/>
                </a:rPr>
                <a:t>disk</a:t>
              </a:r>
              <a:endParaRPr lang="en-US" dirty="0">
                <a:latin typeface="Arial" pitchFamily="34" charset="0"/>
              </a:endParaRPr>
            </a:p>
          </p:txBody>
        </p:sp>
        <p:sp>
          <p:nvSpPr>
            <p:cNvPr id="1032" name="Line 8"/>
            <p:cNvSpPr>
              <a:spLocks noChangeShapeType="1"/>
            </p:cNvSpPr>
            <p:nvPr/>
          </p:nvSpPr>
          <p:spPr bwMode="auto">
            <a:xfrm>
              <a:off x="7027" y="9720"/>
              <a:ext cx="0" cy="463"/>
            </a:xfrm>
            <a:prstGeom prst="line">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031" name="Line 7"/>
            <p:cNvSpPr>
              <a:spLocks noChangeShapeType="1"/>
            </p:cNvSpPr>
            <p:nvPr/>
          </p:nvSpPr>
          <p:spPr bwMode="auto">
            <a:xfrm>
              <a:off x="7027" y="8486"/>
              <a:ext cx="1" cy="617"/>
            </a:xfrm>
            <a:prstGeom prst="line">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030" name="Line 6"/>
            <p:cNvSpPr>
              <a:spLocks noChangeShapeType="1"/>
            </p:cNvSpPr>
            <p:nvPr/>
          </p:nvSpPr>
          <p:spPr bwMode="auto">
            <a:xfrm>
              <a:off x="4927" y="7252"/>
              <a:ext cx="1650" cy="617"/>
            </a:xfrm>
            <a:prstGeom prst="line">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029" name="Line 5"/>
            <p:cNvSpPr>
              <a:spLocks noChangeShapeType="1"/>
            </p:cNvSpPr>
            <p:nvPr/>
          </p:nvSpPr>
          <p:spPr bwMode="auto">
            <a:xfrm>
              <a:off x="6877" y="7252"/>
              <a:ext cx="1" cy="617"/>
            </a:xfrm>
            <a:prstGeom prst="line">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028" name="Line 4"/>
            <p:cNvSpPr>
              <a:spLocks noChangeShapeType="1"/>
            </p:cNvSpPr>
            <p:nvPr/>
          </p:nvSpPr>
          <p:spPr bwMode="auto">
            <a:xfrm flipH="1">
              <a:off x="7327" y="7252"/>
              <a:ext cx="1650" cy="617"/>
            </a:xfrm>
            <a:prstGeom prst="line">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US"/>
            </a:p>
          </p:txBody>
        </p:sp>
      </p:grpSp>
      <p:sp>
        <p:nvSpPr>
          <p:cNvPr id="18" name="Footer Placeholder 17"/>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21588629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4"/>
          <p:cNvSpPr>
            <a:spLocks noGrp="1" noChangeArrowheads="1"/>
          </p:cNvSpPr>
          <p:nvPr>
            <p:ph type="title"/>
          </p:nvPr>
        </p:nvSpPr>
        <p:spPr/>
        <p:txBody>
          <a:bodyPr/>
          <a:lstStyle/>
          <a:p>
            <a:pPr eaLnBrk="1" hangingPunct="1">
              <a:defRPr/>
            </a:pPr>
            <a:r>
              <a:rPr lang="en-US" smtClean="0">
                <a:latin typeface="Arial" pitchFamily="34" charset="0"/>
                <a:cs typeface="Arial" pitchFamily="34" charset="0"/>
              </a:rPr>
              <a:t>Instances and Schemas</a:t>
            </a:r>
          </a:p>
        </p:txBody>
      </p:sp>
      <p:sp>
        <p:nvSpPr>
          <p:cNvPr id="15365" name="Rectangle 3"/>
          <p:cNvSpPr>
            <a:spLocks noGrp="1" noChangeArrowheads="1"/>
          </p:cNvSpPr>
          <p:nvPr>
            <p:ph idx="1"/>
          </p:nvPr>
        </p:nvSpPr>
        <p:spPr/>
        <p:txBody>
          <a:bodyPr/>
          <a:lstStyle/>
          <a:p>
            <a:pPr eaLnBrk="1" hangingPunct="1"/>
            <a:r>
              <a:rPr lang="en-US" smtClean="0">
                <a:latin typeface="Arial" pitchFamily="34" charset="0"/>
                <a:cs typeface="Arial" pitchFamily="34" charset="0"/>
              </a:rPr>
              <a:t>DB Schema Diagram for a Company:</a:t>
            </a:r>
          </a:p>
          <a:p>
            <a:pPr eaLnBrk="1" hangingPunct="1">
              <a:buFont typeface="Wingdings" pitchFamily="2" charset="2"/>
              <a:buNone/>
            </a:pPr>
            <a:endParaRPr lang="en-US" smtClean="0">
              <a:latin typeface="Arial" pitchFamily="34" charset="0"/>
              <a:cs typeface="Arial" pitchFamily="34" charset="0"/>
            </a:endParaRPr>
          </a:p>
          <a:p>
            <a:pPr eaLnBrk="1" hangingPunct="1">
              <a:buFont typeface="Wingdings" pitchFamily="2" charset="2"/>
              <a:buNone/>
            </a:pPr>
            <a:r>
              <a:rPr lang="en-US" smtClean="0">
                <a:solidFill>
                  <a:schemeClr val="hlink"/>
                </a:solidFill>
                <a:latin typeface="Arial" pitchFamily="34" charset="0"/>
                <a:cs typeface="Arial" pitchFamily="34" charset="0"/>
              </a:rPr>
              <a:t>Employee</a:t>
            </a:r>
            <a:r>
              <a:rPr lang="en-US" smtClean="0">
                <a:latin typeface="Arial" pitchFamily="34" charset="0"/>
                <a:cs typeface="Arial" pitchFamily="34" charset="0"/>
              </a:rPr>
              <a:t>:</a:t>
            </a:r>
          </a:p>
        </p:txBody>
      </p:sp>
      <p:sp>
        <p:nvSpPr>
          <p:cNvPr id="15364" name="Slide Number Placeholder 5"/>
          <p:cNvSpPr>
            <a:spLocks noGrp="1"/>
          </p:cNvSpPr>
          <p:nvPr>
            <p:ph type="sldNum" sz="quarter" idx="12"/>
          </p:nvPr>
        </p:nvSpPr>
        <p:spPr>
          <a:noFill/>
        </p:spPr>
        <p:txBody>
          <a:bodyPr/>
          <a:lstStyle/>
          <a:p>
            <a:fld id="{E74B45BF-D8D5-41EF-895A-3D9B841FCBF8}" type="slidenum">
              <a:rPr lang="en-US"/>
              <a:pPr/>
              <a:t>36</a:t>
            </a:fld>
            <a:endParaRPr lang="en-US"/>
          </a:p>
        </p:txBody>
      </p:sp>
      <p:sp>
        <p:nvSpPr>
          <p:cNvPr id="15367" name="Line 12"/>
          <p:cNvSpPr>
            <a:spLocks noChangeShapeType="1"/>
          </p:cNvSpPr>
          <p:nvPr/>
        </p:nvSpPr>
        <p:spPr bwMode="auto">
          <a:xfrm>
            <a:off x="4043363" y="4365625"/>
            <a:ext cx="0" cy="1295400"/>
          </a:xfrm>
          <a:prstGeom prst="line">
            <a:avLst/>
          </a:prstGeom>
          <a:noFill/>
          <a:ln w="12700" cap="sq">
            <a:solidFill>
              <a:schemeClr val="tx1"/>
            </a:solidFill>
            <a:round/>
            <a:headEnd type="none" w="sm" len="sm"/>
            <a:tailEnd type="none" w="sm" len="sm"/>
          </a:ln>
        </p:spPr>
        <p:txBody>
          <a:bodyPr/>
          <a:lstStyle/>
          <a:p>
            <a:endParaRPr lang="en-US"/>
          </a:p>
        </p:txBody>
      </p:sp>
      <p:grpSp>
        <p:nvGrpSpPr>
          <p:cNvPr id="2" name="Group 17"/>
          <p:cNvGrpSpPr>
            <a:grpSpLocks/>
          </p:cNvGrpSpPr>
          <p:nvPr/>
        </p:nvGrpSpPr>
        <p:grpSpPr bwMode="auto">
          <a:xfrm>
            <a:off x="2422526" y="4402139"/>
            <a:ext cx="7381875" cy="1258887"/>
            <a:chOff x="566" y="2773"/>
            <a:chExt cx="4650" cy="793"/>
          </a:xfrm>
        </p:grpSpPr>
        <p:grpSp>
          <p:nvGrpSpPr>
            <p:cNvPr id="3" name="Group 10"/>
            <p:cNvGrpSpPr>
              <a:grpSpLocks/>
            </p:cNvGrpSpPr>
            <p:nvPr/>
          </p:nvGrpSpPr>
          <p:grpSpPr bwMode="auto">
            <a:xfrm>
              <a:off x="590" y="2773"/>
              <a:ext cx="4626" cy="793"/>
              <a:chOff x="567" y="2750"/>
              <a:chExt cx="4626" cy="793"/>
            </a:xfrm>
          </p:grpSpPr>
          <p:sp>
            <p:nvSpPr>
              <p:cNvPr id="15374" name="Rectangle 5"/>
              <p:cNvSpPr>
                <a:spLocks noChangeArrowheads="1"/>
              </p:cNvSpPr>
              <p:nvPr/>
            </p:nvSpPr>
            <p:spPr bwMode="auto">
              <a:xfrm>
                <a:off x="567" y="2750"/>
                <a:ext cx="4626" cy="793"/>
              </a:xfrm>
              <a:prstGeom prst="rect">
                <a:avLst/>
              </a:prstGeom>
              <a:solidFill>
                <a:schemeClr val="accent1"/>
              </a:solidFill>
              <a:ln w="12700" cap="sq">
                <a:solidFill>
                  <a:schemeClr val="tx1"/>
                </a:solidFill>
                <a:miter lim="800000"/>
                <a:headEnd type="none" w="sm" len="sm"/>
                <a:tailEnd type="none" w="sm" len="sm"/>
              </a:ln>
            </p:spPr>
            <p:txBody>
              <a:bodyPr wrap="none" anchor="ctr"/>
              <a:lstStyle/>
              <a:p>
                <a:endParaRPr lang="en-US"/>
              </a:p>
            </p:txBody>
          </p:sp>
          <p:sp>
            <p:nvSpPr>
              <p:cNvPr id="15375" name="Line 6"/>
              <p:cNvSpPr>
                <a:spLocks noChangeShapeType="1"/>
              </p:cNvSpPr>
              <p:nvPr/>
            </p:nvSpPr>
            <p:spPr bwMode="auto">
              <a:xfrm>
                <a:off x="1587" y="2750"/>
                <a:ext cx="0" cy="793"/>
              </a:xfrm>
              <a:prstGeom prst="line">
                <a:avLst/>
              </a:prstGeom>
              <a:noFill/>
              <a:ln w="12700" cap="sq">
                <a:solidFill>
                  <a:schemeClr val="tx1"/>
                </a:solidFill>
                <a:round/>
                <a:headEnd type="none" w="sm" len="sm"/>
                <a:tailEnd type="none" w="sm" len="sm"/>
              </a:ln>
            </p:spPr>
            <p:txBody>
              <a:bodyPr/>
              <a:lstStyle/>
              <a:p>
                <a:endParaRPr lang="en-US"/>
              </a:p>
            </p:txBody>
          </p:sp>
          <p:sp>
            <p:nvSpPr>
              <p:cNvPr id="15376" name="Line 7"/>
              <p:cNvSpPr>
                <a:spLocks noChangeShapeType="1"/>
              </p:cNvSpPr>
              <p:nvPr/>
            </p:nvSpPr>
            <p:spPr bwMode="auto">
              <a:xfrm>
                <a:off x="2835" y="2750"/>
                <a:ext cx="0" cy="793"/>
              </a:xfrm>
              <a:prstGeom prst="line">
                <a:avLst/>
              </a:prstGeom>
              <a:noFill/>
              <a:ln w="12700" cap="sq">
                <a:solidFill>
                  <a:schemeClr val="tx1"/>
                </a:solidFill>
                <a:round/>
                <a:headEnd type="none" w="sm" len="sm"/>
                <a:tailEnd type="none" w="sm" len="sm"/>
              </a:ln>
            </p:spPr>
            <p:txBody>
              <a:bodyPr/>
              <a:lstStyle/>
              <a:p>
                <a:endParaRPr lang="en-US"/>
              </a:p>
            </p:txBody>
          </p:sp>
          <p:sp>
            <p:nvSpPr>
              <p:cNvPr id="15377" name="Line 8"/>
              <p:cNvSpPr>
                <a:spLocks noChangeShapeType="1"/>
              </p:cNvSpPr>
              <p:nvPr/>
            </p:nvSpPr>
            <p:spPr bwMode="auto">
              <a:xfrm>
                <a:off x="3991" y="2750"/>
                <a:ext cx="0" cy="770"/>
              </a:xfrm>
              <a:prstGeom prst="line">
                <a:avLst/>
              </a:prstGeom>
              <a:noFill/>
              <a:ln w="12700" cap="sq">
                <a:solidFill>
                  <a:schemeClr val="tx1"/>
                </a:solidFill>
                <a:round/>
                <a:headEnd type="none" w="sm" len="sm"/>
                <a:tailEnd type="none" w="sm" len="sm"/>
              </a:ln>
            </p:spPr>
            <p:txBody>
              <a:bodyPr/>
              <a:lstStyle/>
              <a:p>
                <a:endParaRPr lang="en-US"/>
              </a:p>
            </p:txBody>
          </p:sp>
        </p:grpSp>
        <p:sp>
          <p:nvSpPr>
            <p:cNvPr id="15370" name="Text Box 11"/>
            <p:cNvSpPr txBox="1">
              <a:spLocks noChangeArrowheads="1"/>
            </p:cNvSpPr>
            <p:nvPr/>
          </p:nvSpPr>
          <p:spPr bwMode="auto">
            <a:xfrm>
              <a:off x="566" y="2953"/>
              <a:ext cx="998" cy="365"/>
            </a:xfrm>
            <a:prstGeom prst="rect">
              <a:avLst/>
            </a:prstGeom>
            <a:noFill/>
            <a:ln w="12700" cap="sq">
              <a:noFill/>
              <a:miter lim="800000"/>
              <a:headEnd type="none" w="sm" len="sm"/>
              <a:tailEnd type="none" w="sm" len="sm"/>
            </a:ln>
          </p:spPr>
          <p:txBody>
            <a:bodyPr>
              <a:spAutoFit/>
            </a:bodyPr>
            <a:lstStyle/>
            <a:p>
              <a:pPr>
                <a:spcBef>
                  <a:spcPct val="50000"/>
                </a:spcBef>
              </a:pPr>
              <a:r>
                <a:rPr lang="en-US" sz="3200" b="1">
                  <a:solidFill>
                    <a:schemeClr val="hlink"/>
                  </a:solidFill>
                </a:rPr>
                <a:t>Eno</a:t>
              </a:r>
            </a:p>
          </p:txBody>
        </p:sp>
        <p:sp>
          <p:nvSpPr>
            <p:cNvPr id="15371" name="Text Box 14"/>
            <p:cNvSpPr txBox="1">
              <a:spLocks noChangeArrowheads="1"/>
            </p:cNvSpPr>
            <p:nvPr/>
          </p:nvSpPr>
          <p:spPr bwMode="auto">
            <a:xfrm>
              <a:off x="1564" y="2953"/>
              <a:ext cx="1202" cy="365"/>
            </a:xfrm>
            <a:prstGeom prst="rect">
              <a:avLst/>
            </a:prstGeom>
            <a:noFill/>
            <a:ln w="12700" cap="sq">
              <a:noFill/>
              <a:miter lim="800000"/>
              <a:headEnd type="none" w="sm" len="sm"/>
              <a:tailEnd type="none" w="sm" len="sm"/>
            </a:ln>
          </p:spPr>
          <p:txBody>
            <a:bodyPr>
              <a:spAutoFit/>
            </a:bodyPr>
            <a:lstStyle/>
            <a:p>
              <a:pPr>
                <a:spcBef>
                  <a:spcPct val="50000"/>
                </a:spcBef>
              </a:pPr>
              <a:r>
                <a:rPr lang="en-US" sz="3200" b="1">
                  <a:solidFill>
                    <a:schemeClr val="hlink"/>
                  </a:solidFill>
                </a:rPr>
                <a:t>Ename</a:t>
              </a:r>
            </a:p>
          </p:txBody>
        </p:sp>
        <p:sp>
          <p:nvSpPr>
            <p:cNvPr id="15372" name="Text Box 15"/>
            <p:cNvSpPr txBox="1">
              <a:spLocks noChangeArrowheads="1"/>
            </p:cNvSpPr>
            <p:nvPr/>
          </p:nvSpPr>
          <p:spPr bwMode="auto">
            <a:xfrm>
              <a:off x="2857" y="2931"/>
              <a:ext cx="1089" cy="365"/>
            </a:xfrm>
            <a:prstGeom prst="rect">
              <a:avLst/>
            </a:prstGeom>
            <a:noFill/>
            <a:ln w="12700" cap="sq">
              <a:noFill/>
              <a:miter lim="800000"/>
              <a:headEnd type="none" w="sm" len="sm"/>
              <a:tailEnd type="none" w="sm" len="sm"/>
            </a:ln>
          </p:spPr>
          <p:txBody>
            <a:bodyPr>
              <a:spAutoFit/>
            </a:bodyPr>
            <a:lstStyle/>
            <a:p>
              <a:pPr>
                <a:spcBef>
                  <a:spcPct val="50000"/>
                </a:spcBef>
              </a:pPr>
              <a:r>
                <a:rPr lang="en-US" sz="3200" b="1">
                  <a:solidFill>
                    <a:schemeClr val="hlink"/>
                  </a:solidFill>
                </a:rPr>
                <a:t>Salary</a:t>
              </a:r>
            </a:p>
          </p:txBody>
        </p:sp>
        <p:sp>
          <p:nvSpPr>
            <p:cNvPr id="15373" name="Text Box 16"/>
            <p:cNvSpPr txBox="1">
              <a:spLocks noChangeArrowheads="1"/>
            </p:cNvSpPr>
            <p:nvPr/>
          </p:nvSpPr>
          <p:spPr bwMode="auto">
            <a:xfrm>
              <a:off x="4059" y="2931"/>
              <a:ext cx="1043" cy="365"/>
            </a:xfrm>
            <a:prstGeom prst="rect">
              <a:avLst/>
            </a:prstGeom>
            <a:noFill/>
            <a:ln w="12700" cap="sq">
              <a:noFill/>
              <a:miter lim="800000"/>
              <a:headEnd type="none" w="sm" len="sm"/>
              <a:tailEnd type="none" w="sm" len="sm"/>
            </a:ln>
          </p:spPr>
          <p:txBody>
            <a:bodyPr>
              <a:spAutoFit/>
            </a:bodyPr>
            <a:lstStyle/>
            <a:p>
              <a:pPr>
                <a:spcBef>
                  <a:spcPct val="50000"/>
                </a:spcBef>
              </a:pPr>
              <a:r>
                <a:rPr lang="en-US" sz="3200" b="1">
                  <a:solidFill>
                    <a:schemeClr val="hlink"/>
                  </a:solidFill>
                </a:rPr>
                <a:t>Address</a:t>
              </a:r>
            </a:p>
          </p:txBody>
        </p:sp>
      </p:grpSp>
      <p:sp>
        <p:nvSpPr>
          <p:cNvPr id="16" name="Footer Placeholder 15"/>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11037400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defRPr/>
            </a:pPr>
            <a:r>
              <a:rPr lang="en-US" smtClean="0">
                <a:latin typeface="Arial" pitchFamily="34" charset="0"/>
                <a:cs typeface="Arial" pitchFamily="34" charset="0"/>
              </a:rPr>
              <a:t>Instances and Schemas</a:t>
            </a:r>
          </a:p>
        </p:txBody>
      </p:sp>
      <p:sp>
        <p:nvSpPr>
          <p:cNvPr id="16390" name="Rectangle 4"/>
          <p:cNvSpPr>
            <a:spLocks noGrp="1" noChangeArrowheads="1"/>
          </p:cNvSpPr>
          <p:nvPr>
            <p:ph idx="1"/>
          </p:nvPr>
        </p:nvSpPr>
        <p:spPr>
          <a:noFill/>
        </p:spPr>
        <p:txBody>
          <a:bodyPr/>
          <a:lstStyle/>
          <a:p>
            <a:pPr lvl="4" eaLnBrk="1" hangingPunct="1"/>
            <a:r>
              <a:rPr lang="en-US" smtClean="0">
                <a:latin typeface="Arial" pitchFamily="34" charset="0"/>
                <a:cs typeface="Arial" pitchFamily="34" charset="0"/>
              </a:rPr>
              <a:t>DB Schema Diagram for a Company:</a:t>
            </a:r>
          </a:p>
          <a:p>
            <a:pPr eaLnBrk="1" hangingPunct="1">
              <a:buFont typeface="Wingdings" pitchFamily="2" charset="2"/>
              <a:buNone/>
            </a:pPr>
            <a:r>
              <a:rPr lang="en-US" smtClean="0">
                <a:latin typeface="Arial" pitchFamily="34" charset="0"/>
                <a:cs typeface="Arial" pitchFamily="34" charset="0"/>
              </a:rPr>
              <a:t>Department:</a:t>
            </a:r>
          </a:p>
        </p:txBody>
      </p:sp>
      <p:sp>
        <p:nvSpPr>
          <p:cNvPr id="16388" name="Slide Number Placeholder 5"/>
          <p:cNvSpPr>
            <a:spLocks noGrp="1"/>
          </p:cNvSpPr>
          <p:nvPr>
            <p:ph type="sldNum" sz="quarter" idx="12"/>
          </p:nvPr>
        </p:nvSpPr>
        <p:spPr>
          <a:noFill/>
        </p:spPr>
        <p:txBody>
          <a:bodyPr/>
          <a:lstStyle/>
          <a:p>
            <a:fld id="{E09C98BC-DC4A-4E28-9FC5-46D2E37A7D65}" type="slidenum">
              <a:rPr lang="en-US"/>
              <a:pPr/>
              <a:t>37</a:t>
            </a:fld>
            <a:endParaRPr lang="en-US"/>
          </a:p>
        </p:txBody>
      </p:sp>
      <p:sp>
        <p:nvSpPr>
          <p:cNvPr id="16391" name="Rectangle 12"/>
          <p:cNvSpPr>
            <a:spLocks noChangeArrowheads="1"/>
          </p:cNvSpPr>
          <p:nvPr/>
        </p:nvSpPr>
        <p:spPr bwMode="auto">
          <a:xfrm>
            <a:off x="2279651" y="3068639"/>
            <a:ext cx="7345363" cy="1258887"/>
          </a:xfrm>
          <a:prstGeom prst="rect">
            <a:avLst/>
          </a:prstGeom>
          <a:solidFill>
            <a:schemeClr val="accent1"/>
          </a:solidFill>
          <a:ln w="12700" cap="sq">
            <a:solidFill>
              <a:schemeClr val="tx1"/>
            </a:solidFill>
            <a:miter lim="800000"/>
            <a:headEnd type="none" w="sm" len="sm"/>
            <a:tailEnd type="none" w="sm" len="sm"/>
          </a:ln>
        </p:spPr>
        <p:txBody>
          <a:bodyPr wrap="none" anchor="ctr"/>
          <a:lstStyle/>
          <a:p>
            <a:endParaRPr lang="en-US"/>
          </a:p>
        </p:txBody>
      </p:sp>
      <p:sp>
        <p:nvSpPr>
          <p:cNvPr id="16392" name="Line 13"/>
          <p:cNvSpPr>
            <a:spLocks noChangeShapeType="1"/>
          </p:cNvSpPr>
          <p:nvPr/>
        </p:nvSpPr>
        <p:spPr bwMode="auto">
          <a:xfrm>
            <a:off x="3900488" y="3141663"/>
            <a:ext cx="0" cy="1187450"/>
          </a:xfrm>
          <a:prstGeom prst="line">
            <a:avLst/>
          </a:prstGeom>
          <a:noFill/>
          <a:ln w="12700" cap="sq">
            <a:solidFill>
              <a:schemeClr val="tx1"/>
            </a:solidFill>
            <a:round/>
            <a:headEnd type="none" w="sm" len="sm"/>
            <a:tailEnd type="none" w="sm" len="sm"/>
          </a:ln>
        </p:spPr>
        <p:txBody>
          <a:bodyPr/>
          <a:lstStyle/>
          <a:p>
            <a:endParaRPr lang="en-US"/>
          </a:p>
        </p:txBody>
      </p:sp>
      <p:sp>
        <p:nvSpPr>
          <p:cNvPr id="16393" name="Line 14"/>
          <p:cNvSpPr>
            <a:spLocks noChangeShapeType="1"/>
          </p:cNvSpPr>
          <p:nvPr/>
        </p:nvSpPr>
        <p:spPr bwMode="auto">
          <a:xfrm>
            <a:off x="6491288" y="3105151"/>
            <a:ext cx="0" cy="1223963"/>
          </a:xfrm>
          <a:prstGeom prst="line">
            <a:avLst/>
          </a:prstGeom>
          <a:noFill/>
          <a:ln w="12700" cap="sq">
            <a:solidFill>
              <a:schemeClr val="tx1"/>
            </a:solidFill>
            <a:round/>
            <a:headEnd type="none" w="sm" len="sm"/>
            <a:tailEnd type="none" w="sm" len="sm"/>
          </a:ln>
        </p:spPr>
        <p:txBody>
          <a:bodyPr/>
          <a:lstStyle/>
          <a:p>
            <a:endParaRPr lang="en-US"/>
          </a:p>
        </p:txBody>
      </p:sp>
      <p:sp>
        <p:nvSpPr>
          <p:cNvPr id="16394" name="Text Box 16"/>
          <p:cNvSpPr txBox="1">
            <a:spLocks noChangeArrowheads="1"/>
          </p:cNvSpPr>
          <p:nvPr/>
        </p:nvSpPr>
        <p:spPr bwMode="auto">
          <a:xfrm>
            <a:off x="2424114" y="3390900"/>
            <a:ext cx="1584325" cy="579438"/>
          </a:xfrm>
          <a:prstGeom prst="rect">
            <a:avLst/>
          </a:prstGeom>
          <a:noFill/>
          <a:ln w="12700" cap="sq">
            <a:noFill/>
            <a:miter lim="800000"/>
            <a:headEnd type="none" w="sm" len="sm"/>
            <a:tailEnd type="none" w="sm" len="sm"/>
          </a:ln>
        </p:spPr>
        <p:txBody>
          <a:bodyPr>
            <a:spAutoFit/>
          </a:bodyPr>
          <a:lstStyle/>
          <a:p>
            <a:pPr>
              <a:spcBef>
                <a:spcPct val="50000"/>
              </a:spcBef>
            </a:pPr>
            <a:r>
              <a:rPr lang="en-US" sz="3200" b="1">
                <a:solidFill>
                  <a:schemeClr val="hlink"/>
                </a:solidFill>
              </a:rPr>
              <a:t>Dno</a:t>
            </a:r>
          </a:p>
        </p:txBody>
      </p:sp>
      <p:sp>
        <p:nvSpPr>
          <p:cNvPr id="16395" name="Text Box 17"/>
          <p:cNvSpPr txBox="1">
            <a:spLocks noChangeArrowheads="1"/>
          </p:cNvSpPr>
          <p:nvPr/>
        </p:nvSpPr>
        <p:spPr bwMode="auto">
          <a:xfrm>
            <a:off x="4187826" y="3357564"/>
            <a:ext cx="1908175" cy="579437"/>
          </a:xfrm>
          <a:prstGeom prst="rect">
            <a:avLst/>
          </a:prstGeom>
          <a:noFill/>
          <a:ln w="12700" cap="sq">
            <a:noFill/>
            <a:miter lim="800000"/>
            <a:headEnd type="none" w="sm" len="sm"/>
            <a:tailEnd type="none" w="sm" len="sm"/>
          </a:ln>
        </p:spPr>
        <p:txBody>
          <a:bodyPr>
            <a:spAutoFit/>
          </a:bodyPr>
          <a:lstStyle/>
          <a:p>
            <a:pPr>
              <a:spcBef>
                <a:spcPct val="50000"/>
              </a:spcBef>
            </a:pPr>
            <a:r>
              <a:rPr lang="en-US" sz="3200" b="1">
                <a:solidFill>
                  <a:schemeClr val="hlink"/>
                </a:solidFill>
              </a:rPr>
              <a:t>Dname</a:t>
            </a:r>
          </a:p>
        </p:txBody>
      </p:sp>
      <p:sp>
        <p:nvSpPr>
          <p:cNvPr id="16396" name="Text Box 19"/>
          <p:cNvSpPr txBox="1">
            <a:spLocks noChangeArrowheads="1"/>
          </p:cNvSpPr>
          <p:nvPr/>
        </p:nvSpPr>
        <p:spPr bwMode="auto">
          <a:xfrm>
            <a:off x="6924675" y="3392489"/>
            <a:ext cx="2159000" cy="579437"/>
          </a:xfrm>
          <a:prstGeom prst="rect">
            <a:avLst/>
          </a:prstGeom>
          <a:noFill/>
          <a:ln w="12700" cap="sq">
            <a:noFill/>
            <a:miter lim="800000"/>
            <a:headEnd type="none" w="sm" len="sm"/>
            <a:tailEnd type="none" w="sm" len="sm"/>
          </a:ln>
        </p:spPr>
        <p:txBody>
          <a:bodyPr>
            <a:spAutoFit/>
          </a:bodyPr>
          <a:lstStyle/>
          <a:p>
            <a:pPr>
              <a:spcBef>
                <a:spcPct val="50000"/>
              </a:spcBef>
            </a:pPr>
            <a:r>
              <a:rPr lang="en-US" sz="3200" b="1">
                <a:solidFill>
                  <a:schemeClr val="hlink"/>
                </a:solidFill>
              </a:rPr>
              <a:t>Dlocation</a:t>
            </a:r>
          </a:p>
        </p:txBody>
      </p:sp>
      <p:sp>
        <p:nvSpPr>
          <p:cNvPr id="16397" name="Rectangle 20"/>
          <p:cNvSpPr>
            <a:spLocks noChangeArrowheads="1"/>
          </p:cNvSpPr>
          <p:nvPr/>
        </p:nvSpPr>
        <p:spPr bwMode="auto">
          <a:xfrm>
            <a:off x="2279650" y="4257675"/>
            <a:ext cx="7772400" cy="4114800"/>
          </a:xfrm>
          <a:prstGeom prst="rect">
            <a:avLst/>
          </a:prstGeom>
          <a:noFill/>
          <a:ln w="9525">
            <a:noFill/>
            <a:miter lim="800000"/>
            <a:headEnd/>
            <a:tailEnd/>
          </a:ln>
        </p:spPr>
        <p:txBody>
          <a:bodyPr lIns="92075" tIns="46038" rIns="92075" bIns="46038"/>
          <a:lstStyle/>
          <a:p>
            <a:pPr marL="342900" indent="-342900">
              <a:spcBef>
                <a:spcPct val="20000"/>
              </a:spcBef>
              <a:buClr>
                <a:schemeClr val="accent2"/>
              </a:buClr>
              <a:buSzPct val="80000"/>
            </a:pPr>
            <a:r>
              <a:rPr lang="en-US" sz="3200" b="1" dirty="0">
                <a:latin typeface="Arial" charset="0"/>
              </a:rPr>
              <a:t>Project:</a:t>
            </a:r>
          </a:p>
        </p:txBody>
      </p:sp>
      <p:sp>
        <p:nvSpPr>
          <p:cNvPr id="16398" name="Rectangle 22"/>
          <p:cNvSpPr>
            <a:spLocks noChangeArrowheads="1"/>
          </p:cNvSpPr>
          <p:nvPr/>
        </p:nvSpPr>
        <p:spPr bwMode="auto">
          <a:xfrm>
            <a:off x="2387601" y="4941889"/>
            <a:ext cx="7343775" cy="1258887"/>
          </a:xfrm>
          <a:prstGeom prst="rect">
            <a:avLst/>
          </a:prstGeom>
          <a:solidFill>
            <a:schemeClr val="accent1"/>
          </a:solidFill>
          <a:ln w="12700" cap="sq">
            <a:solidFill>
              <a:schemeClr val="tx1"/>
            </a:solidFill>
            <a:miter lim="800000"/>
            <a:headEnd type="none" w="sm" len="sm"/>
            <a:tailEnd type="none" w="sm" len="sm"/>
          </a:ln>
        </p:spPr>
        <p:txBody>
          <a:bodyPr wrap="none" anchor="ctr"/>
          <a:lstStyle/>
          <a:p>
            <a:endParaRPr lang="en-US"/>
          </a:p>
        </p:txBody>
      </p:sp>
      <p:sp>
        <p:nvSpPr>
          <p:cNvPr id="16399" name="Line 23"/>
          <p:cNvSpPr>
            <a:spLocks noChangeShapeType="1"/>
          </p:cNvSpPr>
          <p:nvPr/>
        </p:nvSpPr>
        <p:spPr bwMode="auto">
          <a:xfrm>
            <a:off x="4006850" y="4941889"/>
            <a:ext cx="0" cy="1258887"/>
          </a:xfrm>
          <a:prstGeom prst="line">
            <a:avLst/>
          </a:prstGeom>
          <a:noFill/>
          <a:ln w="12700" cap="sq">
            <a:solidFill>
              <a:schemeClr val="tx1"/>
            </a:solidFill>
            <a:round/>
            <a:headEnd type="none" w="sm" len="sm"/>
            <a:tailEnd type="none" w="sm" len="sm"/>
          </a:ln>
        </p:spPr>
        <p:txBody>
          <a:bodyPr/>
          <a:lstStyle/>
          <a:p>
            <a:endParaRPr lang="en-US"/>
          </a:p>
        </p:txBody>
      </p:sp>
      <p:sp>
        <p:nvSpPr>
          <p:cNvPr id="16400" name="Line 24"/>
          <p:cNvSpPr>
            <a:spLocks noChangeShapeType="1"/>
          </p:cNvSpPr>
          <p:nvPr/>
        </p:nvSpPr>
        <p:spPr bwMode="auto">
          <a:xfrm>
            <a:off x="6527800" y="4905375"/>
            <a:ext cx="0" cy="1258888"/>
          </a:xfrm>
          <a:prstGeom prst="line">
            <a:avLst/>
          </a:prstGeom>
          <a:noFill/>
          <a:ln w="12700" cap="sq">
            <a:solidFill>
              <a:schemeClr val="tx1"/>
            </a:solidFill>
            <a:round/>
            <a:headEnd type="none" w="sm" len="sm"/>
            <a:tailEnd type="none" w="sm" len="sm"/>
          </a:ln>
        </p:spPr>
        <p:txBody>
          <a:bodyPr/>
          <a:lstStyle/>
          <a:p>
            <a:endParaRPr lang="en-US"/>
          </a:p>
        </p:txBody>
      </p:sp>
      <p:sp>
        <p:nvSpPr>
          <p:cNvPr id="16401" name="Text Box 26"/>
          <p:cNvSpPr txBox="1">
            <a:spLocks noChangeArrowheads="1"/>
          </p:cNvSpPr>
          <p:nvPr/>
        </p:nvSpPr>
        <p:spPr bwMode="auto">
          <a:xfrm>
            <a:off x="2459039" y="5300664"/>
            <a:ext cx="1584325" cy="579437"/>
          </a:xfrm>
          <a:prstGeom prst="rect">
            <a:avLst/>
          </a:prstGeom>
          <a:noFill/>
          <a:ln w="12700" cap="sq">
            <a:noFill/>
            <a:miter lim="800000"/>
            <a:headEnd type="none" w="sm" len="sm"/>
            <a:tailEnd type="none" w="sm" len="sm"/>
          </a:ln>
        </p:spPr>
        <p:txBody>
          <a:bodyPr>
            <a:spAutoFit/>
          </a:bodyPr>
          <a:lstStyle/>
          <a:p>
            <a:pPr>
              <a:spcBef>
                <a:spcPct val="50000"/>
              </a:spcBef>
            </a:pPr>
            <a:r>
              <a:rPr lang="en-US" sz="3200" b="1">
                <a:solidFill>
                  <a:schemeClr val="hlink"/>
                </a:solidFill>
              </a:rPr>
              <a:t>Pno</a:t>
            </a:r>
          </a:p>
        </p:txBody>
      </p:sp>
      <p:sp>
        <p:nvSpPr>
          <p:cNvPr id="16402" name="Text Box 27"/>
          <p:cNvSpPr txBox="1">
            <a:spLocks noChangeArrowheads="1"/>
          </p:cNvSpPr>
          <p:nvPr/>
        </p:nvSpPr>
        <p:spPr bwMode="auto">
          <a:xfrm>
            <a:off x="4043364" y="5300664"/>
            <a:ext cx="1908175" cy="579437"/>
          </a:xfrm>
          <a:prstGeom prst="rect">
            <a:avLst/>
          </a:prstGeom>
          <a:noFill/>
          <a:ln w="12700" cap="sq">
            <a:noFill/>
            <a:miter lim="800000"/>
            <a:headEnd type="none" w="sm" len="sm"/>
            <a:tailEnd type="none" w="sm" len="sm"/>
          </a:ln>
        </p:spPr>
        <p:txBody>
          <a:bodyPr>
            <a:spAutoFit/>
          </a:bodyPr>
          <a:lstStyle/>
          <a:p>
            <a:pPr>
              <a:spcBef>
                <a:spcPct val="50000"/>
              </a:spcBef>
            </a:pPr>
            <a:r>
              <a:rPr lang="en-US" sz="3200" b="1">
                <a:solidFill>
                  <a:schemeClr val="hlink"/>
                </a:solidFill>
              </a:rPr>
              <a:t>Pname</a:t>
            </a:r>
          </a:p>
        </p:txBody>
      </p:sp>
      <p:sp>
        <p:nvSpPr>
          <p:cNvPr id="16403" name="Text Box 29"/>
          <p:cNvSpPr txBox="1">
            <a:spLocks noChangeArrowheads="1"/>
          </p:cNvSpPr>
          <p:nvPr/>
        </p:nvSpPr>
        <p:spPr bwMode="auto">
          <a:xfrm>
            <a:off x="6996113" y="5300664"/>
            <a:ext cx="1655762" cy="579437"/>
          </a:xfrm>
          <a:prstGeom prst="rect">
            <a:avLst/>
          </a:prstGeom>
          <a:noFill/>
          <a:ln w="12700" cap="sq">
            <a:noFill/>
            <a:miter lim="800000"/>
            <a:headEnd type="none" w="sm" len="sm"/>
            <a:tailEnd type="none" w="sm" len="sm"/>
          </a:ln>
        </p:spPr>
        <p:txBody>
          <a:bodyPr>
            <a:spAutoFit/>
          </a:bodyPr>
          <a:lstStyle/>
          <a:p>
            <a:pPr>
              <a:spcBef>
                <a:spcPct val="50000"/>
              </a:spcBef>
            </a:pPr>
            <a:r>
              <a:rPr lang="en-US" sz="3200" b="1">
                <a:solidFill>
                  <a:schemeClr val="hlink"/>
                </a:solidFill>
              </a:rPr>
              <a:t>Hours</a:t>
            </a:r>
          </a:p>
        </p:txBody>
      </p:sp>
      <p:sp>
        <p:nvSpPr>
          <p:cNvPr id="18" name="Footer Placeholder 17"/>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387352151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4"/>
          <p:cNvSpPr>
            <a:spLocks noGrp="1" noChangeArrowheads="1"/>
          </p:cNvSpPr>
          <p:nvPr>
            <p:ph type="title"/>
          </p:nvPr>
        </p:nvSpPr>
        <p:spPr/>
        <p:txBody>
          <a:bodyPr/>
          <a:lstStyle/>
          <a:p>
            <a:pPr eaLnBrk="1" hangingPunct="1">
              <a:defRPr/>
            </a:pPr>
            <a:r>
              <a:rPr lang="en-US" smtClean="0">
                <a:latin typeface="Arial" pitchFamily="34" charset="0"/>
                <a:cs typeface="Arial" pitchFamily="34" charset="0"/>
              </a:rPr>
              <a:t>Instances and Schemas</a:t>
            </a:r>
          </a:p>
        </p:txBody>
      </p:sp>
      <p:sp>
        <p:nvSpPr>
          <p:cNvPr id="17413" name="Rectangle 3"/>
          <p:cNvSpPr>
            <a:spLocks noGrp="1" noChangeArrowheads="1"/>
          </p:cNvSpPr>
          <p:nvPr>
            <p:ph idx="1"/>
          </p:nvPr>
        </p:nvSpPr>
        <p:spPr/>
        <p:txBody>
          <a:bodyPr/>
          <a:lstStyle/>
          <a:p>
            <a:pPr eaLnBrk="1" hangingPunct="1"/>
            <a:r>
              <a:rPr lang="en-US" smtClean="0">
                <a:latin typeface="Arial" pitchFamily="34" charset="0"/>
                <a:cs typeface="Arial" pitchFamily="34" charset="0"/>
              </a:rPr>
              <a:t>Instance Example:</a:t>
            </a:r>
          </a:p>
        </p:txBody>
      </p:sp>
      <p:sp>
        <p:nvSpPr>
          <p:cNvPr id="17412" name="Slide Number Placeholder 5"/>
          <p:cNvSpPr>
            <a:spLocks noGrp="1"/>
          </p:cNvSpPr>
          <p:nvPr>
            <p:ph type="sldNum" sz="quarter" idx="12"/>
          </p:nvPr>
        </p:nvSpPr>
        <p:spPr>
          <a:noFill/>
        </p:spPr>
        <p:txBody>
          <a:bodyPr/>
          <a:lstStyle/>
          <a:p>
            <a:fld id="{D91C3E53-E484-485A-B134-F6B698C2F6ED}" type="slidenum">
              <a:rPr lang="en-US"/>
              <a:pPr/>
              <a:t>38</a:t>
            </a:fld>
            <a:endParaRPr lang="en-US"/>
          </a:p>
        </p:txBody>
      </p:sp>
      <p:grpSp>
        <p:nvGrpSpPr>
          <p:cNvPr id="2" name="Group 16"/>
          <p:cNvGrpSpPr>
            <a:grpSpLocks/>
          </p:cNvGrpSpPr>
          <p:nvPr/>
        </p:nvGrpSpPr>
        <p:grpSpPr bwMode="auto">
          <a:xfrm>
            <a:off x="2603500" y="2997201"/>
            <a:ext cx="6948488" cy="2771775"/>
            <a:chOff x="680" y="1888"/>
            <a:chExt cx="4377" cy="1746"/>
          </a:xfrm>
        </p:grpSpPr>
        <p:sp>
          <p:nvSpPr>
            <p:cNvPr id="17426" name="Rectangle 5"/>
            <p:cNvSpPr>
              <a:spLocks noChangeArrowheads="1"/>
            </p:cNvSpPr>
            <p:nvPr/>
          </p:nvSpPr>
          <p:spPr bwMode="auto">
            <a:xfrm>
              <a:off x="680" y="1888"/>
              <a:ext cx="4377" cy="1724"/>
            </a:xfrm>
            <a:prstGeom prst="rect">
              <a:avLst/>
            </a:prstGeom>
            <a:solidFill>
              <a:schemeClr val="accent1"/>
            </a:solidFill>
            <a:ln w="12700" cap="sq">
              <a:solidFill>
                <a:schemeClr val="tx1"/>
              </a:solidFill>
              <a:miter lim="800000"/>
              <a:headEnd type="none" w="sm" len="sm"/>
              <a:tailEnd type="none" w="sm" len="sm"/>
            </a:ln>
          </p:spPr>
          <p:txBody>
            <a:bodyPr wrap="none" anchor="ctr"/>
            <a:lstStyle/>
            <a:p>
              <a:endParaRPr lang="en-US"/>
            </a:p>
          </p:txBody>
        </p:sp>
        <p:sp>
          <p:nvSpPr>
            <p:cNvPr id="17427" name="Line 6"/>
            <p:cNvSpPr>
              <a:spLocks noChangeShapeType="1"/>
            </p:cNvSpPr>
            <p:nvPr/>
          </p:nvSpPr>
          <p:spPr bwMode="auto">
            <a:xfrm>
              <a:off x="1406" y="1888"/>
              <a:ext cx="0" cy="1701"/>
            </a:xfrm>
            <a:prstGeom prst="line">
              <a:avLst/>
            </a:prstGeom>
            <a:noFill/>
            <a:ln w="12700" cap="sq">
              <a:solidFill>
                <a:schemeClr val="tx1"/>
              </a:solidFill>
              <a:round/>
              <a:headEnd type="none" w="sm" len="sm"/>
              <a:tailEnd type="none" w="sm" len="sm"/>
            </a:ln>
          </p:spPr>
          <p:txBody>
            <a:bodyPr/>
            <a:lstStyle/>
            <a:p>
              <a:endParaRPr lang="en-US"/>
            </a:p>
          </p:txBody>
        </p:sp>
        <p:sp>
          <p:nvSpPr>
            <p:cNvPr id="17428" name="Line 7"/>
            <p:cNvSpPr>
              <a:spLocks noChangeShapeType="1"/>
            </p:cNvSpPr>
            <p:nvPr/>
          </p:nvSpPr>
          <p:spPr bwMode="auto">
            <a:xfrm>
              <a:off x="2653" y="1933"/>
              <a:ext cx="0" cy="1701"/>
            </a:xfrm>
            <a:prstGeom prst="line">
              <a:avLst/>
            </a:prstGeom>
            <a:noFill/>
            <a:ln w="12700" cap="sq">
              <a:solidFill>
                <a:schemeClr val="tx1"/>
              </a:solidFill>
              <a:round/>
              <a:headEnd type="none" w="sm" len="sm"/>
              <a:tailEnd type="none" w="sm" len="sm"/>
            </a:ln>
          </p:spPr>
          <p:txBody>
            <a:bodyPr/>
            <a:lstStyle/>
            <a:p>
              <a:endParaRPr lang="en-US"/>
            </a:p>
          </p:txBody>
        </p:sp>
        <p:sp>
          <p:nvSpPr>
            <p:cNvPr id="17429" name="Line 8"/>
            <p:cNvSpPr>
              <a:spLocks noChangeShapeType="1"/>
            </p:cNvSpPr>
            <p:nvPr/>
          </p:nvSpPr>
          <p:spPr bwMode="auto">
            <a:xfrm>
              <a:off x="3810" y="1911"/>
              <a:ext cx="0" cy="1701"/>
            </a:xfrm>
            <a:prstGeom prst="line">
              <a:avLst/>
            </a:prstGeom>
            <a:noFill/>
            <a:ln w="12700" cap="sq">
              <a:solidFill>
                <a:schemeClr val="tx1"/>
              </a:solidFill>
              <a:round/>
              <a:headEnd type="none" w="sm" len="sm"/>
              <a:tailEnd type="none" w="sm" len="sm"/>
            </a:ln>
          </p:spPr>
          <p:txBody>
            <a:bodyPr/>
            <a:lstStyle/>
            <a:p>
              <a:endParaRPr lang="en-US"/>
            </a:p>
          </p:txBody>
        </p:sp>
        <p:sp>
          <p:nvSpPr>
            <p:cNvPr id="17430" name="Rectangle 12"/>
            <p:cNvSpPr>
              <a:spLocks noChangeArrowheads="1"/>
            </p:cNvSpPr>
            <p:nvPr/>
          </p:nvSpPr>
          <p:spPr bwMode="auto">
            <a:xfrm>
              <a:off x="680" y="1888"/>
              <a:ext cx="4377" cy="499"/>
            </a:xfrm>
            <a:prstGeom prst="rect">
              <a:avLst/>
            </a:prstGeom>
            <a:solidFill>
              <a:schemeClr val="accent1"/>
            </a:solidFill>
            <a:ln w="12700" cap="sq">
              <a:solidFill>
                <a:schemeClr val="tx1"/>
              </a:solidFill>
              <a:miter lim="800000"/>
              <a:headEnd type="none" w="sm" len="sm"/>
              <a:tailEnd type="none" w="sm" len="sm"/>
            </a:ln>
          </p:spPr>
          <p:txBody>
            <a:bodyPr wrap="none" anchor="ctr"/>
            <a:lstStyle/>
            <a:p>
              <a:endParaRPr lang="en-US"/>
            </a:p>
          </p:txBody>
        </p:sp>
        <p:sp>
          <p:nvSpPr>
            <p:cNvPr id="17431" name="Line 13"/>
            <p:cNvSpPr>
              <a:spLocks noChangeShapeType="1"/>
            </p:cNvSpPr>
            <p:nvPr/>
          </p:nvSpPr>
          <p:spPr bwMode="auto">
            <a:xfrm>
              <a:off x="1406" y="1888"/>
              <a:ext cx="0" cy="521"/>
            </a:xfrm>
            <a:prstGeom prst="line">
              <a:avLst/>
            </a:prstGeom>
            <a:noFill/>
            <a:ln w="12700" cap="sq">
              <a:solidFill>
                <a:schemeClr val="tx1"/>
              </a:solidFill>
              <a:round/>
              <a:headEnd type="none" w="sm" len="sm"/>
              <a:tailEnd type="none" w="sm" len="sm"/>
            </a:ln>
          </p:spPr>
          <p:txBody>
            <a:bodyPr/>
            <a:lstStyle/>
            <a:p>
              <a:endParaRPr lang="en-US"/>
            </a:p>
          </p:txBody>
        </p:sp>
      </p:grpSp>
      <p:sp>
        <p:nvSpPr>
          <p:cNvPr id="17416" name="Line 14"/>
          <p:cNvSpPr>
            <a:spLocks noChangeShapeType="1"/>
          </p:cNvSpPr>
          <p:nvPr/>
        </p:nvSpPr>
        <p:spPr bwMode="auto">
          <a:xfrm>
            <a:off x="5735638" y="2997201"/>
            <a:ext cx="0" cy="790575"/>
          </a:xfrm>
          <a:prstGeom prst="line">
            <a:avLst/>
          </a:prstGeom>
          <a:noFill/>
          <a:ln w="12700" cap="sq">
            <a:solidFill>
              <a:schemeClr val="tx1"/>
            </a:solidFill>
            <a:round/>
            <a:headEnd type="none" w="sm" len="sm"/>
            <a:tailEnd type="none" w="sm" len="sm"/>
          </a:ln>
        </p:spPr>
        <p:txBody>
          <a:bodyPr/>
          <a:lstStyle/>
          <a:p>
            <a:endParaRPr lang="en-US"/>
          </a:p>
        </p:txBody>
      </p:sp>
      <p:sp>
        <p:nvSpPr>
          <p:cNvPr id="17417" name="Line 15"/>
          <p:cNvSpPr>
            <a:spLocks noChangeShapeType="1"/>
          </p:cNvSpPr>
          <p:nvPr/>
        </p:nvSpPr>
        <p:spPr bwMode="auto">
          <a:xfrm>
            <a:off x="7572375" y="2997201"/>
            <a:ext cx="0" cy="790575"/>
          </a:xfrm>
          <a:prstGeom prst="line">
            <a:avLst/>
          </a:prstGeom>
          <a:noFill/>
          <a:ln w="12700" cap="sq">
            <a:solidFill>
              <a:schemeClr val="tx1"/>
            </a:solidFill>
            <a:round/>
            <a:headEnd type="none" w="sm" len="sm"/>
            <a:tailEnd type="none" w="sm" len="sm"/>
          </a:ln>
        </p:spPr>
        <p:txBody>
          <a:bodyPr/>
          <a:lstStyle/>
          <a:p>
            <a:endParaRPr lang="en-US"/>
          </a:p>
        </p:txBody>
      </p:sp>
      <p:sp>
        <p:nvSpPr>
          <p:cNvPr id="17418" name="Text Box 17"/>
          <p:cNvSpPr txBox="1">
            <a:spLocks noChangeArrowheads="1"/>
          </p:cNvSpPr>
          <p:nvPr/>
        </p:nvSpPr>
        <p:spPr bwMode="auto">
          <a:xfrm>
            <a:off x="2387601" y="3105150"/>
            <a:ext cx="1584325" cy="579438"/>
          </a:xfrm>
          <a:prstGeom prst="rect">
            <a:avLst/>
          </a:prstGeom>
          <a:noFill/>
          <a:ln w="12700" cap="sq">
            <a:noFill/>
            <a:miter lim="800000"/>
            <a:headEnd type="none" w="sm" len="sm"/>
            <a:tailEnd type="none" w="sm" len="sm"/>
          </a:ln>
        </p:spPr>
        <p:txBody>
          <a:bodyPr>
            <a:spAutoFit/>
          </a:bodyPr>
          <a:lstStyle/>
          <a:p>
            <a:pPr>
              <a:spcBef>
                <a:spcPct val="50000"/>
              </a:spcBef>
            </a:pPr>
            <a:r>
              <a:rPr lang="en-US" sz="3200" b="1" dirty="0">
                <a:solidFill>
                  <a:schemeClr val="hlink"/>
                </a:solidFill>
              </a:rPr>
              <a:t>   </a:t>
            </a:r>
            <a:r>
              <a:rPr lang="en-US" sz="3200" b="1" dirty="0" err="1">
                <a:solidFill>
                  <a:schemeClr val="hlink"/>
                </a:solidFill>
              </a:rPr>
              <a:t>Eno</a:t>
            </a:r>
            <a:endParaRPr lang="en-US" sz="3200" b="1" dirty="0">
              <a:solidFill>
                <a:schemeClr val="hlink"/>
              </a:solidFill>
            </a:endParaRPr>
          </a:p>
        </p:txBody>
      </p:sp>
      <p:sp>
        <p:nvSpPr>
          <p:cNvPr id="17419" name="Text Box 18"/>
          <p:cNvSpPr txBox="1">
            <a:spLocks noChangeArrowheads="1"/>
          </p:cNvSpPr>
          <p:nvPr/>
        </p:nvSpPr>
        <p:spPr bwMode="auto">
          <a:xfrm>
            <a:off x="3971926" y="3105150"/>
            <a:ext cx="1908175" cy="579438"/>
          </a:xfrm>
          <a:prstGeom prst="rect">
            <a:avLst/>
          </a:prstGeom>
          <a:noFill/>
          <a:ln w="12700" cap="sq">
            <a:noFill/>
            <a:miter lim="800000"/>
            <a:headEnd type="none" w="sm" len="sm"/>
            <a:tailEnd type="none" w="sm" len="sm"/>
          </a:ln>
        </p:spPr>
        <p:txBody>
          <a:bodyPr>
            <a:spAutoFit/>
          </a:bodyPr>
          <a:lstStyle/>
          <a:p>
            <a:pPr>
              <a:spcBef>
                <a:spcPct val="50000"/>
              </a:spcBef>
            </a:pPr>
            <a:r>
              <a:rPr lang="en-US" sz="3200" b="1">
                <a:solidFill>
                  <a:schemeClr val="hlink"/>
                </a:solidFill>
              </a:rPr>
              <a:t>Ename</a:t>
            </a:r>
          </a:p>
        </p:txBody>
      </p:sp>
      <p:sp>
        <p:nvSpPr>
          <p:cNvPr id="17420" name="Text Box 19"/>
          <p:cNvSpPr txBox="1">
            <a:spLocks noChangeArrowheads="1"/>
          </p:cNvSpPr>
          <p:nvPr/>
        </p:nvSpPr>
        <p:spPr bwMode="auto">
          <a:xfrm>
            <a:off x="6024564" y="3070225"/>
            <a:ext cx="1728787" cy="579438"/>
          </a:xfrm>
          <a:prstGeom prst="rect">
            <a:avLst/>
          </a:prstGeom>
          <a:noFill/>
          <a:ln w="12700" cap="sq">
            <a:noFill/>
            <a:miter lim="800000"/>
            <a:headEnd type="none" w="sm" len="sm"/>
            <a:tailEnd type="none" w="sm" len="sm"/>
          </a:ln>
        </p:spPr>
        <p:txBody>
          <a:bodyPr>
            <a:spAutoFit/>
          </a:bodyPr>
          <a:lstStyle/>
          <a:p>
            <a:pPr>
              <a:spcBef>
                <a:spcPct val="50000"/>
              </a:spcBef>
            </a:pPr>
            <a:r>
              <a:rPr lang="en-US" sz="3200" b="1">
                <a:solidFill>
                  <a:schemeClr val="hlink"/>
                </a:solidFill>
              </a:rPr>
              <a:t>Salary</a:t>
            </a:r>
          </a:p>
        </p:txBody>
      </p:sp>
      <p:sp>
        <p:nvSpPr>
          <p:cNvPr id="17421" name="Text Box 20"/>
          <p:cNvSpPr txBox="1">
            <a:spLocks noChangeArrowheads="1"/>
          </p:cNvSpPr>
          <p:nvPr/>
        </p:nvSpPr>
        <p:spPr bwMode="auto">
          <a:xfrm>
            <a:off x="7932738" y="3070225"/>
            <a:ext cx="1655762" cy="579438"/>
          </a:xfrm>
          <a:prstGeom prst="rect">
            <a:avLst/>
          </a:prstGeom>
          <a:noFill/>
          <a:ln w="12700" cap="sq">
            <a:noFill/>
            <a:miter lim="800000"/>
            <a:headEnd type="none" w="sm" len="sm"/>
            <a:tailEnd type="none" w="sm" len="sm"/>
          </a:ln>
        </p:spPr>
        <p:txBody>
          <a:bodyPr>
            <a:spAutoFit/>
          </a:bodyPr>
          <a:lstStyle/>
          <a:p>
            <a:pPr>
              <a:spcBef>
                <a:spcPct val="50000"/>
              </a:spcBef>
            </a:pPr>
            <a:r>
              <a:rPr lang="en-US" sz="3200" b="1">
                <a:solidFill>
                  <a:schemeClr val="hlink"/>
                </a:solidFill>
              </a:rPr>
              <a:t>Address</a:t>
            </a:r>
          </a:p>
        </p:txBody>
      </p:sp>
      <p:sp>
        <p:nvSpPr>
          <p:cNvPr id="17422" name="Text Box 21"/>
          <p:cNvSpPr txBox="1">
            <a:spLocks noChangeArrowheads="1"/>
          </p:cNvSpPr>
          <p:nvPr/>
        </p:nvSpPr>
        <p:spPr bwMode="auto">
          <a:xfrm>
            <a:off x="2782889" y="4076701"/>
            <a:ext cx="757237" cy="1200329"/>
          </a:xfrm>
          <a:prstGeom prst="rect">
            <a:avLst/>
          </a:prstGeom>
          <a:noFill/>
          <a:ln w="12700" cap="sq">
            <a:noFill/>
            <a:miter lim="800000"/>
            <a:headEnd type="none" w="sm" len="sm"/>
            <a:tailEnd type="none" w="sm" len="sm"/>
          </a:ln>
        </p:spPr>
        <p:txBody>
          <a:bodyPr>
            <a:spAutoFit/>
          </a:bodyPr>
          <a:lstStyle/>
          <a:p>
            <a:pPr>
              <a:spcBef>
                <a:spcPct val="50000"/>
              </a:spcBef>
            </a:pPr>
            <a:r>
              <a:rPr lang="en-US">
                <a:solidFill>
                  <a:schemeClr val="hlink"/>
                </a:solidFill>
              </a:rPr>
              <a:t>1</a:t>
            </a:r>
          </a:p>
          <a:p>
            <a:pPr>
              <a:spcBef>
                <a:spcPct val="50000"/>
              </a:spcBef>
            </a:pPr>
            <a:r>
              <a:rPr lang="en-US">
                <a:solidFill>
                  <a:schemeClr val="hlink"/>
                </a:solidFill>
              </a:rPr>
              <a:t>2</a:t>
            </a:r>
          </a:p>
          <a:p>
            <a:pPr>
              <a:spcBef>
                <a:spcPct val="50000"/>
              </a:spcBef>
            </a:pPr>
            <a:r>
              <a:rPr lang="en-US">
                <a:solidFill>
                  <a:schemeClr val="hlink"/>
                </a:solidFill>
              </a:rPr>
              <a:t>3</a:t>
            </a:r>
          </a:p>
        </p:txBody>
      </p:sp>
      <p:sp>
        <p:nvSpPr>
          <p:cNvPr id="17423" name="Text Box 26"/>
          <p:cNvSpPr txBox="1">
            <a:spLocks noChangeArrowheads="1"/>
          </p:cNvSpPr>
          <p:nvPr/>
        </p:nvSpPr>
        <p:spPr bwMode="auto">
          <a:xfrm>
            <a:off x="3900488" y="4076701"/>
            <a:ext cx="1511300" cy="1200329"/>
          </a:xfrm>
          <a:prstGeom prst="rect">
            <a:avLst/>
          </a:prstGeom>
          <a:noFill/>
          <a:ln w="12700" cap="sq">
            <a:noFill/>
            <a:miter lim="800000"/>
            <a:headEnd type="none" w="sm" len="sm"/>
            <a:tailEnd type="none" w="sm" len="sm"/>
          </a:ln>
        </p:spPr>
        <p:txBody>
          <a:bodyPr>
            <a:spAutoFit/>
          </a:bodyPr>
          <a:lstStyle/>
          <a:p>
            <a:pPr>
              <a:spcBef>
                <a:spcPct val="50000"/>
              </a:spcBef>
            </a:pPr>
            <a:r>
              <a:rPr lang="en-US">
                <a:solidFill>
                  <a:schemeClr val="hlink"/>
                </a:solidFill>
              </a:rPr>
              <a:t>A</a:t>
            </a:r>
          </a:p>
          <a:p>
            <a:pPr>
              <a:spcBef>
                <a:spcPct val="50000"/>
              </a:spcBef>
            </a:pPr>
            <a:r>
              <a:rPr lang="en-US">
                <a:solidFill>
                  <a:schemeClr val="hlink"/>
                </a:solidFill>
              </a:rPr>
              <a:t>B</a:t>
            </a:r>
          </a:p>
          <a:p>
            <a:pPr>
              <a:spcBef>
                <a:spcPct val="50000"/>
              </a:spcBef>
            </a:pPr>
            <a:r>
              <a:rPr lang="en-US">
                <a:solidFill>
                  <a:schemeClr val="hlink"/>
                </a:solidFill>
              </a:rPr>
              <a:t>C</a:t>
            </a:r>
          </a:p>
        </p:txBody>
      </p:sp>
      <p:sp>
        <p:nvSpPr>
          <p:cNvPr id="17424" name="Text Box 27"/>
          <p:cNvSpPr txBox="1">
            <a:spLocks noChangeArrowheads="1"/>
          </p:cNvSpPr>
          <p:nvPr/>
        </p:nvSpPr>
        <p:spPr bwMode="auto">
          <a:xfrm>
            <a:off x="5880101" y="4041776"/>
            <a:ext cx="1260475" cy="1200329"/>
          </a:xfrm>
          <a:prstGeom prst="rect">
            <a:avLst/>
          </a:prstGeom>
          <a:noFill/>
          <a:ln w="12700" cap="sq">
            <a:noFill/>
            <a:miter lim="800000"/>
            <a:headEnd type="none" w="sm" len="sm"/>
            <a:tailEnd type="none" w="sm" len="sm"/>
          </a:ln>
        </p:spPr>
        <p:txBody>
          <a:bodyPr>
            <a:spAutoFit/>
          </a:bodyPr>
          <a:lstStyle/>
          <a:p>
            <a:pPr>
              <a:spcBef>
                <a:spcPct val="50000"/>
              </a:spcBef>
            </a:pPr>
            <a:r>
              <a:rPr lang="en-US">
                <a:solidFill>
                  <a:schemeClr val="hlink"/>
                </a:solidFill>
              </a:rPr>
              <a:t>10,000</a:t>
            </a:r>
          </a:p>
          <a:p>
            <a:pPr>
              <a:spcBef>
                <a:spcPct val="50000"/>
              </a:spcBef>
            </a:pPr>
            <a:r>
              <a:rPr lang="en-US">
                <a:solidFill>
                  <a:schemeClr val="hlink"/>
                </a:solidFill>
              </a:rPr>
              <a:t>20,000</a:t>
            </a:r>
          </a:p>
          <a:p>
            <a:pPr>
              <a:spcBef>
                <a:spcPct val="50000"/>
              </a:spcBef>
            </a:pPr>
            <a:r>
              <a:rPr lang="en-US">
                <a:solidFill>
                  <a:schemeClr val="hlink"/>
                </a:solidFill>
              </a:rPr>
              <a:t>30,000</a:t>
            </a:r>
          </a:p>
        </p:txBody>
      </p:sp>
      <p:sp>
        <p:nvSpPr>
          <p:cNvPr id="17425" name="Text Box 28"/>
          <p:cNvSpPr txBox="1">
            <a:spLocks noChangeArrowheads="1"/>
          </p:cNvSpPr>
          <p:nvPr/>
        </p:nvSpPr>
        <p:spPr bwMode="auto">
          <a:xfrm>
            <a:off x="7716839" y="4041776"/>
            <a:ext cx="2016125" cy="1200329"/>
          </a:xfrm>
          <a:prstGeom prst="rect">
            <a:avLst/>
          </a:prstGeom>
          <a:noFill/>
          <a:ln w="12700" cap="sq">
            <a:noFill/>
            <a:miter lim="800000"/>
            <a:headEnd type="none" w="sm" len="sm"/>
            <a:tailEnd type="none" w="sm" len="sm"/>
          </a:ln>
        </p:spPr>
        <p:txBody>
          <a:bodyPr>
            <a:spAutoFit/>
          </a:bodyPr>
          <a:lstStyle/>
          <a:p>
            <a:pPr>
              <a:spcBef>
                <a:spcPct val="50000"/>
              </a:spcBef>
            </a:pPr>
            <a:r>
              <a:rPr lang="en-US">
                <a:solidFill>
                  <a:schemeClr val="hlink"/>
                </a:solidFill>
              </a:rPr>
              <a:t>First street</a:t>
            </a:r>
          </a:p>
          <a:p>
            <a:pPr>
              <a:spcBef>
                <a:spcPct val="50000"/>
              </a:spcBef>
            </a:pPr>
            <a:r>
              <a:rPr lang="en-US">
                <a:solidFill>
                  <a:schemeClr val="hlink"/>
                </a:solidFill>
              </a:rPr>
              <a:t>Second street </a:t>
            </a:r>
          </a:p>
          <a:p>
            <a:pPr>
              <a:spcBef>
                <a:spcPct val="50000"/>
              </a:spcBef>
            </a:pPr>
            <a:r>
              <a:rPr lang="en-US">
                <a:solidFill>
                  <a:schemeClr val="hlink"/>
                </a:solidFill>
              </a:rPr>
              <a:t>Third street</a:t>
            </a:r>
          </a:p>
        </p:txBody>
      </p:sp>
      <p:sp>
        <p:nvSpPr>
          <p:cNvPr id="22" name="Footer Placeholder 21"/>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111767388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latin typeface="Arial" pitchFamily="34" charset="0"/>
                <a:cs typeface="Arial" pitchFamily="34" charset="0"/>
              </a:rPr>
              <a:t>CONCEPTUAL SCHEMA</a:t>
            </a:r>
            <a:endParaRPr lang="en-US" dirty="0">
              <a:latin typeface="Arial" pitchFamily="34" charset="0"/>
              <a:cs typeface="Arial" pitchFamily="34" charset="0"/>
            </a:endParaRPr>
          </a:p>
        </p:txBody>
      </p:sp>
      <p:sp>
        <p:nvSpPr>
          <p:cNvPr id="3" name="Content Placeholder 2"/>
          <p:cNvSpPr>
            <a:spLocks noGrp="1"/>
          </p:cNvSpPr>
          <p:nvPr>
            <p:ph idx="1"/>
          </p:nvPr>
        </p:nvSpPr>
        <p:spPr>
          <a:xfrm>
            <a:off x="1981200" y="1600201"/>
            <a:ext cx="8458200" cy="4525963"/>
          </a:xfrm>
        </p:spPr>
        <p:txBody>
          <a:bodyPr>
            <a:normAutofit/>
          </a:bodyPr>
          <a:lstStyle/>
          <a:p>
            <a:r>
              <a:rPr lang="en-US" dirty="0" smtClean="0">
                <a:latin typeface="Arial" pitchFamily="34" charset="0"/>
                <a:cs typeface="Arial" pitchFamily="34" charset="0"/>
              </a:rPr>
              <a:t>It </a:t>
            </a:r>
            <a:r>
              <a:rPr lang="en-US" dirty="0">
                <a:latin typeface="Arial" pitchFamily="34" charset="0"/>
                <a:cs typeface="Arial" pitchFamily="34" charset="0"/>
              </a:rPr>
              <a:t>describes all relations that are stored in the </a:t>
            </a:r>
            <a:r>
              <a:rPr lang="en-US" dirty="0" smtClean="0">
                <a:latin typeface="Arial" pitchFamily="34" charset="0"/>
                <a:cs typeface="Arial" pitchFamily="34" charset="0"/>
              </a:rPr>
              <a:t>database</a:t>
            </a:r>
            <a:endParaRPr lang="en-US" b="1" dirty="0">
              <a:latin typeface="Arial" pitchFamily="34" charset="0"/>
              <a:cs typeface="Arial" pitchFamily="34" charset="0"/>
            </a:endParaRPr>
          </a:p>
          <a:p>
            <a:r>
              <a:rPr lang="en-US" dirty="0">
                <a:latin typeface="Arial" pitchFamily="34" charset="0"/>
                <a:cs typeface="Arial" pitchFamily="34" charset="0"/>
              </a:rPr>
              <a:t>Students(</a:t>
            </a:r>
            <a:r>
              <a:rPr lang="en-US" dirty="0" err="1">
                <a:latin typeface="Arial" pitchFamily="34" charset="0"/>
                <a:cs typeface="Arial" pitchFamily="34" charset="0"/>
              </a:rPr>
              <a:t>sid</a:t>
            </a:r>
            <a:r>
              <a:rPr lang="en-US" dirty="0">
                <a:latin typeface="Arial" pitchFamily="34" charset="0"/>
                <a:cs typeface="Arial" pitchFamily="34" charset="0"/>
              </a:rPr>
              <a:t> :</a:t>
            </a:r>
            <a:r>
              <a:rPr lang="en-US" dirty="0" err="1">
                <a:latin typeface="Arial" pitchFamily="34" charset="0"/>
                <a:cs typeface="Arial" pitchFamily="34" charset="0"/>
              </a:rPr>
              <a:t>strings,name</a:t>
            </a:r>
            <a:r>
              <a:rPr lang="en-US" dirty="0">
                <a:latin typeface="Arial" pitchFamily="34" charset="0"/>
                <a:cs typeface="Arial" pitchFamily="34" charset="0"/>
              </a:rPr>
              <a:t> :</a:t>
            </a:r>
            <a:r>
              <a:rPr lang="en-US" dirty="0" err="1">
                <a:latin typeface="Arial" pitchFamily="34" charset="0"/>
                <a:cs typeface="Arial" pitchFamily="34" charset="0"/>
              </a:rPr>
              <a:t>strings,age:integer</a:t>
            </a:r>
            <a:r>
              <a:rPr lang="en-US" dirty="0">
                <a:latin typeface="Arial" pitchFamily="34" charset="0"/>
                <a:cs typeface="Arial" pitchFamily="34" charset="0"/>
              </a:rPr>
              <a:t>)</a:t>
            </a:r>
            <a:endParaRPr lang="en-US" b="1" dirty="0">
              <a:latin typeface="Arial" pitchFamily="34" charset="0"/>
              <a:cs typeface="Arial" pitchFamily="34" charset="0"/>
            </a:endParaRPr>
          </a:p>
          <a:p>
            <a:r>
              <a:rPr lang="en-US" dirty="0">
                <a:latin typeface="Arial" pitchFamily="34" charset="0"/>
                <a:cs typeface="Arial" pitchFamily="34" charset="0"/>
              </a:rPr>
              <a:t>Faculty(fid :</a:t>
            </a:r>
            <a:r>
              <a:rPr lang="en-US" dirty="0" err="1">
                <a:latin typeface="Arial" pitchFamily="34" charset="0"/>
                <a:cs typeface="Arial" pitchFamily="34" charset="0"/>
              </a:rPr>
              <a:t>string,fname:string,sal:real</a:t>
            </a:r>
            <a:r>
              <a:rPr lang="en-US" dirty="0">
                <a:latin typeface="Arial" pitchFamily="34" charset="0"/>
                <a:cs typeface="Arial" pitchFamily="34" charset="0"/>
              </a:rPr>
              <a:t>)</a:t>
            </a:r>
            <a:endParaRPr lang="en-US" b="1" dirty="0">
              <a:latin typeface="Arial" pitchFamily="34" charset="0"/>
              <a:cs typeface="Arial" pitchFamily="34" charset="0"/>
            </a:endParaRPr>
          </a:p>
          <a:p>
            <a:r>
              <a:rPr lang="en-US" dirty="0">
                <a:latin typeface="Arial" pitchFamily="34" charset="0"/>
                <a:cs typeface="Arial" pitchFamily="34" charset="0"/>
              </a:rPr>
              <a:t>Courses(</a:t>
            </a:r>
            <a:r>
              <a:rPr lang="en-US" dirty="0">
                <a:latin typeface="Arial" pitchFamily="34" charset="0"/>
                <a:cs typeface="Arial" pitchFamily="34" charset="0"/>
                <a:hlinkClick r:id="rId2"/>
              </a:rPr>
              <a:t>cid:string,cname:string</a:t>
            </a:r>
            <a:endParaRPr lang="en-US" b="1" dirty="0">
              <a:latin typeface="Arial" pitchFamily="34" charset="0"/>
              <a:cs typeface="Arial" pitchFamily="34" charset="0"/>
            </a:endParaRPr>
          </a:p>
          <a:p>
            <a:r>
              <a:rPr lang="en-US" dirty="0">
                <a:latin typeface="Arial" pitchFamily="34" charset="0"/>
                <a:cs typeface="Arial" pitchFamily="34" charset="0"/>
              </a:rPr>
              <a:t>Rooms(</a:t>
            </a:r>
            <a:r>
              <a:rPr lang="en-US" dirty="0" err="1">
                <a:latin typeface="Arial" pitchFamily="34" charset="0"/>
                <a:cs typeface="Arial" pitchFamily="34" charset="0"/>
              </a:rPr>
              <a:t>rno:integer,address:string,capacity:integer</a:t>
            </a:r>
            <a:r>
              <a:rPr lang="en-US" dirty="0">
                <a:latin typeface="Arial" pitchFamily="34" charset="0"/>
                <a:cs typeface="Arial" pitchFamily="34" charset="0"/>
              </a:rPr>
              <a:t>)</a:t>
            </a:r>
            <a:endParaRPr lang="en-US" b="1" dirty="0">
              <a:latin typeface="Arial" pitchFamily="34" charset="0"/>
              <a:cs typeface="Arial" pitchFamily="34" charset="0"/>
            </a:endParaRPr>
          </a:p>
          <a:p>
            <a:r>
              <a:rPr lang="en-US" dirty="0">
                <a:latin typeface="Arial" pitchFamily="34" charset="0"/>
                <a:cs typeface="Arial" pitchFamily="34" charset="0"/>
              </a:rPr>
              <a:t>Enrolled(</a:t>
            </a:r>
            <a:r>
              <a:rPr lang="en-US" dirty="0" err="1">
                <a:latin typeface="Arial" pitchFamily="34" charset="0"/>
                <a:cs typeface="Arial" pitchFamily="34" charset="0"/>
              </a:rPr>
              <a:t>sid:string,cid:string,grade:string</a:t>
            </a:r>
            <a:r>
              <a:rPr lang="en-US" dirty="0">
                <a:latin typeface="Arial" pitchFamily="34" charset="0"/>
                <a:cs typeface="Arial" pitchFamily="34" charset="0"/>
              </a:rPr>
              <a:t>)</a:t>
            </a:r>
            <a:endParaRPr lang="en-US" b="1" dirty="0">
              <a:latin typeface="Arial" pitchFamily="34" charset="0"/>
              <a:cs typeface="Arial" pitchFamily="34" charset="0"/>
            </a:endParaRPr>
          </a:p>
          <a:p>
            <a:r>
              <a:rPr lang="en-US" dirty="0">
                <a:latin typeface="Arial" pitchFamily="34" charset="0"/>
                <a:cs typeface="Arial" pitchFamily="34" charset="0"/>
              </a:rPr>
              <a:t>Teachers(</a:t>
            </a:r>
            <a:r>
              <a:rPr lang="en-US" dirty="0" err="1">
                <a:latin typeface="Arial" pitchFamily="34" charset="0"/>
                <a:cs typeface="Arial" pitchFamily="34" charset="0"/>
              </a:rPr>
              <a:t>fid:string,cid:string</a:t>
            </a:r>
            <a:r>
              <a:rPr lang="en-US" dirty="0">
                <a:latin typeface="Arial" pitchFamily="34" charset="0"/>
                <a:cs typeface="Arial" pitchFamily="34" charset="0"/>
              </a:rPr>
              <a:t>)</a:t>
            </a:r>
            <a:endParaRPr lang="en-US" b="1" dirty="0">
              <a:latin typeface="Arial" pitchFamily="34" charset="0"/>
              <a:cs typeface="Arial" pitchFamily="34" charset="0"/>
            </a:endParaRPr>
          </a:p>
          <a:p>
            <a:r>
              <a:rPr lang="en-US" dirty="0">
                <a:latin typeface="Arial" pitchFamily="34" charset="0"/>
                <a:cs typeface="Arial" pitchFamily="34" charset="0"/>
              </a:rPr>
              <a:t>Meets-in(</a:t>
            </a:r>
            <a:r>
              <a:rPr lang="en-US" dirty="0">
                <a:latin typeface="Arial" pitchFamily="34" charset="0"/>
                <a:cs typeface="Arial" pitchFamily="34" charset="0"/>
                <a:hlinkClick r:id="rId3"/>
              </a:rPr>
              <a:t>cid:string,rno:integer,time:string</a:t>
            </a:r>
            <a:r>
              <a:rPr lang="en-US" dirty="0">
                <a:latin typeface="Arial" pitchFamily="34" charset="0"/>
                <a:cs typeface="Arial" pitchFamily="34" charset="0"/>
              </a:rPr>
              <a:t>)</a:t>
            </a:r>
            <a:endParaRPr lang="en-US" b="1" dirty="0">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39</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87204054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Physical Schema</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pPr lvl="0"/>
            <a:r>
              <a:rPr lang="en-US" dirty="0">
                <a:latin typeface="Arial" pitchFamily="34" charset="0"/>
                <a:cs typeface="Arial" pitchFamily="34" charset="0"/>
              </a:rPr>
              <a:t>It specifies additional storage details.</a:t>
            </a:r>
          </a:p>
          <a:p>
            <a:pPr lvl="0"/>
            <a:r>
              <a:rPr lang="en-US" dirty="0">
                <a:latin typeface="Arial" pitchFamily="34" charset="0"/>
                <a:cs typeface="Arial" pitchFamily="34" charset="0"/>
              </a:rPr>
              <a:t>The relations described in conceptual schema are actually stored in a secondary storage devices such as disks, tapes etc.</a:t>
            </a:r>
          </a:p>
          <a:p>
            <a:r>
              <a:rPr lang="en-US" dirty="0">
                <a:latin typeface="Arial" pitchFamily="34" charset="0"/>
                <a:cs typeface="Arial" pitchFamily="34" charset="0"/>
              </a:rPr>
              <a:t>What file org is used to store the relations</a:t>
            </a:r>
          </a:p>
        </p:txBody>
      </p:sp>
      <p:sp>
        <p:nvSpPr>
          <p:cNvPr id="4" name="Slide Number Placeholder 3"/>
          <p:cNvSpPr>
            <a:spLocks noGrp="1"/>
          </p:cNvSpPr>
          <p:nvPr>
            <p:ph type="sldNum" sz="quarter" idx="12"/>
          </p:nvPr>
        </p:nvSpPr>
        <p:spPr/>
        <p:txBody>
          <a:bodyPr/>
          <a:lstStyle/>
          <a:p>
            <a:fld id="{C8E6D33F-E187-4F70-BDF3-C2B81C57EFE3}" type="slidenum">
              <a:rPr lang="en-US" smtClean="0"/>
              <a:pPr/>
              <a:t>40</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49595400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Arial" pitchFamily="34" charset="0"/>
                <a:cs typeface="Arial" pitchFamily="34" charset="0"/>
              </a:rPr>
              <a:t>External Schema</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a:bodyPr>
          <a:lstStyle/>
          <a:p>
            <a:pPr lvl="0"/>
            <a:r>
              <a:rPr lang="en-US" dirty="0">
                <a:latin typeface="Arial" pitchFamily="34" charset="0"/>
                <a:cs typeface="Arial" pitchFamily="34" charset="0"/>
              </a:rPr>
              <a:t>It allows data access to be customized at the level of individual users.</a:t>
            </a:r>
          </a:p>
          <a:p>
            <a:pPr lvl="0"/>
            <a:r>
              <a:rPr lang="en-US" dirty="0">
                <a:latin typeface="Arial" pitchFamily="34" charset="0"/>
                <a:cs typeface="Arial" pitchFamily="34" charset="0"/>
              </a:rPr>
              <a:t>Only one conceptual schema and one physical schema but may have several external schemas each tailored to particular group of users.</a:t>
            </a:r>
          </a:p>
          <a:p>
            <a:pPr lvl="0"/>
            <a:r>
              <a:rPr lang="en-US" dirty="0">
                <a:latin typeface="Arial" pitchFamily="34" charset="0"/>
                <a:cs typeface="Arial" pitchFamily="34" charset="0"/>
              </a:rPr>
              <a:t>A view is conceptually a relation but the records in a view are not stored in DBMS.</a:t>
            </a:r>
          </a:p>
          <a:p>
            <a:pPr lvl="0"/>
            <a:r>
              <a:rPr lang="en-US" dirty="0">
                <a:latin typeface="Arial" pitchFamily="34" charset="0"/>
                <a:cs typeface="Arial" pitchFamily="34" charset="0"/>
              </a:rPr>
              <a:t>Suited for end user requirement.</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41</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00959430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Mapping</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a:bodyPr>
          <a:lstStyle/>
          <a:p>
            <a:r>
              <a:rPr lang="en-US" dirty="0" smtClean="0">
                <a:latin typeface="Arial" pitchFamily="34" charset="0"/>
                <a:cs typeface="Arial" pitchFamily="34" charset="0"/>
              </a:rPr>
              <a:t>Whenever a user specifies a request to generate a new external view, the DBMS must transform the request specified at external level into a request at conceptual level, and then into a request at physical level.</a:t>
            </a:r>
          </a:p>
          <a:p>
            <a:r>
              <a:rPr lang="en-US" dirty="0" smtClean="0">
                <a:latin typeface="Arial" pitchFamily="34" charset="0"/>
                <a:cs typeface="Arial" pitchFamily="34" charset="0"/>
              </a:rPr>
              <a:t>This process of transforming the requests and results between various levels of DBMS architecture is known as </a:t>
            </a:r>
            <a:r>
              <a:rPr lang="en-US" b="1" dirty="0" smtClean="0">
                <a:latin typeface="Arial" pitchFamily="34" charset="0"/>
                <a:cs typeface="Arial" pitchFamily="34" charset="0"/>
              </a:rPr>
              <a:t>mapping</a:t>
            </a:r>
            <a:r>
              <a:rPr lang="en-US" dirty="0" smtClean="0">
                <a:latin typeface="Arial" pitchFamily="34" charset="0"/>
                <a:cs typeface="Arial" pitchFamily="34" charset="0"/>
              </a:rPr>
              <a:t>.</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42</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79399424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Data Independence</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a:bodyPr>
          <a:lstStyle/>
          <a:p>
            <a:r>
              <a:rPr lang="en-US" dirty="0" smtClean="0">
                <a:latin typeface="Arial" pitchFamily="34" charset="0"/>
                <a:cs typeface="Arial" pitchFamily="34" charset="0"/>
              </a:rPr>
              <a:t>The main advantage of three-schema architecture is that it provides data independence. </a:t>
            </a:r>
          </a:p>
          <a:p>
            <a:r>
              <a:rPr lang="en-US" b="1" dirty="0" smtClean="0">
                <a:latin typeface="Arial" pitchFamily="34" charset="0"/>
                <a:cs typeface="Arial" pitchFamily="34" charset="0"/>
              </a:rPr>
              <a:t>Data independence</a:t>
            </a:r>
            <a:r>
              <a:rPr lang="en-US" dirty="0" smtClean="0">
                <a:latin typeface="Arial" pitchFamily="34" charset="0"/>
                <a:cs typeface="Arial" pitchFamily="34" charset="0"/>
              </a:rPr>
              <a:t> is the ability to change the schema at one level of the database system without having to change the schema at the other levels. </a:t>
            </a:r>
          </a:p>
          <a:p>
            <a:r>
              <a:rPr lang="en-US" dirty="0" smtClean="0">
                <a:latin typeface="Arial" pitchFamily="34" charset="0"/>
                <a:cs typeface="Arial" pitchFamily="34" charset="0"/>
              </a:rPr>
              <a:t>Data independence is of two types, namely, logical data independence and physical data independence.</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43</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336299305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Arial" pitchFamily="34" charset="0"/>
                <a:cs typeface="Arial" pitchFamily="34" charset="0"/>
              </a:rPr>
              <a:t>Three Levels of online Book Database</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44</a:t>
            </a:fld>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2743201" y="1710800"/>
            <a:ext cx="6705600" cy="4918600"/>
          </a:xfrm>
          <a:prstGeom prst="rect">
            <a:avLst/>
          </a:prstGeom>
          <a:noFill/>
          <a:ln w="9525">
            <a:noFill/>
            <a:miter lim="800000"/>
            <a:headEnd/>
            <a:tailEnd/>
          </a:ln>
          <a:effectLst/>
        </p:spPr>
      </p:pic>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114796307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5312" y="320675"/>
            <a:ext cx="10515600" cy="1325563"/>
          </a:xfrm>
        </p:spPr>
        <p:txBody>
          <a:bodyPr/>
          <a:lstStyle/>
          <a:p>
            <a:r>
              <a:rPr lang="en-US" dirty="0" smtClean="0">
                <a:latin typeface="Arial" pitchFamily="34" charset="0"/>
                <a:cs typeface="Arial" pitchFamily="34" charset="0"/>
              </a:rPr>
              <a:t>Logical Data Independence</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fontScale="92500" lnSpcReduction="10000"/>
          </a:bodyPr>
          <a:lstStyle/>
          <a:p>
            <a:r>
              <a:rPr lang="en-US" dirty="0" smtClean="0">
                <a:latin typeface="Arial" pitchFamily="34" charset="0"/>
                <a:cs typeface="Arial" pitchFamily="34" charset="0"/>
              </a:rPr>
              <a:t>It is the ability to change the conceptual schema without affecting the external schemas or application programs. </a:t>
            </a:r>
          </a:p>
          <a:p>
            <a:r>
              <a:rPr lang="en-US" dirty="0" smtClean="0">
                <a:latin typeface="Arial" pitchFamily="34" charset="0"/>
                <a:cs typeface="Arial" pitchFamily="34" charset="0"/>
              </a:rPr>
              <a:t>The conceptual schema may be changed due to change in constraints or addition of new data item or removal of existing data item, etc., from the database. </a:t>
            </a:r>
          </a:p>
          <a:p>
            <a:pPr lvl="0"/>
            <a:r>
              <a:rPr lang="en-US" dirty="0" smtClean="0">
                <a:latin typeface="Arial" pitchFamily="34" charset="0"/>
                <a:cs typeface="Arial" pitchFamily="34" charset="0"/>
              </a:rPr>
              <a:t>The separation of the external level from the conceptual level enables the users to make changes at the conceptual level without affecting the external level or the application programs.</a:t>
            </a:r>
          </a:p>
          <a:p>
            <a:pPr lvl="0"/>
            <a:r>
              <a:rPr lang="en-US" dirty="0" smtClean="0">
                <a:latin typeface="Arial" pitchFamily="34" charset="0"/>
                <a:cs typeface="Arial" pitchFamily="34" charset="0"/>
              </a:rPr>
              <a:t>For example, if a new data item, say Edition is added to the BOOK file, the two views (view 1 and view 2 shown in the above Figure) are not affected.</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45</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428860261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Physical Data Independence</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a:bodyPr>
          <a:lstStyle/>
          <a:p>
            <a:pPr lvl="0"/>
            <a:r>
              <a:rPr lang="en-US" b="1" dirty="0" smtClean="0">
                <a:latin typeface="Arial" pitchFamily="34" charset="0"/>
                <a:cs typeface="Arial" pitchFamily="34" charset="0"/>
              </a:rPr>
              <a:t>Physical data independence</a:t>
            </a:r>
            <a:r>
              <a:rPr lang="en-US" dirty="0" smtClean="0">
                <a:latin typeface="Arial" pitchFamily="34" charset="0"/>
                <a:cs typeface="Arial" pitchFamily="34" charset="0"/>
              </a:rPr>
              <a:t>: It is the ability to change the internal schema without affecting the conceptual or external schema. </a:t>
            </a:r>
          </a:p>
          <a:p>
            <a:pPr lvl="0"/>
            <a:r>
              <a:rPr lang="en-US" dirty="0" smtClean="0">
                <a:latin typeface="Arial" pitchFamily="34" charset="0"/>
                <a:cs typeface="Arial" pitchFamily="34" charset="0"/>
              </a:rPr>
              <a:t>An internal schema may be changed due to several reasons such as for creating additional access structure, changing the storage structure, etc. </a:t>
            </a:r>
          </a:p>
          <a:p>
            <a:pPr lvl="0"/>
            <a:r>
              <a:rPr lang="en-US" dirty="0" smtClean="0">
                <a:latin typeface="Arial" pitchFamily="34" charset="0"/>
                <a:cs typeface="Arial" pitchFamily="34" charset="0"/>
              </a:rPr>
              <a:t>The separation of internal schema from the conceptual schema facilitates physical data independence.</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46</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47595154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r>
              <a:rPr lang="en-US" dirty="0" smtClean="0">
                <a:latin typeface="Arial" pitchFamily="34" charset="0"/>
                <a:cs typeface="Arial" pitchFamily="34" charset="0"/>
              </a:rPr>
              <a:t>Logical data independence is more difficult to achieve than the physical data independence because the application programs are always dependent on the logical structure of the database. </a:t>
            </a:r>
            <a:endParaRPr lang="en-US" smtClean="0">
              <a:latin typeface="Arial" pitchFamily="34" charset="0"/>
              <a:cs typeface="Arial" pitchFamily="34" charset="0"/>
            </a:endParaRPr>
          </a:p>
          <a:p>
            <a:r>
              <a:rPr lang="en-US" smtClean="0">
                <a:latin typeface="Arial" pitchFamily="34" charset="0"/>
                <a:cs typeface="Arial" pitchFamily="34" charset="0"/>
              </a:rPr>
              <a:t>Therefore, the change in the logical structure of the database may require change in the application programs. </a:t>
            </a:r>
            <a:endParaRPr lang="en-US">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47</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306866290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Data Models</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a:bodyPr>
          <a:lstStyle/>
          <a:p>
            <a:r>
              <a:rPr lang="en-US" dirty="0" smtClean="0">
                <a:latin typeface="Arial" pitchFamily="34" charset="0"/>
                <a:cs typeface="Arial" pitchFamily="34" charset="0"/>
              </a:rPr>
              <a:t>A data model is an organizing principle that specifies particular mechanisms for data storage and retrieval</a:t>
            </a:r>
          </a:p>
          <a:p>
            <a:r>
              <a:rPr lang="en-US" dirty="0" smtClean="0">
                <a:latin typeface="Arial" pitchFamily="34" charset="0"/>
                <a:cs typeface="Arial" pitchFamily="34" charset="0"/>
              </a:rPr>
              <a:t>The primary difference between the various database models lie in the method of </a:t>
            </a:r>
            <a:r>
              <a:rPr lang="en-US" b="1" dirty="0" smtClean="0">
                <a:latin typeface="Arial" pitchFamily="34" charset="0"/>
                <a:cs typeface="Arial" pitchFamily="34" charset="0"/>
              </a:rPr>
              <a:t>expressing relationships and constraints among data elements</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48</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97648896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MODEL</a:t>
            </a:r>
            <a:endParaRPr lang="en-GB" dirty="0"/>
          </a:p>
        </p:txBody>
      </p:sp>
      <p:sp>
        <p:nvSpPr>
          <p:cNvPr id="3" name="Content Placeholder 2"/>
          <p:cNvSpPr>
            <a:spLocks noGrp="1"/>
          </p:cNvSpPr>
          <p:nvPr>
            <p:ph idx="1"/>
          </p:nvPr>
        </p:nvSpPr>
        <p:spPr/>
        <p:txBody>
          <a:bodyPr/>
          <a:lstStyle/>
          <a:p>
            <a:r>
              <a:rPr lang="en-GB" dirty="0"/>
              <a:t>Relational Databases store data in relations i.e. tables. </a:t>
            </a:r>
            <a:endParaRPr lang="en-GB" dirty="0" smtClean="0"/>
          </a:p>
          <a:p>
            <a:r>
              <a:rPr lang="en-GB" dirty="0" smtClean="0"/>
              <a:t>Each </a:t>
            </a:r>
            <a:r>
              <a:rPr lang="en-GB" dirty="0"/>
              <a:t>relation must have a name</a:t>
            </a:r>
            <a:r>
              <a:rPr lang="en-GB" dirty="0" smtClean="0"/>
              <a:t>.</a:t>
            </a:r>
          </a:p>
          <a:p>
            <a:r>
              <a:rPr lang="en-US" dirty="0" smtClean="0"/>
              <a:t>Relation can be otherwise called as object or Table</a:t>
            </a:r>
          </a:p>
          <a:p>
            <a:endParaRPr lang="en-GB" dirty="0" smtClean="0"/>
          </a:p>
          <a:p>
            <a:endParaRPr lang="en-US" dirty="0"/>
          </a:p>
          <a:p>
            <a:endParaRPr lang="en-GB" dirty="0"/>
          </a:p>
        </p:txBody>
      </p:sp>
      <p:pic>
        <p:nvPicPr>
          <p:cNvPr id="4" name="Picture 3"/>
          <p:cNvPicPr>
            <a:picLocks noChangeAspect="1"/>
          </p:cNvPicPr>
          <p:nvPr/>
        </p:nvPicPr>
        <p:blipFill>
          <a:blip r:embed="rId2"/>
          <a:stretch>
            <a:fillRect/>
          </a:stretch>
        </p:blipFill>
        <p:spPr>
          <a:xfrm>
            <a:off x="4126162" y="3489280"/>
            <a:ext cx="6212614" cy="3275511"/>
          </a:xfrm>
          <a:prstGeom prst="rect">
            <a:avLst/>
          </a:prstGeom>
        </p:spPr>
      </p:pic>
    </p:spTree>
    <p:extLst>
      <p:ext uri="{BB962C8B-B14F-4D97-AF65-F5344CB8AC3E}">
        <p14:creationId xmlns:p14="http://schemas.microsoft.com/office/powerpoint/2010/main" val="324385932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Tuple/Row/Record</a:t>
            </a:r>
            <a:endParaRPr lang="en-GB" dirty="0"/>
          </a:p>
        </p:txBody>
      </p:sp>
      <p:sp>
        <p:nvSpPr>
          <p:cNvPr id="3" name="Content Placeholder 2"/>
          <p:cNvSpPr>
            <a:spLocks noGrp="1"/>
          </p:cNvSpPr>
          <p:nvPr>
            <p:ph idx="1"/>
          </p:nvPr>
        </p:nvSpPr>
        <p:spPr>
          <a:xfrm>
            <a:off x="838200" y="1401242"/>
            <a:ext cx="10515600" cy="4351338"/>
          </a:xfrm>
        </p:spPr>
        <p:txBody>
          <a:bodyPr/>
          <a:lstStyle/>
          <a:p>
            <a:r>
              <a:rPr lang="en-GB" dirty="0"/>
              <a:t>A single entry in a table is called a </a:t>
            </a:r>
            <a:r>
              <a:rPr lang="en-GB" b="1" dirty="0"/>
              <a:t>Tuple</a:t>
            </a:r>
            <a:r>
              <a:rPr lang="en-GB" dirty="0"/>
              <a:t> or </a:t>
            </a:r>
            <a:r>
              <a:rPr lang="en-GB" b="1" dirty="0"/>
              <a:t>Record</a:t>
            </a:r>
            <a:r>
              <a:rPr lang="en-GB" dirty="0"/>
              <a:t> or </a:t>
            </a:r>
            <a:r>
              <a:rPr lang="en-GB" b="1" dirty="0"/>
              <a:t>Row</a:t>
            </a:r>
            <a:r>
              <a:rPr lang="en-GB" dirty="0"/>
              <a:t>. </a:t>
            </a:r>
            <a:endParaRPr lang="en-GB" dirty="0" smtClean="0"/>
          </a:p>
          <a:p>
            <a:r>
              <a:rPr lang="en-GB" dirty="0" smtClean="0"/>
              <a:t>A</a:t>
            </a:r>
            <a:r>
              <a:rPr lang="en-GB" dirty="0"/>
              <a:t> </a:t>
            </a:r>
            <a:r>
              <a:rPr lang="en-GB" b="1" dirty="0"/>
              <a:t>tuple</a:t>
            </a:r>
            <a:r>
              <a:rPr lang="en-GB" dirty="0"/>
              <a:t> in a table represents a set of related data. For example, the above </a:t>
            </a:r>
            <a:r>
              <a:rPr lang="en-GB" b="1" dirty="0"/>
              <a:t>Employee</a:t>
            </a:r>
            <a:r>
              <a:rPr lang="en-GB" dirty="0"/>
              <a:t> table has 4 tuples/records/rows.</a:t>
            </a:r>
            <a:endParaRPr lang="en-US" dirty="0" smtClean="0"/>
          </a:p>
          <a:p>
            <a:r>
              <a:rPr lang="en-US" dirty="0" smtClean="0"/>
              <a:t>A record is a set of related data in a table.</a:t>
            </a:r>
          </a:p>
          <a:p>
            <a:endParaRPr lang="en-GB" dirty="0"/>
          </a:p>
        </p:txBody>
      </p:sp>
      <p:pic>
        <p:nvPicPr>
          <p:cNvPr id="4" name="Picture 3"/>
          <p:cNvPicPr>
            <a:picLocks noChangeAspect="1"/>
          </p:cNvPicPr>
          <p:nvPr/>
        </p:nvPicPr>
        <p:blipFill>
          <a:blip r:embed="rId2"/>
          <a:stretch>
            <a:fillRect/>
          </a:stretch>
        </p:blipFill>
        <p:spPr>
          <a:xfrm>
            <a:off x="3983763" y="3171962"/>
            <a:ext cx="7370037" cy="3005001"/>
          </a:xfrm>
          <a:prstGeom prst="rect">
            <a:avLst/>
          </a:prstGeom>
        </p:spPr>
      </p:pic>
    </p:spTree>
    <p:extLst>
      <p:ext uri="{BB962C8B-B14F-4D97-AF65-F5344CB8AC3E}">
        <p14:creationId xmlns:p14="http://schemas.microsoft.com/office/powerpoint/2010/main" val="375012038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938" y="68988"/>
            <a:ext cx="10515600" cy="1325563"/>
          </a:xfrm>
        </p:spPr>
        <p:txBody>
          <a:bodyPr/>
          <a:lstStyle/>
          <a:p>
            <a:r>
              <a:rPr lang="en-US" dirty="0" smtClean="0"/>
              <a:t>ATTRIBUTES</a:t>
            </a:r>
            <a:endParaRPr lang="en-GB" dirty="0"/>
          </a:p>
        </p:txBody>
      </p:sp>
      <p:sp>
        <p:nvSpPr>
          <p:cNvPr id="3" name="Content Placeholder 2"/>
          <p:cNvSpPr>
            <a:spLocks noGrp="1"/>
          </p:cNvSpPr>
          <p:nvPr>
            <p:ph idx="1"/>
          </p:nvPr>
        </p:nvSpPr>
        <p:spPr>
          <a:xfrm>
            <a:off x="367938" y="1394551"/>
            <a:ext cx="10515600" cy="4351338"/>
          </a:xfrm>
        </p:spPr>
        <p:txBody>
          <a:bodyPr>
            <a:normAutofit fontScale="92500" lnSpcReduction="20000"/>
          </a:bodyPr>
          <a:lstStyle/>
          <a:p>
            <a:r>
              <a:rPr lang="en-GB" dirty="0"/>
              <a:t>A table consists of several records(row), each record can be broken down into several smaller parts of data known as </a:t>
            </a:r>
            <a:r>
              <a:rPr lang="en-GB" b="1" dirty="0"/>
              <a:t>Attributes</a:t>
            </a:r>
            <a:endParaRPr lang="en-GB" dirty="0" smtClean="0"/>
          </a:p>
          <a:p>
            <a:r>
              <a:rPr lang="en-GB" dirty="0" smtClean="0"/>
              <a:t>An </a:t>
            </a:r>
            <a:r>
              <a:rPr lang="en-GB" dirty="0"/>
              <a:t>attribute is a named column of a relation. It stores a specific information about an </a:t>
            </a:r>
            <a:r>
              <a:rPr lang="en-GB" dirty="0" smtClean="0"/>
              <a:t>object / Table </a:t>
            </a:r>
            <a:r>
              <a:rPr lang="en-GB" dirty="0"/>
              <a:t>e.g. salary</a:t>
            </a:r>
            <a:r>
              <a:rPr lang="en-GB" dirty="0" smtClean="0"/>
              <a:t>.</a:t>
            </a:r>
          </a:p>
          <a:p>
            <a:r>
              <a:rPr lang="en-US" dirty="0" smtClean="0"/>
              <a:t>Name the Attributes</a:t>
            </a:r>
          </a:p>
          <a:p>
            <a:r>
              <a:rPr lang="en-GB" dirty="0"/>
              <a:t>The above </a:t>
            </a:r>
            <a:r>
              <a:rPr lang="en-GB" b="1" dirty="0"/>
              <a:t>Employee</a:t>
            </a:r>
            <a:r>
              <a:rPr lang="en-GB" dirty="0"/>
              <a:t> table consist of </a:t>
            </a:r>
            <a:r>
              <a:rPr lang="en-GB" dirty="0" smtClean="0"/>
              <a:t>five attributes</a:t>
            </a:r>
            <a:r>
              <a:rPr lang="en-GB" dirty="0"/>
              <a:t>, </a:t>
            </a:r>
            <a:r>
              <a:rPr lang="en-GB" b="1" dirty="0"/>
              <a:t>ID</a:t>
            </a:r>
            <a:r>
              <a:rPr lang="en-GB" dirty="0"/>
              <a:t>,</a:t>
            </a:r>
            <a:r>
              <a:rPr lang="en-GB" b="1" dirty="0"/>
              <a:t> </a:t>
            </a:r>
            <a:r>
              <a:rPr lang="en-GB" b="1" dirty="0" smtClean="0"/>
              <a:t>ENAME, SALARY, BONUS, DEPT</a:t>
            </a:r>
          </a:p>
          <a:p>
            <a:pPr marL="0" indent="0">
              <a:buNone/>
            </a:pPr>
            <a:r>
              <a:rPr lang="en-US" b="1" dirty="0" smtClean="0"/>
              <a:t>Attribute Domain : </a:t>
            </a:r>
            <a:r>
              <a:rPr lang="en-GB" dirty="0"/>
              <a:t>Attribute </a:t>
            </a:r>
            <a:r>
              <a:rPr lang="en-GB" dirty="0" smtClean="0"/>
              <a:t>is </a:t>
            </a:r>
            <a:r>
              <a:rPr lang="en-GB" dirty="0"/>
              <a:t>defined to hold only a certain type of values, which is known as </a:t>
            </a:r>
            <a:r>
              <a:rPr lang="en-GB" b="1" dirty="0"/>
              <a:t>Attribute Domain</a:t>
            </a:r>
            <a:r>
              <a:rPr lang="en-GB" dirty="0" smtClean="0"/>
              <a:t>.</a:t>
            </a:r>
          </a:p>
          <a:p>
            <a:pPr marL="0" indent="0">
              <a:buNone/>
            </a:pPr>
            <a:r>
              <a:rPr lang="en-GB" dirty="0" smtClean="0"/>
              <a:t>The </a:t>
            </a:r>
            <a:r>
              <a:rPr lang="en-GB" dirty="0"/>
              <a:t>attribute </a:t>
            </a:r>
            <a:r>
              <a:rPr lang="en-GB" b="1" dirty="0"/>
              <a:t>Name</a:t>
            </a:r>
            <a:r>
              <a:rPr lang="en-GB" dirty="0"/>
              <a:t> will hold the name of employee for every tuple. If we save employee's address there, it will be violation of the Relational database model.</a:t>
            </a:r>
          </a:p>
          <a:p>
            <a:pPr marL="0" indent="0">
              <a:buNone/>
            </a:pPr>
            <a:endParaRPr lang="en-GB" b="1" dirty="0"/>
          </a:p>
        </p:txBody>
      </p:sp>
    </p:spTree>
    <p:extLst>
      <p:ext uri="{BB962C8B-B14F-4D97-AF65-F5344CB8AC3E}">
        <p14:creationId xmlns:p14="http://schemas.microsoft.com/office/powerpoint/2010/main" val="321257699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ATTRIBUTES</a:t>
            </a:r>
            <a:endParaRPr lang="en-GB" dirty="0"/>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3566159" y="1955035"/>
            <a:ext cx="5893526" cy="3823540"/>
          </a:xfrm>
          <a:prstGeom prst="rect">
            <a:avLst/>
          </a:prstGeom>
        </p:spPr>
      </p:pic>
    </p:spTree>
    <p:extLst>
      <p:ext uri="{BB962C8B-B14F-4D97-AF65-F5344CB8AC3E}">
        <p14:creationId xmlns:p14="http://schemas.microsoft.com/office/powerpoint/2010/main" val="388675234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CARDINALITY OF THE RELATION</a:t>
            </a:r>
            <a:endParaRPr lang="en-GB" dirty="0"/>
          </a:p>
        </p:txBody>
      </p:sp>
      <p:pic>
        <p:nvPicPr>
          <p:cNvPr id="4" name="Content Placeholder 3"/>
          <p:cNvPicPr>
            <a:picLocks noGrp="1" noChangeAspect="1"/>
          </p:cNvPicPr>
          <p:nvPr>
            <p:ph idx="1"/>
          </p:nvPr>
        </p:nvPicPr>
        <p:blipFill>
          <a:blip r:embed="rId2"/>
          <a:stretch>
            <a:fillRect/>
          </a:stretch>
        </p:blipFill>
        <p:spPr>
          <a:xfrm>
            <a:off x="1774235" y="2230324"/>
            <a:ext cx="8207026" cy="3007882"/>
          </a:xfrm>
          <a:prstGeom prst="rect">
            <a:avLst/>
          </a:prstGeom>
        </p:spPr>
      </p:pic>
    </p:spTree>
    <p:extLst>
      <p:ext uri="{BB962C8B-B14F-4D97-AF65-F5344CB8AC3E}">
        <p14:creationId xmlns:p14="http://schemas.microsoft.com/office/powerpoint/2010/main" val="342466162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DEGREE OF THE RELATION</a:t>
            </a:r>
            <a:endParaRPr lang="en-GB" dirty="0"/>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4090987" y="2414587"/>
            <a:ext cx="6484623" cy="3280819"/>
          </a:xfrm>
          <a:prstGeom prst="rect">
            <a:avLst/>
          </a:prstGeom>
        </p:spPr>
      </p:pic>
    </p:spTree>
    <p:extLst>
      <p:ext uri="{BB962C8B-B14F-4D97-AF65-F5344CB8AC3E}">
        <p14:creationId xmlns:p14="http://schemas.microsoft.com/office/powerpoint/2010/main" val="314041797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NULL ATTRIBUTE</a:t>
            </a:r>
            <a:endParaRPr lang="en-GB" dirty="0"/>
          </a:p>
        </p:txBody>
      </p:sp>
      <p:sp>
        <p:nvSpPr>
          <p:cNvPr id="3" name="Content Placeholder 2"/>
          <p:cNvSpPr>
            <a:spLocks noGrp="1"/>
          </p:cNvSpPr>
          <p:nvPr>
            <p:ph idx="1"/>
          </p:nvPr>
        </p:nvSpPr>
        <p:spPr/>
        <p:txBody>
          <a:bodyPr/>
          <a:lstStyle/>
          <a:p>
            <a:r>
              <a:rPr lang="en-GB" dirty="0"/>
              <a:t>The attribute value that is currently unknown </a:t>
            </a:r>
            <a:r>
              <a:rPr lang="en-GB" dirty="0" smtClean="0"/>
              <a:t>is called Null Attribute</a:t>
            </a:r>
            <a:endParaRPr lang="en-GB" dirty="0"/>
          </a:p>
          <a:p>
            <a:endParaRPr lang="en-GB" dirty="0"/>
          </a:p>
        </p:txBody>
      </p:sp>
      <p:pic>
        <p:nvPicPr>
          <p:cNvPr id="4" name="Picture 3"/>
          <p:cNvPicPr>
            <a:picLocks noChangeAspect="1"/>
          </p:cNvPicPr>
          <p:nvPr/>
        </p:nvPicPr>
        <p:blipFill>
          <a:blip r:embed="rId2"/>
          <a:stretch>
            <a:fillRect/>
          </a:stretch>
        </p:blipFill>
        <p:spPr>
          <a:xfrm>
            <a:off x="3452812" y="2257425"/>
            <a:ext cx="7520652" cy="3333478"/>
          </a:xfrm>
          <a:prstGeom prst="rect">
            <a:avLst/>
          </a:prstGeom>
        </p:spPr>
      </p:pic>
    </p:spTree>
    <p:extLst>
      <p:ext uri="{BB962C8B-B14F-4D97-AF65-F5344CB8AC3E}">
        <p14:creationId xmlns:p14="http://schemas.microsoft.com/office/powerpoint/2010/main" val="407315518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 Domain</a:t>
            </a:r>
            <a:endParaRPr lang="en-GB" dirty="0"/>
          </a:p>
        </p:txBody>
      </p:sp>
      <p:sp>
        <p:nvSpPr>
          <p:cNvPr id="3" name="Content Placeholder 2"/>
          <p:cNvSpPr>
            <a:spLocks noGrp="1"/>
          </p:cNvSpPr>
          <p:nvPr>
            <p:ph idx="1"/>
          </p:nvPr>
        </p:nvSpPr>
        <p:spPr/>
        <p:txBody>
          <a:bodyPr/>
          <a:lstStyle/>
          <a:p>
            <a:r>
              <a:rPr lang="en-GB" dirty="0"/>
              <a:t>Attribute is defined to hold only a certain type of values, which is known as </a:t>
            </a:r>
            <a:r>
              <a:rPr lang="en-GB" b="1" dirty="0"/>
              <a:t>Attribute Domain</a:t>
            </a:r>
            <a:r>
              <a:rPr lang="en-GB" dirty="0"/>
              <a:t>.</a:t>
            </a:r>
          </a:p>
          <a:p>
            <a:endParaRPr lang="en-GB" dirty="0"/>
          </a:p>
        </p:txBody>
      </p:sp>
      <p:pic>
        <p:nvPicPr>
          <p:cNvPr id="5" name="Picture 4"/>
          <p:cNvPicPr>
            <a:picLocks noChangeAspect="1"/>
          </p:cNvPicPr>
          <p:nvPr/>
        </p:nvPicPr>
        <p:blipFill>
          <a:blip r:embed="rId2"/>
          <a:stretch>
            <a:fillRect/>
          </a:stretch>
        </p:blipFill>
        <p:spPr>
          <a:xfrm>
            <a:off x="2987447" y="3071223"/>
            <a:ext cx="8925830" cy="3240677"/>
          </a:xfrm>
          <a:prstGeom prst="rect">
            <a:avLst/>
          </a:prstGeom>
        </p:spPr>
      </p:pic>
    </p:spTree>
    <p:extLst>
      <p:ext uri="{BB962C8B-B14F-4D97-AF65-F5344CB8AC3E}">
        <p14:creationId xmlns:p14="http://schemas.microsoft.com/office/powerpoint/2010/main" val="200787542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32123" y="117566"/>
            <a:ext cx="12224123" cy="6635931"/>
          </a:xfrm>
          <a:prstGeom prst="rect">
            <a:avLst/>
          </a:prstGeom>
        </p:spPr>
      </p:pic>
    </p:spTree>
    <p:extLst>
      <p:ext uri="{BB962C8B-B14F-4D97-AF65-F5344CB8AC3E}">
        <p14:creationId xmlns:p14="http://schemas.microsoft.com/office/powerpoint/2010/main" val="220618860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Integrity and Constraints / Keys</a:t>
            </a:r>
            <a:endParaRPr lang="en-GB" dirty="0"/>
          </a:p>
        </p:txBody>
      </p:sp>
      <p:sp>
        <p:nvSpPr>
          <p:cNvPr id="3" name="Content Placeholder 2"/>
          <p:cNvSpPr>
            <a:spLocks noGrp="1"/>
          </p:cNvSpPr>
          <p:nvPr>
            <p:ph idx="1"/>
          </p:nvPr>
        </p:nvSpPr>
        <p:spPr/>
        <p:txBody>
          <a:bodyPr>
            <a:normAutofit lnSpcReduction="10000"/>
          </a:bodyPr>
          <a:lstStyle/>
          <a:p>
            <a:r>
              <a:rPr lang="en-GB" b="1" dirty="0"/>
              <a:t>Integrity constraints</a:t>
            </a:r>
            <a:r>
              <a:rPr lang="en-GB" dirty="0"/>
              <a:t> are a set of rules. </a:t>
            </a:r>
            <a:r>
              <a:rPr lang="en-GB" b="1" dirty="0"/>
              <a:t>Integrity constraints</a:t>
            </a:r>
            <a:r>
              <a:rPr lang="en-GB" dirty="0"/>
              <a:t> ensure that the </a:t>
            </a:r>
            <a:r>
              <a:rPr lang="en-GB" b="1" dirty="0"/>
              <a:t>data</a:t>
            </a:r>
            <a:r>
              <a:rPr lang="en-GB" dirty="0"/>
              <a:t> insertion, updating, and other processes have to be performed in such a way that </a:t>
            </a:r>
            <a:r>
              <a:rPr lang="en-GB" b="1" dirty="0"/>
              <a:t>data integrity</a:t>
            </a:r>
            <a:r>
              <a:rPr lang="en-GB" dirty="0"/>
              <a:t> is not </a:t>
            </a:r>
            <a:r>
              <a:rPr lang="en-GB" dirty="0" smtClean="0"/>
              <a:t>affected.</a:t>
            </a:r>
          </a:p>
          <a:p>
            <a:r>
              <a:rPr lang="en-GB" dirty="0" smtClean="0"/>
              <a:t>Thus</a:t>
            </a:r>
            <a:r>
              <a:rPr lang="en-GB" dirty="0"/>
              <a:t>, </a:t>
            </a:r>
            <a:r>
              <a:rPr lang="en-GB" b="1" dirty="0"/>
              <a:t>integrity constraint</a:t>
            </a:r>
            <a:r>
              <a:rPr lang="en-GB" dirty="0"/>
              <a:t> is used to guard against accidental damage to the database.</a:t>
            </a:r>
            <a:endParaRPr lang="en-GB" dirty="0" smtClean="0"/>
          </a:p>
          <a:p>
            <a:r>
              <a:rPr lang="en-GB" dirty="0" smtClean="0"/>
              <a:t>Data </a:t>
            </a:r>
            <a:r>
              <a:rPr lang="en-GB" dirty="0"/>
              <a:t>integrity refers to maintaining and assuring the accuracy and consistency of data over its entire life-cycle. </a:t>
            </a:r>
            <a:endParaRPr lang="en-GB" dirty="0" smtClean="0"/>
          </a:p>
          <a:p>
            <a:r>
              <a:rPr lang="en-GB" dirty="0" smtClean="0"/>
              <a:t>Database </a:t>
            </a:r>
            <a:r>
              <a:rPr lang="en-GB" dirty="0"/>
              <a:t>Systems ensure data integrity through constraints which are used to restrict data that can be entered or modified in the database. </a:t>
            </a:r>
            <a:endParaRPr lang="en-GB" dirty="0" smtClean="0"/>
          </a:p>
          <a:p>
            <a:r>
              <a:rPr lang="en-GB" dirty="0" smtClean="0"/>
              <a:t>Database </a:t>
            </a:r>
            <a:r>
              <a:rPr lang="en-GB" dirty="0"/>
              <a:t>Systems offer three types of integrity constraints:</a:t>
            </a:r>
          </a:p>
        </p:txBody>
      </p:sp>
    </p:spTree>
    <p:extLst>
      <p:ext uri="{BB962C8B-B14F-4D97-AF65-F5344CB8AC3E}">
        <p14:creationId xmlns:p14="http://schemas.microsoft.com/office/powerpoint/2010/main" val="331256831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Integrity</a:t>
            </a:r>
            <a:endParaRPr lang="en-GB" dirty="0"/>
          </a:p>
        </p:txBody>
      </p:sp>
      <p:pic>
        <p:nvPicPr>
          <p:cNvPr id="4" name="Content Placeholder 3"/>
          <p:cNvPicPr>
            <a:picLocks noGrp="1" noChangeAspect="1"/>
          </p:cNvPicPr>
          <p:nvPr>
            <p:ph idx="1"/>
          </p:nvPr>
        </p:nvPicPr>
        <p:blipFill>
          <a:blip r:embed="rId2"/>
          <a:stretch>
            <a:fillRect/>
          </a:stretch>
        </p:blipFill>
        <p:spPr>
          <a:xfrm>
            <a:off x="953589" y="1985554"/>
            <a:ext cx="10400211" cy="4611189"/>
          </a:xfrm>
          <a:prstGeom prst="rect">
            <a:avLst/>
          </a:prstGeom>
        </p:spPr>
      </p:pic>
    </p:spTree>
    <p:extLst>
      <p:ext uri="{BB962C8B-B14F-4D97-AF65-F5344CB8AC3E}">
        <p14:creationId xmlns:p14="http://schemas.microsoft.com/office/powerpoint/2010/main" val="345069256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03129077"/>
              </p:ext>
            </p:extLst>
          </p:nvPr>
        </p:nvGraphicFramePr>
        <p:xfrm>
          <a:off x="367936" y="541157"/>
          <a:ext cx="10763795" cy="4867992"/>
        </p:xfrm>
        <a:graphic>
          <a:graphicData uri="http://schemas.openxmlformats.org/drawingml/2006/table">
            <a:tbl>
              <a:tblPr/>
              <a:tblGrid>
                <a:gridCol w="1396744">
                  <a:extLst>
                    <a:ext uri="{9D8B030D-6E8A-4147-A177-3AD203B41FA5}">
                      <a16:colId xmlns:a16="http://schemas.microsoft.com/office/drawing/2014/main" val="333428844"/>
                    </a:ext>
                  </a:extLst>
                </a:gridCol>
                <a:gridCol w="7626664">
                  <a:extLst>
                    <a:ext uri="{9D8B030D-6E8A-4147-A177-3AD203B41FA5}">
                      <a16:colId xmlns:a16="http://schemas.microsoft.com/office/drawing/2014/main" val="2886570364"/>
                    </a:ext>
                  </a:extLst>
                </a:gridCol>
                <a:gridCol w="1740387">
                  <a:extLst>
                    <a:ext uri="{9D8B030D-6E8A-4147-A177-3AD203B41FA5}">
                      <a16:colId xmlns:a16="http://schemas.microsoft.com/office/drawing/2014/main" val="2269607138"/>
                    </a:ext>
                  </a:extLst>
                </a:gridCol>
              </a:tblGrid>
              <a:tr h="875706">
                <a:tc>
                  <a:txBody>
                    <a:bodyPr/>
                    <a:lstStyle/>
                    <a:p>
                      <a:pPr algn="l" fontAlgn="b"/>
                      <a:r>
                        <a:rPr lang="en-GB" sz="2400" dirty="0">
                          <a:effectLst/>
                        </a:rPr>
                        <a:t>Integrity Types</a:t>
                      </a:r>
                    </a:p>
                  </a:txBody>
                  <a:tcPr marL="47625" marR="47625" marT="47625" marB="47625" anchor="b">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0571A"/>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b"/>
                      <a:r>
                        <a:rPr lang="en-GB" sz="2400" dirty="0">
                          <a:effectLst/>
                        </a:rPr>
                        <a:t>Definition</a:t>
                      </a:r>
                    </a:p>
                  </a:txBody>
                  <a:tcPr marL="47625" marR="47625" marT="47625" marB="47625" anchor="b">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A0571A"/>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b"/>
                      <a:r>
                        <a:rPr lang="en-GB" sz="2400">
                          <a:effectLst/>
                        </a:rPr>
                        <a:t>Enforced Through</a:t>
                      </a:r>
                    </a:p>
                  </a:txBody>
                  <a:tcPr marL="47625" marR="47625" marT="47625" marB="47625" anchor="b">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58571A"/>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455039727"/>
                  </a:ext>
                </a:extLst>
              </a:tr>
              <a:tr h="875706">
                <a:tc>
                  <a:txBody>
                    <a:bodyPr/>
                    <a:lstStyle/>
                    <a:p>
                      <a:pPr fontAlgn="t"/>
                      <a:r>
                        <a:rPr lang="en-GB" sz="2400" dirty="0">
                          <a:effectLst/>
                        </a:rPr>
                        <a:t>Entity Integrity</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GB" sz="2400" dirty="0">
                          <a:effectLst/>
                        </a:rPr>
                        <a:t>Each table must have a column or a set of columns through which we can uniquely identify a row. These column(s) cannot have empty (null) values.</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GB" sz="2400">
                          <a:effectLst/>
                        </a:rPr>
                        <a:t>PRIMARY KEY</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101236165"/>
                  </a:ext>
                </a:extLst>
              </a:tr>
              <a:tr h="1621870">
                <a:tc>
                  <a:txBody>
                    <a:bodyPr/>
                    <a:lstStyle/>
                    <a:p>
                      <a:pPr fontAlgn="t"/>
                      <a:r>
                        <a:rPr lang="en-GB" sz="2400">
                          <a:effectLst/>
                        </a:rPr>
                        <a:t>Domain Integrity</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GB" sz="2400" dirty="0">
                          <a:effectLst/>
                        </a:rPr>
                        <a:t>All attributes in a table must have a defined domain i.e. a finite set of values which have to be used. When we assign a data type to a column we limit the values that it can contain. In addition we can also have value restriction as per business rules e.g. Gender must be M or F.</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GB" sz="2400">
                          <a:effectLst/>
                        </a:rPr>
                        <a:t>DATA TYPES,</a:t>
                      </a:r>
                      <a:br>
                        <a:rPr lang="en-GB" sz="2400">
                          <a:effectLst/>
                        </a:rPr>
                      </a:br>
                      <a:r>
                        <a:rPr lang="en-GB" sz="2400">
                          <a:effectLst/>
                        </a:rPr>
                        <a:t>CHECK CONSTRAINT</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202578814"/>
                  </a:ext>
                </a:extLst>
              </a:tr>
              <a:tr h="875706">
                <a:tc>
                  <a:txBody>
                    <a:bodyPr/>
                    <a:lstStyle/>
                    <a:p>
                      <a:pPr fontAlgn="t"/>
                      <a:r>
                        <a:rPr lang="en-GB" sz="2400">
                          <a:effectLst/>
                        </a:rPr>
                        <a:t>Referential Integrity</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GB" sz="2400" dirty="0">
                          <a:effectLst/>
                        </a:rPr>
                        <a:t>Every value of a column in a table must exist as a value of another column in a different (or the same) table.</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GB" sz="2400" dirty="0">
                          <a:effectLst/>
                        </a:rPr>
                        <a:t>FOREIGN KEY</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549967330"/>
                  </a:ext>
                </a:extLst>
              </a:tr>
            </a:tbl>
          </a:graphicData>
        </a:graphic>
      </p:graphicFrame>
    </p:spTree>
    <p:extLst>
      <p:ext uri="{BB962C8B-B14F-4D97-AF65-F5344CB8AC3E}">
        <p14:creationId xmlns:p14="http://schemas.microsoft.com/office/powerpoint/2010/main" val="212047753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Keys</a:t>
            </a:r>
            <a:endParaRPr lang="en-GB" dirty="0"/>
          </a:p>
        </p:txBody>
      </p:sp>
      <p:sp>
        <p:nvSpPr>
          <p:cNvPr id="3" name="Content Placeholder 2"/>
          <p:cNvSpPr>
            <a:spLocks noGrp="1"/>
          </p:cNvSpPr>
          <p:nvPr>
            <p:ph idx="1"/>
          </p:nvPr>
        </p:nvSpPr>
        <p:spPr/>
        <p:txBody>
          <a:bodyPr/>
          <a:lstStyle/>
          <a:p>
            <a:r>
              <a:rPr lang="en-US" dirty="0" smtClean="0"/>
              <a:t>Super Key</a:t>
            </a:r>
          </a:p>
          <a:p>
            <a:r>
              <a:rPr lang="en-US" smtClean="0"/>
              <a:t>Candidate </a:t>
            </a:r>
            <a:r>
              <a:rPr lang="en-US" dirty="0" smtClean="0"/>
              <a:t>Key</a:t>
            </a:r>
          </a:p>
          <a:p>
            <a:r>
              <a:rPr lang="en-US" dirty="0" smtClean="0"/>
              <a:t>Primary Key</a:t>
            </a:r>
          </a:p>
          <a:p>
            <a:endParaRPr lang="en-GB" dirty="0"/>
          </a:p>
        </p:txBody>
      </p:sp>
    </p:spTree>
    <p:extLst>
      <p:ext uri="{BB962C8B-B14F-4D97-AF65-F5344CB8AC3E}">
        <p14:creationId xmlns:p14="http://schemas.microsoft.com/office/powerpoint/2010/main" val="427159342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Super Key</a:t>
            </a:r>
            <a:endParaRPr lang="en-GB" dirty="0"/>
          </a:p>
        </p:txBody>
      </p:sp>
      <p:sp>
        <p:nvSpPr>
          <p:cNvPr id="3" name="Content Placeholder 2"/>
          <p:cNvSpPr>
            <a:spLocks noGrp="1"/>
          </p:cNvSpPr>
          <p:nvPr>
            <p:ph idx="1"/>
          </p:nvPr>
        </p:nvSpPr>
        <p:spPr>
          <a:xfrm>
            <a:off x="793206" y="1526947"/>
            <a:ext cx="10515600" cy="4351338"/>
          </a:xfrm>
        </p:spPr>
        <p:txBody>
          <a:bodyPr>
            <a:normAutofit/>
          </a:bodyPr>
          <a:lstStyle/>
          <a:p>
            <a:r>
              <a:rPr lang="en-GB" dirty="0"/>
              <a:t>A super key is a set of one or more attributes (columns), which can uniquely identify a row in a table. </a:t>
            </a:r>
            <a:endParaRPr lang="en-GB" dirty="0" smtClean="0"/>
          </a:p>
          <a:p>
            <a:r>
              <a:rPr lang="en-GB" dirty="0" smtClean="0"/>
              <a:t>Often</a:t>
            </a:r>
            <a:r>
              <a:rPr lang="en-GB" dirty="0"/>
              <a:t> </a:t>
            </a:r>
            <a:r>
              <a:rPr lang="en-GB" b="1" dirty="0"/>
              <a:t>DBMS beginners</a:t>
            </a:r>
            <a:r>
              <a:rPr lang="en-GB" dirty="0"/>
              <a:t> get confused between super key and </a:t>
            </a:r>
            <a:r>
              <a:rPr lang="en-GB" b="1" dirty="0"/>
              <a:t>candidate </a:t>
            </a:r>
            <a:r>
              <a:rPr lang="en-GB" b="1" dirty="0" smtClean="0"/>
              <a:t>key</a:t>
            </a:r>
          </a:p>
          <a:p>
            <a:r>
              <a:rPr lang="en-GB" dirty="0"/>
              <a:t>Let’s take an example to understand this:</a:t>
            </a:r>
          </a:p>
          <a:p>
            <a:r>
              <a:rPr lang="en-GB" dirty="0"/>
              <a:t>Table: </a:t>
            </a:r>
            <a:r>
              <a:rPr lang="en-GB" dirty="0" smtClean="0"/>
              <a:t>Employee</a:t>
            </a:r>
          </a:p>
        </p:txBody>
      </p:sp>
      <p:graphicFrame>
        <p:nvGraphicFramePr>
          <p:cNvPr id="5" name="Table 4"/>
          <p:cNvGraphicFramePr>
            <a:graphicFrameLocks noGrp="1"/>
          </p:cNvGraphicFramePr>
          <p:nvPr>
            <p:extLst>
              <p:ext uri="{D42A27DB-BD31-4B8C-83A1-F6EECF244321}">
                <p14:modId xmlns:p14="http://schemas.microsoft.com/office/powerpoint/2010/main" val="1349815998"/>
              </p:ext>
            </p:extLst>
          </p:nvPr>
        </p:nvGraphicFramePr>
        <p:xfrm>
          <a:off x="2711269" y="4560146"/>
          <a:ext cx="8127999" cy="1958848"/>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143668064"/>
                    </a:ext>
                  </a:extLst>
                </a:gridCol>
                <a:gridCol w="2709333">
                  <a:extLst>
                    <a:ext uri="{9D8B030D-6E8A-4147-A177-3AD203B41FA5}">
                      <a16:colId xmlns:a16="http://schemas.microsoft.com/office/drawing/2014/main" val="2116920320"/>
                    </a:ext>
                  </a:extLst>
                </a:gridCol>
                <a:gridCol w="2709333">
                  <a:extLst>
                    <a:ext uri="{9D8B030D-6E8A-4147-A177-3AD203B41FA5}">
                      <a16:colId xmlns:a16="http://schemas.microsoft.com/office/drawing/2014/main" val="2759781184"/>
                    </a:ext>
                  </a:extLst>
                </a:gridCol>
              </a:tblGrid>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800" b="0" i="0" u="none" strike="noStrike" kern="1200" cap="none" spc="0" normalizeH="0" baseline="0" noProof="0" dirty="0" smtClean="0">
                          <a:ln>
                            <a:noFill/>
                          </a:ln>
                          <a:solidFill>
                            <a:prstClr val="black"/>
                          </a:solidFill>
                          <a:effectLst/>
                          <a:uLnTx/>
                          <a:uFillTx/>
                          <a:latin typeface="Calibri" panose="020F0502020204030204"/>
                          <a:ea typeface="+mn-ea"/>
                          <a:cs typeface="+mn-cs"/>
                        </a:rPr>
                        <a:t>Emp_SSN</a:t>
                      </a:r>
                      <a:endPar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800" b="0" i="0" u="none" strike="noStrike" kern="1200" cap="none" spc="0" normalizeH="0" baseline="0" noProof="0" dirty="0" smtClean="0">
                          <a:ln>
                            <a:noFill/>
                          </a:ln>
                          <a:solidFill>
                            <a:prstClr val="black"/>
                          </a:solidFill>
                          <a:effectLst/>
                          <a:uLnTx/>
                          <a:uFillTx/>
                          <a:latin typeface="Calibri" panose="020F0502020204030204"/>
                          <a:ea typeface="+mn-ea"/>
                          <a:cs typeface="+mn-cs"/>
                        </a:rPr>
                        <a:t>Emp_Number</a:t>
                      </a:r>
                      <a:endPar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800" b="0" i="0" u="none" strike="noStrike" kern="1200" cap="none" spc="0" normalizeH="0" baseline="0" noProof="0" dirty="0" smtClean="0">
                          <a:ln>
                            <a:noFill/>
                          </a:ln>
                          <a:solidFill>
                            <a:prstClr val="black"/>
                          </a:solidFill>
                          <a:effectLst/>
                          <a:uLnTx/>
                          <a:uFillTx/>
                          <a:latin typeface="Calibri" panose="020F0502020204030204"/>
                          <a:ea typeface="+mn-ea"/>
                          <a:cs typeface="+mn-cs"/>
                        </a:rPr>
                        <a:t>Emp_Name</a:t>
                      </a:r>
                      <a:endPar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3733578813"/>
                  </a:ext>
                </a:extLst>
              </a:tr>
              <a:tr h="370840">
                <a:tc>
                  <a:txBody>
                    <a:bodyPr/>
                    <a:lstStyle/>
                    <a:p>
                      <a:r>
                        <a:rPr lang="en-GB" dirty="0" smtClean="0"/>
                        <a:t>123456789</a:t>
                      </a:r>
                      <a:endParaRPr lang="en-GB" dirty="0"/>
                    </a:p>
                  </a:txBody>
                  <a:tcPr/>
                </a:tc>
                <a:tc>
                  <a:txBody>
                    <a:bodyPr/>
                    <a:lstStyle/>
                    <a:p>
                      <a:r>
                        <a:rPr lang="en-US" dirty="0" smtClean="0"/>
                        <a:t>226227</a:t>
                      </a:r>
                      <a:endParaRPr lang="en-GB" dirty="0"/>
                    </a:p>
                  </a:txBody>
                  <a:tcPr/>
                </a:tc>
                <a:tc>
                  <a:txBody>
                    <a:bodyPr/>
                    <a:lstStyle/>
                    <a:p>
                      <a:r>
                        <a:rPr lang="en-US" dirty="0" smtClean="0"/>
                        <a:t>Steve</a:t>
                      </a:r>
                      <a:endParaRPr lang="en-GB" dirty="0"/>
                    </a:p>
                  </a:txBody>
                  <a:tcPr/>
                </a:tc>
                <a:extLst>
                  <a:ext uri="{0D108BD9-81ED-4DB2-BD59-A6C34878D82A}">
                    <a16:rowId xmlns:a16="http://schemas.microsoft.com/office/drawing/2014/main" val="484551852"/>
                  </a:ext>
                </a:extLst>
              </a:tr>
              <a:tr h="370840">
                <a:tc>
                  <a:txBody>
                    <a:bodyPr/>
                    <a:lstStyle/>
                    <a:p>
                      <a:r>
                        <a:rPr lang="en-GB" dirty="0" smtClean="0"/>
                        <a:t>999999321</a:t>
                      </a:r>
                      <a:endParaRPr lang="en-GB" dirty="0"/>
                    </a:p>
                  </a:txBody>
                  <a:tcPr/>
                </a:tc>
                <a:tc>
                  <a:txBody>
                    <a:bodyPr/>
                    <a:lstStyle/>
                    <a:p>
                      <a:r>
                        <a:rPr lang="en-US" dirty="0" smtClean="0"/>
                        <a:t>227</a:t>
                      </a:r>
                      <a:endParaRPr lang="en-GB" dirty="0"/>
                    </a:p>
                  </a:txBody>
                  <a:tcPr/>
                </a:tc>
                <a:tc>
                  <a:txBody>
                    <a:bodyPr/>
                    <a:lstStyle/>
                    <a:p>
                      <a:r>
                        <a:rPr lang="en-US" dirty="0" smtClean="0"/>
                        <a:t>Ajeet</a:t>
                      </a:r>
                      <a:endParaRPr lang="en-GB" dirty="0"/>
                    </a:p>
                  </a:txBody>
                  <a:tcPr/>
                </a:tc>
                <a:extLst>
                  <a:ext uri="{0D108BD9-81ED-4DB2-BD59-A6C34878D82A}">
                    <a16:rowId xmlns:a16="http://schemas.microsoft.com/office/drawing/2014/main" val="2454720827"/>
                  </a:ext>
                </a:extLst>
              </a:tr>
              <a:tr h="370840">
                <a:tc>
                  <a:txBody>
                    <a:bodyPr/>
                    <a:lstStyle/>
                    <a:p>
                      <a:r>
                        <a:rPr lang="en-GB" dirty="0" smtClean="0"/>
                        <a:t>999999322</a:t>
                      </a:r>
                      <a:endParaRPr lang="en-GB" dirty="0"/>
                    </a:p>
                  </a:txBody>
                  <a:tcPr/>
                </a:tc>
                <a:tc>
                  <a:txBody>
                    <a:bodyPr/>
                    <a:lstStyle/>
                    <a:p>
                      <a:r>
                        <a:rPr lang="en-US" dirty="0" smtClean="0"/>
                        <a:t>228</a:t>
                      </a:r>
                      <a:endParaRPr lang="en-GB" dirty="0"/>
                    </a:p>
                  </a:txBody>
                  <a:tcPr/>
                </a:tc>
                <a:tc>
                  <a:txBody>
                    <a:bodyPr/>
                    <a:lstStyle/>
                    <a:p>
                      <a:r>
                        <a:rPr lang="en-US" dirty="0" smtClean="0"/>
                        <a:t>Chaitanya</a:t>
                      </a:r>
                      <a:endParaRPr lang="en-GB" dirty="0"/>
                    </a:p>
                  </a:txBody>
                  <a:tcPr/>
                </a:tc>
                <a:extLst>
                  <a:ext uri="{0D108BD9-81ED-4DB2-BD59-A6C34878D82A}">
                    <a16:rowId xmlns:a16="http://schemas.microsoft.com/office/drawing/2014/main" val="502554539"/>
                  </a:ext>
                </a:extLst>
              </a:tr>
              <a:tr h="370840">
                <a:tc>
                  <a:txBody>
                    <a:bodyPr/>
                    <a:lstStyle/>
                    <a:p>
                      <a:r>
                        <a:rPr lang="en-GB" dirty="0" smtClean="0"/>
                        <a:t>777778888</a:t>
                      </a:r>
                      <a:endParaRPr lang="en-GB" dirty="0"/>
                    </a:p>
                  </a:txBody>
                  <a:tcPr/>
                </a:tc>
                <a:tc>
                  <a:txBody>
                    <a:bodyPr/>
                    <a:lstStyle/>
                    <a:p>
                      <a:r>
                        <a:rPr lang="en-US" dirty="0" smtClean="0"/>
                        <a:t>229</a:t>
                      </a:r>
                      <a:endParaRPr lang="en-GB" dirty="0"/>
                    </a:p>
                  </a:txBody>
                  <a:tcPr/>
                </a:tc>
                <a:tc>
                  <a:txBody>
                    <a:bodyPr/>
                    <a:lstStyle/>
                    <a:p>
                      <a:r>
                        <a:rPr lang="en-US" dirty="0" smtClean="0"/>
                        <a:t>Robert</a:t>
                      </a:r>
                      <a:endParaRPr lang="en-GB" dirty="0"/>
                    </a:p>
                  </a:txBody>
                  <a:tcPr/>
                </a:tc>
                <a:extLst>
                  <a:ext uri="{0D108BD9-81ED-4DB2-BD59-A6C34878D82A}">
                    <a16:rowId xmlns:a16="http://schemas.microsoft.com/office/drawing/2014/main" val="2299825980"/>
                  </a:ext>
                </a:extLst>
              </a:tr>
            </a:tbl>
          </a:graphicData>
        </a:graphic>
      </p:graphicFrame>
    </p:spTree>
    <p:extLst>
      <p:ext uri="{BB962C8B-B14F-4D97-AF65-F5344CB8AC3E}">
        <p14:creationId xmlns:p14="http://schemas.microsoft.com/office/powerpoint/2010/main" val="7343016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b="1" dirty="0"/>
              <a:t>Super keys</a:t>
            </a:r>
            <a:r>
              <a:rPr lang="en-GB" dirty="0" smtClean="0"/>
              <a:t>: </a:t>
            </a:r>
            <a:r>
              <a:rPr lang="en-GB" dirty="0"/>
              <a:t>All of the following sets of super key are able to uniquely identify a row of the employee table</a:t>
            </a:r>
            <a:r>
              <a:rPr lang="en-GB" dirty="0" smtClean="0"/>
              <a:t>.</a:t>
            </a:r>
          </a:p>
          <a:p>
            <a:r>
              <a:rPr lang="en-GB" dirty="0"/>
              <a:t>{Emp_SSN}</a:t>
            </a:r>
          </a:p>
          <a:p>
            <a:r>
              <a:rPr lang="en-GB" dirty="0"/>
              <a:t>{Emp_Number}</a:t>
            </a:r>
          </a:p>
          <a:p>
            <a:r>
              <a:rPr lang="en-GB" dirty="0"/>
              <a:t>{Emp_SSN, Emp_Number}</a:t>
            </a:r>
          </a:p>
          <a:p>
            <a:r>
              <a:rPr lang="en-GB" dirty="0"/>
              <a:t>{Emp_SSN, Emp_Name}</a:t>
            </a:r>
          </a:p>
          <a:p>
            <a:r>
              <a:rPr lang="en-GB" dirty="0"/>
              <a:t>{Emp_SSN, Emp_Number, Emp_Name}</a:t>
            </a:r>
          </a:p>
          <a:p>
            <a:r>
              <a:rPr lang="en-GB" dirty="0"/>
              <a:t>{Emp_Number, Emp_Name</a:t>
            </a:r>
            <a:r>
              <a:rPr lang="en-GB" dirty="0" smtClean="0"/>
              <a:t>}</a:t>
            </a:r>
            <a:endParaRPr lang="en-GB" dirty="0"/>
          </a:p>
        </p:txBody>
      </p:sp>
    </p:spTree>
    <p:extLst>
      <p:ext uri="{BB962C8B-B14F-4D97-AF65-F5344CB8AC3E}">
        <p14:creationId xmlns:p14="http://schemas.microsoft.com/office/powerpoint/2010/main" val="426996215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r>
              <a:rPr lang="en-GB" dirty="0"/>
              <a:t>1. {</a:t>
            </a:r>
            <a:r>
              <a:rPr lang="en-GB" dirty="0" err="1"/>
              <a:t>Emp_Id</a:t>
            </a:r>
            <a:r>
              <a:rPr lang="en-GB" dirty="0"/>
              <a:t>} – No redundant </a:t>
            </a:r>
            <a:r>
              <a:rPr lang="en-GB" dirty="0" smtClean="0"/>
              <a:t>attribute</a:t>
            </a:r>
          </a:p>
          <a:p>
            <a:r>
              <a:rPr lang="en-GB" dirty="0" smtClean="0"/>
              <a:t>2</a:t>
            </a:r>
            <a:r>
              <a:rPr lang="en-GB" dirty="0"/>
              <a:t>. {Emp_Number} – No redundant </a:t>
            </a:r>
            <a:r>
              <a:rPr lang="en-GB" dirty="0" smtClean="0"/>
              <a:t>attributes</a:t>
            </a:r>
          </a:p>
          <a:p>
            <a:r>
              <a:rPr lang="en-GB" dirty="0" smtClean="0"/>
              <a:t>3</a:t>
            </a:r>
            <a:r>
              <a:rPr lang="en-GB" dirty="0"/>
              <a:t>. {</a:t>
            </a:r>
            <a:r>
              <a:rPr lang="en-GB" dirty="0" err="1"/>
              <a:t>Emp_Id</a:t>
            </a:r>
            <a:r>
              <a:rPr lang="en-GB" dirty="0"/>
              <a:t>, Emp_Number} – </a:t>
            </a:r>
            <a:r>
              <a:rPr lang="en-GB" dirty="0" smtClean="0"/>
              <a:t>No  Redundant </a:t>
            </a:r>
            <a:r>
              <a:rPr lang="en-GB" dirty="0"/>
              <a:t>attribute. Either of those attributes can be a minimal super key as both of these columns have unique </a:t>
            </a:r>
            <a:r>
              <a:rPr lang="en-GB" dirty="0" smtClean="0"/>
              <a:t>values.</a:t>
            </a:r>
          </a:p>
          <a:p>
            <a:r>
              <a:rPr lang="en-GB" dirty="0" smtClean="0"/>
              <a:t>4</a:t>
            </a:r>
            <a:r>
              <a:rPr lang="en-GB" dirty="0"/>
              <a:t>. {</a:t>
            </a:r>
            <a:r>
              <a:rPr lang="en-GB" dirty="0" err="1"/>
              <a:t>Emp_Id</a:t>
            </a:r>
            <a:r>
              <a:rPr lang="en-GB" dirty="0"/>
              <a:t>, Emp_Name} – Redundant attribute </a:t>
            </a:r>
            <a:r>
              <a:rPr lang="en-GB" dirty="0" smtClean="0"/>
              <a:t>Emp_Name</a:t>
            </a:r>
          </a:p>
          <a:p>
            <a:r>
              <a:rPr lang="en-GB" dirty="0" smtClean="0"/>
              <a:t>5</a:t>
            </a:r>
            <a:r>
              <a:rPr lang="en-GB" dirty="0"/>
              <a:t>. {</a:t>
            </a:r>
            <a:r>
              <a:rPr lang="en-GB" dirty="0" err="1"/>
              <a:t>Emp_Id</a:t>
            </a:r>
            <a:r>
              <a:rPr lang="en-GB" dirty="0"/>
              <a:t>, Emp_Number, Emp_Name} – Redundant attributes. </a:t>
            </a:r>
            <a:r>
              <a:rPr lang="en-GB" dirty="0" err="1"/>
              <a:t>Emp_Id</a:t>
            </a:r>
            <a:r>
              <a:rPr lang="en-GB" dirty="0"/>
              <a:t> or Emp_Number alone are sufficient enough to uniquely identify a row of Employee </a:t>
            </a:r>
            <a:r>
              <a:rPr lang="en-GB" dirty="0" smtClean="0"/>
              <a:t>table</a:t>
            </a:r>
          </a:p>
          <a:p>
            <a:r>
              <a:rPr lang="en-GB" dirty="0" smtClean="0"/>
              <a:t>6</a:t>
            </a:r>
            <a:r>
              <a:rPr lang="en-GB" dirty="0"/>
              <a:t>. {Emp_Number, Emp_Name} – Redundant attribute Emp_Name.</a:t>
            </a:r>
          </a:p>
        </p:txBody>
      </p:sp>
    </p:spTree>
    <p:extLst>
      <p:ext uri="{BB962C8B-B14F-4D97-AF65-F5344CB8AC3E}">
        <p14:creationId xmlns:p14="http://schemas.microsoft.com/office/powerpoint/2010/main" val="24711781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 A </a:t>
            </a:r>
            <a:r>
              <a:rPr lang="en-GB" b="1" dirty="0"/>
              <a:t>super key</a:t>
            </a:r>
            <a:r>
              <a:rPr lang="en-GB" dirty="0"/>
              <a:t> with no redundant attribute is known as candidate key. </a:t>
            </a:r>
            <a:endParaRPr lang="en-GB" dirty="0" smtClean="0"/>
          </a:p>
          <a:p>
            <a:r>
              <a:rPr lang="en-GB" dirty="0" smtClean="0"/>
              <a:t>Candidate </a:t>
            </a:r>
            <a:r>
              <a:rPr lang="en-GB" dirty="0"/>
              <a:t>keys are selected from the set of super keys, the only thing we take care while selecting candidate key is that the candidate key should not have any redundant attributes. </a:t>
            </a:r>
            <a:endParaRPr lang="en-GB" dirty="0" smtClean="0"/>
          </a:p>
          <a:p>
            <a:r>
              <a:rPr lang="en-GB" dirty="0" smtClean="0"/>
              <a:t>That’s </a:t>
            </a:r>
            <a:r>
              <a:rPr lang="en-GB" dirty="0"/>
              <a:t>the reason they are also termed as minimal super </a:t>
            </a:r>
            <a:r>
              <a:rPr lang="en-GB" dirty="0" smtClean="0"/>
              <a:t>key</a:t>
            </a:r>
          </a:p>
          <a:p>
            <a:endParaRPr lang="en-US" dirty="0"/>
          </a:p>
          <a:p>
            <a:r>
              <a:rPr lang="en-GB" dirty="0"/>
              <a:t>A </a:t>
            </a:r>
            <a:r>
              <a:rPr lang="en-GB" b="1" dirty="0"/>
              <a:t>Candidate Key</a:t>
            </a:r>
            <a:r>
              <a:rPr lang="en-GB" dirty="0"/>
              <a:t> is a minimal set of columns/attributes that can be used to </a:t>
            </a:r>
            <a:r>
              <a:rPr lang="en-GB" b="1" dirty="0"/>
              <a:t>uniquely</a:t>
            </a:r>
            <a:r>
              <a:rPr lang="en-GB" dirty="0"/>
              <a:t> identify a single tuple in a relation. </a:t>
            </a:r>
          </a:p>
          <a:p>
            <a:endParaRPr lang="en-GB" dirty="0"/>
          </a:p>
        </p:txBody>
      </p:sp>
    </p:spTree>
    <p:extLst>
      <p:ext uri="{BB962C8B-B14F-4D97-AF65-F5344CB8AC3E}">
        <p14:creationId xmlns:p14="http://schemas.microsoft.com/office/powerpoint/2010/main" val="225651467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Lets select the candidate keys from the above set of super keys.</a:t>
            </a:r>
          </a:p>
        </p:txBody>
      </p:sp>
      <p:sp>
        <p:nvSpPr>
          <p:cNvPr id="3" name="Content Placeholder 2"/>
          <p:cNvSpPr>
            <a:spLocks noGrp="1"/>
          </p:cNvSpPr>
          <p:nvPr>
            <p:ph idx="1"/>
          </p:nvPr>
        </p:nvSpPr>
        <p:spPr/>
        <p:txBody>
          <a:bodyPr/>
          <a:lstStyle/>
          <a:p>
            <a:r>
              <a:rPr lang="en-GB" dirty="0"/>
              <a:t>The </a:t>
            </a:r>
            <a:r>
              <a:rPr lang="en-GB" b="1" dirty="0"/>
              <a:t>candidate keys</a:t>
            </a:r>
            <a:r>
              <a:rPr lang="en-GB" dirty="0"/>
              <a:t> we have selected are:</a:t>
            </a:r>
            <a:br>
              <a:rPr lang="en-GB" dirty="0"/>
            </a:br>
            <a:r>
              <a:rPr lang="en-GB" dirty="0"/>
              <a:t>{</a:t>
            </a:r>
            <a:r>
              <a:rPr lang="en-GB" dirty="0" err="1"/>
              <a:t>Emp_Id</a:t>
            </a:r>
            <a:r>
              <a:rPr lang="en-GB" dirty="0"/>
              <a:t>}</a:t>
            </a:r>
            <a:br>
              <a:rPr lang="en-GB" dirty="0"/>
            </a:br>
            <a:r>
              <a:rPr lang="en-GB" dirty="0"/>
              <a:t>{Emp_Number}</a:t>
            </a:r>
          </a:p>
        </p:txBody>
      </p:sp>
    </p:spTree>
    <p:extLst>
      <p:ext uri="{BB962C8B-B14F-4D97-AF65-F5344CB8AC3E}">
        <p14:creationId xmlns:p14="http://schemas.microsoft.com/office/powerpoint/2010/main" val="94060062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2222"/>
          </a:xfrm>
        </p:spPr>
        <p:txBody>
          <a:bodyPr>
            <a:normAutofit fontScale="90000"/>
          </a:bodyPr>
          <a:lstStyle/>
          <a:p>
            <a:r>
              <a:rPr lang="en-US" dirty="0" smtClean="0"/>
              <a:t>Primary key</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39603331"/>
              </p:ext>
            </p:extLst>
          </p:nvPr>
        </p:nvGraphicFramePr>
        <p:xfrm>
          <a:off x="1163846" y="4413590"/>
          <a:ext cx="10097588" cy="2026398"/>
        </p:xfrm>
        <a:graphic>
          <a:graphicData uri="http://schemas.openxmlformats.org/drawingml/2006/table">
            <a:tbl>
              <a:tblPr/>
              <a:tblGrid>
                <a:gridCol w="4039036">
                  <a:extLst>
                    <a:ext uri="{9D8B030D-6E8A-4147-A177-3AD203B41FA5}">
                      <a16:colId xmlns:a16="http://schemas.microsoft.com/office/drawing/2014/main" val="886236446"/>
                    </a:ext>
                  </a:extLst>
                </a:gridCol>
                <a:gridCol w="6058552">
                  <a:extLst>
                    <a:ext uri="{9D8B030D-6E8A-4147-A177-3AD203B41FA5}">
                      <a16:colId xmlns:a16="http://schemas.microsoft.com/office/drawing/2014/main" val="3998401311"/>
                    </a:ext>
                  </a:extLst>
                </a:gridCol>
              </a:tblGrid>
              <a:tr h="675466">
                <a:tc>
                  <a:txBody>
                    <a:bodyPr/>
                    <a:lstStyle/>
                    <a:p>
                      <a:pPr algn="l" fontAlgn="b"/>
                      <a:r>
                        <a:rPr lang="en-GB" dirty="0">
                          <a:effectLst/>
                        </a:rPr>
                        <a:t>Mandatory</a:t>
                      </a:r>
                    </a:p>
                  </a:txBody>
                  <a:tcPr marL="47625" marR="47625" marT="47625" marB="47625" anchor="b">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A0AD17"/>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b"/>
                      <a:r>
                        <a:rPr lang="en-GB" dirty="0">
                          <a:effectLst/>
                        </a:rPr>
                        <a:t>Desired</a:t>
                      </a:r>
                    </a:p>
                  </a:txBody>
                  <a:tcPr marL="47625" marR="47625" marT="47625" marB="47625" anchor="b">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58AD17"/>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006004354"/>
                  </a:ext>
                </a:extLst>
              </a:tr>
              <a:tr h="675466">
                <a:tc>
                  <a:txBody>
                    <a:bodyPr/>
                    <a:lstStyle/>
                    <a:p>
                      <a:pPr fontAlgn="t"/>
                      <a:r>
                        <a:rPr lang="en-GB" dirty="0">
                          <a:effectLst/>
                        </a:rPr>
                        <a:t>must uniquely identify a tuple</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GB" dirty="0">
                          <a:effectLst/>
                        </a:rPr>
                        <a:t>should not change with time</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511995766"/>
                  </a:ext>
                </a:extLst>
              </a:tr>
              <a:tr h="675466">
                <a:tc>
                  <a:txBody>
                    <a:bodyPr/>
                    <a:lstStyle/>
                    <a:p>
                      <a:pPr fontAlgn="t"/>
                      <a:r>
                        <a:rPr lang="en-GB" dirty="0">
                          <a:effectLst/>
                        </a:rPr>
                        <a:t>must not allow NULL values</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GB" dirty="0">
                          <a:effectLst/>
                        </a:rPr>
                        <a:t>should have short size e.g. numeric data types</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406023303"/>
                  </a:ext>
                </a:extLst>
              </a:tr>
            </a:tbl>
          </a:graphicData>
        </a:graphic>
      </p:graphicFrame>
      <p:sp>
        <p:nvSpPr>
          <p:cNvPr id="5"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Title 1"/>
          <p:cNvSpPr txBox="1">
            <a:spLocks/>
          </p:cNvSpPr>
          <p:nvPr/>
        </p:nvSpPr>
        <p:spPr>
          <a:xfrm>
            <a:off x="745834" y="1410788"/>
            <a:ext cx="10515600" cy="3213463"/>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just" eaLnBrk="0" fontAlgn="base" hangingPunct="0">
              <a:lnSpc>
                <a:spcPct val="100000"/>
              </a:lnSpc>
              <a:spcAft>
                <a:spcPct val="0"/>
              </a:spcAft>
            </a:pPr>
            <a:r>
              <a:rPr lang="en-US" altLang="en-US" b="1" dirty="0" smtClean="0">
                <a:solidFill>
                  <a:srgbClr val="333333"/>
                </a:solidFill>
              </a:rPr>
              <a:t>Primary key</a:t>
            </a:r>
            <a:r>
              <a:rPr lang="en-US" altLang="en-US" dirty="0" smtClean="0">
                <a:solidFill>
                  <a:srgbClr val="333333"/>
                </a:solidFill>
              </a:rPr>
              <a:t> is the candidate key that is selected to uniquely identify a tuple in a relation. </a:t>
            </a:r>
          </a:p>
          <a:p>
            <a:pPr lvl="0" algn="just" eaLnBrk="0" fontAlgn="base" hangingPunct="0">
              <a:lnSpc>
                <a:spcPct val="100000"/>
              </a:lnSpc>
              <a:spcAft>
                <a:spcPct val="0"/>
              </a:spcAft>
            </a:pPr>
            <a:endParaRPr lang="en-US" altLang="en-US" dirty="0">
              <a:solidFill>
                <a:srgbClr val="333333"/>
              </a:solidFill>
            </a:endParaRPr>
          </a:p>
          <a:p>
            <a:pPr algn="just" eaLnBrk="0" fontAlgn="base" hangingPunct="0">
              <a:lnSpc>
                <a:spcPct val="100000"/>
              </a:lnSpc>
              <a:spcAft>
                <a:spcPct val="0"/>
              </a:spcAft>
            </a:pPr>
            <a:r>
              <a:rPr lang="en-GB" dirty="0"/>
              <a:t>A </a:t>
            </a:r>
            <a:r>
              <a:rPr lang="en-GB" b="1" dirty="0"/>
              <a:t>primary key</a:t>
            </a:r>
            <a:r>
              <a:rPr lang="en-GB" dirty="0"/>
              <a:t> is a minimal set of attributes (columns) in a table that uniquely identifies tuples (rows) in that table.</a:t>
            </a:r>
          </a:p>
          <a:p>
            <a:pPr lvl="0" algn="just" eaLnBrk="0" fontAlgn="base" hangingPunct="0">
              <a:lnSpc>
                <a:spcPct val="100000"/>
              </a:lnSpc>
              <a:spcAft>
                <a:spcPct val="0"/>
              </a:spcAft>
            </a:pPr>
            <a:endParaRPr lang="en-US" altLang="en-US" dirty="0" smtClean="0">
              <a:solidFill>
                <a:srgbClr val="333333"/>
              </a:solidFill>
            </a:endParaRPr>
          </a:p>
          <a:p>
            <a:pPr lvl="0" algn="just" eaLnBrk="0" fontAlgn="base" hangingPunct="0">
              <a:lnSpc>
                <a:spcPct val="100000"/>
              </a:lnSpc>
              <a:spcAft>
                <a:spcPct val="0"/>
              </a:spcAft>
            </a:pPr>
            <a:r>
              <a:rPr lang="en-GB" dirty="0" smtClean="0">
                <a:solidFill>
                  <a:srgbClr val="222426"/>
                </a:solidFill>
              </a:rPr>
              <a:t>A </a:t>
            </a:r>
            <a:r>
              <a:rPr lang="en-GB" b="1" dirty="0" smtClean="0">
                <a:solidFill>
                  <a:srgbClr val="7DC246"/>
                </a:solidFill>
              </a:rPr>
              <a:t>primary </a:t>
            </a:r>
            <a:r>
              <a:rPr lang="en-GB" b="1" dirty="0">
                <a:solidFill>
                  <a:srgbClr val="7DC246"/>
                </a:solidFill>
              </a:rPr>
              <a:t>key</a:t>
            </a:r>
            <a:r>
              <a:rPr lang="en-GB" dirty="0">
                <a:solidFill>
                  <a:srgbClr val="222426"/>
                </a:solidFill>
              </a:rPr>
              <a:t> is selected from the set of candidate keys. That means we can either have </a:t>
            </a:r>
            <a:r>
              <a:rPr lang="en-GB" dirty="0" err="1">
                <a:solidFill>
                  <a:srgbClr val="222426"/>
                </a:solidFill>
              </a:rPr>
              <a:t>Emp_Id</a:t>
            </a:r>
            <a:r>
              <a:rPr lang="en-GB" dirty="0">
                <a:solidFill>
                  <a:srgbClr val="222426"/>
                </a:solidFill>
              </a:rPr>
              <a:t> or Emp_Number as primary key. The decision is made by DBA (Database administrator)</a:t>
            </a:r>
            <a:endParaRPr lang="en-US" altLang="en-US" dirty="0" smtClean="0">
              <a:solidFill>
                <a:srgbClr val="333333"/>
              </a:solidFill>
            </a:endParaRPr>
          </a:p>
          <a:p>
            <a:pPr lvl="0" algn="just" eaLnBrk="0" fontAlgn="base" hangingPunct="0">
              <a:lnSpc>
                <a:spcPct val="100000"/>
              </a:lnSpc>
              <a:spcAft>
                <a:spcPct val="0"/>
              </a:spcAft>
            </a:pPr>
            <a:endParaRPr lang="en-US" altLang="en-US" sz="5400" dirty="0">
              <a:latin typeface="Arial" panose="020B0604020202020204" pitchFamily="34" charset="0"/>
            </a:endParaRPr>
          </a:p>
        </p:txBody>
      </p:sp>
    </p:spTree>
    <p:extLst>
      <p:ext uri="{BB962C8B-B14F-4D97-AF65-F5344CB8AC3E}">
        <p14:creationId xmlns:p14="http://schemas.microsoft.com/office/powerpoint/2010/main" val="196085366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Primary Key Example in </a:t>
            </a:r>
            <a:r>
              <a:rPr lang="en-GB" b="1" dirty="0" smtClean="0"/>
              <a:t>DBMS</a:t>
            </a:r>
            <a:endParaRPr lang="en-GB" dirty="0"/>
          </a:p>
        </p:txBody>
      </p:sp>
      <p:sp>
        <p:nvSpPr>
          <p:cNvPr id="3" name="Content Placeholder 2"/>
          <p:cNvSpPr>
            <a:spLocks noGrp="1"/>
          </p:cNvSpPr>
          <p:nvPr>
            <p:ph idx="1"/>
          </p:nvPr>
        </p:nvSpPr>
        <p:spPr/>
        <p:txBody>
          <a:bodyPr>
            <a:normAutofit/>
          </a:bodyPr>
          <a:lstStyle/>
          <a:p>
            <a:r>
              <a:rPr lang="en-GB" dirty="0"/>
              <a:t>Lets take an example to understand the concept of primary key. In the following table, there are three attributes: </a:t>
            </a:r>
            <a:r>
              <a:rPr lang="en-GB" dirty="0" err="1"/>
              <a:t>Stu_ID</a:t>
            </a:r>
            <a:r>
              <a:rPr lang="en-GB" dirty="0"/>
              <a:t>, </a:t>
            </a:r>
            <a:r>
              <a:rPr lang="en-GB" dirty="0" err="1"/>
              <a:t>Stu_Name</a:t>
            </a:r>
            <a:r>
              <a:rPr lang="en-GB" dirty="0"/>
              <a:t> &amp; </a:t>
            </a:r>
            <a:r>
              <a:rPr lang="en-GB" dirty="0" err="1"/>
              <a:t>Stu_Age</a:t>
            </a:r>
            <a:r>
              <a:rPr lang="en-GB" dirty="0"/>
              <a:t>. Out of these three attributes, one attribute or a set of more than one attributes can be a primary key.</a:t>
            </a:r>
          </a:p>
          <a:p>
            <a:r>
              <a:rPr lang="en-GB" dirty="0" smtClean="0"/>
              <a:t>Attribute </a:t>
            </a:r>
            <a:r>
              <a:rPr lang="en-GB" dirty="0" err="1"/>
              <a:t>Stu_Name</a:t>
            </a:r>
            <a:r>
              <a:rPr lang="en-GB" dirty="0"/>
              <a:t> alone cannot be a primary key as more than one students can have same name.</a:t>
            </a:r>
          </a:p>
          <a:p>
            <a:r>
              <a:rPr lang="en-GB" dirty="0" smtClean="0"/>
              <a:t>Attribute </a:t>
            </a:r>
            <a:r>
              <a:rPr lang="en-GB" dirty="0" err="1"/>
              <a:t>Stu_Age</a:t>
            </a:r>
            <a:r>
              <a:rPr lang="en-GB" dirty="0"/>
              <a:t> alone cannot be a primary key as more than one students can have same age</a:t>
            </a:r>
            <a:r>
              <a:rPr lang="en-GB" dirty="0" smtClean="0"/>
              <a:t>.</a:t>
            </a:r>
          </a:p>
          <a:p>
            <a:r>
              <a:rPr lang="en-GB" dirty="0" smtClean="0"/>
              <a:t>Attribute </a:t>
            </a:r>
            <a:r>
              <a:rPr lang="en-GB" dirty="0" err="1"/>
              <a:t>Stu_Id</a:t>
            </a:r>
            <a:r>
              <a:rPr lang="en-GB" dirty="0"/>
              <a:t> alone is a primary key as each student has a unique id that can identify the student record in the table.</a:t>
            </a:r>
          </a:p>
        </p:txBody>
      </p:sp>
    </p:spTree>
    <p:extLst>
      <p:ext uri="{BB962C8B-B14F-4D97-AF65-F5344CB8AC3E}">
        <p14:creationId xmlns:p14="http://schemas.microsoft.com/office/powerpoint/2010/main" val="274358161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20000"/>
          </a:bodyPr>
          <a:lstStyle/>
          <a:p>
            <a:r>
              <a:rPr lang="en-GB" dirty="0"/>
              <a:t>We denote usually denote it by underlining the attribute name (column name).</a:t>
            </a:r>
          </a:p>
          <a:p>
            <a:r>
              <a:rPr lang="en-GB" dirty="0"/>
              <a:t>The value of primary key should be unique for each row of the table. The column(s) that makes the key cannot contain duplicate values.</a:t>
            </a:r>
          </a:p>
          <a:p>
            <a:r>
              <a:rPr lang="en-GB" dirty="0"/>
              <a:t>The attribute(s) that is marked as primary key is not allowed to have null values.</a:t>
            </a:r>
          </a:p>
          <a:p>
            <a:r>
              <a:rPr lang="en-GB" dirty="0"/>
              <a:t>Primary keys are not necessarily to be a single attribute (column). It can be a set of more than one attributes (columns). For example {</a:t>
            </a:r>
            <a:r>
              <a:rPr lang="en-GB" dirty="0" err="1"/>
              <a:t>Stu_Id</a:t>
            </a:r>
            <a:r>
              <a:rPr lang="en-GB" dirty="0"/>
              <a:t>, </a:t>
            </a:r>
            <a:r>
              <a:rPr lang="en-GB" dirty="0" err="1"/>
              <a:t>Stu_Name</a:t>
            </a:r>
            <a:r>
              <a:rPr lang="en-GB" dirty="0"/>
              <a:t>} collectively can identify the tuple in the above table, but we do not choose it as primary key because </a:t>
            </a:r>
            <a:r>
              <a:rPr lang="en-GB" dirty="0" err="1"/>
              <a:t>Stu_Id</a:t>
            </a:r>
            <a:r>
              <a:rPr lang="en-GB" dirty="0"/>
              <a:t> alone is enough to uniquely identifies rows in a table and we always go for minimal set. Having that said, we should choose more than one columns as primary key only when there is no single column that can uniquely identify the tuple in table.</a:t>
            </a:r>
          </a:p>
        </p:txBody>
      </p:sp>
      <p:sp>
        <p:nvSpPr>
          <p:cNvPr id="6" name="Title 1"/>
          <p:cNvSpPr>
            <a:spLocks noGrp="1"/>
          </p:cNvSpPr>
          <p:nvPr>
            <p:ph type="title"/>
          </p:nvPr>
        </p:nvSpPr>
        <p:spPr>
          <a:xfrm>
            <a:off x="1034143" y="796201"/>
            <a:ext cx="10515600" cy="602222"/>
          </a:xfrm>
        </p:spPr>
        <p:txBody>
          <a:bodyPr>
            <a:normAutofit fontScale="90000"/>
          </a:bodyPr>
          <a:lstStyle/>
          <a:p>
            <a:r>
              <a:rPr lang="en-US" dirty="0" smtClean="0"/>
              <a:t>Key Points Primary key</a:t>
            </a:r>
            <a:endParaRPr lang="en-GB" dirty="0"/>
          </a:p>
        </p:txBody>
      </p:sp>
    </p:spTree>
    <p:extLst>
      <p:ext uri="{BB962C8B-B14F-4D97-AF65-F5344CB8AC3E}">
        <p14:creationId xmlns:p14="http://schemas.microsoft.com/office/powerpoint/2010/main" val="244534264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31709"/>
          </a:xfrm>
        </p:spPr>
        <p:txBody>
          <a:bodyPr>
            <a:normAutofit fontScale="90000"/>
          </a:bodyPr>
          <a:lstStyle/>
          <a:p>
            <a:r>
              <a:rPr lang="en-US" dirty="0" smtClean="0"/>
              <a:t>Composite Primary Key – More than one Key</a:t>
            </a:r>
            <a:endParaRPr lang="en-GB" dirty="0"/>
          </a:p>
        </p:txBody>
      </p:sp>
      <p:sp>
        <p:nvSpPr>
          <p:cNvPr id="3" name="Content Placeholder 2"/>
          <p:cNvSpPr>
            <a:spLocks noGrp="1"/>
          </p:cNvSpPr>
          <p:nvPr>
            <p:ph idx="1"/>
          </p:nvPr>
        </p:nvSpPr>
        <p:spPr>
          <a:xfrm>
            <a:off x="838200" y="992777"/>
            <a:ext cx="10515600" cy="5721532"/>
          </a:xfrm>
        </p:spPr>
        <p:txBody>
          <a:bodyPr>
            <a:normAutofit/>
          </a:bodyPr>
          <a:lstStyle/>
          <a:p>
            <a:r>
              <a:rPr lang="en-GB" dirty="0" smtClean="0"/>
              <a:t>Consider </a:t>
            </a:r>
            <a:r>
              <a:rPr lang="en-GB" dirty="0"/>
              <a:t>this table ORDER, this table keeps the daily record of the purchases made by the customer. </a:t>
            </a:r>
            <a:endParaRPr lang="en-GB" dirty="0" smtClean="0"/>
          </a:p>
          <a:p>
            <a:r>
              <a:rPr lang="en-GB" dirty="0" smtClean="0"/>
              <a:t>This </a:t>
            </a:r>
            <a:r>
              <a:rPr lang="en-GB" dirty="0"/>
              <a:t>table has three attributes: Customer_ID, Product_ID &amp; </a:t>
            </a:r>
            <a:r>
              <a:rPr lang="en-GB" dirty="0" err="1" smtClean="0"/>
              <a:t>Order_Quantity</a:t>
            </a:r>
            <a:r>
              <a:rPr lang="en-GB" dirty="0" smtClean="0"/>
              <a:t>.</a:t>
            </a:r>
          </a:p>
          <a:p>
            <a:r>
              <a:rPr lang="en-GB" dirty="0"/>
              <a:t>Customer_ID alone cannot be a primary key as a single customer can place more than one order thus more than one rows of same Customer_ID value. As we see in the following example that customer id 1011 has placed two orders with product if 9023 and 9111.</a:t>
            </a:r>
          </a:p>
          <a:p>
            <a:endParaRPr lang="en-GB" dirty="0"/>
          </a:p>
          <a:p>
            <a:r>
              <a:rPr lang="en-GB" dirty="0"/>
              <a:t>Product_ID alone cannot be a primary key as more than one customers can place a order for the same product thus more than one rows with same product id. In the following table, customer id 1011 &amp; 1122 placed an order for the same product (product id 9023).</a:t>
            </a:r>
          </a:p>
          <a:p>
            <a:endParaRPr lang="en-GB" dirty="0"/>
          </a:p>
        </p:txBody>
      </p:sp>
    </p:spTree>
    <p:extLst>
      <p:ext uri="{BB962C8B-B14F-4D97-AF65-F5344CB8AC3E}">
        <p14:creationId xmlns:p14="http://schemas.microsoft.com/office/powerpoint/2010/main" val="412662317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err="1"/>
              <a:t>Order_Quantity</a:t>
            </a:r>
            <a:r>
              <a:rPr lang="en-GB" dirty="0"/>
              <a:t> alone cannot be a primary key as more </a:t>
            </a:r>
            <a:r>
              <a:rPr lang="en-GB" dirty="0" err="1"/>
              <a:t>more</a:t>
            </a:r>
            <a:r>
              <a:rPr lang="en-GB" dirty="0"/>
              <a:t> than one customers can place the order for the same quantity.</a:t>
            </a:r>
          </a:p>
          <a:p>
            <a:endParaRPr lang="en-GB" dirty="0"/>
          </a:p>
          <a:p>
            <a:r>
              <a:rPr lang="en-GB" dirty="0"/>
              <a:t>Since none of the attributes alone were able to become a primary key, lets try to make a set of attributes that plays the role of it.</a:t>
            </a:r>
          </a:p>
          <a:p>
            <a:endParaRPr lang="en-GB" dirty="0"/>
          </a:p>
          <a:p>
            <a:r>
              <a:rPr lang="en-GB" dirty="0"/>
              <a:t>{Customer_ID, Product_ID} together can identify the rows uniquely in the table so this set is the primary key for this table.</a:t>
            </a:r>
          </a:p>
          <a:p>
            <a:endParaRPr lang="en-GB" dirty="0"/>
          </a:p>
        </p:txBody>
      </p:sp>
    </p:spTree>
    <p:extLst>
      <p:ext uri="{BB962C8B-B14F-4D97-AF65-F5344CB8AC3E}">
        <p14:creationId xmlns:p14="http://schemas.microsoft.com/office/powerpoint/2010/main" val="301247716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Order Example</a:t>
            </a:r>
            <a:endParaRPr lang="en-GB" dirty="0"/>
          </a:p>
        </p:txBody>
      </p:sp>
      <p:pic>
        <p:nvPicPr>
          <p:cNvPr id="4" name="Picture 3"/>
          <p:cNvPicPr>
            <a:picLocks noChangeAspect="1"/>
          </p:cNvPicPr>
          <p:nvPr/>
        </p:nvPicPr>
        <p:blipFill>
          <a:blip r:embed="rId2"/>
          <a:stretch>
            <a:fillRect/>
          </a:stretch>
        </p:blipFill>
        <p:spPr>
          <a:xfrm>
            <a:off x="1018903" y="1384663"/>
            <a:ext cx="9450893" cy="4792300"/>
          </a:xfrm>
          <a:prstGeom prst="rect">
            <a:avLst/>
          </a:prstGeom>
        </p:spPr>
      </p:pic>
    </p:spTree>
    <p:extLst>
      <p:ext uri="{BB962C8B-B14F-4D97-AF65-F5344CB8AC3E}">
        <p14:creationId xmlns:p14="http://schemas.microsoft.com/office/powerpoint/2010/main" val="35308730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Order</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5317318"/>
              </p:ext>
            </p:extLst>
          </p:nvPr>
        </p:nvGraphicFramePr>
        <p:xfrm>
          <a:off x="1605234" y="1907971"/>
          <a:ext cx="8466228" cy="3382488"/>
        </p:xfrm>
        <a:graphic>
          <a:graphicData uri="http://schemas.openxmlformats.org/drawingml/2006/table">
            <a:tbl>
              <a:tblPr/>
              <a:tblGrid>
                <a:gridCol w="2822076">
                  <a:extLst>
                    <a:ext uri="{9D8B030D-6E8A-4147-A177-3AD203B41FA5}">
                      <a16:colId xmlns:a16="http://schemas.microsoft.com/office/drawing/2014/main" val="3368957436"/>
                    </a:ext>
                  </a:extLst>
                </a:gridCol>
                <a:gridCol w="2822076">
                  <a:extLst>
                    <a:ext uri="{9D8B030D-6E8A-4147-A177-3AD203B41FA5}">
                      <a16:colId xmlns:a16="http://schemas.microsoft.com/office/drawing/2014/main" val="887313793"/>
                    </a:ext>
                  </a:extLst>
                </a:gridCol>
                <a:gridCol w="2822076">
                  <a:extLst>
                    <a:ext uri="{9D8B030D-6E8A-4147-A177-3AD203B41FA5}">
                      <a16:colId xmlns:a16="http://schemas.microsoft.com/office/drawing/2014/main" val="328657594"/>
                    </a:ext>
                  </a:extLst>
                </a:gridCol>
              </a:tblGrid>
              <a:tr h="563748">
                <a:tc>
                  <a:txBody>
                    <a:bodyPr/>
                    <a:lstStyle/>
                    <a:p>
                      <a:pPr algn="l"/>
                      <a:r>
                        <a:rPr lang="en-GB" dirty="0">
                          <a:effectLst/>
                        </a:rPr>
                        <a:t>Customer_ID</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GB" dirty="0">
                          <a:effectLst/>
                        </a:rPr>
                        <a:t>Product_ID</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GB">
                          <a:effectLst/>
                        </a:rPr>
                        <a:t>Order_Quantity</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94361090"/>
                  </a:ext>
                </a:extLst>
              </a:tr>
              <a:tr h="563748">
                <a:tc>
                  <a:txBody>
                    <a:bodyPr/>
                    <a:lstStyle/>
                    <a:p>
                      <a:pPr algn="l"/>
                      <a:r>
                        <a:rPr lang="en-GB">
                          <a:effectLst/>
                        </a:rPr>
                        <a:t>1011</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GB">
                          <a:effectLst/>
                        </a:rPr>
                        <a:t>9023</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GB">
                          <a:effectLst/>
                        </a:rPr>
                        <a:t>10</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47403128"/>
                  </a:ext>
                </a:extLst>
              </a:tr>
              <a:tr h="563748">
                <a:tc>
                  <a:txBody>
                    <a:bodyPr/>
                    <a:lstStyle/>
                    <a:p>
                      <a:pPr algn="l"/>
                      <a:r>
                        <a:rPr lang="en-GB">
                          <a:effectLst/>
                        </a:rPr>
                        <a:t>1122</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GB" dirty="0">
                          <a:effectLst/>
                        </a:rPr>
                        <a:t>9023</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GB">
                          <a:effectLst/>
                        </a:rPr>
                        <a:t>15</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709871281"/>
                  </a:ext>
                </a:extLst>
              </a:tr>
              <a:tr h="563748">
                <a:tc>
                  <a:txBody>
                    <a:bodyPr/>
                    <a:lstStyle/>
                    <a:p>
                      <a:pPr algn="l"/>
                      <a:r>
                        <a:rPr lang="en-GB">
                          <a:effectLst/>
                        </a:rPr>
                        <a:t>1099</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GB">
                          <a:effectLst/>
                        </a:rPr>
                        <a:t>9031</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GB">
                          <a:effectLst/>
                        </a:rPr>
                        <a:t>20</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416932082"/>
                  </a:ext>
                </a:extLst>
              </a:tr>
              <a:tr h="563748">
                <a:tc>
                  <a:txBody>
                    <a:bodyPr/>
                    <a:lstStyle/>
                    <a:p>
                      <a:pPr algn="l"/>
                      <a:r>
                        <a:rPr lang="en-GB">
                          <a:effectLst/>
                        </a:rPr>
                        <a:t>1177</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GB">
                          <a:effectLst/>
                        </a:rPr>
                        <a:t>9031</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GB">
                          <a:effectLst/>
                        </a:rPr>
                        <a:t>18</a:t>
                      </a:r>
                    </a:p>
                  </a:txBody>
                  <a:tcPr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836264197"/>
                  </a:ext>
                </a:extLst>
              </a:tr>
              <a:tr h="563748">
                <a:tc>
                  <a:txBody>
                    <a:bodyPr/>
                    <a:lstStyle/>
                    <a:p>
                      <a:pPr algn="l"/>
                      <a:r>
                        <a:rPr lang="en-GB">
                          <a:effectLst/>
                        </a:rPr>
                        <a:t>1011</a:t>
                      </a:r>
                    </a:p>
                  </a:txBody>
                  <a:tcPr marT="57150" marB="57150" anchor="ctr">
                    <a:lnL>
                      <a:noFill/>
                    </a:lnL>
                    <a:lnR>
                      <a:noFill/>
                    </a:lnR>
                    <a:lnT w="9525" cap="flat" cmpd="sng" algn="ctr">
                      <a:solidFill>
                        <a:srgbClr val="DDDDDD"/>
                      </a:solidFill>
                      <a:prstDash val="solid"/>
                      <a:round/>
                      <a:headEnd type="none" w="med" len="med"/>
                      <a:tailEnd type="none" w="med" len="med"/>
                    </a:lnT>
                    <a:lnB>
                      <a:noFill/>
                    </a:lnB>
                    <a:solidFill>
                      <a:srgbClr val="FFFFFF"/>
                    </a:solidFill>
                  </a:tcPr>
                </a:tc>
                <a:tc>
                  <a:txBody>
                    <a:bodyPr/>
                    <a:lstStyle/>
                    <a:p>
                      <a:pPr algn="l"/>
                      <a:r>
                        <a:rPr lang="en-GB">
                          <a:effectLst/>
                        </a:rPr>
                        <a:t>9111</a:t>
                      </a:r>
                    </a:p>
                  </a:txBody>
                  <a:tcPr marT="57150" marB="57150" anchor="ctr">
                    <a:lnL>
                      <a:noFill/>
                    </a:lnL>
                    <a:lnR>
                      <a:noFill/>
                    </a:lnR>
                    <a:lnT w="9525" cap="flat" cmpd="sng" algn="ctr">
                      <a:solidFill>
                        <a:srgbClr val="DDDDDD"/>
                      </a:solidFill>
                      <a:prstDash val="solid"/>
                      <a:round/>
                      <a:headEnd type="none" w="med" len="med"/>
                      <a:tailEnd type="none" w="med" len="med"/>
                    </a:lnT>
                    <a:lnB>
                      <a:noFill/>
                    </a:lnB>
                    <a:solidFill>
                      <a:srgbClr val="FFFFFF"/>
                    </a:solidFill>
                  </a:tcPr>
                </a:tc>
                <a:tc>
                  <a:txBody>
                    <a:bodyPr/>
                    <a:lstStyle/>
                    <a:p>
                      <a:pPr algn="l"/>
                      <a:r>
                        <a:rPr lang="en-GB" dirty="0">
                          <a:effectLst/>
                        </a:rPr>
                        <a:t>50</a:t>
                      </a:r>
                    </a:p>
                  </a:txBody>
                  <a:tcPr marT="57150" marB="57150" anchor="ctr">
                    <a:lnL>
                      <a:noFill/>
                    </a:lnL>
                    <a:lnR>
                      <a:noFill/>
                    </a:lnR>
                    <a:lnT w="9525" cap="flat" cmpd="sng" algn="ctr">
                      <a:solidFill>
                        <a:srgbClr val="DDDDDD"/>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81704614"/>
                  </a:ext>
                </a:extLst>
              </a:tr>
            </a:tbl>
          </a:graphicData>
        </a:graphic>
      </p:graphicFrame>
    </p:spTree>
    <p:extLst>
      <p:ext uri="{BB962C8B-B14F-4D97-AF65-F5344CB8AC3E}">
        <p14:creationId xmlns:p14="http://schemas.microsoft.com/office/powerpoint/2010/main" val="139280700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401"/>
          </a:xfrm>
        </p:spPr>
        <p:txBody>
          <a:bodyPr>
            <a:normAutofit fontScale="90000"/>
          </a:bodyPr>
          <a:lstStyle/>
          <a:p>
            <a:r>
              <a:rPr lang="en-US" dirty="0" smtClean="0"/>
              <a:t>Consider the Following Table</a:t>
            </a:r>
            <a:br>
              <a:rPr lang="en-US" dirty="0" smtClean="0"/>
            </a:b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32187726"/>
              </p:ext>
            </p:extLst>
          </p:nvPr>
        </p:nvGraphicFramePr>
        <p:xfrm>
          <a:off x="1190896" y="819788"/>
          <a:ext cx="9860280" cy="5502634"/>
        </p:xfrm>
        <a:graphic>
          <a:graphicData uri="http://schemas.openxmlformats.org/drawingml/2006/table">
            <a:tbl>
              <a:tblPr firstRow="1" bandRow="1">
                <a:tableStyleId>{5C22544A-7EE6-4342-B048-85BDC9FD1C3A}</a:tableStyleId>
              </a:tblPr>
              <a:tblGrid>
                <a:gridCol w="1773522">
                  <a:extLst>
                    <a:ext uri="{9D8B030D-6E8A-4147-A177-3AD203B41FA5}">
                      <a16:colId xmlns:a16="http://schemas.microsoft.com/office/drawing/2014/main" val="772125637"/>
                    </a:ext>
                  </a:extLst>
                </a:gridCol>
                <a:gridCol w="2036362">
                  <a:extLst>
                    <a:ext uri="{9D8B030D-6E8A-4147-A177-3AD203B41FA5}">
                      <a16:colId xmlns:a16="http://schemas.microsoft.com/office/drawing/2014/main" val="4209862011"/>
                    </a:ext>
                  </a:extLst>
                </a:gridCol>
                <a:gridCol w="4026792">
                  <a:extLst>
                    <a:ext uri="{9D8B030D-6E8A-4147-A177-3AD203B41FA5}">
                      <a16:colId xmlns:a16="http://schemas.microsoft.com/office/drawing/2014/main" val="348279301"/>
                    </a:ext>
                  </a:extLst>
                </a:gridCol>
                <a:gridCol w="2023604">
                  <a:extLst>
                    <a:ext uri="{9D8B030D-6E8A-4147-A177-3AD203B41FA5}">
                      <a16:colId xmlns:a16="http://schemas.microsoft.com/office/drawing/2014/main" val="3779746569"/>
                    </a:ext>
                  </a:extLst>
                </a:gridCol>
              </a:tblGrid>
              <a:tr h="423726">
                <a:tc>
                  <a:txBody>
                    <a:bodyPr/>
                    <a:lstStyle/>
                    <a:p>
                      <a:pPr algn="ctr"/>
                      <a:r>
                        <a:rPr lang="en-US" dirty="0" smtClean="0"/>
                        <a:t>StudentID</a:t>
                      </a:r>
                      <a:endParaRPr lang="en-GB" dirty="0"/>
                    </a:p>
                  </a:txBody>
                  <a:tcPr/>
                </a:tc>
                <a:tc>
                  <a:txBody>
                    <a:bodyPr/>
                    <a:lstStyle/>
                    <a:p>
                      <a:pPr algn="ctr"/>
                      <a:r>
                        <a:rPr lang="en-US" dirty="0" smtClean="0"/>
                        <a:t>StudentName</a:t>
                      </a:r>
                      <a:endParaRPr lang="en-GB" dirty="0"/>
                    </a:p>
                  </a:txBody>
                  <a:tcPr/>
                </a:tc>
                <a:tc>
                  <a:txBody>
                    <a:bodyPr/>
                    <a:lstStyle/>
                    <a:p>
                      <a:pPr algn="ctr"/>
                      <a:r>
                        <a:rPr lang="en-US" dirty="0" smtClean="0"/>
                        <a:t>Department</a:t>
                      </a:r>
                      <a:endParaRPr lang="en-GB" dirty="0"/>
                    </a:p>
                  </a:txBody>
                  <a:tcPr/>
                </a:tc>
                <a:tc>
                  <a:txBody>
                    <a:bodyPr/>
                    <a:lstStyle/>
                    <a:p>
                      <a:pPr algn="ctr"/>
                      <a:r>
                        <a:rPr lang="en-US" dirty="0" smtClean="0"/>
                        <a:t>DOB</a:t>
                      </a:r>
                      <a:endParaRPr lang="en-GB" dirty="0"/>
                    </a:p>
                  </a:txBody>
                  <a:tcPr/>
                </a:tc>
                <a:extLst>
                  <a:ext uri="{0D108BD9-81ED-4DB2-BD59-A6C34878D82A}">
                    <a16:rowId xmlns:a16="http://schemas.microsoft.com/office/drawing/2014/main" val="3682878788"/>
                  </a:ext>
                </a:extLst>
              </a:tr>
              <a:tr h="423726">
                <a:tc>
                  <a:txBody>
                    <a:bodyPr/>
                    <a:lstStyle/>
                    <a:p>
                      <a:pPr algn="ctr"/>
                      <a:r>
                        <a:rPr lang="en-US" dirty="0" smtClean="0"/>
                        <a:t>1</a:t>
                      </a:r>
                      <a:endParaRPr lang="en-GB" dirty="0"/>
                    </a:p>
                  </a:txBody>
                  <a:tcPr/>
                </a:tc>
                <a:tc>
                  <a:txBody>
                    <a:bodyPr/>
                    <a:lstStyle/>
                    <a:p>
                      <a:pPr algn="ctr"/>
                      <a:r>
                        <a:rPr lang="en-US" dirty="0" smtClean="0"/>
                        <a:t>Raja</a:t>
                      </a:r>
                      <a:endParaRPr lang="en-GB" dirty="0"/>
                    </a:p>
                  </a:txBody>
                  <a:tcPr/>
                </a:tc>
                <a:tc>
                  <a:txBody>
                    <a:bodyPr/>
                    <a:lstStyle/>
                    <a:p>
                      <a:pPr algn="ctr"/>
                      <a:r>
                        <a:rPr lang="en-US" dirty="0" smtClean="0"/>
                        <a:t>Computer</a:t>
                      </a:r>
                      <a:r>
                        <a:rPr lang="en-US" baseline="0" dirty="0" smtClean="0"/>
                        <a:t> Science &amp; Engg</a:t>
                      </a:r>
                      <a:endParaRPr lang="en-GB" dirty="0"/>
                    </a:p>
                  </a:txBody>
                  <a:tcPr/>
                </a:tc>
                <a:tc>
                  <a:txBody>
                    <a:bodyPr/>
                    <a:lstStyle/>
                    <a:p>
                      <a:pPr algn="ctr"/>
                      <a:r>
                        <a:rPr lang="en-US" dirty="0" smtClean="0"/>
                        <a:t>10-12-1990</a:t>
                      </a:r>
                      <a:endParaRPr lang="en-GB" dirty="0"/>
                    </a:p>
                  </a:txBody>
                  <a:tcPr/>
                </a:tc>
                <a:extLst>
                  <a:ext uri="{0D108BD9-81ED-4DB2-BD59-A6C34878D82A}">
                    <a16:rowId xmlns:a16="http://schemas.microsoft.com/office/drawing/2014/main" val="413449280"/>
                  </a:ext>
                </a:extLst>
              </a:tr>
              <a:tr h="423726">
                <a:tc>
                  <a:txBody>
                    <a:bodyPr/>
                    <a:lstStyle/>
                    <a:p>
                      <a:pPr algn="ctr"/>
                      <a:r>
                        <a:rPr lang="en-US" dirty="0" smtClean="0"/>
                        <a:t>2</a:t>
                      </a:r>
                      <a:endParaRPr lang="en-GB" dirty="0"/>
                    </a:p>
                  </a:txBody>
                  <a:tcPr/>
                </a:tc>
                <a:tc>
                  <a:txBody>
                    <a:bodyPr/>
                    <a:lstStyle/>
                    <a:p>
                      <a:pPr algn="ctr"/>
                      <a:r>
                        <a:rPr lang="en-US" dirty="0" smtClean="0"/>
                        <a:t>Geetha</a:t>
                      </a:r>
                      <a:endParaRPr lang="en-GB" dirty="0"/>
                    </a:p>
                  </a:txBody>
                  <a:tcPr/>
                </a:tc>
                <a:tc>
                  <a:txBody>
                    <a:bodyPr/>
                    <a:lstStyle/>
                    <a:p>
                      <a:pPr algn="ctr"/>
                      <a:r>
                        <a:rPr lang="en-US" dirty="0" smtClean="0"/>
                        <a:t>Computer</a:t>
                      </a:r>
                      <a:r>
                        <a:rPr lang="en-US" baseline="0" dirty="0" smtClean="0"/>
                        <a:t> Science &amp; Engg</a:t>
                      </a:r>
                      <a:endParaRPr lang="en-GB" dirty="0"/>
                    </a:p>
                  </a:txBody>
                  <a:tcPr/>
                </a:tc>
                <a:tc>
                  <a:txBody>
                    <a:bodyPr/>
                    <a:lstStyle/>
                    <a:p>
                      <a:pPr algn="ctr"/>
                      <a:r>
                        <a:rPr lang="en-US" dirty="0" smtClean="0"/>
                        <a:t>12-12-1990</a:t>
                      </a:r>
                      <a:endParaRPr lang="en-GB" dirty="0"/>
                    </a:p>
                  </a:txBody>
                  <a:tcPr/>
                </a:tc>
                <a:extLst>
                  <a:ext uri="{0D108BD9-81ED-4DB2-BD59-A6C34878D82A}">
                    <a16:rowId xmlns:a16="http://schemas.microsoft.com/office/drawing/2014/main" val="3384571487"/>
                  </a:ext>
                </a:extLst>
              </a:tr>
              <a:tr h="423726">
                <a:tc>
                  <a:txBody>
                    <a:bodyPr/>
                    <a:lstStyle/>
                    <a:p>
                      <a:pPr algn="ctr"/>
                      <a:r>
                        <a:rPr lang="en-US" dirty="0" smtClean="0"/>
                        <a:t>3</a:t>
                      </a:r>
                      <a:endParaRPr lang="en-GB" dirty="0"/>
                    </a:p>
                  </a:txBody>
                  <a:tcPr/>
                </a:tc>
                <a:tc>
                  <a:txBody>
                    <a:bodyPr/>
                    <a:lstStyle/>
                    <a:p>
                      <a:pPr algn="ctr"/>
                      <a:r>
                        <a:rPr lang="en-US" dirty="0" smtClean="0"/>
                        <a:t>Dev</a:t>
                      </a:r>
                      <a:endParaRPr lang="en-GB" dirty="0"/>
                    </a:p>
                  </a:txBody>
                  <a:tcPr/>
                </a:tc>
                <a:tc>
                  <a:txBody>
                    <a:bodyPr/>
                    <a:lstStyle/>
                    <a:p>
                      <a:pPr algn="ctr"/>
                      <a:r>
                        <a:rPr lang="en-US" dirty="0" smtClean="0"/>
                        <a:t>Information Technology</a:t>
                      </a:r>
                      <a:endParaRPr lang="en-GB" dirty="0"/>
                    </a:p>
                  </a:txBody>
                  <a:tcPr/>
                </a:tc>
                <a:tc>
                  <a:txBody>
                    <a:bodyPr/>
                    <a:lstStyle/>
                    <a:p>
                      <a:pPr algn="ctr"/>
                      <a:r>
                        <a:rPr lang="en-US" dirty="0" smtClean="0"/>
                        <a:t>5-7-1990</a:t>
                      </a:r>
                      <a:endParaRPr lang="en-GB" dirty="0"/>
                    </a:p>
                  </a:txBody>
                  <a:tcPr/>
                </a:tc>
                <a:extLst>
                  <a:ext uri="{0D108BD9-81ED-4DB2-BD59-A6C34878D82A}">
                    <a16:rowId xmlns:a16="http://schemas.microsoft.com/office/drawing/2014/main" val="4189676885"/>
                  </a:ext>
                </a:extLst>
              </a:tr>
              <a:tr h="423726">
                <a:tc>
                  <a:txBody>
                    <a:bodyPr/>
                    <a:lstStyle/>
                    <a:p>
                      <a:pPr algn="ctr"/>
                      <a:r>
                        <a:rPr lang="en-US" dirty="0" smtClean="0"/>
                        <a:t>4</a:t>
                      </a:r>
                      <a:endParaRPr lang="en-GB" dirty="0"/>
                    </a:p>
                  </a:txBody>
                  <a:tcPr/>
                </a:tc>
                <a:tc>
                  <a:txBody>
                    <a:bodyPr/>
                    <a:lstStyle/>
                    <a:p>
                      <a:pPr algn="ctr"/>
                      <a:r>
                        <a:rPr lang="en-US" dirty="0" smtClean="0"/>
                        <a:t>Preetha</a:t>
                      </a:r>
                      <a:endParaRPr lang="en-GB" dirty="0"/>
                    </a:p>
                  </a:txBody>
                  <a:tcPr/>
                </a:tc>
                <a:tc>
                  <a:txBody>
                    <a:bodyPr/>
                    <a:lstStyle/>
                    <a:p>
                      <a:pPr algn="ctr"/>
                      <a:r>
                        <a:rPr lang="en-US" dirty="0" smtClean="0"/>
                        <a:t>Information Technology</a:t>
                      </a:r>
                      <a:endParaRPr lang="en-GB" dirty="0"/>
                    </a:p>
                  </a:txBody>
                  <a:tcPr/>
                </a:tc>
                <a:tc>
                  <a:txBody>
                    <a:bodyPr/>
                    <a:lstStyle/>
                    <a:p>
                      <a:pPr algn="ctr"/>
                      <a:r>
                        <a:rPr lang="en-US" dirty="0" smtClean="0"/>
                        <a:t>12-5-1998</a:t>
                      </a:r>
                      <a:endParaRPr lang="en-GB" dirty="0"/>
                    </a:p>
                  </a:txBody>
                  <a:tcPr/>
                </a:tc>
                <a:extLst>
                  <a:ext uri="{0D108BD9-81ED-4DB2-BD59-A6C34878D82A}">
                    <a16:rowId xmlns:a16="http://schemas.microsoft.com/office/drawing/2014/main" val="3906257791"/>
                  </a:ext>
                </a:extLst>
              </a:tr>
              <a:tr h="423726">
                <a:tc>
                  <a:txBody>
                    <a:bodyPr/>
                    <a:lstStyle/>
                    <a:p>
                      <a:pPr algn="ctr"/>
                      <a:r>
                        <a:rPr lang="en-US" dirty="0" smtClean="0"/>
                        <a:t>5</a:t>
                      </a:r>
                      <a:endParaRPr lang="en-GB" dirty="0"/>
                    </a:p>
                  </a:txBody>
                  <a:tcPr/>
                </a:tc>
                <a:tc>
                  <a:txBody>
                    <a:bodyPr/>
                    <a:lstStyle/>
                    <a:p>
                      <a:pPr algn="ctr"/>
                      <a:r>
                        <a:rPr lang="en-US" dirty="0" smtClean="0"/>
                        <a:t>Hari</a:t>
                      </a:r>
                      <a:endParaRPr lang="en-GB"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Calibri" panose="020F0502020204030204"/>
                          <a:ea typeface="+mn-ea"/>
                          <a:cs typeface="+mn-cs"/>
                        </a:rPr>
                        <a:t>Computer Science &amp; Engg</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algn="ctr"/>
                      <a:r>
                        <a:rPr lang="en-US" dirty="0" smtClean="0"/>
                        <a:t>10-3-1998</a:t>
                      </a:r>
                      <a:endParaRPr lang="en-GB" dirty="0"/>
                    </a:p>
                  </a:txBody>
                  <a:tcPr/>
                </a:tc>
                <a:extLst>
                  <a:ext uri="{0D108BD9-81ED-4DB2-BD59-A6C34878D82A}">
                    <a16:rowId xmlns:a16="http://schemas.microsoft.com/office/drawing/2014/main" val="3588960796"/>
                  </a:ext>
                </a:extLst>
              </a:tr>
              <a:tr h="423726">
                <a:tc>
                  <a:txBody>
                    <a:bodyPr/>
                    <a:lstStyle/>
                    <a:p>
                      <a:pPr algn="ctr"/>
                      <a:r>
                        <a:rPr lang="en-US" dirty="0" smtClean="0"/>
                        <a:t>6</a:t>
                      </a:r>
                      <a:endParaRPr lang="en-GB" dirty="0"/>
                    </a:p>
                  </a:txBody>
                  <a:tcPr/>
                </a:tc>
                <a:tc>
                  <a:txBody>
                    <a:bodyPr/>
                    <a:lstStyle/>
                    <a:p>
                      <a:pPr algn="ctr"/>
                      <a:r>
                        <a:rPr lang="en-US" dirty="0" smtClean="0"/>
                        <a:t>Vani</a:t>
                      </a:r>
                      <a:endParaRPr lang="en-GB"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Calibri" panose="020F0502020204030204"/>
                          <a:ea typeface="+mn-ea"/>
                          <a:cs typeface="+mn-cs"/>
                        </a:rPr>
                        <a:t>Computer Science &amp; Engg</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algn="ctr"/>
                      <a:r>
                        <a:rPr lang="en-US" dirty="0" smtClean="0"/>
                        <a:t>10-12-1990</a:t>
                      </a:r>
                      <a:endParaRPr lang="en-GB" dirty="0"/>
                    </a:p>
                  </a:txBody>
                  <a:tcPr/>
                </a:tc>
                <a:extLst>
                  <a:ext uri="{0D108BD9-81ED-4DB2-BD59-A6C34878D82A}">
                    <a16:rowId xmlns:a16="http://schemas.microsoft.com/office/drawing/2014/main" val="636478708"/>
                  </a:ext>
                </a:extLst>
              </a:tr>
              <a:tr h="423726">
                <a:tc>
                  <a:txBody>
                    <a:bodyPr/>
                    <a:lstStyle/>
                    <a:p>
                      <a:pPr algn="ctr"/>
                      <a:r>
                        <a:rPr lang="en-US" dirty="0" smtClean="0"/>
                        <a:t>7</a:t>
                      </a:r>
                      <a:endParaRPr lang="en-GB" dirty="0"/>
                    </a:p>
                  </a:txBody>
                  <a:tcPr/>
                </a:tc>
                <a:tc>
                  <a:txBody>
                    <a:bodyPr/>
                    <a:lstStyle/>
                    <a:p>
                      <a:pPr algn="ctr"/>
                      <a:r>
                        <a:rPr lang="en-US" dirty="0" smtClean="0"/>
                        <a:t>Krishna</a:t>
                      </a:r>
                      <a:endParaRPr lang="en-GB" dirty="0"/>
                    </a:p>
                  </a:txBody>
                  <a:tcPr/>
                </a:tc>
                <a:tc>
                  <a:txBody>
                    <a:bodyPr/>
                    <a:lstStyle/>
                    <a:p>
                      <a:pPr algn="ctr"/>
                      <a:r>
                        <a:rPr lang="en-US" dirty="0" smtClean="0"/>
                        <a:t>Electrical&amp;Electronics Engg</a:t>
                      </a:r>
                      <a:endParaRPr lang="en-GB" dirty="0"/>
                    </a:p>
                  </a:txBody>
                  <a:tcPr/>
                </a:tc>
                <a:tc>
                  <a:txBody>
                    <a:bodyPr/>
                    <a:lstStyle/>
                    <a:p>
                      <a:pPr algn="ctr"/>
                      <a:r>
                        <a:rPr lang="en-US" dirty="0" smtClean="0"/>
                        <a:t>12-12-1990</a:t>
                      </a:r>
                      <a:endParaRPr lang="en-GB" dirty="0"/>
                    </a:p>
                  </a:txBody>
                  <a:tcPr/>
                </a:tc>
                <a:extLst>
                  <a:ext uri="{0D108BD9-81ED-4DB2-BD59-A6C34878D82A}">
                    <a16:rowId xmlns:a16="http://schemas.microsoft.com/office/drawing/2014/main" val="4012944139"/>
                  </a:ext>
                </a:extLst>
              </a:tr>
              <a:tr h="417922">
                <a:tc>
                  <a:txBody>
                    <a:bodyPr/>
                    <a:lstStyle/>
                    <a:p>
                      <a:pPr algn="ctr"/>
                      <a:r>
                        <a:rPr lang="en-US" dirty="0" smtClean="0"/>
                        <a:t>8</a:t>
                      </a:r>
                      <a:endParaRPr lang="en-GB" dirty="0"/>
                    </a:p>
                  </a:txBody>
                  <a:tcPr/>
                </a:tc>
                <a:tc>
                  <a:txBody>
                    <a:bodyPr/>
                    <a:lstStyle/>
                    <a:p>
                      <a:pPr algn="ctr"/>
                      <a:r>
                        <a:rPr lang="en-US" dirty="0" smtClean="0"/>
                        <a:t>Ajith</a:t>
                      </a:r>
                      <a:endParaRPr lang="en-GB" dirty="0"/>
                    </a:p>
                  </a:txBody>
                  <a:tcPr/>
                </a:tc>
                <a:tc>
                  <a:txBody>
                    <a:bodyPr/>
                    <a:lstStyle/>
                    <a:p>
                      <a:pPr algn="ctr"/>
                      <a:r>
                        <a:rPr lang="en-US" dirty="0" smtClean="0"/>
                        <a:t>Electrical&amp;Electronics Engg</a:t>
                      </a:r>
                      <a:endParaRPr lang="en-GB" dirty="0"/>
                    </a:p>
                  </a:txBody>
                  <a:tcPr/>
                </a:tc>
                <a:tc>
                  <a:txBody>
                    <a:bodyPr/>
                    <a:lstStyle/>
                    <a:p>
                      <a:pPr algn="ctr"/>
                      <a:r>
                        <a:rPr lang="en-US" dirty="0" smtClean="0"/>
                        <a:t>5-7-1990</a:t>
                      </a:r>
                      <a:endParaRPr lang="en-GB" dirty="0"/>
                    </a:p>
                  </a:txBody>
                  <a:tcPr/>
                </a:tc>
                <a:extLst>
                  <a:ext uri="{0D108BD9-81ED-4DB2-BD59-A6C34878D82A}">
                    <a16:rowId xmlns:a16="http://schemas.microsoft.com/office/drawing/2014/main" val="698609546"/>
                  </a:ext>
                </a:extLst>
              </a:tr>
              <a:tr h="423726">
                <a:tc>
                  <a:txBody>
                    <a:bodyPr/>
                    <a:lstStyle/>
                    <a:p>
                      <a:pPr algn="ctr"/>
                      <a:r>
                        <a:rPr lang="en-US" dirty="0" smtClean="0"/>
                        <a:t>9</a:t>
                      </a:r>
                      <a:endParaRPr lang="en-GB" dirty="0"/>
                    </a:p>
                  </a:txBody>
                  <a:tcPr/>
                </a:tc>
                <a:tc>
                  <a:txBody>
                    <a:bodyPr/>
                    <a:lstStyle/>
                    <a:p>
                      <a:pPr algn="ctr"/>
                      <a:r>
                        <a:rPr lang="en-US" dirty="0" smtClean="0"/>
                        <a:t>Ram</a:t>
                      </a:r>
                      <a:endParaRPr lang="en-GB" dirty="0"/>
                    </a:p>
                  </a:txBody>
                  <a:tcPr/>
                </a:tc>
                <a:tc>
                  <a:txBody>
                    <a:bodyPr/>
                    <a:lstStyle/>
                    <a:p>
                      <a:pPr algn="ctr"/>
                      <a:r>
                        <a:rPr lang="en-US" dirty="0" smtClean="0"/>
                        <a:t>Information Technology</a:t>
                      </a:r>
                      <a:endParaRPr lang="en-GB" dirty="0"/>
                    </a:p>
                  </a:txBody>
                  <a:tcPr/>
                </a:tc>
                <a:tc>
                  <a:txBody>
                    <a:bodyPr/>
                    <a:lstStyle/>
                    <a:p>
                      <a:pPr algn="ctr"/>
                      <a:r>
                        <a:rPr lang="en-US" dirty="0" smtClean="0"/>
                        <a:t>12-5-1998</a:t>
                      </a:r>
                      <a:endParaRPr lang="en-GB" dirty="0"/>
                    </a:p>
                  </a:txBody>
                  <a:tcPr/>
                </a:tc>
                <a:extLst>
                  <a:ext uri="{0D108BD9-81ED-4DB2-BD59-A6C34878D82A}">
                    <a16:rowId xmlns:a16="http://schemas.microsoft.com/office/drawing/2014/main" val="1271048090"/>
                  </a:ext>
                </a:extLst>
              </a:tr>
              <a:tr h="423726">
                <a:tc>
                  <a:txBody>
                    <a:bodyPr/>
                    <a:lstStyle/>
                    <a:p>
                      <a:pPr algn="ctr"/>
                      <a:r>
                        <a:rPr lang="en-US" dirty="0" smtClean="0"/>
                        <a:t>10</a:t>
                      </a:r>
                      <a:endParaRPr lang="en-GB" dirty="0"/>
                    </a:p>
                  </a:txBody>
                  <a:tcPr/>
                </a:tc>
                <a:tc>
                  <a:txBody>
                    <a:bodyPr/>
                    <a:lstStyle/>
                    <a:p>
                      <a:pPr algn="ctr"/>
                      <a:r>
                        <a:rPr lang="en-US" dirty="0" smtClean="0"/>
                        <a:t>Kumar</a:t>
                      </a:r>
                      <a:endParaRPr lang="en-GB" dirty="0"/>
                    </a:p>
                  </a:txBody>
                  <a:tcPr/>
                </a:tc>
                <a:tc>
                  <a:txBody>
                    <a:bodyPr/>
                    <a:lstStyle/>
                    <a:p>
                      <a:pPr algn="ctr"/>
                      <a:r>
                        <a:rPr lang="en-US" dirty="0" smtClean="0"/>
                        <a:t>Computer</a:t>
                      </a:r>
                      <a:r>
                        <a:rPr lang="en-US" baseline="0" dirty="0" smtClean="0"/>
                        <a:t> Science &amp; Engg</a:t>
                      </a:r>
                      <a:endParaRPr lang="en-GB" dirty="0"/>
                    </a:p>
                  </a:txBody>
                  <a:tcPr/>
                </a:tc>
                <a:tc>
                  <a:txBody>
                    <a:bodyPr/>
                    <a:lstStyle/>
                    <a:p>
                      <a:pPr algn="ctr"/>
                      <a:r>
                        <a:rPr lang="en-US" dirty="0" smtClean="0"/>
                        <a:t>10-3-1998</a:t>
                      </a:r>
                      <a:endParaRPr lang="en-GB" dirty="0"/>
                    </a:p>
                  </a:txBody>
                  <a:tcPr/>
                </a:tc>
                <a:extLst>
                  <a:ext uri="{0D108BD9-81ED-4DB2-BD59-A6C34878D82A}">
                    <a16:rowId xmlns:a16="http://schemas.microsoft.com/office/drawing/2014/main" val="1932850164"/>
                  </a:ext>
                </a:extLst>
              </a:tr>
              <a:tr h="423726">
                <a:tc>
                  <a:txBody>
                    <a:bodyPr/>
                    <a:lstStyle/>
                    <a:p>
                      <a:pPr algn="ctr"/>
                      <a:r>
                        <a:rPr lang="en-US" dirty="0" smtClean="0"/>
                        <a:t>11</a:t>
                      </a:r>
                      <a:endParaRPr lang="en-GB" dirty="0"/>
                    </a:p>
                  </a:txBody>
                  <a:tcPr/>
                </a:tc>
                <a:tc>
                  <a:txBody>
                    <a:bodyPr/>
                    <a:lstStyle/>
                    <a:p>
                      <a:pPr algn="ctr"/>
                      <a:r>
                        <a:rPr lang="en-US" dirty="0" smtClean="0"/>
                        <a:t>Sandhya</a:t>
                      </a:r>
                      <a:endParaRPr lang="en-GB" dirty="0"/>
                    </a:p>
                  </a:txBody>
                  <a:tcPr/>
                </a:tc>
                <a:tc>
                  <a:txBody>
                    <a:bodyPr/>
                    <a:lstStyle/>
                    <a:p>
                      <a:pPr algn="ctr"/>
                      <a:r>
                        <a:rPr lang="en-US" dirty="0" smtClean="0"/>
                        <a:t>Automobile</a:t>
                      </a:r>
                      <a:r>
                        <a:rPr lang="en-US" baseline="0" dirty="0" smtClean="0"/>
                        <a:t> Engg</a:t>
                      </a:r>
                      <a:endParaRPr lang="en-GB" dirty="0"/>
                    </a:p>
                  </a:txBody>
                  <a:tcPr/>
                </a:tc>
                <a:tc>
                  <a:txBody>
                    <a:bodyPr/>
                    <a:lstStyle/>
                    <a:p>
                      <a:pPr algn="ctr"/>
                      <a:r>
                        <a:rPr lang="en-US" dirty="0" smtClean="0"/>
                        <a:t>10-12-1990</a:t>
                      </a:r>
                      <a:endParaRPr lang="en-GB" dirty="0"/>
                    </a:p>
                  </a:txBody>
                  <a:tcPr/>
                </a:tc>
                <a:extLst>
                  <a:ext uri="{0D108BD9-81ED-4DB2-BD59-A6C34878D82A}">
                    <a16:rowId xmlns:a16="http://schemas.microsoft.com/office/drawing/2014/main" val="898971672"/>
                  </a:ext>
                </a:extLst>
              </a:tr>
              <a:tr h="423726">
                <a:tc>
                  <a:txBody>
                    <a:bodyPr/>
                    <a:lstStyle/>
                    <a:p>
                      <a:pPr algn="ctr"/>
                      <a:r>
                        <a:rPr lang="en-US" dirty="0" smtClean="0"/>
                        <a:t>12</a:t>
                      </a:r>
                      <a:endParaRPr lang="en-GB" dirty="0"/>
                    </a:p>
                  </a:txBody>
                  <a:tcPr/>
                </a:tc>
                <a:tc>
                  <a:txBody>
                    <a:bodyPr/>
                    <a:lstStyle/>
                    <a:p>
                      <a:pPr algn="ctr"/>
                      <a:r>
                        <a:rPr lang="en-US" dirty="0" smtClean="0"/>
                        <a:t>Uma</a:t>
                      </a:r>
                      <a:endParaRPr lang="en-GB" dirty="0"/>
                    </a:p>
                  </a:txBody>
                  <a:tcPr/>
                </a:tc>
                <a:tc>
                  <a:txBody>
                    <a:bodyPr/>
                    <a:lstStyle/>
                    <a:p>
                      <a:pPr algn="ctr"/>
                      <a:r>
                        <a:rPr lang="en-US" dirty="0" smtClean="0"/>
                        <a:t>Automobile</a:t>
                      </a:r>
                      <a:r>
                        <a:rPr lang="en-US" baseline="0" dirty="0" smtClean="0"/>
                        <a:t> Engg</a:t>
                      </a:r>
                      <a:endParaRPr lang="en-GB" dirty="0"/>
                    </a:p>
                  </a:txBody>
                  <a:tcPr/>
                </a:tc>
                <a:tc>
                  <a:txBody>
                    <a:bodyPr/>
                    <a:lstStyle/>
                    <a:p>
                      <a:pPr algn="ctr"/>
                      <a:r>
                        <a:rPr lang="en-US" dirty="0" smtClean="0"/>
                        <a:t>12-12-1990</a:t>
                      </a:r>
                      <a:endParaRPr lang="en-GB" dirty="0"/>
                    </a:p>
                  </a:txBody>
                  <a:tcPr/>
                </a:tc>
                <a:extLst>
                  <a:ext uri="{0D108BD9-81ED-4DB2-BD59-A6C34878D82A}">
                    <a16:rowId xmlns:a16="http://schemas.microsoft.com/office/drawing/2014/main" val="3746538667"/>
                  </a:ext>
                </a:extLst>
              </a:tr>
            </a:tbl>
          </a:graphicData>
        </a:graphic>
      </p:graphicFrame>
    </p:spTree>
    <p:extLst>
      <p:ext uri="{BB962C8B-B14F-4D97-AF65-F5344CB8AC3E}">
        <p14:creationId xmlns:p14="http://schemas.microsoft.com/office/powerpoint/2010/main" val="214427173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US" dirty="0" err="1" smtClean="0"/>
              <a:t>Deptname</a:t>
            </a:r>
            <a:r>
              <a:rPr lang="en-US" dirty="0" smtClean="0"/>
              <a:t> Gets Repeated more than once as more than one student belong to the same dept.</a:t>
            </a:r>
          </a:p>
          <a:p>
            <a:r>
              <a:rPr lang="en-US" dirty="0" smtClean="0"/>
              <a:t>Also the size of the Department name is also big</a:t>
            </a:r>
          </a:p>
          <a:p>
            <a:r>
              <a:rPr lang="en-US" dirty="0" smtClean="0"/>
              <a:t>Instead of the Department name with an </a:t>
            </a:r>
            <a:r>
              <a:rPr lang="en-US" dirty="0" err="1" smtClean="0"/>
              <a:t>Deptid</a:t>
            </a:r>
            <a:r>
              <a:rPr lang="en-US" dirty="0" smtClean="0"/>
              <a:t> can be represented as a separate table and the </a:t>
            </a:r>
            <a:r>
              <a:rPr lang="en-US" dirty="0" err="1" smtClean="0"/>
              <a:t>Deptid</a:t>
            </a:r>
            <a:r>
              <a:rPr lang="en-US" dirty="0" smtClean="0"/>
              <a:t> which is a primary key in the </a:t>
            </a:r>
            <a:r>
              <a:rPr lang="en-US" dirty="0" err="1" smtClean="0"/>
              <a:t>Dept</a:t>
            </a:r>
            <a:r>
              <a:rPr lang="en-US" dirty="0" smtClean="0"/>
              <a:t> table will be a Foreign key in the Student Table</a:t>
            </a:r>
          </a:p>
          <a:p>
            <a:pPr marL="0" indent="0">
              <a:buNone/>
            </a:pPr>
            <a:endParaRPr lang="en-US" dirty="0" smtClean="0"/>
          </a:p>
          <a:p>
            <a:endParaRPr lang="en-GB" dirty="0"/>
          </a:p>
        </p:txBody>
      </p:sp>
    </p:spTree>
    <p:extLst>
      <p:ext uri="{BB962C8B-B14F-4D97-AF65-F5344CB8AC3E}">
        <p14:creationId xmlns:p14="http://schemas.microsoft.com/office/powerpoint/2010/main" val="193669204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401"/>
          </a:xfrm>
        </p:spPr>
        <p:txBody>
          <a:bodyPr>
            <a:normAutofit fontScale="90000"/>
          </a:bodyPr>
          <a:lstStyle/>
          <a:p>
            <a:r>
              <a:rPr lang="en-US" dirty="0" err="1" smtClean="0"/>
              <a:t>Dept</a:t>
            </a:r>
            <a:r>
              <a:rPr lang="en-US" dirty="0" smtClean="0"/>
              <a:t> Table</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48221817"/>
              </p:ext>
            </p:extLst>
          </p:nvPr>
        </p:nvGraphicFramePr>
        <p:xfrm>
          <a:off x="1995351" y="1734186"/>
          <a:ext cx="8462555" cy="3821890"/>
        </p:xfrm>
        <a:graphic>
          <a:graphicData uri="http://schemas.openxmlformats.org/drawingml/2006/table">
            <a:tbl>
              <a:tblPr firstRow="1" bandRow="1">
                <a:tableStyleId>{5C22544A-7EE6-4342-B048-85BDC9FD1C3A}</a:tableStyleId>
              </a:tblPr>
              <a:tblGrid>
                <a:gridCol w="2587537">
                  <a:extLst>
                    <a:ext uri="{9D8B030D-6E8A-4147-A177-3AD203B41FA5}">
                      <a16:colId xmlns:a16="http://schemas.microsoft.com/office/drawing/2014/main" val="772125637"/>
                    </a:ext>
                  </a:extLst>
                </a:gridCol>
                <a:gridCol w="5875018">
                  <a:extLst>
                    <a:ext uri="{9D8B030D-6E8A-4147-A177-3AD203B41FA5}">
                      <a16:colId xmlns:a16="http://schemas.microsoft.com/office/drawing/2014/main" val="348279301"/>
                    </a:ext>
                  </a:extLst>
                </a:gridCol>
              </a:tblGrid>
              <a:tr h="648554">
                <a:tc>
                  <a:txBody>
                    <a:bodyPr/>
                    <a:lstStyle/>
                    <a:p>
                      <a:pPr algn="ctr"/>
                      <a:r>
                        <a:rPr lang="en-US" dirty="0" smtClean="0"/>
                        <a:t>DeptID</a:t>
                      </a:r>
                      <a:endParaRPr lang="en-GB" dirty="0"/>
                    </a:p>
                  </a:txBody>
                  <a:tcPr/>
                </a:tc>
                <a:tc>
                  <a:txBody>
                    <a:bodyPr/>
                    <a:lstStyle/>
                    <a:p>
                      <a:pPr algn="ctr"/>
                      <a:r>
                        <a:rPr lang="en-US" dirty="0" smtClean="0"/>
                        <a:t>Department</a:t>
                      </a:r>
                      <a:endParaRPr lang="en-GB" dirty="0"/>
                    </a:p>
                  </a:txBody>
                  <a:tcPr/>
                </a:tc>
                <a:extLst>
                  <a:ext uri="{0D108BD9-81ED-4DB2-BD59-A6C34878D82A}">
                    <a16:rowId xmlns:a16="http://schemas.microsoft.com/office/drawing/2014/main" val="3682878788"/>
                  </a:ext>
                </a:extLst>
              </a:tr>
              <a:tr h="648554">
                <a:tc>
                  <a:txBody>
                    <a:bodyPr/>
                    <a:lstStyle/>
                    <a:p>
                      <a:pPr algn="ctr"/>
                      <a:r>
                        <a:rPr lang="en-US" sz="3200" dirty="0" smtClean="0"/>
                        <a:t>1</a:t>
                      </a:r>
                      <a:endParaRPr lang="en-GB" sz="3200" dirty="0"/>
                    </a:p>
                  </a:txBody>
                  <a:tcPr/>
                </a:tc>
                <a:tc>
                  <a:txBody>
                    <a:bodyPr/>
                    <a:lstStyle/>
                    <a:p>
                      <a:pPr algn="ctr"/>
                      <a:r>
                        <a:rPr lang="en-US" sz="3200" dirty="0" smtClean="0"/>
                        <a:t>Computer</a:t>
                      </a:r>
                      <a:r>
                        <a:rPr lang="en-US" sz="3200" baseline="0" dirty="0" smtClean="0"/>
                        <a:t> Science &amp; Engg</a:t>
                      </a:r>
                      <a:endParaRPr lang="en-GB" sz="3200" dirty="0"/>
                    </a:p>
                  </a:txBody>
                  <a:tcPr/>
                </a:tc>
                <a:extLst>
                  <a:ext uri="{0D108BD9-81ED-4DB2-BD59-A6C34878D82A}">
                    <a16:rowId xmlns:a16="http://schemas.microsoft.com/office/drawing/2014/main" val="413449280"/>
                  </a:ext>
                </a:extLst>
              </a:tr>
              <a:tr h="443426">
                <a:tc>
                  <a:txBody>
                    <a:bodyPr/>
                    <a:lstStyle/>
                    <a:p>
                      <a:pPr algn="ctr"/>
                      <a:r>
                        <a:rPr lang="en-US" sz="3200" dirty="0" smtClean="0"/>
                        <a:t>2</a:t>
                      </a:r>
                      <a:endParaRPr lang="en-GB" sz="3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dirty="0" smtClean="0"/>
                        <a:t>Information Technology</a:t>
                      </a:r>
                      <a:endParaRPr lang="en-GB" sz="3200" dirty="0"/>
                    </a:p>
                  </a:txBody>
                  <a:tcPr/>
                </a:tc>
                <a:extLst>
                  <a:ext uri="{0D108BD9-81ED-4DB2-BD59-A6C34878D82A}">
                    <a16:rowId xmlns:a16="http://schemas.microsoft.com/office/drawing/2014/main" val="3384571487"/>
                  </a:ext>
                </a:extLst>
              </a:tr>
              <a:tr h="648554">
                <a:tc>
                  <a:txBody>
                    <a:bodyPr/>
                    <a:lstStyle/>
                    <a:p>
                      <a:pPr algn="ctr"/>
                      <a:r>
                        <a:rPr lang="en-US" sz="3200" dirty="0" smtClean="0"/>
                        <a:t>3</a:t>
                      </a:r>
                      <a:endParaRPr lang="en-GB" sz="3200" dirty="0"/>
                    </a:p>
                  </a:txBody>
                  <a:tcPr/>
                </a:tc>
                <a:tc>
                  <a:txBody>
                    <a:bodyPr/>
                    <a:lstStyle/>
                    <a:p>
                      <a:pPr algn="ctr"/>
                      <a:r>
                        <a:rPr lang="en-US" sz="3200" dirty="0" smtClean="0"/>
                        <a:t>Electrical &amp; Electronics Engg</a:t>
                      </a:r>
                      <a:endParaRPr lang="en-GB" sz="3200" dirty="0"/>
                    </a:p>
                  </a:txBody>
                  <a:tcPr/>
                </a:tc>
                <a:extLst>
                  <a:ext uri="{0D108BD9-81ED-4DB2-BD59-A6C34878D82A}">
                    <a16:rowId xmlns:a16="http://schemas.microsoft.com/office/drawing/2014/main" val="4012944139"/>
                  </a:ext>
                </a:extLst>
              </a:tr>
              <a:tr h="648554">
                <a:tc>
                  <a:txBody>
                    <a:bodyPr/>
                    <a:lstStyle/>
                    <a:p>
                      <a:pPr algn="ctr"/>
                      <a:r>
                        <a:rPr lang="en-US" sz="3200" dirty="0" smtClean="0"/>
                        <a:t>4</a:t>
                      </a:r>
                      <a:endParaRPr lang="en-GB" sz="3200" dirty="0"/>
                    </a:p>
                  </a:txBody>
                  <a:tcPr/>
                </a:tc>
                <a:tc>
                  <a:txBody>
                    <a:bodyPr/>
                    <a:lstStyle/>
                    <a:p>
                      <a:pPr algn="ctr"/>
                      <a:r>
                        <a:rPr lang="en-US" sz="3200" dirty="0" smtClean="0"/>
                        <a:t>Automobile</a:t>
                      </a:r>
                      <a:r>
                        <a:rPr lang="en-US" sz="3200" baseline="0" dirty="0" smtClean="0"/>
                        <a:t> Engg</a:t>
                      </a:r>
                      <a:endParaRPr lang="en-GB" sz="3200" dirty="0"/>
                    </a:p>
                  </a:txBody>
                  <a:tcPr/>
                </a:tc>
                <a:extLst>
                  <a:ext uri="{0D108BD9-81ED-4DB2-BD59-A6C34878D82A}">
                    <a16:rowId xmlns:a16="http://schemas.microsoft.com/office/drawing/2014/main" val="898971672"/>
                  </a:ext>
                </a:extLst>
              </a:tr>
              <a:tr h="648554">
                <a:tc>
                  <a:txBody>
                    <a:bodyPr/>
                    <a:lstStyle/>
                    <a:p>
                      <a:pPr algn="ctr"/>
                      <a:r>
                        <a:rPr lang="en-US" sz="3200" dirty="0" smtClean="0"/>
                        <a:t>5</a:t>
                      </a:r>
                      <a:endParaRPr lang="en-GB" sz="3200" dirty="0"/>
                    </a:p>
                  </a:txBody>
                  <a:tcPr/>
                </a:tc>
                <a:tc>
                  <a:txBody>
                    <a:bodyPr/>
                    <a:lstStyle/>
                    <a:p>
                      <a:pPr algn="ctr"/>
                      <a:r>
                        <a:rPr lang="en-US" sz="3200" dirty="0" smtClean="0"/>
                        <a:t>Mechanical Engg</a:t>
                      </a:r>
                      <a:endParaRPr lang="en-GB" sz="3200" dirty="0"/>
                    </a:p>
                  </a:txBody>
                  <a:tcPr/>
                </a:tc>
                <a:extLst>
                  <a:ext uri="{0D108BD9-81ED-4DB2-BD59-A6C34878D82A}">
                    <a16:rowId xmlns:a16="http://schemas.microsoft.com/office/drawing/2014/main" val="3746538667"/>
                  </a:ext>
                </a:extLst>
              </a:tr>
            </a:tbl>
          </a:graphicData>
        </a:graphic>
      </p:graphicFrame>
    </p:spTree>
    <p:extLst>
      <p:ext uri="{BB962C8B-B14F-4D97-AF65-F5344CB8AC3E}">
        <p14:creationId xmlns:p14="http://schemas.microsoft.com/office/powerpoint/2010/main" val="15183463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531295457"/>
              </p:ext>
            </p:extLst>
          </p:nvPr>
        </p:nvGraphicFramePr>
        <p:xfrm>
          <a:off x="291608" y="847307"/>
          <a:ext cx="6938683" cy="4754880"/>
        </p:xfrm>
        <a:graphic>
          <a:graphicData uri="http://schemas.openxmlformats.org/drawingml/2006/table">
            <a:tbl>
              <a:tblPr firstRow="1" bandRow="1">
                <a:tableStyleId>{5C22544A-7EE6-4342-B048-85BDC9FD1C3A}</a:tableStyleId>
              </a:tblPr>
              <a:tblGrid>
                <a:gridCol w="1458663">
                  <a:extLst>
                    <a:ext uri="{9D8B030D-6E8A-4147-A177-3AD203B41FA5}">
                      <a16:colId xmlns:a16="http://schemas.microsoft.com/office/drawing/2014/main" val="772125637"/>
                    </a:ext>
                  </a:extLst>
                </a:gridCol>
                <a:gridCol w="1674840">
                  <a:extLst>
                    <a:ext uri="{9D8B030D-6E8A-4147-A177-3AD203B41FA5}">
                      <a16:colId xmlns:a16="http://schemas.microsoft.com/office/drawing/2014/main" val="4209862011"/>
                    </a:ext>
                  </a:extLst>
                </a:gridCol>
                <a:gridCol w="1688658">
                  <a:extLst>
                    <a:ext uri="{9D8B030D-6E8A-4147-A177-3AD203B41FA5}">
                      <a16:colId xmlns:a16="http://schemas.microsoft.com/office/drawing/2014/main" val="348279301"/>
                    </a:ext>
                  </a:extLst>
                </a:gridCol>
                <a:gridCol w="2116522">
                  <a:extLst>
                    <a:ext uri="{9D8B030D-6E8A-4147-A177-3AD203B41FA5}">
                      <a16:colId xmlns:a16="http://schemas.microsoft.com/office/drawing/2014/main" val="3779746569"/>
                    </a:ext>
                  </a:extLst>
                </a:gridCol>
              </a:tblGrid>
              <a:tr h="234018">
                <a:tc>
                  <a:txBody>
                    <a:bodyPr/>
                    <a:lstStyle/>
                    <a:p>
                      <a:pPr algn="ctr"/>
                      <a:r>
                        <a:rPr lang="en-US" dirty="0" smtClean="0"/>
                        <a:t>StudentID</a:t>
                      </a:r>
                      <a:endParaRPr lang="en-GB" dirty="0"/>
                    </a:p>
                  </a:txBody>
                  <a:tcPr/>
                </a:tc>
                <a:tc>
                  <a:txBody>
                    <a:bodyPr/>
                    <a:lstStyle/>
                    <a:p>
                      <a:pPr algn="ctr"/>
                      <a:r>
                        <a:rPr lang="en-US" dirty="0" smtClean="0"/>
                        <a:t>StudentName</a:t>
                      </a:r>
                      <a:endParaRPr lang="en-GB" dirty="0"/>
                    </a:p>
                  </a:txBody>
                  <a:tcPr/>
                </a:tc>
                <a:tc>
                  <a:txBody>
                    <a:bodyPr/>
                    <a:lstStyle/>
                    <a:p>
                      <a:pPr algn="ctr"/>
                      <a:r>
                        <a:rPr lang="en-US" dirty="0" smtClean="0"/>
                        <a:t>DeptID</a:t>
                      </a:r>
                      <a:endParaRPr lang="en-GB" dirty="0"/>
                    </a:p>
                  </a:txBody>
                  <a:tcPr/>
                </a:tc>
                <a:tc>
                  <a:txBody>
                    <a:bodyPr/>
                    <a:lstStyle/>
                    <a:p>
                      <a:pPr algn="ctr"/>
                      <a:r>
                        <a:rPr lang="en-US" dirty="0" smtClean="0"/>
                        <a:t>DOB</a:t>
                      </a:r>
                      <a:endParaRPr lang="en-GB" dirty="0"/>
                    </a:p>
                  </a:txBody>
                  <a:tcPr/>
                </a:tc>
                <a:extLst>
                  <a:ext uri="{0D108BD9-81ED-4DB2-BD59-A6C34878D82A}">
                    <a16:rowId xmlns:a16="http://schemas.microsoft.com/office/drawing/2014/main" val="3682878788"/>
                  </a:ext>
                </a:extLst>
              </a:tr>
              <a:tr h="234018">
                <a:tc>
                  <a:txBody>
                    <a:bodyPr/>
                    <a:lstStyle/>
                    <a:p>
                      <a:pPr algn="ctr"/>
                      <a:r>
                        <a:rPr lang="en-US" dirty="0" smtClean="0"/>
                        <a:t>1</a:t>
                      </a:r>
                      <a:endParaRPr lang="en-GB" dirty="0"/>
                    </a:p>
                  </a:txBody>
                  <a:tcPr/>
                </a:tc>
                <a:tc>
                  <a:txBody>
                    <a:bodyPr/>
                    <a:lstStyle/>
                    <a:p>
                      <a:pPr algn="ctr"/>
                      <a:r>
                        <a:rPr lang="en-US" dirty="0" smtClean="0"/>
                        <a:t>Raja</a:t>
                      </a:r>
                      <a:endParaRPr lang="en-GB" dirty="0"/>
                    </a:p>
                  </a:txBody>
                  <a:tcPr/>
                </a:tc>
                <a:tc>
                  <a:txBody>
                    <a:bodyPr/>
                    <a:lstStyle/>
                    <a:p>
                      <a:pPr algn="ctr"/>
                      <a:r>
                        <a:rPr lang="en-US" dirty="0" smtClean="0"/>
                        <a:t>1</a:t>
                      </a:r>
                      <a:endParaRPr lang="en-GB" dirty="0"/>
                    </a:p>
                  </a:txBody>
                  <a:tcPr/>
                </a:tc>
                <a:tc>
                  <a:txBody>
                    <a:bodyPr/>
                    <a:lstStyle/>
                    <a:p>
                      <a:pPr algn="ctr"/>
                      <a:r>
                        <a:rPr lang="en-US" dirty="0" smtClean="0"/>
                        <a:t>10-12-1990</a:t>
                      </a:r>
                      <a:endParaRPr lang="en-GB" dirty="0"/>
                    </a:p>
                  </a:txBody>
                  <a:tcPr/>
                </a:tc>
                <a:extLst>
                  <a:ext uri="{0D108BD9-81ED-4DB2-BD59-A6C34878D82A}">
                    <a16:rowId xmlns:a16="http://schemas.microsoft.com/office/drawing/2014/main" val="413449280"/>
                  </a:ext>
                </a:extLst>
              </a:tr>
              <a:tr h="234018">
                <a:tc>
                  <a:txBody>
                    <a:bodyPr/>
                    <a:lstStyle/>
                    <a:p>
                      <a:pPr algn="ctr"/>
                      <a:r>
                        <a:rPr lang="en-US" dirty="0" smtClean="0"/>
                        <a:t>2</a:t>
                      </a:r>
                      <a:endParaRPr lang="en-GB" dirty="0"/>
                    </a:p>
                  </a:txBody>
                  <a:tcPr/>
                </a:tc>
                <a:tc>
                  <a:txBody>
                    <a:bodyPr/>
                    <a:lstStyle/>
                    <a:p>
                      <a:pPr algn="ctr"/>
                      <a:r>
                        <a:rPr lang="en-US" dirty="0" smtClean="0"/>
                        <a:t>Geetha</a:t>
                      </a:r>
                      <a:endParaRPr lang="en-GB" dirty="0"/>
                    </a:p>
                  </a:txBody>
                  <a:tcPr/>
                </a:tc>
                <a:tc>
                  <a:txBody>
                    <a:bodyPr/>
                    <a:lstStyle/>
                    <a:p>
                      <a:pPr algn="ctr"/>
                      <a:r>
                        <a:rPr lang="en-US" dirty="0" smtClean="0"/>
                        <a:t>1</a:t>
                      </a:r>
                      <a:endParaRPr lang="en-GB" dirty="0"/>
                    </a:p>
                  </a:txBody>
                  <a:tcPr/>
                </a:tc>
                <a:tc>
                  <a:txBody>
                    <a:bodyPr/>
                    <a:lstStyle/>
                    <a:p>
                      <a:pPr algn="ctr"/>
                      <a:r>
                        <a:rPr lang="en-US" dirty="0" smtClean="0"/>
                        <a:t>12-12-1990</a:t>
                      </a:r>
                      <a:endParaRPr lang="en-GB" dirty="0"/>
                    </a:p>
                  </a:txBody>
                  <a:tcPr/>
                </a:tc>
                <a:extLst>
                  <a:ext uri="{0D108BD9-81ED-4DB2-BD59-A6C34878D82A}">
                    <a16:rowId xmlns:a16="http://schemas.microsoft.com/office/drawing/2014/main" val="3384571487"/>
                  </a:ext>
                </a:extLst>
              </a:tr>
              <a:tr h="234018">
                <a:tc>
                  <a:txBody>
                    <a:bodyPr/>
                    <a:lstStyle/>
                    <a:p>
                      <a:pPr algn="ctr"/>
                      <a:r>
                        <a:rPr lang="en-US" dirty="0" smtClean="0"/>
                        <a:t>3</a:t>
                      </a:r>
                      <a:endParaRPr lang="en-GB" dirty="0"/>
                    </a:p>
                  </a:txBody>
                  <a:tcPr/>
                </a:tc>
                <a:tc>
                  <a:txBody>
                    <a:bodyPr/>
                    <a:lstStyle/>
                    <a:p>
                      <a:pPr algn="ctr"/>
                      <a:r>
                        <a:rPr lang="en-US" dirty="0" smtClean="0"/>
                        <a:t>Dev</a:t>
                      </a:r>
                      <a:endParaRPr lang="en-GB" dirty="0"/>
                    </a:p>
                  </a:txBody>
                  <a:tcPr/>
                </a:tc>
                <a:tc>
                  <a:txBody>
                    <a:bodyPr/>
                    <a:lstStyle/>
                    <a:p>
                      <a:pPr algn="ctr"/>
                      <a:r>
                        <a:rPr lang="en-US" dirty="0" smtClean="0"/>
                        <a:t>2</a:t>
                      </a:r>
                      <a:endParaRPr lang="en-GB" dirty="0"/>
                    </a:p>
                  </a:txBody>
                  <a:tcPr/>
                </a:tc>
                <a:tc>
                  <a:txBody>
                    <a:bodyPr/>
                    <a:lstStyle/>
                    <a:p>
                      <a:pPr algn="ctr"/>
                      <a:r>
                        <a:rPr lang="en-US" dirty="0" smtClean="0"/>
                        <a:t>5-7-1990</a:t>
                      </a:r>
                      <a:endParaRPr lang="en-GB" dirty="0"/>
                    </a:p>
                  </a:txBody>
                  <a:tcPr/>
                </a:tc>
                <a:extLst>
                  <a:ext uri="{0D108BD9-81ED-4DB2-BD59-A6C34878D82A}">
                    <a16:rowId xmlns:a16="http://schemas.microsoft.com/office/drawing/2014/main" val="4189676885"/>
                  </a:ext>
                </a:extLst>
              </a:tr>
              <a:tr h="234018">
                <a:tc>
                  <a:txBody>
                    <a:bodyPr/>
                    <a:lstStyle/>
                    <a:p>
                      <a:pPr algn="ctr"/>
                      <a:r>
                        <a:rPr lang="en-US" dirty="0" smtClean="0"/>
                        <a:t>4</a:t>
                      </a:r>
                      <a:endParaRPr lang="en-GB" dirty="0"/>
                    </a:p>
                  </a:txBody>
                  <a:tcPr/>
                </a:tc>
                <a:tc>
                  <a:txBody>
                    <a:bodyPr/>
                    <a:lstStyle/>
                    <a:p>
                      <a:pPr algn="ctr"/>
                      <a:r>
                        <a:rPr lang="en-US" dirty="0" smtClean="0"/>
                        <a:t>Preetha</a:t>
                      </a:r>
                      <a:endParaRPr lang="en-GB" dirty="0"/>
                    </a:p>
                  </a:txBody>
                  <a:tcPr/>
                </a:tc>
                <a:tc>
                  <a:txBody>
                    <a:bodyPr/>
                    <a:lstStyle/>
                    <a:p>
                      <a:pPr algn="ctr"/>
                      <a:r>
                        <a:rPr lang="en-US" dirty="0" smtClean="0"/>
                        <a:t>2</a:t>
                      </a:r>
                      <a:endParaRPr lang="en-GB" dirty="0"/>
                    </a:p>
                  </a:txBody>
                  <a:tcPr/>
                </a:tc>
                <a:tc>
                  <a:txBody>
                    <a:bodyPr/>
                    <a:lstStyle/>
                    <a:p>
                      <a:pPr algn="ctr"/>
                      <a:r>
                        <a:rPr lang="en-US" dirty="0" smtClean="0"/>
                        <a:t>12-5-1998</a:t>
                      </a:r>
                      <a:endParaRPr lang="en-GB" dirty="0"/>
                    </a:p>
                  </a:txBody>
                  <a:tcPr/>
                </a:tc>
                <a:extLst>
                  <a:ext uri="{0D108BD9-81ED-4DB2-BD59-A6C34878D82A}">
                    <a16:rowId xmlns:a16="http://schemas.microsoft.com/office/drawing/2014/main" val="3906257791"/>
                  </a:ext>
                </a:extLst>
              </a:tr>
              <a:tr h="234018">
                <a:tc>
                  <a:txBody>
                    <a:bodyPr/>
                    <a:lstStyle/>
                    <a:p>
                      <a:pPr algn="ctr"/>
                      <a:r>
                        <a:rPr lang="en-US" dirty="0" smtClean="0"/>
                        <a:t>5</a:t>
                      </a:r>
                      <a:endParaRPr lang="en-GB" dirty="0"/>
                    </a:p>
                  </a:txBody>
                  <a:tcPr/>
                </a:tc>
                <a:tc>
                  <a:txBody>
                    <a:bodyPr/>
                    <a:lstStyle/>
                    <a:p>
                      <a:pPr algn="ctr"/>
                      <a:r>
                        <a:rPr lang="en-US" dirty="0" smtClean="0"/>
                        <a:t>Hari</a:t>
                      </a:r>
                      <a:endParaRPr lang="en-GB"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algn="ctr"/>
                      <a:r>
                        <a:rPr lang="en-US" dirty="0" smtClean="0"/>
                        <a:t>10-3-1998</a:t>
                      </a:r>
                      <a:endParaRPr lang="en-GB" dirty="0"/>
                    </a:p>
                  </a:txBody>
                  <a:tcPr/>
                </a:tc>
                <a:extLst>
                  <a:ext uri="{0D108BD9-81ED-4DB2-BD59-A6C34878D82A}">
                    <a16:rowId xmlns:a16="http://schemas.microsoft.com/office/drawing/2014/main" val="3588960796"/>
                  </a:ext>
                </a:extLst>
              </a:tr>
              <a:tr h="234018">
                <a:tc>
                  <a:txBody>
                    <a:bodyPr/>
                    <a:lstStyle/>
                    <a:p>
                      <a:pPr algn="ctr"/>
                      <a:r>
                        <a:rPr lang="en-US" dirty="0" smtClean="0"/>
                        <a:t>6</a:t>
                      </a:r>
                      <a:endParaRPr lang="en-GB" dirty="0"/>
                    </a:p>
                  </a:txBody>
                  <a:tcPr/>
                </a:tc>
                <a:tc>
                  <a:txBody>
                    <a:bodyPr/>
                    <a:lstStyle/>
                    <a:p>
                      <a:pPr algn="ctr"/>
                      <a:r>
                        <a:rPr lang="en-US" dirty="0" smtClean="0"/>
                        <a:t>Vani</a:t>
                      </a:r>
                      <a:endParaRPr lang="en-GB"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algn="ctr"/>
                      <a:r>
                        <a:rPr lang="en-US" dirty="0" smtClean="0"/>
                        <a:t>10-12-1990</a:t>
                      </a:r>
                      <a:endParaRPr lang="en-GB" dirty="0"/>
                    </a:p>
                  </a:txBody>
                  <a:tcPr/>
                </a:tc>
                <a:extLst>
                  <a:ext uri="{0D108BD9-81ED-4DB2-BD59-A6C34878D82A}">
                    <a16:rowId xmlns:a16="http://schemas.microsoft.com/office/drawing/2014/main" val="636478708"/>
                  </a:ext>
                </a:extLst>
              </a:tr>
              <a:tr h="234018">
                <a:tc>
                  <a:txBody>
                    <a:bodyPr/>
                    <a:lstStyle/>
                    <a:p>
                      <a:pPr algn="ctr"/>
                      <a:r>
                        <a:rPr lang="en-US" dirty="0" smtClean="0"/>
                        <a:t>7</a:t>
                      </a:r>
                      <a:endParaRPr lang="en-GB" dirty="0"/>
                    </a:p>
                  </a:txBody>
                  <a:tcPr/>
                </a:tc>
                <a:tc>
                  <a:txBody>
                    <a:bodyPr/>
                    <a:lstStyle/>
                    <a:p>
                      <a:pPr algn="ctr"/>
                      <a:r>
                        <a:rPr lang="en-US" dirty="0" smtClean="0"/>
                        <a:t>Krishna</a:t>
                      </a:r>
                      <a:endParaRPr lang="en-GB" dirty="0"/>
                    </a:p>
                  </a:txBody>
                  <a:tcPr/>
                </a:tc>
                <a:tc>
                  <a:txBody>
                    <a:bodyPr/>
                    <a:lstStyle/>
                    <a:p>
                      <a:pPr algn="ctr"/>
                      <a:r>
                        <a:rPr lang="en-US" dirty="0" smtClean="0"/>
                        <a:t>3</a:t>
                      </a:r>
                      <a:endParaRPr lang="en-GB" dirty="0"/>
                    </a:p>
                  </a:txBody>
                  <a:tcPr/>
                </a:tc>
                <a:tc>
                  <a:txBody>
                    <a:bodyPr/>
                    <a:lstStyle/>
                    <a:p>
                      <a:pPr algn="ctr"/>
                      <a:r>
                        <a:rPr lang="en-US" dirty="0" smtClean="0"/>
                        <a:t>12-12-1990</a:t>
                      </a:r>
                      <a:endParaRPr lang="en-GB" dirty="0"/>
                    </a:p>
                  </a:txBody>
                  <a:tcPr/>
                </a:tc>
                <a:extLst>
                  <a:ext uri="{0D108BD9-81ED-4DB2-BD59-A6C34878D82A}">
                    <a16:rowId xmlns:a16="http://schemas.microsoft.com/office/drawing/2014/main" val="4012944139"/>
                  </a:ext>
                </a:extLst>
              </a:tr>
              <a:tr h="230813">
                <a:tc>
                  <a:txBody>
                    <a:bodyPr/>
                    <a:lstStyle/>
                    <a:p>
                      <a:pPr algn="ctr"/>
                      <a:r>
                        <a:rPr lang="en-US" dirty="0" smtClean="0"/>
                        <a:t>8</a:t>
                      </a:r>
                      <a:endParaRPr lang="en-GB" dirty="0"/>
                    </a:p>
                  </a:txBody>
                  <a:tcPr/>
                </a:tc>
                <a:tc>
                  <a:txBody>
                    <a:bodyPr/>
                    <a:lstStyle/>
                    <a:p>
                      <a:pPr algn="ctr"/>
                      <a:r>
                        <a:rPr lang="en-US" dirty="0" smtClean="0"/>
                        <a:t>Ajith</a:t>
                      </a:r>
                      <a:endParaRPr lang="en-GB" dirty="0"/>
                    </a:p>
                  </a:txBody>
                  <a:tcPr/>
                </a:tc>
                <a:tc>
                  <a:txBody>
                    <a:bodyPr/>
                    <a:lstStyle/>
                    <a:p>
                      <a:pPr algn="ctr"/>
                      <a:r>
                        <a:rPr lang="en-US" dirty="0" smtClean="0"/>
                        <a:t>3</a:t>
                      </a:r>
                      <a:endParaRPr lang="en-GB" dirty="0"/>
                    </a:p>
                  </a:txBody>
                  <a:tcPr/>
                </a:tc>
                <a:tc>
                  <a:txBody>
                    <a:bodyPr/>
                    <a:lstStyle/>
                    <a:p>
                      <a:pPr algn="ctr"/>
                      <a:r>
                        <a:rPr lang="en-US" dirty="0" smtClean="0"/>
                        <a:t>5-7-1990</a:t>
                      </a:r>
                      <a:endParaRPr lang="en-GB" dirty="0"/>
                    </a:p>
                  </a:txBody>
                  <a:tcPr/>
                </a:tc>
                <a:extLst>
                  <a:ext uri="{0D108BD9-81ED-4DB2-BD59-A6C34878D82A}">
                    <a16:rowId xmlns:a16="http://schemas.microsoft.com/office/drawing/2014/main" val="698609546"/>
                  </a:ext>
                </a:extLst>
              </a:tr>
              <a:tr h="234018">
                <a:tc>
                  <a:txBody>
                    <a:bodyPr/>
                    <a:lstStyle/>
                    <a:p>
                      <a:pPr algn="ctr"/>
                      <a:r>
                        <a:rPr lang="en-US" dirty="0" smtClean="0"/>
                        <a:t>9</a:t>
                      </a:r>
                      <a:endParaRPr lang="en-GB" dirty="0"/>
                    </a:p>
                  </a:txBody>
                  <a:tcPr/>
                </a:tc>
                <a:tc>
                  <a:txBody>
                    <a:bodyPr/>
                    <a:lstStyle/>
                    <a:p>
                      <a:pPr algn="ctr"/>
                      <a:r>
                        <a:rPr lang="en-US" dirty="0" smtClean="0"/>
                        <a:t>Ram</a:t>
                      </a:r>
                      <a:endParaRPr lang="en-GB" dirty="0"/>
                    </a:p>
                  </a:txBody>
                  <a:tcPr/>
                </a:tc>
                <a:tc>
                  <a:txBody>
                    <a:bodyPr/>
                    <a:lstStyle/>
                    <a:p>
                      <a:pPr algn="ctr"/>
                      <a:r>
                        <a:rPr lang="en-US" dirty="0" smtClean="0"/>
                        <a:t>2</a:t>
                      </a:r>
                      <a:endParaRPr lang="en-GB" dirty="0"/>
                    </a:p>
                  </a:txBody>
                  <a:tcPr/>
                </a:tc>
                <a:tc>
                  <a:txBody>
                    <a:bodyPr/>
                    <a:lstStyle/>
                    <a:p>
                      <a:pPr algn="ctr"/>
                      <a:r>
                        <a:rPr lang="en-US" dirty="0" smtClean="0"/>
                        <a:t>12-5-1998</a:t>
                      </a:r>
                      <a:endParaRPr lang="en-GB" dirty="0"/>
                    </a:p>
                  </a:txBody>
                  <a:tcPr/>
                </a:tc>
                <a:extLst>
                  <a:ext uri="{0D108BD9-81ED-4DB2-BD59-A6C34878D82A}">
                    <a16:rowId xmlns:a16="http://schemas.microsoft.com/office/drawing/2014/main" val="1271048090"/>
                  </a:ext>
                </a:extLst>
              </a:tr>
              <a:tr h="234018">
                <a:tc>
                  <a:txBody>
                    <a:bodyPr/>
                    <a:lstStyle/>
                    <a:p>
                      <a:pPr algn="ctr"/>
                      <a:r>
                        <a:rPr lang="en-US" dirty="0" smtClean="0"/>
                        <a:t>10</a:t>
                      </a:r>
                      <a:endParaRPr lang="en-GB" dirty="0"/>
                    </a:p>
                  </a:txBody>
                  <a:tcPr/>
                </a:tc>
                <a:tc>
                  <a:txBody>
                    <a:bodyPr/>
                    <a:lstStyle/>
                    <a:p>
                      <a:pPr algn="ctr"/>
                      <a:r>
                        <a:rPr lang="en-US" dirty="0" smtClean="0"/>
                        <a:t>Kumar</a:t>
                      </a:r>
                      <a:endParaRPr lang="en-GB" dirty="0"/>
                    </a:p>
                  </a:txBody>
                  <a:tcPr/>
                </a:tc>
                <a:tc>
                  <a:txBody>
                    <a:bodyPr/>
                    <a:lstStyle/>
                    <a:p>
                      <a:pPr algn="ctr"/>
                      <a:r>
                        <a:rPr lang="en-US" dirty="0" smtClean="0"/>
                        <a:t>1</a:t>
                      </a:r>
                      <a:endParaRPr lang="en-GB" dirty="0"/>
                    </a:p>
                  </a:txBody>
                  <a:tcPr/>
                </a:tc>
                <a:tc>
                  <a:txBody>
                    <a:bodyPr/>
                    <a:lstStyle/>
                    <a:p>
                      <a:pPr algn="ctr"/>
                      <a:r>
                        <a:rPr lang="en-US" dirty="0" smtClean="0"/>
                        <a:t>10-3-1998</a:t>
                      </a:r>
                      <a:endParaRPr lang="en-GB" dirty="0"/>
                    </a:p>
                  </a:txBody>
                  <a:tcPr/>
                </a:tc>
                <a:extLst>
                  <a:ext uri="{0D108BD9-81ED-4DB2-BD59-A6C34878D82A}">
                    <a16:rowId xmlns:a16="http://schemas.microsoft.com/office/drawing/2014/main" val="1932850164"/>
                  </a:ext>
                </a:extLst>
              </a:tr>
              <a:tr h="234018">
                <a:tc>
                  <a:txBody>
                    <a:bodyPr/>
                    <a:lstStyle/>
                    <a:p>
                      <a:pPr algn="ctr"/>
                      <a:r>
                        <a:rPr lang="en-US" dirty="0" smtClean="0"/>
                        <a:t>11</a:t>
                      </a:r>
                      <a:endParaRPr lang="en-GB" dirty="0"/>
                    </a:p>
                  </a:txBody>
                  <a:tcPr/>
                </a:tc>
                <a:tc>
                  <a:txBody>
                    <a:bodyPr/>
                    <a:lstStyle/>
                    <a:p>
                      <a:pPr algn="ctr"/>
                      <a:r>
                        <a:rPr lang="en-US" dirty="0" smtClean="0"/>
                        <a:t>Sandhya</a:t>
                      </a:r>
                      <a:endParaRPr lang="en-GB" dirty="0"/>
                    </a:p>
                  </a:txBody>
                  <a:tcPr/>
                </a:tc>
                <a:tc>
                  <a:txBody>
                    <a:bodyPr/>
                    <a:lstStyle/>
                    <a:p>
                      <a:pPr algn="ctr"/>
                      <a:r>
                        <a:rPr lang="en-US" dirty="0" smtClean="0"/>
                        <a:t>4</a:t>
                      </a:r>
                      <a:endParaRPr lang="en-GB" dirty="0"/>
                    </a:p>
                  </a:txBody>
                  <a:tcPr/>
                </a:tc>
                <a:tc>
                  <a:txBody>
                    <a:bodyPr/>
                    <a:lstStyle/>
                    <a:p>
                      <a:pPr algn="ctr"/>
                      <a:r>
                        <a:rPr lang="en-US" dirty="0" smtClean="0"/>
                        <a:t>10-12-1990</a:t>
                      </a:r>
                      <a:endParaRPr lang="en-GB" dirty="0"/>
                    </a:p>
                  </a:txBody>
                  <a:tcPr/>
                </a:tc>
                <a:extLst>
                  <a:ext uri="{0D108BD9-81ED-4DB2-BD59-A6C34878D82A}">
                    <a16:rowId xmlns:a16="http://schemas.microsoft.com/office/drawing/2014/main" val="898971672"/>
                  </a:ext>
                </a:extLst>
              </a:tr>
              <a:tr h="234018">
                <a:tc>
                  <a:txBody>
                    <a:bodyPr/>
                    <a:lstStyle/>
                    <a:p>
                      <a:pPr algn="ctr"/>
                      <a:r>
                        <a:rPr lang="en-US" dirty="0" smtClean="0"/>
                        <a:t>12</a:t>
                      </a:r>
                      <a:endParaRPr lang="en-GB" dirty="0"/>
                    </a:p>
                  </a:txBody>
                  <a:tcPr/>
                </a:tc>
                <a:tc>
                  <a:txBody>
                    <a:bodyPr/>
                    <a:lstStyle/>
                    <a:p>
                      <a:pPr algn="ctr"/>
                      <a:r>
                        <a:rPr lang="en-US" dirty="0" smtClean="0"/>
                        <a:t>Uma</a:t>
                      </a:r>
                      <a:endParaRPr lang="en-GB" dirty="0"/>
                    </a:p>
                  </a:txBody>
                  <a:tcPr/>
                </a:tc>
                <a:tc>
                  <a:txBody>
                    <a:bodyPr/>
                    <a:lstStyle/>
                    <a:p>
                      <a:pPr algn="ctr"/>
                      <a:r>
                        <a:rPr lang="en-US" dirty="0" smtClean="0"/>
                        <a:t>4</a:t>
                      </a:r>
                      <a:endParaRPr lang="en-GB" dirty="0"/>
                    </a:p>
                  </a:txBody>
                  <a:tcPr/>
                </a:tc>
                <a:tc>
                  <a:txBody>
                    <a:bodyPr/>
                    <a:lstStyle/>
                    <a:p>
                      <a:pPr algn="ctr"/>
                      <a:r>
                        <a:rPr lang="en-US" dirty="0" smtClean="0"/>
                        <a:t>12-12-1990</a:t>
                      </a:r>
                      <a:endParaRPr lang="en-GB" dirty="0"/>
                    </a:p>
                  </a:txBody>
                  <a:tcPr/>
                </a:tc>
                <a:extLst>
                  <a:ext uri="{0D108BD9-81ED-4DB2-BD59-A6C34878D82A}">
                    <a16:rowId xmlns:a16="http://schemas.microsoft.com/office/drawing/2014/main" val="3746538667"/>
                  </a:ext>
                </a:extLst>
              </a:tr>
            </a:tbl>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80034653"/>
              </p:ext>
            </p:extLst>
          </p:nvPr>
        </p:nvGraphicFramePr>
        <p:xfrm>
          <a:off x="8007531" y="1786441"/>
          <a:ext cx="3779520" cy="2876613"/>
        </p:xfrm>
        <a:graphic>
          <a:graphicData uri="http://schemas.openxmlformats.org/drawingml/2006/table">
            <a:tbl>
              <a:tblPr firstRow="1" bandRow="1">
                <a:tableStyleId>{5C22544A-7EE6-4342-B048-85BDC9FD1C3A}</a:tableStyleId>
              </a:tblPr>
              <a:tblGrid>
                <a:gridCol w="683733">
                  <a:extLst>
                    <a:ext uri="{9D8B030D-6E8A-4147-A177-3AD203B41FA5}">
                      <a16:colId xmlns:a16="http://schemas.microsoft.com/office/drawing/2014/main" val="772125637"/>
                    </a:ext>
                  </a:extLst>
                </a:gridCol>
                <a:gridCol w="3095787">
                  <a:extLst>
                    <a:ext uri="{9D8B030D-6E8A-4147-A177-3AD203B41FA5}">
                      <a16:colId xmlns:a16="http://schemas.microsoft.com/office/drawing/2014/main" val="348279301"/>
                    </a:ext>
                  </a:extLst>
                </a:gridCol>
              </a:tblGrid>
              <a:tr h="380411">
                <a:tc>
                  <a:txBody>
                    <a:bodyPr/>
                    <a:lstStyle/>
                    <a:p>
                      <a:pPr algn="ctr"/>
                      <a:r>
                        <a:rPr lang="en-US" dirty="0" smtClean="0"/>
                        <a:t>DeptID</a:t>
                      </a:r>
                      <a:endParaRPr lang="en-GB" dirty="0"/>
                    </a:p>
                  </a:txBody>
                  <a:tcPr/>
                </a:tc>
                <a:tc>
                  <a:txBody>
                    <a:bodyPr/>
                    <a:lstStyle/>
                    <a:p>
                      <a:pPr algn="ctr"/>
                      <a:r>
                        <a:rPr lang="en-US" dirty="0" smtClean="0"/>
                        <a:t>Department</a:t>
                      </a:r>
                      <a:endParaRPr lang="en-GB" dirty="0"/>
                    </a:p>
                  </a:txBody>
                  <a:tcPr/>
                </a:tc>
                <a:extLst>
                  <a:ext uri="{0D108BD9-81ED-4DB2-BD59-A6C34878D82A}">
                    <a16:rowId xmlns:a16="http://schemas.microsoft.com/office/drawing/2014/main" val="3682878788"/>
                  </a:ext>
                </a:extLst>
              </a:tr>
              <a:tr h="303616">
                <a:tc>
                  <a:txBody>
                    <a:bodyPr/>
                    <a:lstStyle/>
                    <a:p>
                      <a:pPr algn="ctr"/>
                      <a:r>
                        <a:rPr lang="en-US" sz="2000" dirty="0" smtClean="0"/>
                        <a:t>1</a:t>
                      </a:r>
                      <a:endParaRPr lang="en-GB" sz="2000" dirty="0"/>
                    </a:p>
                  </a:txBody>
                  <a:tcPr/>
                </a:tc>
                <a:tc>
                  <a:txBody>
                    <a:bodyPr/>
                    <a:lstStyle/>
                    <a:p>
                      <a:pPr algn="ctr"/>
                      <a:r>
                        <a:rPr lang="en-US" sz="2000" dirty="0" smtClean="0"/>
                        <a:t>Computer</a:t>
                      </a:r>
                      <a:r>
                        <a:rPr lang="en-US" sz="2000" baseline="0" dirty="0" smtClean="0"/>
                        <a:t> Science &amp; Engg</a:t>
                      </a:r>
                      <a:endParaRPr lang="en-GB" sz="2000" dirty="0"/>
                    </a:p>
                  </a:txBody>
                  <a:tcPr/>
                </a:tc>
                <a:extLst>
                  <a:ext uri="{0D108BD9-81ED-4DB2-BD59-A6C34878D82A}">
                    <a16:rowId xmlns:a16="http://schemas.microsoft.com/office/drawing/2014/main" val="413449280"/>
                  </a:ext>
                </a:extLst>
              </a:tr>
              <a:tr h="396416">
                <a:tc>
                  <a:txBody>
                    <a:bodyPr/>
                    <a:lstStyle/>
                    <a:p>
                      <a:pPr algn="ctr"/>
                      <a:r>
                        <a:rPr lang="en-US" sz="2000" dirty="0" smtClean="0"/>
                        <a:t>2</a:t>
                      </a:r>
                      <a:endParaRPr lang="en-GB"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smtClean="0"/>
                        <a:t>Information Technology</a:t>
                      </a:r>
                      <a:endParaRPr lang="en-GB" sz="2000" dirty="0"/>
                    </a:p>
                  </a:txBody>
                  <a:tcPr/>
                </a:tc>
                <a:extLst>
                  <a:ext uri="{0D108BD9-81ED-4DB2-BD59-A6C34878D82A}">
                    <a16:rowId xmlns:a16="http://schemas.microsoft.com/office/drawing/2014/main" val="3384571487"/>
                  </a:ext>
                </a:extLst>
              </a:tr>
              <a:tr h="555989">
                <a:tc>
                  <a:txBody>
                    <a:bodyPr/>
                    <a:lstStyle/>
                    <a:p>
                      <a:pPr algn="ctr"/>
                      <a:r>
                        <a:rPr lang="en-US" sz="2000" dirty="0" smtClean="0"/>
                        <a:t>3</a:t>
                      </a:r>
                      <a:endParaRPr lang="en-GB" sz="2000" dirty="0"/>
                    </a:p>
                  </a:txBody>
                  <a:tcPr/>
                </a:tc>
                <a:tc>
                  <a:txBody>
                    <a:bodyPr/>
                    <a:lstStyle/>
                    <a:p>
                      <a:pPr algn="ctr"/>
                      <a:r>
                        <a:rPr lang="en-US" sz="2000" dirty="0" smtClean="0"/>
                        <a:t>Electrical &amp; Electronics Engg</a:t>
                      </a:r>
                      <a:endParaRPr lang="en-GB" sz="2000" dirty="0"/>
                    </a:p>
                  </a:txBody>
                  <a:tcPr/>
                </a:tc>
                <a:extLst>
                  <a:ext uri="{0D108BD9-81ED-4DB2-BD59-A6C34878D82A}">
                    <a16:rowId xmlns:a16="http://schemas.microsoft.com/office/drawing/2014/main" val="4012944139"/>
                  </a:ext>
                </a:extLst>
              </a:tr>
              <a:tr h="443944">
                <a:tc>
                  <a:txBody>
                    <a:bodyPr/>
                    <a:lstStyle/>
                    <a:p>
                      <a:pPr algn="ctr"/>
                      <a:r>
                        <a:rPr lang="en-US" sz="2000" dirty="0" smtClean="0"/>
                        <a:t>4</a:t>
                      </a:r>
                      <a:endParaRPr lang="en-GB" sz="2000" dirty="0"/>
                    </a:p>
                  </a:txBody>
                  <a:tcPr/>
                </a:tc>
                <a:tc>
                  <a:txBody>
                    <a:bodyPr/>
                    <a:lstStyle/>
                    <a:p>
                      <a:pPr algn="ctr"/>
                      <a:r>
                        <a:rPr lang="en-US" sz="2000" dirty="0" smtClean="0"/>
                        <a:t>Automobile</a:t>
                      </a:r>
                      <a:r>
                        <a:rPr lang="en-US" sz="2000" baseline="0" dirty="0" smtClean="0"/>
                        <a:t> Engg</a:t>
                      </a:r>
                      <a:endParaRPr lang="en-GB" sz="2000" dirty="0"/>
                    </a:p>
                  </a:txBody>
                  <a:tcPr/>
                </a:tc>
                <a:extLst>
                  <a:ext uri="{0D108BD9-81ED-4DB2-BD59-A6C34878D82A}">
                    <a16:rowId xmlns:a16="http://schemas.microsoft.com/office/drawing/2014/main" val="898971672"/>
                  </a:ext>
                </a:extLst>
              </a:tr>
              <a:tr h="443944">
                <a:tc>
                  <a:txBody>
                    <a:bodyPr/>
                    <a:lstStyle/>
                    <a:p>
                      <a:pPr algn="ctr"/>
                      <a:r>
                        <a:rPr lang="en-US" sz="2000" dirty="0" smtClean="0"/>
                        <a:t>5</a:t>
                      </a:r>
                      <a:endParaRPr lang="en-GB" sz="2000" dirty="0"/>
                    </a:p>
                  </a:txBody>
                  <a:tcPr/>
                </a:tc>
                <a:tc>
                  <a:txBody>
                    <a:bodyPr/>
                    <a:lstStyle/>
                    <a:p>
                      <a:pPr algn="ctr"/>
                      <a:r>
                        <a:rPr lang="en-US" sz="2000" dirty="0" smtClean="0"/>
                        <a:t>Mechanical Engg</a:t>
                      </a:r>
                      <a:endParaRPr lang="en-GB" sz="2000" dirty="0"/>
                    </a:p>
                  </a:txBody>
                  <a:tcPr/>
                </a:tc>
                <a:extLst>
                  <a:ext uri="{0D108BD9-81ED-4DB2-BD59-A6C34878D82A}">
                    <a16:rowId xmlns:a16="http://schemas.microsoft.com/office/drawing/2014/main" val="3746538667"/>
                  </a:ext>
                </a:extLst>
              </a:tr>
            </a:tbl>
          </a:graphicData>
        </a:graphic>
      </p:graphicFrame>
      <p:sp>
        <p:nvSpPr>
          <p:cNvPr id="7" name="Freeform 6"/>
          <p:cNvSpPr/>
          <p:nvPr/>
        </p:nvSpPr>
        <p:spPr>
          <a:xfrm>
            <a:off x="4467498" y="4984098"/>
            <a:ext cx="4127925" cy="1319922"/>
          </a:xfrm>
          <a:custGeom>
            <a:avLst/>
            <a:gdLst>
              <a:gd name="connsiteX0" fmla="*/ 0 w 4127925"/>
              <a:gd name="connsiteY0" fmla="*/ 169818 h 1319922"/>
              <a:gd name="connsiteX1" fmla="*/ 104503 w 4127925"/>
              <a:gd name="connsiteY1" fmla="*/ 248195 h 1319922"/>
              <a:gd name="connsiteX2" fmla="*/ 117566 w 4127925"/>
              <a:gd name="connsiteY2" fmla="*/ 287383 h 1319922"/>
              <a:gd name="connsiteX3" fmla="*/ 143691 w 4127925"/>
              <a:gd name="connsiteY3" fmla="*/ 339635 h 1319922"/>
              <a:gd name="connsiteX4" fmla="*/ 169817 w 4127925"/>
              <a:gd name="connsiteY4" fmla="*/ 418012 h 1319922"/>
              <a:gd name="connsiteX5" fmla="*/ 274320 w 4127925"/>
              <a:gd name="connsiteY5" fmla="*/ 600892 h 1319922"/>
              <a:gd name="connsiteX6" fmla="*/ 300446 w 4127925"/>
              <a:gd name="connsiteY6" fmla="*/ 640080 h 1319922"/>
              <a:gd name="connsiteX7" fmla="*/ 378823 w 4127925"/>
              <a:gd name="connsiteY7" fmla="*/ 757646 h 1319922"/>
              <a:gd name="connsiteX8" fmla="*/ 470263 w 4127925"/>
              <a:gd name="connsiteY8" fmla="*/ 849086 h 1319922"/>
              <a:gd name="connsiteX9" fmla="*/ 496388 w 4127925"/>
              <a:gd name="connsiteY9" fmla="*/ 901338 h 1319922"/>
              <a:gd name="connsiteX10" fmla="*/ 548640 w 4127925"/>
              <a:gd name="connsiteY10" fmla="*/ 927463 h 1319922"/>
              <a:gd name="connsiteX11" fmla="*/ 600891 w 4127925"/>
              <a:gd name="connsiteY11" fmla="*/ 966652 h 1319922"/>
              <a:gd name="connsiteX12" fmla="*/ 653143 w 4127925"/>
              <a:gd name="connsiteY12" fmla="*/ 1018903 h 1319922"/>
              <a:gd name="connsiteX13" fmla="*/ 744583 w 4127925"/>
              <a:gd name="connsiteY13" fmla="*/ 1071155 h 1319922"/>
              <a:gd name="connsiteX14" fmla="*/ 796834 w 4127925"/>
              <a:gd name="connsiteY14" fmla="*/ 1110343 h 1319922"/>
              <a:gd name="connsiteX15" fmla="*/ 862148 w 4127925"/>
              <a:gd name="connsiteY15" fmla="*/ 1136469 h 1319922"/>
              <a:gd name="connsiteX16" fmla="*/ 901337 w 4127925"/>
              <a:gd name="connsiteY16" fmla="*/ 1162595 h 1319922"/>
              <a:gd name="connsiteX17" fmla="*/ 953588 w 4127925"/>
              <a:gd name="connsiteY17" fmla="*/ 1175658 h 1319922"/>
              <a:gd name="connsiteX18" fmla="*/ 1018903 w 4127925"/>
              <a:gd name="connsiteY18" fmla="*/ 1201783 h 1319922"/>
              <a:gd name="connsiteX19" fmla="*/ 1084217 w 4127925"/>
              <a:gd name="connsiteY19" fmla="*/ 1214846 h 1319922"/>
              <a:gd name="connsiteX20" fmla="*/ 1123406 w 4127925"/>
              <a:gd name="connsiteY20" fmla="*/ 1227909 h 1319922"/>
              <a:gd name="connsiteX21" fmla="*/ 1162594 w 4127925"/>
              <a:gd name="connsiteY21" fmla="*/ 1254035 h 1319922"/>
              <a:gd name="connsiteX22" fmla="*/ 1436914 w 4127925"/>
              <a:gd name="connsiteY22" fmla="*/ 1280160 h 1319922"/>
              <a:gd name="connsiteX23" fmla="*/ 1489166 w 4127925"/>
              <a:gd name="connsiteY23" fmla="*/ 1306286 h 1319922"/>
              <a:gd name="connsiteX24" fmla="*/ 2534194 w 4127925"/>
              <a:gd name="connsiteY24" fmla="*/ 1306286 h 1319922"/>
              <a:gd name="connsiteX25" fmla="*/ 2625634 w 4127925"/>
              <a:gd name="connsiteY25" fmla="*/ 1293223 h 1319922"/>
              <a:gd name="connsiteX26" fmla="*/ 2730137 w 4127925"/>
              <a:gd name="connsiteY26" fmla="*/ 1267098 h 1319922"/>
              <a:gd name="connsiteX27" fmla="*/ 2847703 w 4127925"/>
              <a:gd name="connsiteY27" fmla="*/ 1254035 h 1319922"/>
              <a:gd name="connsiteX28" fmla="*/ 2886891 w 4127925"/>
              <a:gd name="connsiteY28" fmla="*/ 1240972 h 1319922"/>
              <a:gd name="connsiteX29" fmla="*/ 2965268 w 4127925"/>
              <a:gd name="connsiteY29" fmla="*/ 1227909 h 1319922"/>
              <a:gd name="connsiteX30" fmla="*/ 3017520 w 4127925"/>
              <a:gd name="connsiteY30" fmla="*/ 1214846 h 1319922"/>
              <a:gd name="connsiteX31" fmla="*/ 3095897 w 4127925"/>
              <a:gd name="connsiteY31" fmla="*/ 1175658 h 1319922"/>
              <a:gd name="connsiteX32" fmla="*/ 3148148 w 4127925"/>
              <a:gd name="connsiteY32" fmla="*/ 1149532 h 1319922"/>
              <a:gd name="connsiteX33" fmla="*/ 3187337 w 4127925"/>
              <a:gd name="connsiteY33" fmla="*/ 1136469 h 1319922"/>
              <a:gd name="connsiteX34" fmla="*/ 3291840 w 4127925"/>
              <a:gd name="connsiteY34" fmla="*/ 1084218 h 1319922"/>
              <a:gd name="connsiteX35" fmla="*/ 3344091 w 4127925"/>
              <a:gd name="connsiteY35" fmla="*/ 1058092 h 1319922"/>
              <a:gd name="connsiteX36" fmla="*/ 3396343 w 4127925"/>
              <a:gd name="connsiteY36" fmla="*/ 1045029 h 1319922"/>
              <a:gd name="connsiteX37" fmla="*/ 3474720 w 4127925"/>
              <a:gd name="connsiteY37" fmla="*/ 1005840 h 1319922"/>
              <a:gd name="connsiteX38" fmla="*/ 3644537 w 4127925"/>
              <a:gd name="connsiteY38" fmla="*/ 901338 h 1319922"/>
              <a:gd name="connsiteX39" fmla="*/ 3709851 w 4127925"/>
              <a:gd name="connsiteY39" fmla="*/ 836023 h 1319922"/>
              <a:gd name="connsiteX40" fmla="*/ 3814354 w 4127925"/>
              <a:gd name="connsiteY40" fmla="*/ 757646 h 1319922"/>
              <a:gd name="connsiteX41" fmla="*/ 3866606 w 4127925"/>
              <a:gd name="connsiteY41" fmla="*/ 718458 h 1319922"/>
              <a:gd name="connsiteX42" fmla="*/ 3879668 w 4127925"/>
              <a:gd name="connsiteY42" fmla="*/ 679269 h 1319922"/>
              <a:gd name="connsiteX43" fmla="*/ 3944983 w 4127925"/>
              <a:gd name="connsiteY43" fmla="*/ 600892 h 1319922"/>
              <a:gd name="connsiteX44" fmla="*/ 3997234 w 4127925"/>
              <a:gd name="connsiteY44" fmla="*/ 470263 h 1319922"/>
              <a:gd name="connsiteX45" fmla="*/ 4010297 w 4127925"/>
              <a:gd name="connsiteY45" fmla="*/ 431075 h 1319922"/>
              <a:gd name="connsiteX46" fmla="*/ 4062548 w 4127925"/>
              <a:gd name="connsiteY46" fmla="*/ 287383 h 1319922"/>
              <a:gd name="connsiteX47" fmla="*/ 4075611 w 4127925"/>
              <a:gd name="connsiteY47" fmla="*/ 248195 h 1319922"/>
              <a:gd name="connsiteX48" fmla="*/ 4114800 w 4127925"/>
              <a:gd name="connsiteY48" fmla="*/ 182880 h 1319922"/>
              <a:gd name="connsiteX49" fmla="*/ 4127863 w 4127925"/>
              <a:gd name="connsiteY49" fmla="*/ 0 h 1319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127925" h="1319922">
                <a:moveTo>
                  <a:pt x="0" y="169818"/>
                </a:moveTo>
                <a:cubicBezTo>
                  <a:pt x="37527" y="192334"/>
                  <a:pt x="79106" y="210100"/>
                  <a:pt x="104503" y="248195"/>
                </a:cubicBezTo>
                <a:cubicBezTo>
                  <a:pt x="112141" y="259652"/>
                  <a:pt x="112142" y="274727"/>
                  <a:pt x="117566" y="287383"/>
                </a:cubicBezTo>
                <a:cubicBezTo>
                  <a:pt x="125237" y="305282"/>
                  <a:pt x="136459" y="321555"/>
                  <a:pt x="143691" y="339635"/>
                </a:cubicBezTo>
                <a:cubicBezTo>
                  <a:pt x="153919" y="365204"/>
                  <a:pt x="157501" y="393380"/>
                  <a:pt x="169817" y="418012"/>
                </a:cubicBezTo>
                <a:cubicBezTo>
                  <a:pt x="236109" y="550597"/>
                  <a:pt x="200465" y="490112"/>
                  <a:pt x="274320" y="600892"/>
                </a:cubicBezTo>
                <a:cubicBezTo>
                  <a:pt x="283029" y="613955"/>
                  <a:pt x="292369" y="626618"/>
                  <a:pt x="300446" y="640080"/>
                </a:cubicBezTo>
                <a:cubicBezTo>
                  <a:pt x="324706" y="680514"/>
                  <a:pt x="346806" y="722427"/>
                  <a:pt x="378823" y="757646"/>
                </a:cubicBezTo>
                <a:cubicBezTo>
                  <a:pt x="407819" y="789541"/>
                  <a:pt x="470263" y="849086"/>
                  <a:pt x="470263" y="849086"/>
                </a:cubicBezTo>
                <a:cubicBezTo>
                  <a:pt x="478971" y="866503"/>
                  <a:pt x="482618" y="887568"/>
                  <a:pt x="496388" y="901338"/>
                </a:cubicBezTo>
                <a:cubicBezTo>
                  <a:pt x="510158" y="915108"/>
                  <a:pt x="532127" y="917142"/>
                  <a:pt x="548640" y="927463"/>
                </a:cubicBezTo>
                <a:cubicBezTo>
                  <a:pt x="567102" y="939002"/>
                  <a:pt x="584506" y="952315"/>
                  <a:pt x="600891" y="966652"/>
                </a:cubicBezTo>
                <a:cubicBezTo>
                  <a:pt x="619428" y="982872"/>
                  <a:pt x="634441" y="1002873"/>
                  <a:pt x="653143" y="1018903"/>
                </a:cubicBezTo>
                <a:cubicBezTo>
                  <a:pt x="691868" y="1052096"/>
                  <a:pt x="698961" y="1042641"/>
                  <a:pt x="744583" y="1071155"/>
                </a:cubicBezTo>
                <a:cubicBezTo>
                  <a:pt x="763045" y="1082694"/>
                  <a:pt x="777803" y="1099770"/>
                  <a:pt x="796834" y="1110343"/>
                </a:cubicBezTo>
                <a:cubicBezTo>
                  <a:pt x="817332" y="1121731"/>
                  <a:pt x="841175" y="1125982"/>
                  <a:pt x="862148" y="1136469"/>
                </a:cubicBezTo>
                <a:cubicBezTo>
                  <a:pt x="876190" y="1143490"/>
                  <a:pt x="886907" y="1156410"/>
                  <a:pt x="901337" y="1162595"/>
                </a:cubicBezTo>
                <a:cubicBezTo>
                  <a:pt x="917838" y="1169667"/>
                  <a:pt x="936556" y="1169981"/>
                  <a:pt x="953588" y="1175658"/>
                </a:cubicBezTo>
                <a:cubicBezTo>
                  <a:pt x="975833" y="1183073"/>
                  <a:pt x="996443" y="1195045"/>
                  <a:pt x="1018903" y="1201783"/>
                </a:cubicBezTo>
                <a:cubicBezTo>
                  <a:pt x="1040169" y="1208163"/>
                  <a:pt x="1062677" y="1209461"/>
                  <a:pt x="1084217" y="1214846"/>
                </a:cubicBezTo>
                <a:cubicBezTo>
                  <a:pt x="1097575" y="1218186"/>
                  <a:pt x="1110343" y="1223555"/>
                  <a:pt x="1123406" y="1227909"/>
                </a:cubicBezTo>
                <a:cubicBezTo>
                  <a:pt x="1136469" y="1236618"/>
                  <a:pt x="1147557" y="1249524"/>
                  <a:pt x="1162594" y="1254035"/>
                </a:cubicBezTo>
                <a:cubicBezTo>
                  <a:pt x="1210078" y="1268280"/>
                  <a:pt x="1430664" y="1279714"/>
                  <a:pt x="1436914" y="1280160"/>
                </a:cubicBezTo>
                <a:cubicBezTo>
                  <a:pt x="1454331" y="1288869"/>
                  <a:pt x="1469832" y="1303966"/>
                  <a:pt x="1489166" y="1306286"/>
                </a:cubicBezTo>
                <a:cubicBezTo>
                  <a:pt x="1739505" y="1336327"/>
                  <a:pt x="2459611" y="1307550"/>
                  <a:pt x="2534194" y="1306286"/>
                </a:cubicBezTo>
                <a:cubicBezTo>
                  <a:pt x="2564674" y="1301932"/>
                  <a:pt x="2595442" y="1299261"/>
                  <a:pt x="2625634" y="1293223"/>
                </a:cubicBezTo>
                <a:cubicBezTo>
                  <a:pt x="2660843" y="1286181"/>
                  <a:pt x="2694777" y="1273338"/>
                  <a:pt x="2730137" y="1267098"/>
                </a:cubicBezTo>
                <a:cubicBezTo>
                  <a:pt x="2768967" y="1260246"/>
                  <a:pt x="2808514" y="1258389"/>
                  <a:pt x="2847703" y="1254035"/>
                </a:cubicBezTo>
                <a:cubicBezTo>
                  <a:pt x="2860766" y="1249681"/>
                  <a:pt x="2873450" y="1243959"/>
                  <a:pt x="2886891" y="1240972"/>
                </a:cubicBezTo>
                <a:cubicBezTo>
                  <a:pt x="2912746" y="1235226"/>
                  <a:pt x="2939296" y="1233103"/>
                  <a:pt x="2965268" y="1227909"/>
                </a:cubicBezTo>
                <a:cubicBezTo>
                  <a:pt x="2982873" y="1224388"/>
                  <a:pt x="3000103" y="1219200"/>
                  <a:pt x="3017520" y="1214846"/>
                </a:cubicBezTo>
                <a:cubicBezTo>
                  <a:pt x="3092833" y="1164636"/>
                  <a:pt x="3020179" y="1208108"/>
                  <a:pt x="3095897" y="1175658"/>
                </a:cubicBezTo>
                <a:cubicBezTo>
                  <a:pt x="3113795" y="1167987"/>
                  <a:pt x="3130250" y="1157203"/>
                  <a:pt x="3148148" y="1149532"/>
                </a:cubicBezTo>
                <a:cubicBezTo>
                  <a:pt x="3160804" y="1144108"/>
                  <a:pt x="3174802" y="1142167"/>
                  <a:pt x="3187337" y="1136469"/>
                </a:cubicBezTo>
                <a:cubicBezTo>
                  <a:pt x="3222792" y="1120353"/>
                  <a:pt x="3257006" y="1101635"/>
                  <a:pt x="3291840" y="1084218"/>
                </a:cubicBezTo>
                <a:cubicBezTo>
                  <a:pt x="3309257" y="1075509"/>
                  <a:pt x="3325200" y="1062815"/>
                  <a:pt x="3344091" y="1058092"/>
                </a:cubicBezTo>
                <a:lnTo>
                  <a:pt x="3396343" y="1045029"/>
                </a:lnTo>
                <a:cubicBezTo>
                  <a:pt x="3422469" y="1031966"/>
                  <a:pt x="3449673" y="1020868"/>
                  <a:pt x="3474720" y="1005840"/>
                </a:cubicBezTo>
                <a:cubicBezTo>
                  <a:pt x="3697653" y="872080"/>
                  <a:pt x="3513295" y="966958"/>
                  <a:pt x="3644537" y="901338"/>
                </a:cubicBezTo>
                <a:cubicBezTo>
                  <a:pt x="3666308" y="879566"/>
                  <a:pt x="3686965" y="856620"/>
                  <a:pt x="3709851" y="836023"/>
                </a:cubicBezTo>
                <a:cubicBezTo>
                  <a:pt x="3774045" y="778248"/>
                  <a:pt x="3759502" y="796826"/>
                  <a:pt x="3814354" y="757646"/>
                </a:cubicBezTo>
                <a:cubicBezTo>
                  <a:pt x="3832070" y="744992"/>
                  <a:pt x="3849189" y="731521"/>
                  <a:pt x="3866606" y="718458"/>
                </a:cubicBezTo>
                <a:cubicBezTo>
                  <a:pt x="3870960" y="705395"/>
                  <a:pt x="3873510" y="691585"/>
                  <a:pt x="3879668" y="679269"/>
                </a:cubicBezTo>
                <a:cubicBezTo>
                  <a:pt x="3897854" y="642896"/>
                  <a:pt x="3916093" y="629781"/>
                  <a:pt x="3944983" y="600892"/>
                </a:cubicBezTo>
                <a:cubicBezTo>
                  <a:pt x="3969276" y="503720"/>
                  <a:pt x="3943272" y="591677"/>
                  <a:pt x="3997234" y="470263"/>
                </a:cubicBezTo>
                <a:cubicBezTo>
                  <a:pt x="4002826" y="457680"/>
                  <a:pt x="4005462" y="443968"/>
                  <a:pt x="4010297" y="431075"/>
                </a:cubicBezTo>
                <a:cubicBezTo>
                  <a:pt x="4064826" y="285665"/>
                  <a:pt x="4007662" y="452042"/>
                  <a:pt x="4062548" y="287383"/>
                </a:cubicBezTo>
                <a:cubicBezTo>
                  <a:pt x="4066902" y="274320"/>
                  <a:pt x="4068527" y="260002"/>
                  <a:pt x="4075611" y="248195"/>
                </a:cubicBezTo>
                <a:lnTo>
                  <a:pt x="4114800" y="182880"/>
                </a:lnTo>
                <a:cubicBezTo>
                  <a:pt x="4129596" y="34921"/>
                  <a:pt x="4127863" y="96012"/>
                  <a:pt x="4127863" y="0"/>
                </a:cubicBezTo>
              </a:path>
            </a:pathLst>
          </a:custGeom>
          <a:ln w="76200"/>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sp>
        <p:nvSpPr>
          <p:cNvPr id="8" name="TextBox 7"/>
          <p:cNvSpPr txBox="1"/>
          <p:nvPr/>
        </p:nvSpPr>
        <p:spPr>
          <a:xfrm>
            <a:off x="8255788" y="5467092"/>
            <a:ext cx="3252589" cy="923330"/>
          </a:xfrm>
          <a:prstGeom prst="rect">
            <a:avLst/>
          </a:prstGeom>
          <a:noFill/>
        </p:spPr>
        <p:txBody>
          <a:bodyPr wrap="square" rtlCol="0">
            <a:spAutoFit/>
          </a:bodyPr>
          <a:lstStyle/>
          <a:p>
            <a:r>
              <a:rPr lang="en-US" dirty="0" smtClean="0"/>
              <a:t>DeptID is Primary Key in the </a:t>
            </a:r>
            <a:r>
              <a:rPr lang="en-US" dirty="0" err="1" smtClean="0"/>
              <a:t>Dept</a:t>
            </a:r>
            <a:r>
              <a:rPr lang="en-US" dirty="0" smtClean="0"/>
              <a:t> Table is acting as a Foreign key in the Student Table</a:t>
            </a:r>
            <a:endParaRPr lang="en-GB" dirty="0"/>
          </a:p>
        </p:txBody>
      </p:sp>
      <p:sp>
        <p:nvSpPr>
          <p:cNvPr id="2" name="TextBox 1"/>
          <p:cNvSpPr txBox="1"/>
          <p:nvPr/>
        </p:nvSpPr>
        <p:spPr>
          <a:xfrm>
            <a:off x="3264560" y="352697"/>
            <a:ext cx="992777" cy="369332"/>
          </a:xfrm>
          <a:prstGeom prst="rect">
            <a:avLst/>
          </a:prstGeom>
          <a:noFill/>
        </p:spPr>
        <p:txBody>
          <a:bodyPr wrap="square" rtlCol="0">
            <a:spAutoFit/>
          </a:bodyPr>
          <a:lstStyle/>
          <a:p>
            <a:r>
              <a:rPr lang="en-US" b="1" dirty="0"/>
              <a:t>Student</a:t>
            </a:r>
            <a:endParaRPr lang="en-GB" b="1" dirty="0"/>
          </a:p>
        </p:txBody>
      </p:sp>
      <p:sp>
        <p:nvSpPr>
          <p:cNvPr id="9" name="TextBox 8"/>
          <p:cNvSpPr txBox="1"/>
          <p:nvPr/>
        </p:nvSpPr>
        <p:spPr>
          <a:xfrm>
            <a:off x="9400902" y="1293223"/>
            <a:ext cx="1415144" cy="369332"/>
          </a:xfrm>
          <a:prstGeom prst="rect">
            <a:avLst/>
          </a:prstGeom>
          <a:noFill/>
        </p:spPr>
        <p:txBody>
          <a:bodyPr wrap="square" rtlCol="0">
            <a:spAutoFit/>
          </a:bodyPr>
          <a:lstStyle/>
          <a:p>
            <a:r>
              <a:rPr lang="en-US" b="1" dirty="0" smtClean="0"/>
              <a:t>Department</a:t>
            </a:r>
            <a:endParaRPr lang="en-GB" b="1" dirty="0"/>
          </a:p>
        </p:txBody>
      </p:sp>
    </p:spTree>
    <p:extLst>
      <p:ext uri="{BB962C8B-B14F-4D97-AF65-F5344CB8AC3E}">
        <p14:creationId xmlns:p14="http://schemas.microsoft.com/office/powerpoint/2010/main" val="39794114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 Foreign keys are the columns of a table that points to the </a:t>
            </a:r>
            <a:r>
              <a:rPr lang="en-GB" b="1" dirty="0"/>
              <a:t>primary key</a:t>
            </a:r>
            <a:r>
              <a:rPr lang="en-GB" dirty="0"/>
              <a:t> of another table. They act as a cross-reference between tables</a:t>
            </a:r>
            <a:r>
              <a:rPr lang="en-GB" dirty="0" smtClean="0"/>
              <a:t>.</a:t>
            </a:r>
          </a:p>
          <a:p>
            <a:endParaRPr lang="en-US" dirty="0"/>
          </a:p>
          <a:p>
            <a:r>
              <a:rPr lang="en-GB" b="1" dirty="0"/>
              <a:t>Note</a:t>
            </a:r>
            <a:r>
              <a:rPr lang="en-GB" dirty="0"/>
              <a:t>: Practically, the foreign key has nothing to do with the primary key tag of another table, if it points to a unique column (not necessarily a primary key) of another table then too, it would be a foreign key. So, a correct definition of foreign key would be: Foreign keys are the columns of a table that points to the </a:t>
            </a:r>
            <a:r>
              <a:rPr lang="en-GB" b="1" dirty="0"/>
              <a:t>candidate key</a:t>
            </a:r>
            <a:r>
              <a:rPr lang="en-GB" dirty="0"/>
              <a:t> of another table.</a:t>
            </a:r>
          </a:p>
        </p:txBody>
      </p:sp>
    </p:spTree>
    <p:extLst>
      <p:ext uri="{BB962C8B-B14F-4D97-AF65-F5344CB8AC3E}">
        <p14:creationId xmlns:p14="http://schemas.microsoft.com/office/powerpoint/2010/main" val="30275987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 of </a:t>
            </a:r>
            <a:r>
              <a:rPr lang="en-US" smtClean="0"/>
              <a:t>Foreign Key</a:t>
            </a:r>
            <a:endParaRPr lang="en-GB"/>
          </a:p>
        </p:txBody>
      </p:sp>
      <p:sp>
        <p:nvSpPr>
          <p:cNvPr id="3" name="Content Placeholder 2"/>
          <p:cNvSpPr>
            <a:spLocks noGrp="1"/>
          </p:cNvSpPr>
          <p:nvPr>
            <p:ph idx="1"/>
          </p:nvPr>
        </p:nvSpPr>
        <p:spPr/>
        <p:txBody>
          <a:bodyPr>
            <a:normAutofit fontScale="92500" lnSpcReduction="20000"/>
          </a:bodyPr>
          <a:lstStyle/>
          <a:p>
            <a:r>
              <a:rPr lang="en-GB" dirty="0"/>
              <a:t>It states that if a foreign key exists in a relation then either the foreign key value must match a primary key value of some tuple in its home relation or the foreign key value must be null.</a:t>
            </a:r>
          </a:p>
          <a:p>
            <a:r>
              <a:rPr lang="en-GB" dirty="0"/>
              <a:t>The rules are:</a:t>
            </a:r>
          </a:p>
          <a:p>
            <a:r>
              <a:rPr lang="en-GB" dirty="0"/>
              <a:t>You can't delete a record from a primary table if matching records exist in a related table.</a:t>
            </a:r>
          </a:p>
          <a:p>
            <a:r>
              <a:rPr lang="en-GB" dirty="0"/>
              <a:t>You can't change a primary key value in the primary table if that record has related records.</a:t>
            </a:r>
          </a:p>
          <a:p>
            <a:r>
              <a:rPr lang="en-GB" dirty="0"/>
              <a:t>You can't enter a value in the foreign key field of the related table that doesn't exist in the primary key of the primary table.</a:t>
            </a:r>
          </a:p>
          <a:p>
            <a:r>
              <a:rPr lang="en-GB" dirty="0"/>
              <a:t>However, you can enter a Null value in the foreign key, specifying that the records are unrelated.</a:t>
            </a:r>
          </a:p>
          <a:p>
            <a:endParaRPr lang="en-GB" dirty="0"/>
          </a:p>
        </p:txBody>
      </p:sp>
    </p:spTree>
    <p:extLst>
      <p:ext uri="{BB962C8B-B14F-4D97-AF65-F5344CB8AC3E}">
        <p14:creationId xmlns:p14="http://schemas.microsoft.com/office/powerpoint/2010/main" val="7721582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 RELATIONSHIP DIAGRAM</a:t>
            </a:r>
            <a:endParaRPr lang="en-GB" dirty="0"/>
          </a:p>
        </p:txBody>
      </p:sp>
      <p:sp>
        <p:nvSpPr>
          <p:cNvPr id="3" name="Content Placeholder 2"/>
          <p:cNvSpPr>
            <a:spLocks noGrp="1"/>
          </p:cNvSpPr>
          <p:nvPr>
            <p:ph idx="1"/>
          </p:nvPr>
        </p:nvSpPr>
        <p:spPr/>
        <p:txBody>
          <a:bodyPr/>
          <a:lstStyle/>
          <a:p>
            <a:r>
              <a:rPr lang="en-GB" dirty="0"/>
              <a:t>Jack is part of database team and he needs to present the database design to business users. The business users are non-technical and it's difficult for them to read a verbose design document. </a:t>
            </a:r>
            <a:endParaRPr lang="en-GB" dirty="0" smtClean="0"/>
          </a:p>
          <a:p>
            <a:r>
              <a:rPr lang="en-GB" dirty="0" smtClean="0"/>
              <a:t>Jack </a:t>
            </a:r>
            <a:r>
              <a:rPr lang="en-GB" dirty="0"/>
              <a:t>needs to use an Entity Relation (ER) Model.</a:t>
            </a:r>
          </a:p>
          <a:p>
            <a:r>
              <a:rPr lang="en-GB" b="1" dirty="0"/>
              <a:t>ER model</a:t>
            </a:r>
            <a:r>
              <a:rPr lang="en-GB" dirty="0"/>
              <a:t> is a graphical representation of entities and their relationships which helps in understanding data independent of the actual database implementation. </a:t>
            </a:r>
          </a:p>
        </p:txBody>
      </p:sp>
    </p:spTree>
    <p:extLst>
      <p:ext uri="{BB962C8B-B14F-4D97-AF65-F5344CB8AC3E}">
        <p14:creationId xmlns:p14="http://schemas.microsoft.com/office/powerpoint/2010/main" val="18349360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dirty="0">
                <a:latin typeface="Arial" pitchFamily="34" charset="0"/>
                <a:cs typeface="Arial" pitchFamily="34" charset="0"/>
              </a:rPr>
              <a:t>The </a:t>
            </a:r>
            <a:r>
              <a:rPr lang="en-US" dirty="0" smtClean="0">
                <a:latin typeface="Arial" pitchFamily="34" charset="0"/>
                <a:cs typeface="Arial" pitchFamily="34" charset="0"/>
              </a:rPr>
              <a:t>ER </a:t>
            </a:r>
            <a:r>
              <a:rPr lang="en-US" dirty="0">
                <a:latin typeface="Arial" pitchFamily="34" charset="0"/>
                <a:cs typeface="Arial" pitchFamily="34" charset="0"/>
              </a:rPr>
              <a:t>model </a:t>
            </a:r>
            <a:r>
              <a:rPr lang="en-US" dirty="0" smtClean="0">
                <a:latin typeface="Arial" pitchFamily="34" charset="0"/>
                <a:cs typeface="Arial" pitchFamily="34" charset="0"/>
              </a:rPr>
              <a:t>consists </a:t>
            </a:r>
            <a:r>
              <a:rPr lang="en-US" dirty="0">
                <a:latin typeface="Arial" pitchFamily="34" charset="0"/>
                <a:cs typeface="Arial" pitchFamily="34" charset="0"/>
              </a:rPr>
              <a:t>of </a:t>
            </a:r>
            <a:r>
              <a:rPr lang="en-US" dirty="0" smtClean="0">
                <a:latin typeface="Arial" pitchFamily="34" charset="0"/>
                <a:cs typeface="Arial" pitchFamily="34" charset="0"/>
              </a:rPr>
              <a:t>basic </a:t>
            </a:r>
            <a:r>
              <a:rPr lang="en-US" dirty="0">
                <a:latin typeface="Arial" pitchFamily="34" charset="0"/>
                <a:cs typeface="Arial" pitchFamily="34" charset="0"/>
              </a:rPr>
              <a:t>objects called entities and a relationship among these objects</a:t>
            </a:r>
            <a:r>
              <a:rPr lang="en-US" dirty="0" smtClean="0">
                <a:latin typeface="Arial" pitchFamily="34" charset="0"/>
                <a:cs typeface="Arial" pitchFamily="34" charset="0"/>
              </a:rPr>
              <a:t>.</a:t>
            </a:r>
          </a:p>
          <a:p>
            <a:r>
              <a:rPr lang="en-US" dirty="0">
                <a:latin typeface="Arial" pitchFamily="34" charset="0"/>
                <a:cs typeface="Arial" pitchFamily="34" charset="0"/>
              </a:rPr>
              <a:t>Proposed by Peter Pin-Shan Chen (1976).</a:t>
            </a:r>
          </a:p>
          <a:p>
            <a:r>
              <a:rPr lang="en-US" dirty="0">
                <a:latin typeface="Arial" pitchFamily="34" charset="0"/>
                <a:cs typeface="Arial" pitchFamily="34" charset="0"/>
              </a:rPr>
              <a:t>Three basic notations in ER model are</a:t>
            </a:r>
          </a:p>
          <a:p>
            <a:pPr lvl="0"/>
            <a:r>
              <a:rPr lang="en-US" dirty="0">
                <a:latin typeface="Arial" pitchFamily="34" charset="0"/>
                <a:cs typeface="Arial" pitchFamily="34" charset="0"/>
              </a:rPr>
              <a:t>Entity sets</a:t>
            </a:r>
          </a:p>
          <a:p>
            <a:pPr lvl="0"/>
            <a:r>
              <a:rPr lang="en-US" dirty="0" smtClean="0">
                <a:latin typeface="Arial" pitchFamily="34" charset="0"/>
                <a:cs typeface="Arial" pitchFamily="34" charset="0"/>
              </a:rPr>
              <a:t>Relationship </a:t>
            </a:r>
            <a:r>
              <a:rPr lang="en-US" dirty="0">
                <a:latin typeface="Arial" pitchFamily="34" charset="0"/>
                <a:cs typeface="Arial" pitchFamily="34" charset="0"/>
              </a:rPr>
              <a:t>sets</a:t>
            </a:r>
          </a:p>
          <a:p>
            <a:pPr lvl="0"/>
            <a:r>
              <a:rPr lang="en-US" dirty="0">
                <a:latin typeface="Arial" pitchFamily="34" charset="0"/>
                <a:cs typeface="Arial" pitchFamily="34" charset="0"/>
              </a:rPr>
              <a:t>Attributes</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81</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78033598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Arial" pitchFamily="34" charset="0"/>
                <a:cs typeface="Arial" pitchFamily="34" charset="0"/>
              </a:rPr>
              <a:t>Entity</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dirty="0">
                <a:latin typeface="Arial" pitchFamily="34" charset="0"/>
                <a:cs typeface="Arial" pitchFamily="34" charset="0"/>
              </a:rPr>
              <a:t>Objects in the </a:t>
            </a:r>
            <a:r>
              <a:rPr lang="en-US" dirty="0" err="1">
                <a:latin typeface="Arial" pitchFamily="34" charset="0"/>
                <a:cs typeface="Arial" pitchFamily="34" charset="0"/>
              </a:rPr>
              <a:t>miniworld</a:t>
            </a:r>
            <a:r>
              <a:rPr lang="en-US" dirty="0">
                <a:latin typeface="Arial" pitchFamily="34" charset="0"/>
                <a:cs typeface="Arial" pitchFamily="34" charset="0"/>
              </a:rPr>
              <a:t> about which </a:t>
            </a:r>
            <a:r>
              <a:rPr lang="en-US" dirty="0" smtClean="0">
                <a:latin typeface="Arial" pitchFamily="34" charset="0"/>
                <a:cs typeface="Arial" pitchFamily="34" charset="0"/>
              </a:rPr>
              <a:t>information has </a:t>
            </a:r>
            <a:r>
              <a:rPr lang="en-US" dirty="0">
                <a:latin typeface="Arial" pitchFamily="34" charset="0"/>
                <a:cs typeface="Arial" pitchFamily="34" charset="0"/>
              </a:rPr>
              <a:t>to be stored. E.g. persons, </a:t>
            </a:r>
            <a:r>
              <a:rPr lang="en-US" dirty="0" smtClean="0">
                <a:latin typeface="Arial" pitchFamily="34" charset="0"/>
                <a:cs typeface="Arial" pitchFamily="34" charset="0"/>
              </a:rPr>
              <a:t>books.</a:t>
            </a:r>
          </a:p>
          <a:p>
            <a:r>
              <a:rPr lang="en-US" dirty="0" smtClean="0">
                <a:latin typeface="Arial" pitchFamily="34" charset="0"/>
                <a:cs typeface="Arial" pitchFamily="34" charset="0"/>
              </a:rPr>
              <a:t>It must be possible to distinguish among entities</a:t>
            </a:r>
          </a:p>
          <a:p>
            <a:r>
              <a:rPr lang="en-US" dirty="0">
                <a:latin typeface="Arial" pitchFamily="34" charset="0"/>
                <a:cs typeface="Arial" pitchFamily="34" charset="0"/>
              </a:rPr>
              <a:t>An entity may be</a:t>
            </a:r>
          </a:p>
          <a:p>
            <a:pPr lvl="1"/>
            <a:r>
              <a:rPr lang="en-US" dirty="0">
                <a:latin typeface="Arial" pitchFamily="34" charset="0"/>
                <a:cs typeface="Arial" pitchFamily="34" charset="0"/>
              </a:rPr>
              <a:t>Concrete  --  person /Book.</a:t>
            </a:r>
          </a:p>
          <a:p>
            <a:pPr lvl="1"/>
            <a:r>
              <a:rPr lang="en-US" dirty="0">
                <a:latin typeface="Arial" pitchFamily="34" charset="0"/>
                <a:cs typeface="Arial" pitchFamily="34" charset="0"/>
              </a:rPr>
              <a:t>Abstract   -- loan/holiday/Concept</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82</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418214887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u="sng" dirty="0">
                <a:latin typeface="Arial" pitchFamily="34" charset="0"/>
                <a:cs typeface="Arial" pitchFamily="34" charset="0"/>
              </a:rPr>
              <a:t>Entity </a:t>
            </a:r>
            <a:r>
              <a:rPr lang="en-US" u="sng" dirty="0" smtClean="0">
                <a:latin typeface="Arial" pitchFamily="34" charset="0"/>
                <a:cs typeface="Arial" pitchFamily="34" charset="0"/>
              </a:rPr>
              <a:t>set</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fontScale="92500" lnSpcReduction="10000"/>
          </a:bodyPr>
          <a:lstStyle/>
          <a:p>
            <a:r>
              <a:rPr lang="en-US" dirty="0">
                <a:latin typeface="Arial" pitchFamily="34" charset="0"/>
                <a:cs typeface="Arial" pitchFamily="34" charset="0"/>
              </a:rPr>
              <a:t>An entity set is set of entities of the same type that share the same properties/ Attributes.</a:t>
            </a:r>
          </a:p>
          <a:p>
            <a:r>
              <a:rPr lang="en-US" u="sng" dirty="0" err="1">
                <a:latin typeface="Arial" pitchFamily="34" charset="0"/>
                <a:cs typeface="Arial" pitchFamily="34" charset="0"/>
              </a:rPr>
              <a:t>Eg</a:t>
            </a:r>
            <a:r>
              <a:rPr lang="en-US" u="sng" dirty="0">
                <a:latin typeface="Arial" pitchFamily="34" charset="0"/>
                <a:cs typeface="Arial" pitchFamily="34" charset="0"/>
              </a:rPr>
              <a:t>:</a:t>
            </a:r>
            <a:r>
              <a:rPr lang="en-US" dirty="0">
                <a:latin typeface="Arial" pitchFamily="34" charset="0"/>
                <a:cs typeface="Arial" pitchFamily="34" charset="0"/>
              </a:rPr>
              <a:t> set of  all persons who are customers at a given bank can be defined as entity set customer.</a:t>
            </a:r>
          </a:p>
          <a:p>
            <a:r>
              <a:rPr lang="en-US" u="sng" dirty="0" err="1">
                <a:latin typeface="Arial" pitchFamily="34" charset="0"/>
                <a:cs typeface="Arial" pitchFamily="34" charset="0"/>
              </a:rPr>
              <a:t>Eg</a:t>
            </a:r>
            <a:r>
              <a:rPr lang="en-US" u="sng" dirty="0">
                <a:latin typeface="Arial" pitchFamily="34" charset="0"/>
                <a:cs typeface="Arial" pitchFamily="34" charset="0"/>
              </a:rPr>
              <a:t>:</a:t>
            </a:r>
            <a:r>
              <a:rPr lang="en-US" dirty="0">
                <a:latin typeface="Arial" pitchFamily="34" charset="0"/>
                <a:cs typeface="Arial" pitchFamily="34" charset="0"/>
              </a:rPr>
              <a:t> set of all loans awarded by a bank is referred as entity set loan. </a:t>
            </a:r>
          </a:p>
          <a:p>
            <a:r>
              <a:rPr lang="en-US" u="sng" dirty="0">
                <a:latin typeface="Arial" pitchFamily="34" charset="0"/>
                <a:cs typeface="Arial" pitchFamily="34" charset="0"/>
              </a:rPr>
              <a:t>Note:</a:t>
            </a:r>
            <a:r>
              <a:rPr lang="en-US" dirty="0">
                <a:latin typeface="Arial" pitchFamily="34" charset="0"/>
                <a:cs typeface="Arial" pitchFamily="34" charset="0"/>
              </a:rPr>
              <a:t> entity sets do not </a:t>
            </a:r>
            <a:r>
              <a:rPr lang="en-US" dirty="0" smtClean="0">
                <a:latin typeface="Arial" pitchFamily="34" charset="0"/>
                <a:cs typeface="Arial" pitchFamily="34" charset="0"/>
              </a:rPr>
              <a:t>need </a:t>
            </a:r>
            <a:r>
              <a:rPr lang="en-US" dirty="0">
                <a:latin typeface="Arial" pitchFamily="34" charset="0"/>
                <a:cs typeface="Arial" pitchFamily="34" charset="0"/>
              </a:rPr>
              <a:t>to be </a:t>
            </a:r>
            <a:r>
              <a:rPr lang="en-US" dirty="0" smtClean="0">
                <a:latin typeface="Arial" pitchFamily="34" charset="0"/>
                <a:cs typeface="Arial" pitchFamily="34" charset="0"/>
              </a:rPr>
              <a:t>disjoint.</a:t>
            </a:r>
          </a:p>
          <a:p>
            <a:r>
              <a:rPr lang="en-US" dirty="0" smtClean="0">
                <a:latin typeface="Arial" pitchFamily="34" charset="0"/>
                <a:cs typeface="Arial" pitchFamily="34" charset="0"/>
              </a:rPr>
              <a:t>It is possible to define the entity set of all employees of a bank(employee) and the entity set of all customers of the bank (customer).</a:t>
            </a:r>
          </a:p>
          <a:p>
            <a:r>
              <a:rPr lang="en-US" dirty="0" smtClean="0">
                <a:latin typeface="Arial" pitchFamily="34" charset="0"/>
                <a:cs typeface="Arial" pitchFamily="34" charset="0"/>
              </a:rPr>
              <a:t>A </a:t>
            </a:r>
            <a:r>
              <a:rPr lang="en-US" i="1" dirty="0" smtClean="0">
                <a:solidFill>
                  <a:srgbClr val="FF0000"/>
                </a:solidFill>
                <a:latin typeface="Arial" pitchFamily="34" charset="0"/>
                <a:cs typeface="Arial" pitchFamily="34" charset="0"/>
              </a:rPr>
              <a:t>person</a:t>
            </a:r>
            <a:r>
              <a:rPr lang="en-US" dirty="0" smtClean="0">
                <a:latin typeface="Arial" pitchFamily="34" charset="0"/>
                <a:cs typeface="Arial" pitchFamily="34" charset="0"/>
              </a:rPr>
              <a:t> entity may be an </a:t>
            </a:r>
            <a:r>
              <a:rPr lang="en-US" i="1" dirty="0" smtClean="0">
                <a:solidFill>
                  <a:srgbClr val="FF0000"/>
                </a:solidFill>
                <a:latin typeface="Arial" pitchFamily="34" charset="0"/>
                <a:cs typeface="Arial" pitchFamily="34" charset="0"/>
              </a:rPr>
              <a:t>employee</a:t>
            </a:r>
            <a:r>
              <a:rPr lang="en-US" dirty="0" smtClean="0">
                <a:latin typeface="Arial" pitchFamily="34" charset="0"/>
                <a:cs typeface="Arial" pitchFamily="34" charset="0"/>
              </a:rPr>
              <a:t> entity, a </a:t>
            </a:r>
            <a:r>
              <a:rPr lang="en-US" i="1" dirty="0" smtClean="0">
                <a:solidFill>
                  <a:srgbClr val="FF0000"/>
                </a:solidFill>
                <a:latin typeface="Arial" pitchFamily="34" charset="0"/>
                <a:cs typeface="Arial" pitchFamily="34" charset="0"/>
              </a:rPr>
              <a:t>customer</a:t>
            </a:r>
            <a:r>
              <a:rPr lang="en-US" dirty="0" smtClean="0">
                <a:latin typeface="Arial" pitchFamily="34" charset="0"/>
                <a:cs typeface="Arial" pitchFamily="34" charset="0"/>
              </a:rPr>
              <a:t> entity, both or neither</a:t>
            </a:r>
          </a:p>
          <a:p>
            <a:endParaRPr lang="en-US" dirty="0">
              <a:latin typeface="Arial" pitchFamily="34" charset="0"/>
              <a:cs typeface="Arial" pitchFamily="34" charset="0"/>
            </a:endParaRPr>
          </a:p>
          <a:p>
            <a:pPr>
              <a:buNone/>
            </a:pP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83</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69868565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Entity set loan and Customer</a:t>
            </a:r>
            <a:endParaRPr lang="en-US" dirty="0">
              <a:latin typeface="Arial" pitchFamily="34" charset="0"/>
              <a:cs typeface="Arial" pitchFamily="34" charset="0"/>
            </a:endParaRPr>
          </a:p>
        </p:txBody>
      </p:sp>
      <p:graphicFrame>
        <p:nvGraphicFramePr>
          <p:cNvPr id="4" name="Content Placeholder 3"/>
          <p:cNvGraphicFramePr>
            <a:graphicFrameLocks noGrp="1"/>
          </p:cNvGraphicFramePr>
          <p:nvPr>
            <p:ph idx="1"/>
          </p:nvPr>
        </p:nvGraphicFramePr>
        <p:xfrm>
          <a:off x="1752600" y="2057400"/>
          <a:ext cx="4114800" cy="18034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241427">
                <a:tc>
                  <a:txBody>
                    <a:bodyPr/>
                    <a:lstStyle/>
                    <a:p>
                      <a:pPr marL="0" marR="0" algn="ctr">
                        <a:lnSpc>
                          <a:spcPct val="150000"/>
                        </a:lnSpc>
                        <a:spcBef>
                          <a:spcPts val="0"/>
                        </a:spcBef>
                        <a:spcAft>
                          <a:spcPts val="0"/>
                        </a:spcAft>
                      </a:pPr>
                      <a:r>
                        <a:rPr lang="en-US" sz="1400" b="1" spc="100" dirty="0">
                          <a:latin typeface="Times New Roman"/>
                          <a:ea typeface="Times New Roman"/>
                        </a:rPr>
                        <a:t>LOAN NO</a:t>
                      </a:r>
                      <a:endParaRPr lang="en-US" sz="1400" b="1" dirty="0">
                        <a:latin typeface="Times New Roman"/>
                        <a:ea typeface="Times New Roman"/>
                      </a:endParaRPr>
                    </a:p>
                  </a:txBody>
                  <a:tcPr marL="68580" marR="68580" marT="0" marB="0"/>
                </a:tc>
                <a:tc>
                  <a:txBody>
                    <a:bodyPr/>
                    <a:lstStyle/>
                    <a:p>
                      <a:pPr marL="0" marR="0" algn="ctr">
                        <a:lnSpc>
                          <a:spcPct val="150000"/>
                        </a:lnSpc>
                        <a:spcBef>
                          <a:spcPts val="0"/>
                        </a:spcBef>
                        <a:spcAft>
                          <a:spcPts val="0"/>
                        </a:spcAft>
                      </a:pPr>
                      <a:r>
                        <a:rPr lang="en-US" sz="1400" b="1" spc="100" dirty="0">
                          <a:latin typeface="Times New Roman"/>
                          <a:ea typeface="Times New Roman"/>
                        </a:rPr>
                        <a:t>AMOUNT</a:t>
                      </a:r>
                      <a:endParaRPr lang="en-US" sz="1400" b="1" dirty="0">
                        <a:latin typeface="Times New Roman"/>
                        <a:ea typeface="Times New Roman"/>
                      </a:endParaRPr>
                    </a:p>
                  </a:txBody>
                  <a:tcPr marL="68580" marR="68580" marT="0" marB="0"/>
                </a:tc>
                <a:extLst>
                  <a:ext uri="{0D108BD9-81ED-4DB2-BD59-A6C34878D82A}">
                    <a16:rowId xmlns:a16="http://schemas.microsoft.com/office/drawing/2014/main" val="10000"/>
                  </a:ext>
                </a:extLst>
              </a:tr>
              <a:tr h="370840">
                <a:tc>
                  <a:txBody>
                    <a:bodyPr/>
                    <a:lstStyle/>
                    <a:p>
                      <a:pPr marL="0" marR="0" algn="ctr">
                        <a:lnSpc>
                          <a:spcPct val="150000"/>
                        </a:lnSpc>
                        <a:spcBef>
                          <a:spcPts val="0"/>
                        </a:spcBef>
                        <a:spcAft>
                          <a:spcPts val="0"/>
                        </a:spcAft>
                      </a:pPr>
                      <a:r>
                        <a:rPr lang="en-US" sz="1400" b="1" spc="100" dirty="0">
                          <a:latin typeface="Times New Roman"/>
                          <a:ea typeface="Times New Roman"/>
                        </a:rPr>
                        <a:t>L17</a:t>
                      </a:r>
                      <a:endParaRPr lang="en-US" sz="1400" b="1" dirty="0">
                        <a:latin typeface="Times New Roman"/>
                        <a:ea typeface="Times New Roman"/>
                      </a:endParaRPr>
                    </a:p>
                  </a:txBody>
                  <a:tcPr marL="68580" marR="68580" marT="0" marB="0"/>
                </a:tc>
                <a:tc>
                  <a:txBody>
                    <a:bodyPr/>
                    <a:lstStyle/>
                    <a:p>
                      <a:pPr marL="0" marR="0" algn="ctr">
                        <a:lnSpc>
                          <a:spcPct val="150000"/>
                        </a:lnSpc>
                        <a:spcBef>
                          <a:spcPts val="0"/>
                        </a:spcBef>
                        <a:spcAft>
                          <a:spcPts val="0"/>
                        </a:spcAft>
                      </a:pPr>
                      <a:r>
                        <a:rPr lang="en-US" sz="1400" b="1" spc="100">
                          <a:latin typeface="Times New Roman"/>
                          <a:ea typeface="Times New Roman"/>
                        </a:rPr>
                        <a:t>1000</a:t>
                      </a:r>
                      <a:endParaRPr lang="en-US" sz="1400" b="1">
                        <a:latin typeface="Times New Roman"/>
                        <a:ea typeface="Times New Roman"/>
                      </a:endParaRPr>
                    </a:p>
                  </a:txBody>
                  <a:tcPr marL="68580" marR="68580" marT="0" marB="0"/>
                </a:tc>
                <a:extLst>
                  <a:ext uri="{0D108BD9-81ED-4DB2-BD59-A6C34878D82A}">
                    <a16:rowId xmlns:a16="http://schemas.microsoft.com/office/drawing/2014/main" val="10001"/>
                  </a:ext>
                </a:extLst>
              </a:tr>
              <a:tr h="370840">
                <a:tc>
                  <a:txBody>
                    <a:bodyPr/>
                    <a:lstStyle/>
                    <a:p>
                      <a:pPr marL="0" marR="0" algn="ctr">
                        <a:lnSpc>
                          <a:spcPct val="150000"/>
                        </a:lnSpc>
                        <a:spcBef>
                          <a:spcPts val="0"/>
                        </a:spcBef>
                        <a:spcAft>
                          <a:spcPts val="0"/>
                        </a:spcAft>
                      </a:pPr>
                      <a:r>
                        <a:rPr lang="en-US" sz="1400" b="1" spc="100" dirty="0">
                          <a:latin typeface="Times New Roman"/>
                          <a:ea typeface="Times New Roman"/>
                        </a:rPr>
                        <a:t>L23</a:t>
                      </a:r>
                      <a:endParaRPr lang="en-US" sz="1400" b="1" dirty="0">
                        <a:latin typeface="Times New Roman"/>
                        <a:ea typeface="Times New Roman"/>
                      </a:endParaRPr>
                    </a:p>
                  </a:txBody>
                  <a:tcPr marL="68580" marR="68580" marT="0" marB="0"/>
                </a:tc>
                <a:tc>
                  <a:txBody>
                    <a:bodyPr/>
                    <a:lstStyle/>
                    <a:p>
                      <a:pPr marL="0" marR="0" algn="ctr">
                        <a:lnSpc>
                          <a:spcPct val="150000"/>
                        </a:lnSpc>
                        <a:spcBef>
                          <a:spcPts val="0"/>
                        </a:spcBef>
                        <a:spcAft>
                          <a:spcPts val="0"/>
                        </a:spcAft>
                      </a:pPr>
                      <a:r>
                        <a:rPr lang="en-US" sz="1400" b="1" spc="100" dirty="0">
                          <a:latin typeface="Times New Roman"/>
                          <a:ea typeface="Times New Roman"/>
                        </a:rPr>
                        <a:t>3000</a:t>
                      </a:r>
                      <a:endParaRPr lang="en-US" sz="1400" b="1" dirty="0">
                        <a:latin typeface="Times New Roman"/>
                        <a:ea typeface="Times New Roman"/>
                      </a:endParaRPr>
                    </a:p>
                  </a:txBody>
                  <a:tcPr marL="68580" marR="68580" marT="0" marB="0"/>
                </a:tc>
                <a:extLst>
                  <a:ext uri="{0D108BD9-81ED-4DB2-BD59-A6C34878D82A}">
                    <a16:rowId xmlns:a16="http://schemas.microsoft.com/office/drawing/2014/main" val="10002"/>
                  </a:ext>
                </a:extLst>
              </a:tr>
              <a:tr h="370840">
                <a:tc>
                  <a:txBody>
                    <a:bodyPr/>
                    <a:lstStyle/>
                    <a:p>
                      <a:pPr marL="0" marR="0" algn="ctr">
                        <a:lnSpc>
                          <a:spcPct val="150000"/>
                        </a:lnSpc>
                        <a:spcBef>
                          <a:spcPts val="0"/>
                        </a:spcBef>
                        <a:spcAft>
                          <a:spcPts val="0"/>
                        </a:spcAft>
                      </a:pPr>
                      <a:r>
                        <a:rPr lang="en-US" sz="1400" b="1" spc="100" dirty="0">
                          <a:latin typeface="Times New Roman"/>
                          <a:ea typeface="Times New Roman"/>
                        </a:rPr>
                        <a:t>L15</a:t>
                      </a:r>
                      <a:endParaRPr lang="en-US" sz="1400" b="1" dirty="0">
                        <a:latin typeface="Times New Roman"/>
                        <a:ea typeface="Times New Roman"/>
                      </a:endParaRPr>
                    </a:p>
                  </a:txBody>
                  <a:tcPr marL="68580" marR="68580" marT="0" marB="0"/>
                </a:tc>
                <a:tc>
                  <a:txBody>
                    <a:bodyPr/>
                    <a:lstStyle/>
                    <a:p>
                      <a:pPr marL="0" marR="0" algn="ctr">
                        <a:lnSpc>
                          <a:spcPct val="150000"/>
                        </a:lnSpc>
                        <a:spcBef>
                          <a:spcPts val="0"/>
                        </a:spcBef>
                        <a:spcAft>
                          <a:spcPts val="0"/>
                        </a:spcAft>
                      </a:pPr>
                      <a:r>
                        <a:rPr lang="en-US" sz="1400" b="1" spc="100" dirty="0">
                          <a:latin typeface="Times New Roman"/>
                          <a:ea typeface="Times New Roman"/>
                        </a:rPr>
                        <a:t>1000</a:t>
                      </a:r>
                      <a:endParaRPr lang="en-US" sz="1400" b="1" dirty="0">
                        <a:latin typeface="Times New Roman"/>
                        <a:ea typeface="Times New Roman"/>
                      </a:endParaRPr>
                    </a:p>
                  </a:txBody>
                  <a:tcPr marL="68580" marR="68580" marT="0" marB="0"/>
                </a:tc>
                <a:extLst>
                  <a:ext uri="{0D108BD9-81ED-4DB2-BD59-A6C34878D82A}">
                    <a16:rowId xmlns:a16="http://schemas.microsoft.com/office/drawing/2014/main" val="10003"/>
                  </a:ext>
                </a:extLst>
              </a:tr>
              <a:tr h="370840">
                <a:tc>
                  <a:txBody>
                    <a:bodyPr/>
                    <a:lstStyle/>
                    <a:p>
                      <a:pPr marL="0" marR="0" algn="ctr">
                        <a:lnSpc>
                          <a:spcPct val="150000"/>
                        </a:lnSpc>
                        <a:spcBef>
                          <a:spcPts val="0"/>
                        </a:spcBef>
                        <a:spcAft>
                          <a:spcPts val="0"/>
                        </a:spcAft>
                      </a:pPr>
                      <a:r>
                        <a:rPr lang="en-US" sz="1400" b="1" spc="100" dirty="0">
                          <a:latin typeface="Times New Roman"/>
                          <a:ea typeface="Times New Roman"/>
                        </a:rPr>
                        <a:t>L17</a:t>
                      </a:r>
                      <a:endParaRPr lang="en-US" sz="1400" b="1" dirty="0">
                        <a:latin typeface="Times New Roman"/>
                        <a:ea typeface="Times New Roman"/>
                      </a:endParaRPr>
                    </a:p>
                  </a:txBody>
                  <a:tcPr marL="68580" marR="68580" marT="0" marB="0"/>
                </a:tc>
                <a:tc>
                  <a:txBody>
                    <a:bodyPr/>
                    <a:lstStyle/>
                    <a:p>
                      <a:pPr marL="0" marR="0" algn="ctr">
                        <a:lnSpc>
                          <a:spcPct val="150000"/>
                        </a:lnSpc>
                        <a:spcBef>
                          <a:spcPts val="0"/>
                        </a:spcBef>
                        <a:spcAft>
                          <a:spcPts val="0"/>
                        </a:spcAft>
                      </a:pPr>
                      <a:r>
                        <a:rPr lang="en-US" sz="1400" b="1" spc="100" dirty="0">
                          <a:latin typeface="Times New Roman"/>
                          <a:ea typeface="Times New Roman"/>
                        </a:rPr>
                        <a:t>1500</a:t>
                      </a:r>
                      <a:endParaRPr lang="en-US" sz="1400" b="1" dirty="0">
                        <a:latin typeface="Times New Roman"/>
                        <a:ea typeface="Times New Roman"/>
                      </a:endParaRPr>
                    </a:p>
                  </a:txBody>
                  <a:tcPr marL="68580" marR="68580" marT="0" marB="0"/>
                </a:tc>
                <a:extLst>
                  <a:ext uri="{0D108BD9-81ED-4DB2-BD59-A6C34878D82A}">
                    <a16:rowId xmlns:a16="http://schemas.microsoft.com/office/drawing/2014/main" val="10004"/>
                  </a:ext>
                </a:extLst>
              </a:tr>
            </a:tbl>
          </a:graphicData>
        </a:graphic>
      </p:graphicFrame>
      <p:graphicFrame>
        <p:nvGraphicFramePr>
          <p:cNvPr id="5" name="Content Placeholder 3"/>
          <p:cNvGraphicFramePr>
            <a:graphicFrameLocks noGrp="1"/>
          </p:cNvGraphicFramePr>
          <p:nvPr>
            <p:ph idx="1"/>
          </p:nvPr>
        </p:nvGraphicFramePr>
        <p:xfrm>
          <a:off x="6019800" y="4038600"/>
          <a:ext cx="4343400" cy="21234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142240">
                <a:tc>
                  <a:txBody>
                    <a:bodyPr/>
                    <a:lstStyle/>
                    <a:p>
                      <a:pPr marL="0" marR="0" algn="ctr">
                        <a:lnSpc>
                          <a:spcPct val="150000"/>
                        </a:lnSpc>
                        <a:spcBef>
                          <a:spcPts val="0"/>
                        </a:spcBef>
                        <a:spcAft>
                          <a:spcPts val="0"/>
                        </a:spcAft>
                      </a:pPr>
                      <a:r>
                        <a:rPr lang="en-US" sz="1400" b="1" spc="100" dirty="0">
                          <a:latin typeface="Times New Roman"/>
                          <a:ea typeface="Times New Roman"/>
                        </a:rPr>
                        <a:t>NAME</a:t>
                      </a:r>
                      <a:endParaRPr lang="en-US" sz="1400" b="1" dirty="0">
                        <a:latin typeface="Times New Roman"/>
                        <a:ea typeface="Times New Roman"/>
                      </a:endParaRPr>
                    </a:p>
                  </a:txBody>
                  <a:tcPr marL="68580" marR="68580" marT="0" marB="0"/>
                </a:tc>
                <a:tc>
                  <a:txBody>
                    <a:bodyPr/>
                    <a:lstStyle/>
                    <a:p>
                      <a:pPr marL="0" marR="0" algn="ctr">
                        <a:lnSpc>
                          <a:spcPct val="150000"/>
                        </a:lnSpc>
                        <a:spcBef>
                          <a:spcPts val="0"/>
                        </a:spcBef>
                        <a:spcAft>
                          <a:spcPts val="0"/>
                        </a:spcAft>
                      </a:pPr>
                      <a:r>
                        <a:rPr lang="en-US" sz="1400" b="1" spc="100" dirty="0">
                          <a:latin typeface="Times New Roman"/>
                          <a:ea typeface="Times New Roman"/>
                        </a:rPr>
                        <a:t>SOCIAL SECURITYNO</a:t>
                      </a:r>
                      <a:endParaRPr lang="en-US" sz="1400" b="1" dirty="0">
                        <a:latin typeface="Times New Roman"/>
                        <a:ea typeface="Times New Roman"/>
                      </a:endParaRPr>
                    </a:p>
                  </a:txBody>
                  <a:tcPr marL="68580" marR="68580" marT="0" marB="0"/>
                </a:tc>
                <a:tc>
                  <a:txBody>
                    <a:bodyPr/>
                    <a:lstStyle/>
                    <a:p>
                      <a:pPr marL="0" marR="0" algn="ctr">
                        <a:lnSpc>
                          <a:spcPct val="150000"/>
                        </a:lnSpc>
                        <a:spcBef>
                          <a:spcPts val="0"/>
                        </a:spcBef>
                        <a:spcAft>
                          <a:spcPts val="0"/>
                        </a:spcAft>
                      </a:pPr>
                      <a:r>
                        <a:rPr lang="en-US" sz="1400" b="1" spc="100">
                          <a:latin typeface="Times New Roman"/>
                        </a:rPr>
                        <a:t>STREET</a:t>
                      </a:r>
                    </a:p>
                  </a:txBody>
                  <a:tcPr marL="68580" marR="68580" marT="0" marB="0"/>
                </a:tc>
                <a:extLst>
                  <a:ext uri="{0D108BD9-81ED-4DB2-BD59-A6C34878D82A}">
                    <a16:rowId xmlns:a16="http://schemas.microsoft.com/office/drawing/2014/main" val="10000"/>
                  </a:ext>
                </a:extLst>
              </a:tr>
              <a:tr h="370840">
                <a:tc>
                  <a:txBody>
                    <a:bodyPr/>
                    <a:lstStyle/>
                    <a:p>
                      <a:pPr marL="0" marR="0" algn="just">
                        <a:lnSpc>
                          <a:spcPct val="150000"/>
                        </a:lnSpc>
                        <a:spcBef>
                          <a:spcPts val="0"/>
                        </a:spcBef>
                        <a:spcAft>
                          <a:spcPts val="0"/>
                        </a:spcAft>
                      </a:pPr>
                      <a:r>
                        <a:rPr lang="en-US" sz="1400" b="1" spc="100" dirty="0">
                          <a:latin typeface="Times New Roman"/>
                          <a:ea typeface="Times New Roman"/>
                        </a:rPr>
                        <a:t> Jones</a:t>
                      </a:r>
                      <a:endParaRPr lang="en-US" sz="1400" b="1" dirty="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b="1" spc="100">
                          <a:latin typeface="Times New Roman"/>
                          <a:ea typeface="Times New Roman"/>
                        </a:rPr>
                        <a:t>321-12-3123</a:t>
                      </a:r>
                      <a:endParaRPr lang="en-US" sz="1400" b="1">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b="1" spc="100">
                          <a:latin typeface="Times New Roman"/>
                          <a:ea typeface="Times New Roman"/>
                        </a:rPr>
                        <a:t>Main</a:t>
                      </a:r>
                      <a:endParaRPr lang="en-US" sz="1400" b="1">
                        <a:latin typeface="Times New Roman"/>
                        <a:ea typeface="Times New Roman"/>
                      </a:endParaRPr>
                    </a:p>
                  </a:txBody>
                  <a:tcPr marL="68580" marR="68580" marT="0" marB="0"/>
                </a:tc>
                <a:extLst>
                  <a:ext uri="{0D108BD9-81ED-4DB2-BD59-A6C34878D82A}">
                    <a16:rowId xmlns:a16="http://schemas.microsoft.com/office/drawing/2014/main" val="10001"/>
                  </a:ext>
                </a:extLst>
              </a:tr>
              <a:tr h="370840">
                <a:tc>
                  <a:txBody>
                    <a:bodyPr/>
                    <a:lstStyle/>
                    <a:p>
                      <a:pPr marL="0" marR="0" algn="just">
                        <a:lnSpc>
                          <a:spcPct val="150000"/>
                        </a:lnSpc>
                        <a:spcBef>
                          <a:spcPts val="0"/>
                        </a:spcBef>
                        <a:spcAft>
                          <a:spcPts val="0"/>
                        </a:spcAft>
                      </a:pPr>
                      <a:r>
                        <a:rPr lang="en-US" sz="1400" b="1" spc="100">
                          <a:latin typeface="Times New Roman"/>
                          <a:ea typeface="Times New Roman"/>
                        </a:rPr>
                        <a:t>Smith</a:t>
                      </a:r>
                      <a:endParaRPr lang="en-US" sz="1400" b="1">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b="1" spc="100" dirty="0">
                          <a:latin typeface="Times New Roman"/>
                          <a:ea typeface="Times New Roman"/>
                        </a:rPr>
                        <a:t>019-28-5611</a:t>
                      </a:r>
                      <a:endParaRPr lang="en-US" sz="1400" b="1" dirty="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b="1" spc="100">
                          <a:latin typeface="Times New Roman"/>
                          <a:ea typeface="Times New Roman"/>
                        </a:rPr>
                        <a:t>North</a:t>
                      </a:r>
                      <a:endParaRPr lang="en-US" sz="1400" b="1">
                        <a:latin typeface="Times New Roman"/>
                        <a:ea typeface="Times New Roman"/>
                      </a:endParaRPr>
                    </a:p>
                  </a:txBody>
                  <a:tcPr marL="68580" marR="68580" marT="0" marB="0"/>
                </a:tc>
                <a:extLst>
                  <a:ext uri="{0D108BD9-81ED-4DB2-BD59-A6C34878D82A}">
                    <a16:rowId xmlns:a16="http://schemas.microsoft.com/office/drawing/2014/main" val="10002"/>
                  </a:ext>
                </a:extLst>
              </a:tr>
              <a:tr h="370840">
                <a:tc>
                  <a:txBody>
                    <a:bodyPr/>
                    <a:lstStyle/>
                    <a:p>
                      <a:pPr marL="0" marR="0" algn="just">
                        <a:lnSpc>
                          <a:spcPct val="150000"/>
                        </a:lnSpc>
                        <a:spcBef>
                          <a:spcPts val="0"/>
                        </a:spcBef>
                        <a:spcAft>
                          <a:spcPts val="0"/>
                        </a:spcAft>
                      </a:pPr>
                      <a:r>
                        <a:rPr lang="en-US" sz="1400" b="1" spc="100">
                          <a:latin typeface="Times New Roman"/>
                          <a:ea typeface="Times New Roman"/>
                        </a:rPr>
                        <a:t>Hayes</a:t>
                      </a:r>
                      <a:endParaRPr lang="en-US" sz="1400" b="1">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b="1" spc="100" dirty="0">
                          <a:latin typeface="Times New Roman"/>
                          <a:ea typeface="Times New Roman"/>
                        </a:rPr>
                        <a:t>912-51-1239</a:t>
                      </a:r>
                      <a:endParaRPr lang="en-US" sz="1400" b="1" dirty="0">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b="1" spc="100" dirty="0">
                          <a:latin typeface="Times New Roman"/>
                          <a:ea typeface="Times New Roman"/>
                        </a:rPr>
                        <a:t>north</a:t>
                      </a:r>
                      <a:endParaRPr lang="en-US" sz="1400" b="1" dirty="0">
                        <a:latin typeface="Times New Roman"/>
                        <a:ea typeface="Times New Roman"/>
                      </a:endParaRPr>
                    </a:p>
                  </a:txBody>
                  <a:tcPr marL="68580" marR="68580" marT="0" marB="0"/>
                </a:tc>
                <a:extLst>
                  <a:ext uri="{0D108BD9-81ED-4DB2-BD59-A6C34878D82A}">
                    <a16:rowId xmlns:a16="http://schemas.microsoft.com/office/drawing/2014/main" val="10003"/>
                  </a:ext>
                </a:extLst>
              </a:tr>
              <a:tr h="370840">
                <a:tc>
                  <a:txBody>
                    <a:bodyPr/>
                    <a:lstStyle/>
                    <a:p>
                      <a:pPr marL="0" marR="0" algn="just">
                        <a:lnSpc>
                          <a:spcPct val="150000"/>
                        </a:lnSpc>
                        <a:spcBef>
                          <a:spcPts val="0"/>
                        </a:spcBef>
                        <a:spcAft>
                          <a:spcPts val="0"/>
                        </a:spcAft>
                      </a:pPr>
                      <a:r>
                        <a:rPr lang="en-US" sz="1400" b="1" spc="100">
                          <a:latin typeface="Times New Roman"/>
                          <a:ea typeface="Times New Roman"/>
                        </a:rPr>
                        <a:t>Jack</a:t>
                      </a:r>
                      <a:endParaRPr lang="en-US" sz="1400" b="1">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b="1" spc="100">
                          <a:latin typeface="Times New Roman"/>
                          <a:ea typeface="Times New Roman"/>
                        </a:rPr>
                        <a:t>335-57-1298</a:t>
                      </a:r>
                      <a:endParaRPr lang="en-US" sz="1400" b="1">
                        <a:latin typeface="Times New Roman"/>
                        <a:ea typeface="Times New Roman"/>
                      </a:endParaRPr>
                    </a:p>
                  </a:txBody>
                  <a:tcPr marL="68580" marR="68580" marT="0" marB="0"/>
                </a:tc>
                <a:tc>
                  <a:txBody>
                    <a:bodyPr/>
                    <a:lstStyle/>
                    <a:p>
                      <a:pPr marL="0" marR="0" algn="just">
                        <a:lnSpc>
                          <a:spcPct val="150000"/>
                        </a:lnSpc>
                        <a:spcBef>
                          <a:spcPts val="0"/>
                        </a:spcBef>
                        <a:spcAft>
                          <a:spcPts val="0"/>
                        </a:spcAft>
                      </a:pPr>
                      <a:r>
                        <a:rPr lang="en-US" sz="1400" b="1" spc="100" dirty="0" err="1">
                          <a:latin typeface="Times New Roman"/>
                          <a:ea typeface="Times New Roman"/>
                        </a:rPr>
                        <a:t>dupont</a:t>
                      </a:r>
                      <a:endParaRPr lang="en-US" sz="1400" b="1" dirty="0">
                        <a:latin typeface="Times New Roman"/>
                        <a:ea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6" name="Slide Number Placeholder 5"/>
          <p:cNvSpPr>
            <a:spLocks noGrp="1"/>
          </p:cNvSpPr>
          <p:nvPr>
            <p:ph type="sldNum" sz="quarter" idx="12"/>
          </p:nvPr>
        </p:nvSpPr>
        <p:spPr/>
        <p:txBody>
          <a:bodyPr/>
          <a:lstStyle/>
          <a:p>
            <a:fld id="{C8E6D33F-E187-4F70-BDF3-C2B81C57EFE3}" type="slidenum">
              <a:rPr lang="en-US" smtClean="0"/>
              <a:pPr/>
              <a:t>84</a:t>
            </a:fld>
            <a:endParaRPr lang="en-US"/>
          </a:p>
        </p:txBody>
      </p:sp>
      <p:sp>
        <p:nvSpPr>
          <p:cNvPr id="7" name="Footer Placeholder 6"/>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123876482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Attributes</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lnSpcReduction="10000"/>
          </a:bodyPr>
          <a:lstStyle/>
          <a:p>
            <a:pPr lvl="0"/>
            <a:r>
              <a:rPr lang="en-US" dirty="0">
                <a:latin typeface="Arial" pitchFamily="34" charset="0"/>
                <a:cs typeface="Arial" pitchFamily="34" charset="0"/>
              </a:rPr>
              <a:t>An entity is represented by a set of attributes.</a:t>
            </a:r>
          </a:p>
          <a:p>
            <a:pPr lvl="0"/>
            <a:r>
              <a:rPr lang="en-US" dirty="0">
                <a:latin typeface="Arial" pitchFamily="34" charset="0"/>
                <a:cs typeface="Arial" pitchFamily="34" charset="0"/>
              </a:rPr>
              <a:t>Attributes are descriptive properties possessed by each member of entity set</a:t>
            </a:r>
          </a:p>
          <a:p>
            <a:pPr lvl="0"/>
            <a:r>
              <a:rPr lang="en-US" dirty="0">
                <a:latin typeface="Arial" pitchFamily="34" charset="0"/>
                <a:cs typeface="Arial" pitchFamily="34" charset="0"/>
              </a:rPr>
              <a:t>Possible attributes of the customer entity set are </a:t>
            </a:r>
            <a:endParaRPr lang="en-US" dirty="0" smtClean="0">
              <a:latin typeface="Arial" pitchFamily="34" charset="0"/>
              <a:cs typeface="Arial" pitchFamily="34" charset="0"/>
            </a:endParaRPr>
          </a:p>
          <a:p>
            <a:pPr lvl="1"/>
            <a:r>
              <a:rPr lang="en-US" dirty="0" smtClean="0">
                <a:latin typeface="Arial" pitchFamily="34" charset="0"/>
                <a:cs typeface="Arial" pitchFamily="34" charset="0"/>
              </a:rPr>
              <a:t>customer-name</a:t>
            </a:r>
          </a:p>
          <a:p>
            <a:pPr lvl="1"/>
            <a:r>
              <a:rPr lang="en-US" dirty="0" smtClean="0">
                <a:latin typeface="Arial" pitchFamily="34" charset="0"/>
                <a:cs typeface="Arial" pitchFamily="34" charset="0"/>
              </a:rPr>
              <a:t>social </a:t>
            </a:r>
            <a:r>
              <a:rPr lang="en-US" dirty="0">
                <a:latin typeface="Arial" pitchFamily="34" charset="0"/>
                <a:cs typeface="Arial" pitchFamily="34" charset="0"/>
              </a:rPr>
              <a:t>security no </a:t>
            </a:r>
            <a:endParaRPr lang="en-US" dirty="0" smtClean="0">
              <a:latin typeface="Arial" pitchFamily="34" charset="0"/>
              <a:cs typeface="Arial" pitchFamily="34" charset="0"/>
            </a:endParaRPr>
          </a:p>
          <a:p>
            <a:pPr lvl="1"/>
            <a:r>
              <a:rPr lang="en-US" dirty="0" smtClean="0">
                <a:latin typeface="Arial" pitchFamily="34" charset="0"/>
                <a:cs typeface="Arial" pitchFamily="34" charset="0"/>
              </a:rPr>
              <a:t>street</a:t>
            </a:r>
            <a:endParaRPr lang="en-US" dirty="0">
              <a:latin typeface="Arial" pitchFamily="34" charset="0"/>
              <a:cs typeface="Arial" pitchFamily="34" charset="0"/>
            </a:endParaRPr>
          </a:p>
          <a:p>
            <a:pPr lvl="0"/>
            <a:r>
              <a:rPr lang="en-US" dirty="0">
                <a:latin typeface="Arial" pitchFamily="34" charset="0"/>
                <a:cs typeface="Arial" pitchFamily="34" charset="0"/>
              </a:rPr>
              <a:t>Attributes of loan </a:t>
            </a:r>
            <a:r>
              <a:rPr lang="en-US" dirty="0" smtClean="0">
                <a:latin typeface="Arial" pitchFamily="34" charset="0"/>
                <a:cs typeface="Arial" pitchFamily="34" charset="0"/>
              </a:rPr>
              <a:t>entity</a:t>
            </a:r>
          </a:p>
          <a:p>
            <a:pPr lvl="1"/>
            <a:r>
              <a:rPr lang="en-US" dirty="0" smtClean="0">
                <a:latin typeface="Arial" pitchFamily="34" charset="0"/>
                <a:cs typeface="Arial" pitchFamily="34" charset="0"/>
              </a:rPr>
              <a:t>loan </a:t>
            </a:r>
            <a:r>
              <a:rPr lang="en-US" dirty="0">
                <a:latin typeface="Arial" pitchFamily="34" charset="0"/>
                <a:cs typeface="Arial" pitchFamily="34" charset="0"/>
              </a:rPr>
              <a:t>no </a:t>
            </a:r>
            <a:endParaRPr lang="en-US" dirty="0" smtClean="0">
              <a:latin typeface="Arial" pitchFamily="34" charset="0"/>
              <a:cs typeface="Arial" pitchFamily="34" charset="0"/>
            </a:endParaRPr>
          </a:p>
          <a:p>
            <a:pPr lvl="1"/>
            <a:r>
              <a:rPr lang="en-US" dirty="0" smtClean="0">
                <a:latin typeface="Arial" pitchFamily="34" charset="0"/>
                <a:cs typeface="Arial" pitchFamily="34" charset="0"/>
              </a:rPr>
              <a:t>amount</a:t>
            </a:r>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85</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44585307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Arial" pitchFamily="34" charset="0"/>
                <a:cs typeface="Arial" pitchFamily="34" charset="0"/>
              </a:rPr>
              <a:t>Domain</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fontScale="92500" lnSpcReduction="10000"/>
          </a:bodyPr>
          <a:lstStyle/>
          <a:p>
            <a:r>
              <a:rPr lang="en-US" dirty="0">
                <a:latin typeface="Arial" pitchFamily="34" charset="0"/>
                <a:cs typeface="Arial" pitchFamily="34" charset="0"/>
              </a:rPr>
              <a:t>For each attributes there is a set of permitted values called domain or value set</a:t>
            </a:r>
          </a:p>
          <a:p>
            <a:r>
              <a:rPr lang="en-US" dirty="0" smtClean="0">
                <a:latin typeface="Arial" pitchFamily="34" charset="0"/>
                <a:cs typeface="Arial" pitchFamily="34" charset="0"/>
              </a:rPr>
              <a:t>Domain </a:t>
            </a:r>
            <a:r>
              <a:rPr lang="en-US" dirty="0">
                <a:latin typeface="Arial" pitchFamily="34" charset="0"/>
                <a:cs typeface="Arial" pitchFamily="34" charset="0"/>
              </a:rPr>
              <a:t>of attribute customer name </a:t>
            </a:r>
            <a:endParaRPr lang="en-US" dirty="0" smtClean="0">
              <a:latin typeface="Arial" pitchFamily="34" charset="0"/>
              <a:cs typeface="Arial" pitchFamily="34" charset="0"/>
            </a:endParaRPr>
          </a:p>
          <a:p>
            <a:pPr lvl="1"/>
            <a:r>
              <a:rPr lang="en-US" dirty="0" smtClean="0">
                <a:latin typeface="Arial" pitchFamily="34" charset="0"/>
                <a:cs typeface="Arial" pitchFamily="34" charset="0"/>
              </a:rPr>
              <a:t>set </a:t>
            </a:r>
            <a:r>
              <a:rPr lang="en-US" dirty="0">
                <a:latin typeface="Arial" pitchFamily="34" charset="0"/>
                <a:cs typeface="Arial" pitchFamily="34" charset="0"/>
              </a:rPr>
              <a:t>of all text strings </a:t>
            </a:r>
            <a:r>
              <a:rPr lang="en-US" dirty="0" smtClean="0">
                <a:latin typeface="Arial" pitchFamily="34" charset="0"/>
                <a:cs typeface="Arial" pitchFamily="34" charset="0"/>
              </a:rPr>
              <a:t>of certain length</a:t>
            </a:r>
            <a:endParaRPr lang="en-US" dirty="0">
              <a:latin typeface="Arial" pitchFamily="34" charset="0"/>
              <a:cs typeface="Arial" pitchFamily="34" charset="0"/>
            </a:endParaRPr>
          </a:p>
          <a:p>
            <a:r>
              <a:rPr lang="en-US" dirty="0" smtClean="0">
                <a:latin typeface="Arial" pitchFamily="34" charset="0"/>
                <a:cs typeface="Arial" pitchFamily="34" charset="0"/>
              </a:rPr>
              <a:t>Domain </a:t>
            </a:r>
            <a:r>
              <a:rPr lang="en-US" dirty="0">
                <a:latin typeface="Arial" pitchFamily="34" charset="0"/>
                <a:cs typeface="Arial" pitchFamily="34" charset="0"/>
              </a:rPr>
              <a:t>of attribute </a:t>
            </a:r>
            <a:r>
              <a:rPr lang="en-US" dirty="0" err="1" smtClean="0">
                <a:latin typeface="Arial" pitchFamily="34" charset="0"/>
                <a:cs typeface="Arial" pitchFamily="34" charset="0"/>
              </a:rPr>
              <a:t>loanno</a:t>
            </a:r>
            <a:endParaRPr lang="en-US" dirty="0" smtClean="0">
              <a:latin typeface="Arial" pitchFamily="34" charset="0"/>
              <a:cs typeface="Arial" pitchFamily="34" charset="0"/>
            </a:endParaRPr>
          </a:p>
          <a:p>
            <a:pPr lvl="1"/>
            <a:r>
              <a:rPr lang="en-US" dirty="0" smtClean="0">
                <a:latin typeface="Arial" pitchFamily="34" charset="0"/>
                <a:cs typeface="Arial" pitchFamily="34" charset="0"/>
              </a:rPr>
              <a:t>all </a:t>
            </a:r>
            <a:r>
              <a:rPr lang="en-US" dirty="0">
                <a:latin typeface="Arial" pitchFamily="34" charset="0"/>
                <a:cs typeface="Arial" pitchFamily="34" charset="0"/>
              </a:rPr>
              <a:t>positive </a:t>
            </a:r>
            <a:r>
              <a:rPr lang="en-US" dirty="0" smtClean="0">
                <a:latin typeface="Arial" pitchFamily="34" charset="0"/>
                <a:cs typeface="Arial" pitchFamily="34" charset="0"/>
              </a:rPr>
              <a:t>integer in the form “L-n” </a:t>
            </a:r>
            <a:r>
              <a:rPr lang="en-US" dirty="0" err="1" smtClean="0">
                <a:latin typeface="Arial" pitchFamily="34" charset="0"/>
                <a:cs typeface="Arial" pitchFamily="34" charset="0"/>
              </a:rPr>
              <a:t>eg</a:t>
            </a:r>
            <a:r>
              <a:rPr lang="en-US" dirty="0" smtClean="0">
                <a:latin typeface="Arial" pitchFamily="34" charset="0"/>
                <a:cs typeface="Arial" pitchFamily="34" charset="0"/>
              </a:rPr>
              <a:t> L1, L2</a:t>
            </a:r>
            <a:endParaRPr lang="en-US" dirty="0">
              <a:latin typeface="Arial" pitchFamily="34" charset="0"/>
              <a:cs typeface="Arial" pitchFamily="34" charset="0"/>
            </a:endParaRPr>
          </a:p>
          <a:p>
            <a:pPr lvl="0"/>
            <a:r>
              <a:rPr lang="en-US" dirty="0">
                <a:latin typeface="Arial" pitchFamily="34" charset="0"/>
                <a:cs typeface="Arial" pitchFamily="34" charset="0"/>
              </a:rPr>
              <a:t>Attributes of an entity set is a function that maps from the entity set in to a domain</a:t>
            </a:r>
          </a:p>
          <a:p>
            <a:r>
              <a:rPr lang="en-US" u="sng" dirty="0">
                <a:latin typeface="Arial" pitchFamily="34" charset="0"/>
                <a:cs typeface="Arial" pitchFamily="34" charset="0"/>
              </a:rPr>
              <a:t>Mapping between entity and domain</a:t>
            </a:r>
            <a:endParaRPr lang="en-US" dirty="0">
              <a:latin typeface="Arial" pitchFamily="34" charset="0"/>
              <a:cs typeface="Arial" pitchFamily="34" charset="0"/>
            </a:endParaRPr>
          </a:p>
          <a:p>
            <a:pPr lvl="0"/>
            <a:r>
              <a:rPr lang="en-US" dirty="0">
                <a:latin typeface="Arial" pitchFamily="34" charset="0"/>
                <a:cs typeface="Arial" pitchFamily="34" charset="0"/>
              </a:rPr>
              <a:t>Entity is described by (</a:t>
            </a:r>
            <a:r>
              <a:rPr lang="en-US" dirty="0" err="1">
                <a:latin typeface="Arial" pitchFamily="34" charset="0"/>
                <a:cs typeface="Arial" pitchFamily="34" charset="0"/>
              </a:rPr>
              <a:t>attributes,datavalue</a:t>
            </a:r>
            <a:r>
              <a:rPr lang="en-US" dirty="0">
                <a:latin typeface="Arial" pitchFamily="34" charset="0"/>
                <a:cs typeface="Arial" pitchFamily="34" charset="0"/>
              </a:rPr>
              <a:t>)pairs {(</a:t>
            </a:r>
            <a:r>
              <a:rPr lang="en-US" dirty="0" err="1">
                <a:latin typeface="Arial" pitchFamily="34" charset="0"/>
                <a:cs typeface="Arial" pitchFamily="34" charset="0"/>
              </a:rPr>
              <a:t>name,jones</a:t>
            </a:r>
            <a:r>
              <a:rPr lang="en-US" dirty="0" smtClean="0">
                <a:latin typeface="Arial" pitchFamily="34" charset="0"/>
                <a:cs typeface="Arial" pitchFamily="34" charset="0"/>
              </a:rPr>
              <a:t>), (</a:t>
            </a:r>
            <a:r>
              <a:rPr lang="en-US" dirty="0">
                <a:latin typeface="Arial" pitchFamily="34" charset="0"/>
                <a:cs typeface="Arial" pitchFamily="34" charset="0"/>
              </a:rPr>
              <a:t>social security,312-12-5123</a:t>
            </a:r>
            <a:r>
              <a:rPr lang="en-US" dirty="0" smtClean="0">
                <a:latin typeface="Arial" pitchFamily="34" charset="0"/>
                <a:cs typeface="Arial" pitchFamily="34" charset="0"/>
              </a:rPr>
              <a:t>)…. ((</a:t>
            </a:r>
            <a:r>
              <a:rPr lang="en-US" dirty="0" err="1">
                <a:latin typeface="Arial" pitchFamily="34" charset="0"/>
                <a:cs typeface="Arial" pitchFamily="34" charset="0"/>
              </a:rPr>
              <a:t>street,main</a:t>
            </a:r>
            <a:r>
              <a:rPr lang="en-US" dirty="0">
                <a:latin typeface="Arial" pitchFamily="34" charset="0"/>
                <a:cs typeface="Arial" pitchFamily="34" charset="0"/>
              </a:rPr>
              <a:t>)}</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86</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78152498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Attributes Types</a:t>
            </a:r>
            <a:endParaRPr lang="en-US" dirty="0">
              <a:latin typeface="Arial" pitchFamily="34" charset="0"/>
              <a:cs typeface="Arial" pitchFamily="34" charset="0"/>
            </a:endParaRPr>
          </a:p>
        </p:txBody>
      </p:sp>
      <p:sp>
        <p:nvSpPr>
          <p:cNvPr id="3" name="Content Placeholder 2"/>
          <p:cNvSpPr>
            <a:spLocks noGrp="1"/>
          </p:cNvSpPr>
          <p:nvPr>
            <p:ph idx="1"/>
          </p:nvPr>
        </p:nvSpPr>
        <p:spPr>
          <a:xfrm>
            <a:off x="1981200" y="1600200"/>
            <a:ext cx="8229600" cy="5257800"/>
          </a:xfrm>
        </p:spPr>
        <p:txBody>
          <a:bodyPr>
            <a:normAutofit/>
          </a:bodyPr>
          <a:lstStyle/>
          <a:p>
            <a:r>
              <a:rPr lang="en-US" dirty="0">
                <a:latin typeface="Arial" pitchFamily="34" charset="0"/>
                <a:cs typeface="Arial" pitchFamily="34" charset="0"/>
              </a:rPr>
              <a:t>Simple and composite attributes</a:t>
            </a:r>
          </a:p>
          <a:p>
            <a:r>
              <a:rPr lang="en-US" dirty="0">
                <a:latin typeface="Arial" pitchFamily="34" charset="0"/>
                <a:cs typeface="Arial" pitchFamily="34" charset="0"/>
              </a:rPr>
              <a:t>Single valued and multi valued attributes</a:t>
            </a:r>
          </a:p>
          <a:p>
            <a:r>
              <a:rPr lang="en-US" dirty="0">
                <a:latin typeface="Arial" pitchFamily="34" charset="0"/>
                <a:cs typeface="Arial" pitchFamily="34" charset="0"/>
              </a:rPr>
              <a:t>Null attributes</a:t>
            </a:r>
          </a:p>
          <a:p>
            <a:r>
              <a:rPr lang="en-US" dirty="0">
                <a:latin typeface="Arial" pitchFamily="34" charset="0"/>
                <a:cs typeface="Arial" pitchFamily="34" charset="0"/>
              </a:rPr>
              <a:t>Derived </a:t>
            </a:r>
            <a:r>
              <a:rPr lang="en-US" dirty="0" smtClean="0">
                <a:latin typeface="Arial" pitchFamily="34" charset="0"/>
                <a:cs typeface="Arial" pitchFamily="34" charset="0"/>
              </a:rPr>
              <a:t>attributes</a:t>
            </a:r>
            <a:endParaRPr lang="en-US" dirty="0">
              <a:latin typeface="Arial" pitchFamily="34" charset="0"/>
              <a:cs typeface="Arial" pitchFamily="34" charset="0"/>
            </a:endParaRPr>
          </a:p>
          <a:p>
            <a:pPr>
              <a:buNone/>
            </a:pPr>
            <a:r>
              <a:rPr lang="en-US" u="sng" dirty="0" smtClean="0">
                <a:latin typeface="Arial" pitchFamily="34" charset="0"/>
                <a:cs typeface="Arial" pitchFamily="34" charset="0"/>
              </a:rPr>
              <a:t>Simple </a:t>
            </a:r>
            <a:r>
              <a:rPr lang="en-US" u="sng" dirty="0">
                <a:latin typeface="Arial" pitchFamily="34" charset="0"/>
                <a:cs typeface="Arial" pitchFamily="34" charset="0"/>
              </a:rPr>
              <a:t>attributes</a:t>
            </a:r>
            <a:endParaRPr lang="en-US" dirty="0">
              <a:latin typeface="Arial" pitchFamily="34" charset="0"/>
              <a:cs typeface="Arial" pitchFamily="34" charset="0"/>
            </a:endParaRPr>
          </a:p>
          <a:p>
            <a:r>
              <a:rPr lang="en-US" dirty="0">
                <a:latin typeface="Arial" pitchFamily="34" charset="0"/>
                <a:cs typeface="Arial" pitchFamily="34" charset="0"/>
              </a:rPr>
              <a:t>The attributes simple in its structure, which cannot be further sub divided are referred as simple attributes. </a:t>
            </a:r>
            <a:r>
              <a:rPr lang="en-US" dirty="0" err="1">
                <a:latin typeface="Arial" pitchFamily="34" charset="0"/>
                <a:cs typeface="Arial" pitchFamily="34" charset="0"/>
              </a:rPr>
              <a:t>Eg</a:t>
            </a:r>
            <a:r>
              <a:rPr lang="en-US" dirty="0">
                <a:latin typeface="Arial" pitchFamily="34" charset="0"/>
                <a:cs typeface="Arial" pitchFamily="34" charset="0"/>
              </a:rPr>
              <a:t>: </a:t>
            </a:r>
            <a:r>
              <a:rPr lang="en-US" dirty="0" err="1">
                <a:latin typeface="Arial" pitchFamily="34" charset="0"/>
                <a:cs typeface="Arial" pitchFamily="34" charset="0"/>
              </a:rPr>
              <a:t>sex,etc</a:t>
            </a:r>
            <a:r>
              <a:rPr lang="en-US" dirty="0" smtClean="0">
                <a:latin typeface="Arial" pitchFamily="34" charset="0"/>
                <a:cs typeface="Arial" pitchFamily="34" charset="0"/>
              </a:rPr>
              <a:t>.</a:t>
            </a:r>
          </a:p>
        </p:txBody>
      </p:sp>
      <p:sp>
        <p:nvSpPr>
          <p:cNvPr id="4" name="Slide Number Placeholder 3"/>
          <p:cNvSpPr>
            <a:spLocks noGrp="1"/>
          </p:cNvSpPr>
          <p:nvPr>
            <p:ph type="sldNum" sz="quarter" idx="12"/>
          </p:nvPr>
        </p:nvSpPr>
        <p:spPr/>
        <p:txBody>
          <a:bodyPr/>
          <a:lstStyle/>
          <a:p>
            <a:fld id="{C8E6D33F-E187-4F70-BDF3-C2B81C57EFE3}" type="slidenum">
              <a:rPr lang="en-US" smtClean="0"/>
              <a:pPr/>
              <a:t>87</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3017863297"/>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Arial" pitchFamily="34" charset="0"/>
                <a:cs typeface="Arial" pitchFamily="34" charset="0"/>
              </a:rPr>
              <a:t>Hierarchy of Composite Attributes</a:t>
            </a:r>
            <a:endParaRPr lang="en-US" dirty="0">
              <a:latin typeface="Arial" pitchFamily="34" charset="0"/>
              <a:cs typeface="Arial" pitchFamily="34" charset="0"/>
            </a:endParaRPr>
          </a:p>
        </p:txBody>
      </p:sp>
      <p:pic>
        <p:nvPicPr>
          <p:cNvPr id="1026" name="Picture 2"/>
          <p:cNvPicPr>
            <a:picLocks noGrp="1" noChangeAspect="1" noChangeArrowheads="1"/>
          </p:cNvPicPr>
          <p:nvPr>
            <p:ph idx="1"/>
          </p:nvPr>
        </p:nvPicPr>
        <p:blipFill>
          <a:blip r:embed="rId2"/>
          <a:srcRect l="26852"/>
          <a:stretch>
            <a:fillRect/>
          </a:stretch>
        </p:blipFill>
        <p:spPr bwMode="auto">
          <a:xfrm>
            <a:off x="4572000" y="3260666"/>
            <a:ext cx="6019800" cy="3368735"/>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C8E6D33F-E187-4F70-BDF3-C2B81C57EFE3}" type="slidenum">
              <a:rPr lang="en-US" smtClean="0"/>
              <a:pPr/>
              <a:t>88</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
        <p:nvSpPr>
          <p:cNvPr id="3" name="Rectangle 2"/>
          <p:cNvSpPr/>
          <p:nvPr/>
        </p:nvSpPr>
        <p:spPr>
          <a:xfrm>
            <a:off x="1943100" y="1255990"/>
            <a:ext cx="8420100" cy="1938992"/>
          </a:xfrm>
          <a:prstGeom prst="rect">
            <a:avLst/>
          </a:prstGeom>
        </p:spPr>
        <p:txBody>
          <a:bodyPr wrap="square">
            <a:spAutoFit/>
          </a:bodyPr>
          <a:lstStyle/>
          <a:p>
            <a:pPr>
              <a:buNone/>
            </a:pPr>
            <a:r>
              <a:rPr lang="en-US" sz="2400" u="sng" dirty="0">
                <a:latin typeface="Arial" pitchFamily="34" charset="0"/>
                <a:cs typeface="Arial" pitchFamily="34" charset="0"/>
              </a:rPr>
              <a:t>Composite attributes:</a:t>
            </a:r>
            <a:endParaRPr lang="en-US" sz="2400" dirty="0">
              <a:latin typeface="Arial" pitchFamily="34" charset="0"/>
              <a:cs typeface="Arial" pitchFamily="34" charset="0"/>
            </a:endParaRPr>
          </a:p>
          <a:p>
            <a:r>
              <a:rPr lang="en-US" sz="2400" dirty="0">
                <a:latin typeface="Arial" pitchFamily="34" charset="0"/>
                <a:cs typeface="Arial" pitchFamily="34" charset="0"/>
              </a:rPr>
              <a:t>The attribute may be composed of several components. It can be further sub divided Address(Apt#, House#, Street, City, State, </a:t>
            </a:r>
            <a:r>
              <a:rPr lang="en-US" sz="2400" dirty="0" err="1">
                <a:latin typeface="Arial" pitchFamily="34" charset="0"/>
                <a:cs typeface="Arial" pitchFamily="34" charset="0"/>
              </a:rPr>
              <a:t>ZipCode</a:t>
            </a:r>
            <a:r>
              <a:rPr lang="en-US" sz="2400" dirty="0">
                <a:latin typeface="Arial" pitchFamily="34" charset="0"/>
                <a:cs typeface="Arial" pitchFamily="34" charset="0"/>
              </a:rPr>
              <a:t>, Country)</a:t>
            </a:r>
          </a:p>
          <a:p>
            <a:r>
              <a:rPr lang="en-US" sz="2400" dirty="0">
                <a:latin typeface="Arial" pitchFamily="34" charset="0"/>
                <a:cs typeface="Arial" pitchFamily="34" charset="0"/>
              </a:rPr>
              <a:t>Name(</a:t>
            </a:r>
            <a:r>
              <a:rPr lang="en-US" sz="2400" dirty="0" err="1">
                <a:latin typeface="Arial" pitchFamily="34" charset="0"/>
                <a:cs typeface="Arial" pitchFamily="34" charset="0"/>
              </a:rPr>
              <a:t>FirstName</a:t>
            </a:r>
            <a:r>
              <a:rPr lang="en-US" sz="2400" dirty="0">
                <a:latin typeface="Arial" pitchFamily="34" charset="0"/>
                <a:cs typeface="Arial" pitchFamily="34" charset="0"/>
              </a:rPr>
              <a:t>, </a:t>
            </a:r>
            <a:r>
              <a:rPr lang="en-US" sz="2400" dirty="0" err="1">
                <a:latin typeface="Arial" pitchFamily="34" charset="0"/>
                <a:cs typeface="Arial" pitchFamily="34" charset="0"/>
              </a:rPr>
              <a:t>MiddleName</a:t>
            </a:r>
            <a:r>
              <a:rPr lang="en-US" sz="2400" dirty="0">
                <a:latin typeface="Arial" pitchFamily="34" charset="0"/>
                <a:cs typeface="Arial" pitchFamily="34" charset="0"/>
              </a:rPr>
              <a:t>, </a:t>
            </a:r>
            <a:r>
              <a:rPr lang="en-US" sz="2400" dirty="0" err="1">
                <a:latin typeface="Arial" pitchFamily="34" charset="0"/>
                <a:cs typeface="Arial" pitchFamily="34" charset="0"/>
              </a:rPr>
              <a:t>LastName</a:t>
            </a:r>
            <a:r>
              <a:rPr lang="en-US" sz="2400" dirty="0">
                <a:latin typeface="Arial" pitchFamily="34" charset="0"/>
                <a:cs typeface="Arial" pitchFamily="34" charset="0"/>
              </a:rPr>
              <a:t>).</a:t>
            </a:r>
          </a:p>
        </p:txBody>
      </p:sp>
    </p:spTree>
    <p:extLst>
      <p:ext uri="{BB962C8B-B14F-4D97-AF65-F5344CB8AC3E}">
        <p14:creationId xmlns:p14="http://schemas.microsoft.com/office/powerpoint/2010/main" val="371161946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304801"/>
            <a:ext cx="8229600" cy="5821363"/>
          </a:xfrm>
        </p:spPr>
        <p:txBody>
          <a:bodyPr>
            <a:normAutofit/>
          </a:bodyPr>
          <a:lstStyle/>
          <a:p>
            <a:pPr>
              <a:buNone/>
            </a:pPr>
            <a:r>
              <a:rPr lang="en-US" dirty="0">
                <a:latin typeface="Arial" pitchFamily="34" charset="0"/>
                <a:cs typeface="Arial" pitchFamily="34" charset="0"/>
              </a:rPr>
              <a:t>Single values attributes</a:t>
            </a:r>
          </a:p>
          <a:p>
            <a:r>
              <a:rPr lang="en-US" dirty="0">
                <a:latin typeface="Arial" pitchFamily="34" charset="0"/>
                <a:cs typeface="Arial" pitchFamily="34" charset="0"/>
              </a:rPr>
              <a:t>Attributes have single value for particular entity </a:t>
            </a:r>
            <a:r>
              <a:rPr lang="en-US" dirty="0" err="1">
                <a:latin typeface="Arial" pitchFamily="34" charset="0"/>
                <a:cs typeface="Arial" pitchFamily="34" charset="0"/>
              </a:rPr>
              <a:t>eg</a:t>
            </a:r>
            <a:r>
              <a:rPr lang="en-US" dirty="0">
                <a:latin typeface="Arial" pitchFamily="34" charset="0"/>
                <a:cs typeface="Arial" pitchFamily="34" charset="0"/>
              </a:rPr>
              <a:t>: loan number attribute has a single loan number</a:t>
            </a:r>
          </a:p>
          <a:p>
            <a:pPr>
              <a:buNone/>
            </a:pPr>
            <a:r>
              <a:rPr lang="en-US" dirty="0" err="1">
                <a:latin typeface="Arial" pitchFamily="34" charset="0"/>
                <a:cs typeface="Arial" pitchFamily="34" charset="0"/>
              </a:rPr>
              <a:t>Multivalued</a:t>
            </a:r>
            <a:r>
              <a:rPr lang="en-US" dirty="0">
                <a:latin typeface="Arial" pitchFamily="34" charset="0"/>
                <a:cs typeface="Arial" pitchFamily="34" charset="0"/>
              </a:rPr>
              <a:t> attributes</a:t>
            </a:r>
          </a:p>
          <a:p>
            <a:r>
              <a:rPr lang="en-US" dirty="0">
                <a:latin typeface="Arial" pitchFamily="34" charset="0"/>
                <a:cs typeface="Arial" pitchFamily="34" charset="0"/>
              </a:rPr>
              <a:t>Attributes has a set of values for a specific entity consider an employee entity set dependent-name an employee can have zero, one or more dependents</a:t>
            </a:r>
          </a:p>
          <a:p>
            <a:r>
              <a:rPr lang="en-US" dirty="0" err="1" smtClean="0">
                <a:latin typeface="Arial" pitchFamily="34" charset="0"/>
                <a:cs typeface="Arial" pitchFamily="34" charset="0"/>
              </a:rPr>
              <a:t>Eg</a:t>
            </a:r>
            <a:r>
              <a:rPr lang="en-US" dirty="0" smtClean="0">
                <a:latin typeface="Arial" pitchFamily="34" charset="0"/>
                <a:cs typeface="Arial" pitchFamily="34" charset="0"/>
              </a:rPr>
              <a:t> </a:t>
            </a:r>
            <a:r>
              <a:rPr lang="en-US" dirty="0">
                <a:latin typeface="Arial" pitchFamily="34" charset="0"/>
                <a:cs typeface="Arial" pitchFamily="34" charset="0"/>
              </a:rPr>
              <a:t>: In bio </a:t>
            </a:r>
            <a:r>
              <a:rPr lang="en-US" dirty="0" smtClean="0">
                <a:latin typeface="Arial" pitchFamily="34" charset="0"/>
                <a:cs typeface="Arial" pitchFamily="34" charset="0"/>
              </a:rPr>
              <a:t>data-</a:t>
            </a:r>
            <a:r>
              <a:rPr lang="en-US" b="1" dirty="0" smtClean="0">
                <a:latin typeface="Arial" pitchFamily="34" charset="0"/>
                <a:cs typeface="Arial" pitchFamily="34" charset="0"/>
              </a:rPr>
              <a:t>references-names</a:t>
            </a:r>
          </a:p>
          <a:p>
            <a:r>
              <a:rPr lang="en-US" b="1" dirty="0" smtClean="0">
                <a:latin typeface="Arial" pitchFamily="34" charset="0"/>
                <a:cs typeface="Arial" pitchFamily="34" charset="0"/>
              </a:rPr>
              <a:t>Educational qualifications </a:t>
            </a:r>
            <a:r>
              <a:rPr lang="en-US" b="1" dirty="0" err="1" smtClean="0">
                <a:latin typeface="Arial" pitchFamily="34" charset="0"/>
                <a:cs typeface="Arial" pitchFamily="34" charset="0"/>
              </a:rPr>
              <a:t>sslc,hsc,ug,pg</a:t>
            </a:r>
            <a:endParaRPr lang="en-US" b="1" dirty="0" smtClean="0">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89</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40553833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1"/>
            <a:ext cx="8229600" cy="5668963"/>
          </a:xfrm>
        </p:spPr>
        <p:txBody>
          <a:bodyPr>
            <a:normAutofit fontScale="77500" lnSpcReduction="20000"/>
          </a:bodyPr>
          <a:lstStyle/>
          <a:p>
            <a:pPr>
              <a:buNone/>
            </a:pPr>
            <a:r>
              <a:rPr lang="en-US" b="1" dirty="0">
                <a:latin typeface="Arial" pitchFamily="34" charset="0"/>
                <a:cs typeface="Arial" pitchFamily="34" charset="0"/>
              </a:rPr>
              <a:t>Null attributes</a:t>
            </a:r>
          </a:p>
          <a:p>
            <a:r>
              <a:rPr lang="en-US" dirty="0">
                <a:latin typeface="Arial" pitchFamily="34" charset="0"/>
                <a:cs typeface="Arial" pitchFamily="34" charset="0"/>
              </a:rPr>
              <a:t>A null value is used when an entity does not have a value for an attributes </a:t>
            </a:r>
            <a:endParaRPr lang="en-US" dirty="0" smtClean="0">
              <a:latin typeface="Arial" pitchFamily="34" charset="0"/>
              <a:cs typeface="Arial" pitchFamily="34" charset="0"/>
            </a:endParaRPr>
          </a:p>
          <a:p>
            <a:r>
              <a:rPr lang="en-US" dirty="0" err="1" smtClean="0">
                <a:latin typeface="Arial" pitchFamily="34" charset="0"/>
                <a:cs typeface="Arial" pitchFamily="34" charset="0"/>
              </a:rPr>
              <a:t>Eg</a:t>
            </a:r>
            <a:r>
              <a:rPr lang="en-US" dirty="0">
                <a:latin typeface="Arial" pitchFamily="34" charset="0"/>
                <a:cs typeface="Arial" pitchFamily="34" charset="0"/>
              </a:rPr>
              <a:t>:  </a:t>
            </a:r>
            <a:r>
              <a:rPr lang="en-US" dirty="0" smtClean="0">
                <a:latin typeface="Arial" pitchFamily="34" charset="0"/>
                <a:cs typeface="Arial" pitchFamily="34" charset="0"/>
              </a:rPr>
              <a:t>One may have no middle name.</a:t>
            </a:r>
            <a:endParaRPr lang="en-US" dirty="0">
              <a:latin typeface="Arial" pitchFamily="34" charset="0"/>
              <a:cs typeface="Arial" pitchFamily="34" charset="0"/>
            </a:endParaRPr>
          </a:p>
          <a:p>
            <a:pPr>
              <a:buNone/>
            </a:pPr>
            <a:r>
              <a:rPr lang="en-US" b="1" dirty="0">
                <a:latin typeface="Arial" pitchFamily="34" charset="0"/>
                <a:cs typeface="Arial" pitchFamily="34" charset="0"/>
              </a:rPr>
              <a:t>Derived attribute</a:t>
            </a:r>
          </a:p>
          <a:p>
            <a:r>
              <a:rPr lang="en-US" dirty="0">
                <a:latin typeface="Arial" pitchFamily="34" charset="0"/>
                <a:cs typeface="Arial" pitchFamily="34" charset="0"/>
              </a:rPr>
              <a:t>The value for this type of attribute can be derived from the values of other related </a:t>
            </a:r>
            <a:r>
              <a:rPr lang="en-US" dirty="0" smtClean="0">
                <a:latin typeface="Arial" pitchFamily="34" charset="0"/>
                <a:cs typeface="Arial" pitchFamily="34" charset="0"/>
              </a:rPr>
              <a:t>attributes/entities</a:t>
            </a:r>
            <a:endParaRPr lang="en-US" dirty="0">
              <a:latin typeface="Arial" pitchFamily="34" charset="0"/>
              <a:cs typeface="Arial" pitchFamily="34" charset="0"/>
            </a:endParaRPr>
          </a:p>
          <a:p>
            <a:r>
              <a:rPr lang="en-US" u="sng" dirty="0" err="1" smtClean="0">
                <a:latin typeface="Arial" pitchFamily="34" charset="0"/>
                <a:cs typeface="Arial" pitchFamily="34" charset="0"/>
              </a:rPr>
              <a:t>Eg</a:t>
            </a:r>
            <a:r>
              <a:rPr lang="en-US" u="sng" dirty="0" smtClean="0">
                <a:latin typeface="Arial" pitchFamily="34" charset="0"/>
                <a:cs typeface="Arial" pitchFamily="34" charset="0"/>
              </a:rPr>
              <a:t> 1: </a:t>
            </a:r>
            <a:r>
              <a:rPr lang="en-US" dirty="0" smtClean="0">
                <a:latin typeface="Arial" pitchFamily="34" charset="0"/>
                <a:cs typeface="Arial" pitchFamily="34" charset="0"/>
              </a:rPr>
              <a:t> entity : customer </a:t>
            </a:r>
          </a:p>
          <a:p>
            <a:r>
              <a:rPr lang="en-US" dirty="0" smtClean="0">
                <a:latin typeface="Arial" pitchFamily="34" charset="0"/>
                <a:cs typeface="Arial" pitchFamily="34" charset="0"/>
              </a:rPr>
              <a:t>Attributes  : loans-held </a:t>
            </a:r>
            <a:r>
              <a:rPr lang="en-US" dirty="0">
                <a:latin typeface="Arial" pitchFamily="34" charset="0"/>
                <a:cs typeface="Arial" pitchFamily="34" charset="0"/>
              </a:rPr>
              <a:t>which represents how many no of loans a customer had from the bank. To derive the value this attribute, we can count the number of loans entities associated with that customer</a:t>
            </a:r>
          </a:p>
          <a:p>
            <a:r>
              <a:rPr lang="en-US" u="sng" dirty="0" err="1" smtClean="0">
                <a:latin typeface="Arial" pitchFamily="34" charset="0"/>
                <a:cs typeface="Arial" pitchFamily="34" charset="0"/>
              </a:rPr>
              <a:t>Eg</a:t>
            </a:r>
            <a:r>
              <a:rPr lang="en-US" u="sng" dirty="0" smtClean="0">
                <a:latin typeface="Arial" pitchFamily="34" charset="0"/>
                <a:cs typeface="Arial" pitchFamily="34" charset="0"/>
              </a:rPr>
              <a:t> 2  </a:t>
            </a:r>
            <a:r>
              <a:rPr lang="en-US" dirty="0" smtClean="0">
                <a:latin typeface="Arial" pitchFamily="34" charset="0"/>
                <a:cs typeface="Arial" pitchFamily="34" charset="0"/>
              </a:rPr>
              <a:t>entity</a:t>
            </a:r>
            <a:r>
              <a:rPr lang="en-US" dirty="0">
                <a:latin typeface="Arial" pitchFamily="34" charset="0"/>
                <a:cs typeface="Arial" pitchFamily="34" charset="0"/>
              </a:rPr>
              <a:t>	: </a:t>
            </a:r>
            <a:r>
              <a:rPr lang="en-US" dirty="0" smtClean="0">
                <a:latin typeface="Arial" pitchFamily="34" charset="0"/>
                <a:cs typeface="Arial" pitchFamily="34" charset="0"/>
              </a:rPr>
              <a:t>employee</a:t>
            </a:r>
            <a:endParaRPr lang="en-US" dirty="0">
              <a:latin typeface="Arial" pitchFamily="34" charset="0"/>
              <a:cs typeface="Arial" pitchFamily="34" charset="0"/>
            </a:endParaRPr>
          </a:p>
          <a:p>
            <a:r>
              <a:rPr lang="en-US" dirty="0" smtClean="0">
                <a:latin typeface="Arial" pitchFamily="34" charset="0"/>
                <a:cs typeface="Arial" pitchFamily="34" charset="0"/>
              </a:rPr>
              <a:t>Attributes</a:t>
            </a:r>
            <a:r>
              <a:rPr lang="en-US" dirty="0">
                <a:latin typeface="Arial" pitchFamily="34" charset="0"/>
                <a:cs typeface="Arial" pitchFamily="34" charset="0"/>
              </a:rPr>
              <a:t>: start-date; employment length</a:t>
            </a:r>
          </a:p>
          <a:p>
            <a:r>
              <a:rPr lang="en-US" dirty="0" smtClean="0">
                <a:latin typeface="Arial" pitchFamily="34" charset="0"/>
                <a:cs typeface="Arial" pitchFamily="34" charset="0"/>
              </a:rPr>
              <a:t>Employment </a:t>
            </a:r>
            <a:r>
              <a:rPr lang="en-US" dirty="0">
                <a:latin typeface="Arial" pitchFamily="34" charset="0"/>
                <a:cs typeface="Arial" pitchFamily="34" charset="0"/>
              </a:rPr>
              <a:t>length – total length of time the employee has worked. Value of employment –length can be derived from the value of start-date &amp; current-date. Start-date is referred as base attributes</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90</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9587390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Arial" pitchFamily="34" charset="0"/>
                <a:cs typeface="Arial" pitchFamily="34" charset="0"/>
              </a:rPr>
              <a:t>Relationship sets</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a:bodyPr>
          <a:lstStyle/>
          <a:p>
            <a:pPr lvl="0"/>
            <a:r>
              <a:rPr lang="en-US" dirty="0" smtClean="0">
                <a:latin typeface="Arial" pitchFamily="34" charset="0"/>
                <a:cs typeface="Arial" pitchFamily="34" charset="0"/>
              </a:rPr>
              <a:t>Relationship </a:t>
            </a:r>
            <a:r>
              <a:rPr lang="en-US" dirty="0">
                <a:latin typeface="Arial" pitchFamily="34" charset="0"/>
                <a:cs typeface="Arial" pitchFamily="34" charset="0"/>
              </a:rPr>
              <a:t>is an association among several entities.</a:t>
            </a:r>
          </a:p>
          <a:p>
            <a:pPr lvl="0"/>
            <a:r>
              <a:rPr lang="en-US" dirty="0">
                <a:latin typeface="Arial" pitchFamily="34" charset="0"/>
                <a:cs typeface="Arial" pitchFamily="34" charset="0"/>
              </a:rPr>
              <a:t>Relationship set </a:t>
            </a:r>
            <a:r>
              <a:rPr lang="en-US" dirty="0" smtClean="0">
                <a:latin typeface="Arial" pitchFamily="34" charset="0"/>
                <a:cs typeface="Arial" pitchFamily="34" charset="0"/>
              </a:rPr>
              <a:t>is the relationship of the same </a:t>
            </a:r>
            <a:r>
              <a:rPr lang="en-US" dirty="0">
                <a:latin typeface="Arial" pitchFamily="34" charset="0"/>
                <a:cs typeface="Arial" pitchFamily="34" charset="0"/>
              </a:rPr>
              <a:t>type</a:t>
            </a:r>
            <a:r>
              <a:rPr lang="en-US" dirty="0" smtClean="0">
                <a:latin typeface="Arial" pitchFamily="34" charset="0"/>
                <a:cs typeface="Arial" pitchFamily="34" charset="0"/>
              </a:rPr>
              <a:t>.</a:t>
            </a:r>
          </a:p>
          <a:p>
            <a:r>
              <a:rPr lang="en-US" dirty="0" smtClean="0">
                <a:latin typeface="Arial" pitchFamily="34" charset="0"/>
                <a:cs typeface="Arial" pitchFamily="34" charset="0"/>
              </a:rPr>
              <a:t>E.g. “X teaches course Y”.</a:t>
            </a:r>
            <a:endParaRPr lang="en-US" dirty="0">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91</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61594503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Let us understand some key terms used in ER Modelling</a:t>
            </a:r>
            <a:br>
              <a:rPr lang="en-GB" dirty="0"/>
            </a:b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31775487"/>
              </p:ext>
            </p:extLst>
          </p:nvPr>
        </p:nvGraphicFramePr>
        <p:xfrm>
          <a:off x="960391" y="1690687"/>
          <a:ext cx="10600237" cy="1953849"/>
        </p:xfrm>
        <a:graphic>
          <a:graphicData uri="http://schemas.openxmlformats.org/drawingml/2006/table">
            <a:tbl>
              <a:tblPr/>
              <a:tblGrid>
                <a:gridCol w="1458148">
                  <a:extLst>
                    <a:ext uri="{9D8B030D-6E8A-4147-A177-3AD203B41FA5}">
                      <a16:colId xmlns:a16="http://schemas.microsoft.com/office/drawing/2014/main" val="11285302"/>
                    </a:ext>
                  </a:extLst>
                </a:gridCol>
                <a:gridCol w="7003646">
                  <a:extLst>
                    <a:ext uri="{9D8B030D-6E8A-4147-A177-3AD203B41FA5}">
                      <a16:colId xmlns:a16="http://schemas.microsoft.com/office/drawing/2014/main" val="3707543630"/>
                    </a:ext>
                  </a:extLst>
                </a:gridCol>
                <a:gridCol w="2138443">
                  <a:extLst>
                    <a:ext uri="{9D8B030D-6E8A-4147-A177-3AD203B41FA5}">
                      <a16:colId xmlns:a16="http://schemas.microsoft.com/office/drawing/2014/main" val="1259043756"/>
                    </a:ext>
                  </a:extLst>
                </a:gridCol>
              </a:tblGrid>
              <a:tr h="522103">
                <a:tc>
                  <a:txBody>
                    <a:bodyPr/>
                    <a:lstStyle/>
                    <a:p>
                      <a:pPr algn="l" fontAlgn="b"/>
                      <a:r>
                        <a:rPr lang="en-GB" sz="2400" dirty="0">
                          <a:effectLst/>
                        </a:rPr>
                        <a:t>Term</a:t>
                      </a:r>
                    </a:p>
                  </a:txBody>
                  <a:tcPr marL="47625" marR="47625" marT="47625" marB="47625" anchor="b">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280CDE"/>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b"/>
                      <a:r>
                        <a:rPr lang="en-GB" sz="2400">
                          <a:effectLst/>
                        </a:rPr>
                        <a:t>Definition</a:t>
                      </a:r>
                    </a:p>
                  </a:txBody>
                  <a:tcPr marL="47625" marR="47625" marT="47625" marB="47625" anchor="b">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280CDE"/>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b"/>
                      <a:r>
                        <a:rPr lang="en-GB" sz="2400">
                          <a:effectLst/>
                        </a:rPr>
                        <a:t>Examples</a:t>
                      </a:r>
                    </a:p>
                  </a:txBody>
                  <a:tcPr marL="47625" marR="47625" marT="47625" marB="47625" anchor="b">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900DDE"/>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644881335"/>
                  </a:ext>
                </a:extLst>
              </a:tr>
              <a:tr h="909643">
                <a:tc>
                  <a:txBody>
                    <a:bodyPr/>
                    <a:lstStyle/>
                    <a:p>
                      <a:pPr fontAlgn="t"/>
                      <a:r>
                        <a:rPr lang="en-GB" sz="2400" dirty="0">
                          <a:effectLst/>
                        </a:rPr>
                        <a:t>Entity</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GB" sz="2400" dirty="0">
                          <a:effectLst/>
                        </a:rPr>
                        <a:t>Real world objects which have an independent existence and about which we intend to collect data.</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GB" sz="2400">
                          <a:effectLst/>
                        </a:rPr>
                        <a:t>Employee, Computer</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891471831"/>
                  </a:ext>
                </a:extLst>
              </a:tr>
              <a:tr h="522103">
                <a:tc>
                  <a:txBody>
                    <a:bodyPr/>
                    <a:lstStyle/>
                    <a:p>
                      <a:pPr fontAlgn="t"/>
                      <a:r>
                        <a:rPr lang="en-GB" sz="2400">
                          <a:effectLst/>
                        </a:rPr>
                        <a:t>Attribute</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GB" sz="2400" dirty="0">
                          <a:effectLst/>
                        </a:rPr>
                        <a:t>A property that describes an entity.</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GB" sz="2400" dirty="0">
                          <a:effectLst/>
                        </a:rPr>
                        <a:t>Name, Salary</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780303055"/>
                  </a:ext>
                </a:extLst>
              </a:tr>
            </a:tbl>
          </a:graphicData>
        </a:graphic>
      </p:graphicFrame>
    </p:spTree>
    <p:extLst>
      <p:ext uri="{BB962C8B-B14F-4D97-AF65-F5344CB8AC3E}">
        <p14:creationId xmlns:p14="http://schemas.microsoft.com/office/powerpoint/2010/main" val="292555528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Different Forms</a:t>
            </a:r>
            <a:endParaRPr lang="en-GB" dirty="0"/>
          </a:p>
        </p:txBody>
      </p:sp>
      <p:pic>
        <p:nvPicPr>
          <p:cNvPr id="4" name="Picture 3"/>
          <p:cNvPicPr>
            <a:picLocks noChangeAspect="1"/>
          </p:cNvPicPr>
          <p:nvPr/>
        </p:nvPicPr>
        <p:blipFill>
          <a:blip r:embed="rId2"/>
          <a:stretch>
            <a:fillRect/>
          </a:stretch>
        </p:blipFill>
        <p:spPr>
          <a:xfrm>
            <a:off x="6981575" y="2019672"/>
            <a:ext cx="4915431" cy="1643199"/>
          </a:xfrm>
          <a:prstGeom prst="rect">
            <a:avLst/>
          </a:prstGeom>
        </p:spPr>
      </p:pic>
      <p:pic>
        <p:nvPicPr>
          <p:cNvPr id="5" name="Content Placeholder 4"/>
          <p:cNvPicPr>
            <a:picLocks noGrp="1" noChangeAspect="1"/>
          </p:cNvPicPr>
          <p:nvPr>
            <p:ph idx="1"/>
          </p:nvPr>
        </p:nvPicPr>
        <p:blipFill>
          <a:blip r:embed="rId3"/>
          <a:stretch>
            <a:fillRect/>
          </a:stretch>
        </p:blipFill>
        <p:spPr>
          <a:xfrm>
            <a:off x="7820407" y="393524"/>
            <a:ext cx="3409950" cy="1514475"/>
          </a:xfrm>
          <a:prstGeom prst="rect">
            <a:avLst/>
          </a:prstGeom>
        </p:spPr>
      </p:pic>
      <p:grpSp>
        <p:nvGrpSpPr>
          <p:cNvPr id="6" name="Group 5"/>
          <p:cNvGrpSpPr/>
          <p:nvPr/>
        </p:nvGrpSpPr>
        <p:grpSpPr>
          <a:xfrm>
            <a:off x="449581" y="1423694"/>
            <a:ext cx="5266506" cy="2312124"/>
            <a:chOff x="6622870" y="4036423"/>
            <a:chExt cx="5266506" cy="2312124"/>
          </a:xfrm>
        </p:grpSpPr>
        <p:sp>
          <p:nvSpPr>
            <p:cNvPr id="7" name="Oval 6"/>
            <p:cNvSpPr/>
            <p:nvPr/>
          </p:nvSpPr>
          <p:spPr>
            <a:xfrm>
              <a:off x="6622870" y="4036423"/>
              <a:ext cx="920932" cy="66620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b="1" u="sng" dirty="0" smtClean="0"/>
                <a:t>ID</a:t>
              </a:r>
              <a:endParaRPr lang="en-GB" b="1" u="sng" dirty="0"/>
            </a:p>
          </p:txBody>
        </p:sp>
        <p:sp>
          <p:nvSpPr>
            <p:cNvPr id="8" name="Oval 7"/>
            <p:cNvSpPr/>
            <p:nvPr/>
          </p:nvSpPr>
          <p:spPr>
            <a:xfrm>
              <a:off x="7674430" y="4036423"/>
              <a:ext cx="1345474" cy="66620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smtClean="0"/>
                <a:t>ENAME</a:t>
              </a:r>
              <a:endParaRPr lang="en-GB" dirty="0"/>
            </a:p>
          </p:txBody>
        </p:sp>
        <p:sp>
          <p:nvSpPr>
            <p:cNvPr id="9" name="Oval 8"/>
            <p:cNvSpPr/>
            <p:nvPr/>
          </p:nvSpPr>
          <p:spPr>
            <a:xfrm>
              <a:off x="9150532" y="4036425"/>
              <a:ext cx="1399903" cy="66620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smtClean="0"/>
                <a:t>SALARY</a:t>
              </a:r>
              <a:endParaRPr lang="en-GB" dirty="0"/>
            </a:p>
          </p:txBody>
        </p:sp>
        <p:sp>
          <p:nvSpPr>
            <p:cNvPr id="10" name="Oval 9"/>
            <p:cNvSpPr/>
            <p:nvPr/>
          </p:nvSpPr>
          <p:spPr>
            <a:xfrm>
              <a:off x="10681063" y="4036423"/>
              <a:ext cx="1208313" cy="66620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smtClean="0"/>
                <a:t>DEPT</a:t>
              </a:r>
            </a:p>
          </p:txBody>
        </p:sp>
        <p:sp>
          <p:nvSpPr>
            <p:cNvPr id="11" name="Rounded Rectangle 10"/>
            <p:cNvSpPr/>
            <p:nvPr/>
          </p:nvSpPr>
          <p:spPr>
            <a:xfrm>
              <a:off x="8576855" y="5630090"/>
              <a:ext cx="2547256"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smtClean="0"/>
                <a:t>EMPLOYEE</a:t>
              </a:r>
              <a:endParaRPr lang="en-GB" dirty="0"/>
            </a:p>
          </p:txBody>
        </p:sp>
        <p:cxnSp>
          <p:nvCxnSpPr>
            <p:cNvPr id="12" name="Straight Arrow Connector 11"/>
            <p:cNvCxnSpPr/>
            <p:nvPr/>
          </p:nvCxnSpPr>
          <p:spPr>
            <a:xfrm flipH="1" flipV="1">
              <a:off x="7262949" y="4702630"/>
              <a:ext cx="2499360" cy="927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8183881" y="4702627"/>
              <a:ext cx="1528354" cy="927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9" idx="4"/>
            </p:cNvCxnSpPr>
            <p:nvPr/>
          </p:nvCxnSpPr>
          <p:spPr>
            <a:xfrm flipV="1">
              <a:off x="9712235" y="4702631"/>
              <a:ext cx="138249" cy="927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9762309" y="4696095"/>
              <a:ext cx="1418953" cy="9339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
          <p:cNvGrpSpPr>
            <a:grpSpLocks noChangeAspect="1"/>
          </p:cNvGrpSpPr>
          <p:nvPr/>
        </p:nvGrpSpPr>
        <p:grpSpPr bwMode="auto">
          <a:xfrm>
            <a:off x="321127" y="3774544"/>
            <a:ext cx="6934553" cy="3657600"/>
            <a:chOff x="-145" y="9405"/>
            <a:chExt cx="8935" cy="5184"/>
          </a:xfrm>
        </p:grpSpPr>
        <p:sp>
          <p:nvSpPr>
            <p:cNvPr id="17" name="AutoShape 21"/>
            <p:cNvSpPr>
              <a:spLocks noChangeAspect="1" noChangeArrowheads="1" noTextEdit="1"/>
            </p:cNvSpPr>
            <p:nvPr/>
          </p:nvSpPr>
          <p:spPr bwMode="auto">
            <a:xfrm>
              <a:off x="150" y="9405"/>
              <a:ext cx="8640" cy="5184"/>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8" name="Rectangle 20"/>
            <p:cNvSpPr>
              <a:spLocks noChangeArrowheads="1"/>
            </p:cNvSpPr>
            <p:nvPr/>
          </p:nvSpPr>
          <p:spPr bwMode="auto">
            <a:xfrm>
              <a:off x="1395" y="12496"/>
              <a:ext cx="1500" cy="52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Arial" pitchFamily="34" charset="0"/>
                  <a:ea typeface="Times New Roman" pitchFamily="18" charset="0"/>
                </a:rPr>
                <a:t>Customer</a:t>
              </a:r>
              <a:endParaRPr kumimoji="0" lang="en-US" sz="1800" b="0" i="0" u="none" strike="noStrike" cap="none" normalizeH="0" baseline="0" dirty="0" smtClean="0">
                <a:ln>
                  <a:noFill/>
                </a:ln>
                <a:solidFill>
                  <a:schemeClr val="tx1"/>
                </a:solidFill>
                <a:effectLst/>
                <a:latin typeface="Arial" pitchFamily="34" charset="0"/>
              </a:endParaRPr>
            </a:p>
          </p:txBody>
        </p:sp>
        <p:sp>
          <p:nvSpPr>
            <p:cNvPr id="19" name="Rectangle 19"/>
            <p:cNvSpPr>
              <a:spLocks noChangeArrowheads="1"/>
            </p:cNvSpPr>
            <p:nvPr/>
          </p:nvSpPr>
          <p:spPr bwMode="auto">
            <a:xfrm>
              <a:off x="6150" y="12436"/>
              <a:ext cx="1636" cy="48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ea typeface="Times New Roman" pitchFamily="18" charset="0"/>
                </a:rPr>
                <a:t>Account		</a:t>
              </a:r>
              <a:endParaRPr kumimoji="0" lang="en-US" sz="1800" b="0" i="0" u="none" strike="noStrike" cap="none" normalizeH="0" baseline="0" smtClean="0">
                <a:ln>
                  <a:noFill/>
                </a:ln>
                <a:solidFill>
                  <a:schemeClr val="tx1"/>
                </a:solidFill>
                <a:effectLst/>
                <a:latin typeface="Arial" pitchFamily="34" charset="0"/>
              </a:endParaRPr>
            </a:p>
          </p:txBody>
        </p:sp>
        <p:sp>
          <p:nvSpPr>
            <p:cNvPr id="20" name="Oval 18"/>
            <p:cNvSpPr>
              <a:spLocks noChangeArrowheads="1"/>
            </p:cNvSpPr>
            <p:nvPr/>
          </p:nvSpPr>
          <p:spPr bwMode="auto">
            <a:xfrm>
              <a:off x="-145" y="11626"/>
              <a:ext cx="1825" cy="49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smtClean="0">
                  <a:ln>
                    <a:noFill/>
                  </a:ln>
                  <a:solidFill>
                    <a:schemeClr val="tx1"/>
                  </a:solidFill>
                  <a:effectLst/>
                  <a:latin typeface="Arial" pitchFamily="34" charset="0"/>
                  <a:ea typeface="Times New Roman" pitchFamily="18" charset="0"/>
                </a:rPr>
                <a:t>cusname</a:t>
              </a:r>
              <a:endParaRPr kumimoji="0" lang="en-US" sz="1800" b="0" i="0" u="none" strike="noStrike" cap="none" normalizeH="0" baseline="0" dirty="0" smtClean="0">
                <a:ln>
                  <a:noFill/>
                </a:ln>
                <a:solidFill>
                  <a:schemeClr val="tx1"/>
                </a:solidFill>
                <a:effectLst/>
                <a:latin typeface="Arial" pitchFamily="34" charset="0"/>
              </a:endParaRPr>
            </a:p>
          </p:txBody>
        </p:sp>
        <p:sp>
          <p:nvSpPr>
            <p:cNvPr id="21" name="Oval 17"/>
            <p:cNvSpPr>
              <a:spLocks noChangeArrowheads="1"/>
            </p:cNvSpPr>
            <p:nvPr/>
          </p:nvSpPr>
          <p:spPr bwMode="auto">
            <a:xfrm>
              <a:off x="436" y="10680"/>
              <a:ext cx="1230" cy="58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sng" strike="noStrike" cap="none" normalizeH="0" baseline="0" smtClean="0">
                  <a:ln>
                    <a:noFill/>
                  </a:ln>
                  <a:solidFill>
                    <a:schemeClr val="tx1"/>
                  </a:solidFill>
                  <a:effectLst/>
                  <a:latin typeface="Arial" pitchFamily="34" charset="0"/>
                  <a:ea typeface="Times New Roman" pitchFamily="18" charset="0"/>
                </a:rPr>
                <a:t>SSN</a:t>
              </a:r>
              <a:endParaRPr kumimoji="0" lang="en-US" sz="1800" b="0" i="0" u="none" strike="noStrike" cap="none" normalizeH="0" baseline="0" smtClean="0">
                <a:ln>
                  <a:noFill/>
                </a:ln>
                <a:solidFill>
                  <a:schemeClr val="tx1"/>
                </a:solidFill>
                <a:effectLst/>
                <a:latin typeface="Arial" pitchFamily="34" charset="0"/>
              </a:endParaRPr>
            </a:p>
          </p:txBody>
        </p:sp>
        <p:sp>
          <p:nvSpPr>
            <p:cNvPr id="22" name="Oval 16"/>
            <p:cNvSpPr>
              <a:spLocks noChangeArrowheads="1"/>
            </p:cNvSpPr>
            <p:nvPr/>
          </p:nvSpPr>
          <p:spPr bwMode="auto">
            <a:xfrm>
              <a:off x="2446" y="10936"/>
              <a:ext cx="1514" cy="48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ea typeface="Times New Roman" pitchFamily="18" charset="0"/>
                </a:rPr>
                <a:t>Cus-city</a:t>
              </a:r>
              <a:endParaRPr kumimoji="0" lang="en-US" sz="1800" b="0" i="0" u="none" strike="noStrike" cap="none" normalizeH="0" baseline="0" smtClean="0">
                <a:ln>
                  <a:noFill/>
                </a:ln>
                <a:solidFill>
                  <a:schemeClr val="tx1"/>
                </a:solidFill>
                <a:effectLst/>
                <a:latin typeface="Arial" pitchFamily="34" charset="0"/>
              </a:endParaRPr>
            </a:p>
          </p:txBody>
        </p:sp>
        <p:sp>
          <p:nvSpPr>
            <p:cNvPr id="23" name="Oval 15"/>
            <p:cNvSpPr>
              <a:spLocks noChangeArrowheads="1"/>
            </p:cNvSpPr>
            <p:nvPr/>
          </p:nvSpPr>
          <p:spPr bwMode="auto">
            <a:xfrm>
              <a:off x="1321" y="10066"/>
              <a:ext cx="1885" cy="58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smtClean="0">
                  <a:ln>
                    <a:noFill/>
                  </a:ln>
                  <a:solidFill>
                    <a:schemeClr val="tx1"/>
                  </a:solidFill>
                  <a:effectLst/>
                  <a:latin typeface="Arial" pitchFamily="34" charset="0"/>
                  <a:ea typeface="Times New Roman" pitchFamily="18" charset="0"/>
                </a:rPr>
                <a:t>Cus</a:t>
              </a:r>
              <a:r>
                <a:rPr kumimoji="0" lang="en-US" sz="1200" b="1" i="0" u="none" strike="noStrike" cap="none" normalizeH="0" baseline="0" dirty="0" smtClean="0">
                  <a:ln>
                    <a:noFill/>
                  </a:ln>
                  <a:solidFill>
                    <a:schemeClr val="tx1"/>
                  </a:solidFill>
                  <a:effectLst/>
                  <a:latin typeface="Arial" pitchFamily="34" charset="0"/>
                  <a:ea typeface="Times New Roman" pitchFamily="18" charset="0"/>
                </a:rPr>
                <a:t>-street</a:t>
              </a:r>
              <a:endParaRPr kumimoji="0" lang="en-US" sz="1800" b="0" i="0" u="none" strike="noStrike" cap="none" normalizeH="0" baseline="0" dirty="0" smtClean="0">
                <a:ln>
                  <a:noFill/>
                </a:ln>
                <a:solidFill>
                  <a:schemeClr val="tx1"/>
                </a:solidFill>
                <a:effectLst/>
                <a:latin typeface="Arial" pitchFamily="34" charset="0"/>
              </a:endParaRPr>
            </a:p>
          </p:txBody>
        </p:sp>
        <p:sp>
          <p:nvSpPr>
            <p:cNvPr id="25" name="Oval 13"/>
            <p:cNvSpPr>
              <a:spLocks noChangeArrowheads="1"/>
            </p:cNvSpPr>
            <p:nvPr/>
          </p:nvSpPr>
          <p:spPr bwMode="auto">
            <a:xfrm>
              <a:off x="4666" y="10860"/>
              <a:ext cx="1529" cy="52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ea typeface="Times New Roman" pitchFamily="18" charset="0"/>
                </a:rPr>
                <a:t>A/cno</a:t>
              </a:r>
              <a:endParaRPr kumimoji="0" lang="en-US" sz="1800" b="0" i="0" u="none" strike="noStrike" cap="none" normalizeH="0" baseline="0" smtClean="0">
                <a:ln>
                  <a:noFill/>
                </a:ln>
                <a:solidFill>
                  <a:schemeClr val="tx1"/>
                </a:solidFill>
                <a:effectLst/>
                <a:latin typeface="Arial" pitchFamily="34" charset="0"/>
              </a:endParaRPr>
            </a:p>
          </p:txBody>
        </p:sp>
        <p:sp>
          <p:nvSpPr>
            <p:cNvPr id="26" name="Oval 12"/>
            <p:cNvSpPr>
              <a:spLocks noChangeArrowheads="1"/>
            </p:cNvSpPr>
            <p:nvPr/>
          </p:nvSpPr>
          <p:spPr bwMode="auto">
            <a:xfrm>
              <a:off x="6660" y="10486"/>
              <a:ext cx="1875" cy="749"/>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ea typeface="Times New Roman" pitchFamily="18" charset="0"/>
                </a:rPr>
                <a:t>balance</a:t>
              </a:r>
              <a:endParaRPr kumimoji="0" lang="en-US" sz="1800" b="0" i="0" u="none" strike="noStrike" cap="none" normalizeH="0" baseline="0" smtClean="0">
                <a:ln>
                  <a:noFill/>
                </a:ln>
                <a:solidFill>
                  <a:schemeClr val="tx1"/>
                </a:solidFill>
                <a:effectLst/>
                <a:latin typeface="Arial" pitchFamily="34" charset="0"/>
              </a:endParaRPr>
            </a:p>
          </p:txBody>
        </p:sp>
        <p:sp>
          <p:nvSpPr>
            <p:cNvPr id="27" name="AutoShape 11"/>
            <p:cNvSpPr>
              <a:spLocks noChangeArrowheads="1"/>
            </p:cNvSpPr>
            <p:nvPr/>
          </p:nvSpPr>
          <p:spPr bwMode="auto">
            <a:xfrm>
              <a:off x="3390" y="12001"/>
              <a:ext cx="2085" cy="1289"/>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ea typeface="Times New Roman" pitchFamily="18" charset="0"/>
                </a:rPr>
                <a:t>Depositor</a:t>
              </a:r>
              <a:endParaRPr kumimoji="0" lang="en-US" sz="1800" b="0" i="0" u="none" strike="noStrike" cap="none" normalizeH="0" baseline="0" smtClean="0">
                <a:ln>
                  <a:noFill/>
                </a:ln>
                <a:solidFill>
                  <a:schemeClr val="tx1"/>
                </a:solidFill>
                <a:effectLst/>
                <a:latin typeface="Arial" pitchFamily="34" charset="0"/>
              </a:endParaRPr>
            </a:p>
          </p:txBody>
        </p:sp>
        <p:sp>
          <p:nvSpPr>
            <p:cNvPr id="28" name="Line 10"/>
            <p:cNvSpPr>
              <a:spLocks noChangeShapeType="1"/>
            </p:cNvSpPr>
            <p:nvPr/>
          </p:nvSpPr>
          <p:spPr bwMode="auto">
            <a:xfrm>
              <a:off x="1666" y="11880"/>
              <a:ext cx="344" cy="61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Line 9"/>
            <p:cNvSpPr>
              <a:spLocks noChangeShapeType="1"/>
            </p:cNvSpPr>
            <p:nvPr/>
          </p:nvSpPr>
          <p:spPr bwMode="auto">
            <a:xfrm>
              <a:off x="1666" y="11040"/>
              <a:ext cx="434" cy="145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Line 8"/>
            <p:cNvSpPr>
              <a:spLocks noChangeShapeType="1"/>
            </p:cNvSpPr>
            <p:nvPr/>
          </p:nvSpPr>
          <p:spPr bwMode="auto">
            <a:xfrm flipH="1">
              <a:off x="2100" y="10650"/>
              <a:ext cx="195" cy="184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Line 7"/>
            <p:cNvSpPr>
              <a:spLocks noChangeShapeType="1"/>
            </p:cNvSpPr>
            <p:nvPr/>
          </p:nvSpPr>
          <p:spPr bwMode="auto">
            <a:xfrm flipH="1">
              <a:off x="2100" y="11385"/>
              <a:ext cx="630" cy="105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Line 5"/>
            <p:cNvSpPr>
              <a:spLocks noChangeShapeType="1"/>
            </p:cNvSpPr>
            <p:nvPr/>
          </p:nvSpPr>
          <p:spPr bwMode="auto">
            <a:xfrm>
              <a:off x="6150" y="11235"/>
              <a:ext cx="810" cy="120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Line 4"/>
            <p:cNvSpPr>
              <a:spLocks noChangeShapeType="1"/>
            </p:cNvSpPr>
            <p:nvPr/>
          </p:nvSpPr>
          <p:spPr bwMode="auto">
            <a:xfrm flipH="1">
              <a:off x="6960" y="11235"/>
              <a:ext cx="525" cy="120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Line 3"/>
            <p:cNvSpPr>
              <a:spLocks noChangeShapeType="1"/>
            </p:cNvSpPr>
            <p:nvPr/>
          </p:nvSpPr>
          <p:spPr bwMode="auto">
            <a:xfrm>
              <a:off x="2865" y="12630"/>
              <a:ext cx="585" cy="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Line 2"/>
            <p:cNvSpPr>
              <a:spLocks noChangeShapeType="1"/>
            </p:cNvSpPr>
            <p:nvPr/>
          </p:nvSpPr>
          <p:spPr bwMode="auto">
            <a:xfrm>
              <a:off x="5393" y="12631"/>
              <a:ext cx="757" cy="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0166143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t>
            </a:r>
            <a:r>
              <a:rPr lang="en-GB" dirty="0" smtClean="0"/>
              <a:t>ore </a:t>
            </a:r>
            <a:r>
              <a:rPr lang="en-GB" dirty="0"/>
              <a:t>than one relationship between entities</a:t>
            </a:r>
          </a:p>
        </p:txBody>
      </p:sp>
      <p:sp>
        <p:nvSpPr>
          <p:cNvPr id="3" name="Content Placeholder 2"/>
          <p:cNvSpPr>
            <a:spLocks noGrp="1"/>
          </p:cNvSpPr>
          <p:nvPr>
            <p:ph idx="1"/>
          </p:nvPr>
        </p:nvSpPr>
        <p:spPr/>
        <p:txBody>
          <a:bodyPr/>
          <a:lstStyle/>
          <a:p>
            <a:r>
              <a:rPr lang="en-GB" dirty="0"/>
              <a:t>There can be more than one relationship between entities, e.g. an Employee </a:t>
            </a:r>
            <a:r>
              <a:rPr lang="en-GB" b="1" dirty="0"/>
              <a:t>works in</a:t>
            </a:r>
            <a:r>
              <a:rPr lang="en-GB" dirty="0"/>
              <a:t> a Department while the head of department (also an employee) </a:t>
            </a:r>
            <a:r>
              <a:rPr lang="en-GB" b="1" dirty="0"/>
              <a:t>manages</a:t>
            </a:r>
            <a:r>
              <a:rPr lang="en-GB" dirty="0"/>
              <a:t> a Department.</a:t>
            </a:r>
          </a:p>
          <a:p>
            <a:r>
              <a:rPr lang="en-GB" dirty="0"/>
              <a:t/>
            </a:r>
            <a:br>
              <a:rPr lang="en-GB" dirty="0"/>
            </a:br>
            <a:endParaRPr lang="en-GB" dirty="0"/>
          </a:p>
        </p:txBody>
      </p:sp>
      <p:pic>
        <p:nvPicPr>
          <p:cNvPr id="4" name="Picture 3"/>
          <p:cNvPicPr>
            <a:picLocks noChangeAspect="1"/>
          </p:cNvPicPr>
          <p:nvPr/>
        </p:nvPicPr>
        <p:blipFill>
          <a:blip r:embed="rId2"/>
          <a:stretch>
            <a:fillRect/>
          </a:stretch>
        </p:blipFill>
        <p:spPr>
          <a:xfrm>
            <a:off x="3127958" y="3646034"/>
            <a:ext cx="5936083" cy="1930038"/>
          </a:xfrm>
          <a:prstGeom prst="rect">
            <a:avLst/>
          </a:prstGeom>
        </p:spPr>
      </p:pic>
    </p:spTree>
    <p:extLst>
      <p:ext uri="{BB962C8B-B14F-4D97-AF65-F5344CB8AC3E}">
        <p14:creationId xmlns:p14="http://schemas.microsoft.com/office/powerpoint/2010/main" val="17946548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latin typeface="Arial" pitchFamily="34" charset="0"/>
                <a:cs typeface="Arial" pitchFamily="34" charset="0"/>
              </a:rPr>
              <a:t>Recursive Relationship</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dirty="0" smtClean="0">
                <a:latin typeface="Arial" pitchFamily="34" charset="0"/>
                <a:cs typeface="Arial" pitchFamily="34" charset="0"/>
              </a:rPr>
              <a:t>If the same entity participates more than once in a relationship it is known as a recursive relationship. In the below example an employee can be a supervisor and be supervised, so there is a recursive relationship.</a:t>
            </a:r>
          </a:p>
          <a:p>
            <a:r>
              <a:rPr lang="en-US" u="sng" dirty="0" err="1" smtClean="0">
                <a:latin typeface="Arial" pitchFamily="34" charset="0"/>
                <a:cs typeface="Arial" pitchFamily="34" charset="0"/>
              </a:rPr>
              <a:t>Eg</a:t>
            </a:r>
            <a:r>
              <a:rPr lang="en-US" u="sng" dirty="0" smtClean="0">
                <a:latin typeface="Arial" pitchFamily="34" charset="0"/>
                <a:cs typeface="Arial" pitchFamily="34" charset="0"/>
              </a:rPr>
              <a:t>:</a:t>
            </a:r>
            <a:r>
              <a:rPr lang="en-US" dirty="0" smtClean="0">
                <a:latin typeface="Arial" pitchFamily="34" charset="0"/>
                <a:cs typeface="Arial" pitchFamily="34" charset="0"/>
              </a:rPr>
              <a:t>  A women can take up the role of a wife, mother, daughter-in-law etc.</a:t>
            </a:r>
          </a:p>
          <a:p>
            <a:endParaRPr lang="en-US" dirty="0" smtClean="0">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95</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pic>
        <p:nvPicPr>
          <p:cNvPr id="9" name="Content Placeholder 3"/>
          <p:cNvPicPr>
            <a:picLocks noChangeAspect="1"/>
          </p:cNvPicPr>
          <p:nvPr/>
        </p:nvPicPr>
        <p:blipFill>
          <a:blip r:embed="rId2"/>
          <a:stretch>
            <a:fillRect/>
          </a:stretch>
        </p:blipFill>
        <p:spPr>
          <a:xfrm>
            <a:off x="3018880" y="4001294"/>
            <a:ext cx="3226876" cy="2473938"/>
          </a:xfrm>
          <a:prstGeom prst="rect">
            <a:avLst/>
          </a:prstGeom>
        </p:spPr>
      </p:pic>
    </p:spTree>
    <p:extLst>
      <p:ext uri="{BB962C8B-B14F-4D97-AF65-F5344CB8AC3E}">
        <p14:creationId xmlns:p14="http://schemas.microsoft.com/office/powerpoint/2010/main" val="204863721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cursive Relationship in ER Diagrams">
            <a:hlinkClick r:id="rId2"/>
          </p:cNvPr>
          <p:cNvPicPr>
            <a:picLocks noGrp="1"/>
          </p:cNvPicPr>
          <p:nvPr>
            <p:ph idx="1"/>
          </p:nvPr>
        </p:nvPicPr>
        <p:blipFill>
          <a:blip r:embed="rId3"/>
          <a:srcRect/>
          <a:stretch>
            <a:fillRect/>
          </a:stretch>
        </p:blipFill>
        <p:spPr bwMode="auto">
          <a:xfrm>
            <a:off x="1905000" y="1600200"/>
            <a:ext cx="1905000" cy="2286000"/>
          </a:xfrm>
          <a:prstGeom prst="rect">
            <a:avLst/>
          </a:prstGeom>
          <a:noFill/>
          <a:ln w="9525">
            <a:noFill/>
            <a:miter lim="800000"/>
            <a:headEnd/>
            <a:tailEnd/>
          </a:ln>
        </p:spPr>
      </p:pic>
      <p:pic>
        <p:nvPicPr>
          <p:cNvPr id="2051" name="Picture 3"/>
          <p:cNvPicPr>
            <a:picLocks noChangeAspect="1" noChangeArrowheads="1"/>
          </p:cNvPicPr>
          <p:nvPr/>
        </p:nvPicPr>
        <p:blipFill>
          <a:blip r:embed="rId4"/>
          <a:srcRect/>
          <a:stretch>
            <a:fillRect/>
          </a:stretch>
        </p:blipFill>
        <p:spPr bwMode="auto">
          <a:xfrm>
            <a:off x="4495800" y="1828800"/>
            <a:ext cx="5310188" cy="2705100"/>
          </a:xfrm>
          <a:prstGeom prst="rect">
            <a:avLst/>
          </a:prstGeom>
          <a:noFill/>
          <a:ln w="9525">
            <a:noFill/>
            <a:miter lim="800000"/>
            <a:headEnd/>
            <a:tailEnd/>
          </a:ln>
          <a:effectLst/>
        </p:spPr>
      </p:pic>
      <p:sp>
        <p:nvSpPr>
          <p:cNvPr id="7" name="Rectangle 6"/>
          <p:cNvSpPr/>
          <p:nvPr/>
        </p:nvSpPr>
        <p:spPr>
          <a:xfrm>
            <a:off x="2438400" y="4724400"/>
            <a:ext cx="6705600" cy="923330"/>
          </a:xfrm>
          <a:prstGeom prst="rect">
            <a:avLst/>
          </a:prstGeom>
        </p:spPr>
        <p:txBody>
          <a:bodyPr wrap="square">
            <a:spAutoFit/>
          </a:bodyPr>
          <a:lstStyle/>
          <a:p>
            <a:r>
              <a:rPr lang="en-US" dirty="0"/>
              <a:t>specifying that each employee has zero or one bosses (assuming the CEO doesn‘t have any boss), and that each employee may supervise zero or more other employees would look like</a:t>
            </a:r>
          </a:p>
        </p:txBody>
      </p:sp>
      <p:sp>
        <p:nvSpPr>
          <p:cNvPr id="5" name="Slide Number Placeholder 4"/>
          <p:cNvSpPr>
            <a:spLocks noGrp="1"/>
          </p:cNvSpPr>
          <p:nvPr>
            <p:ph type="sldNum" sz="quarter" idx="12"/>
          </p:nvPr>
        </p:nvSpPr>
        <p:spPr/>
        <p:txBody>
          <a:bodyPr/>
          <a:lstStyle/>
          <a:p>
            <a:fld id="{C8E6D33F-E187-4F70-BDF3-C2B81C57EFE3}" type="slidenum">
              <a:rPr lang="en-US" smtClean="0"/>
              <a:pPr/>
              <a:t>96</a:t>
            </a:fld>
            <a:endParaRPr lang="en-US"/>
          </a:p>
        </p:txBody>
      </p:sp>
      <p:sp>
        <p:nvSpPr>
          <p:cNvPr id="6" name="Footer Placeholder 5"/>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3358722319"/>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Degree of Relationships</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fontScale="92500"/>
          </a:bodyPr>
          <a:lstStyle/>
          <a:p>
            <a:r>
              <a:rPr lang="en-US" dirty="0" smtClean="0">
                <a:latin typeface="Arial" pitchFamily="34" charset="0"/>
                <a:cs typeface="Arial" pitchFamily="34" charset="0"/>
              </a:rPr>
              <a:t>The number of roles in the relationship</a:t>
            </a:r>
          </a:p>
          <a:p>
            <a:r>
              <a:rPr lang="en-US" b="1" dirty="0" smtClean="0">
                <a:latin typeface="Arial" pitchFamily="34" charset="0"/>
                <a:cs typeface="Arial" pitchFamily="34" charset="0"/>
              </a:rPr>
              <a:t>Binary</a:t>
            </a:r>
            <a:r>
              <a:rPr lang="en-US" dirty="0" smtClean="0">
                <a:latin typeface="Arial" pitchFamily="34" charset="0"/>
                <a:cs typeface="Arial" pitchFamily="34" charset="0"/>
              </a:rPr>
              <a:t> – links two entity sets; set of ordered pairs (most common)</a:t>
            </a:r>
          </a:p>
          <a:p>
            <a:r>
              <a:rPr lang="en-US" b="1" dirty="0" smtClean="0">
                <a:latin typeface="Arial" pitchFamily="34" charset="0"/>
                <a:cs typeface="Arial" pitchFamily="34" charset="0"/>
              </a:rPr>
              <a:t>Ternary</a:t>
            </a:r>
            <a:r>
              <a:rPr lang="en-US" dirty="0" smtClean="0">
                <a:latin typeface="Arial" pitchFamily="34" charset="0"/>
                <a:cs typeface="Arial" pitchFamily="34" charset="0"/>
              </a:rPr>
              <a:t> – links three entity sets; ordered triples (rare). If a relationship exists among the three entities, all three must be present</a:t>
            </a:r>
          </a:p>
          <a:p>
            <a:r>
              <a:rPr lang="en-US" dirty="0" smtClean="0">
                <a:latin typeface="Arial" pitchFamily="34" charset="0"/>
                <a:cs typeface="Arial" pitchFamily="34" charset="0"/>
              </a:rPr>
              <a:t>Ternary relationship set involving the entity sets </a:t>
            </a:r>
            <a:r>
              <a:rPr lang="en-US" cap="all" dirty="0" smtClean="0">
                <a:latin typeface="Arial" pitchFamily="34" charset="0"/>
                <a:cs typeface="Arial" pitchFamily="34" charset="0"/>
              </a:rPr>
              <a:t>customer, loan, branch..</a:t>
            </a:r>
            <a:r>
              <a:rPr lang="en-US" dirty="0" smtClean="0">
                <a:latin typeface="Arial" pitchFamily="34" charset="0"/>
                <a:cs typeface="Arial" pitchFamily="34" charset="0"/>
              </a:rPr>
              <a:t> customer </a:t>
            </a:r>
            <a:r>
              <a:rPr lang="en-US" dirty="0" err="1" smtClean="0">
                <a:latin typeface="Arial" pitchFamily="34" charset="0"/>
                <a:cs typeface="Arial" pitchFamily="34" charset="0"/>
              </a:rPr>
              <a:t>jones</a:t>
            </a:r>
            <a:r>
              <a:rPr lang="en-US" dirty="0" smtClean="0">
                <a:latin typeface="Arial" pitchFamily="34" charset="0"/>
                <a:cs typeface="Arial" pitchFamily="34" charset="0"/>
              </a:rPr>
              <a:t>, loan – L-17 and the </a:t>
            </a:r>
            <a:r>
              <a:rPr lang="en-US" dirty="0" err="1" smtClean="0">
                <a:latin typeface="Arial" pitchFamily="34" charset="0"/>
                <a:cs typeface="Arial" pitchFamily="34" charset="0"/>
              </a:rPr>
              <a:t>perryridge</a:t>
            </a:r>
            <a:r>
              <a:rPr lang="en-US" dirty="0" smtClean="0">
                <a:latin typeface="Arial" pitchFamily="34" charset="0"/>
                <a:cs typeface="Arial" pitchFamily="34" charset="0"/>
              </a:rPr>
              <a:t> branch.</a:t>
            </a:r>
          </a:p>
          <a:p>
            <a:r>
              <a:rPr lang="en-US" b="1" dirty="0" smtClean="0">
                <a:latin typeface="Arial" pitchFamily="34" charset="0"/>
                <a:cs typeface="Arial" pitchFamily="34" charset="0"/>
              </a:rPr>
              <a:t>N-</a:t>
            </a:r>
            <a:r>
              <a:rPr lang="en-US" b="1" dirty="0" err="1" smtClean="0">
                <a:latin typeface="Arial" pitchFamily="34" charset="0"/>
                <a:cs typeface="Arial" pitchFamily="34" charset="0"/>
              </a:rPr>
              <a:t>ary</a:t>
            </a:r>
            <a:r>
              <a:rPr lang="en-US" dirty="0" smtClean="0">
                <a:latin typeface="Arial" pitchFamily="34" charset="0"/>
                <a:cs typeface="Arial" pitchFamily="34" charset="0"/>
              </a:rPr>
              <a:t> – links n entity sets; ordered n-</a:t>
            </a:r>
            <a:r>
              <a:rPr lang="en-US" dirty="0" err="1" smtClean="0">
                <a:latin typeface="Arial" pitchFamily="34" charset="0"/>
                <a:cs typeface="Arial" pitchFamily="34" charset="0"/>
              </a:rPr>
              <a:t>tuples</a:t>
            </a:r>
            <a:r>
              <a:rPr lang="en-US" dirty="0" smtClean="0">
                <a:latin typeface="Arial" pitchFamily="34" charset="0"/>
                <a:cs typeface="Arial" pitchFamily="34" charset="0"/>
              </a:rPr>
              <a:t> (very rare). If a relationship exists among the entities, then all must be present. Cannot </a:t>
            </a:r>
            <a:r>
              <a:rPr lang="en-US" dirty="0" err="1" smtClean="0">
                <a:latin typeface="Arial" pitchFamily="34" charset="0"/>
                <a:cs typeface="Arial" pitchFamily="34" charset="0"/>
              </a:rPr>
              <a:t>represesnt</a:t>
            </a:r>
            <a:r>
              <a:rPr lang="en-US" dirty="0" smtClean="0">
                <a:latin typeface="Arial" pitchFamily="34" charset="0"/>
                <a:cs typeface="Arial" pitchFamily="34" charset="0"/>
              </a:rPr>
              <a:t> subsets.</a:t>
            </a: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97</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171745152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normAutofit/>
          </a:bodyPr>
          <a:lstStyle/>
          <a:p>
            <a:r>
              <a:rPr lang="en-US" dirty="0">
                <a:latin typeface="Arial" pitchFamily="34" charset="0"/>
                <a:cs typeface="Arial" pitchFamily="34" charset="0"/>
              </a:rPr>
              <a:t>E-R Diagram with a Ternary Relationship</a:t>
            </a:r>
          </a:p>
        </p:txBody>
      </p:sp>
      <p:pic>
        <p:nvPicPr>
          <p:cNvPr id="93187" name="Picture 3"/>
          <p:cNvPicPr>
            <a:picLocks noChangeAspect="1" noChangeArrowheads="1"/>
          </p:cNvPicPr>
          <p:nvPr/>
        </p:nvPicPr>
        <p:blipFill>
          <a:blip r:embed="rId2"/>
          <a:srcRect l="1160" t="27061" r="774" b="26804"/>
          <a:stretch>
            <a:fillRect/>
          </a:stretch>
        </p:blipFill>
        <p:spPr bwMode="auto">
          <a:xfrm>
            <a:off x="1981201" y="2057401"/>
            <a:ext cx="8278813" cy="3775529"/>
          </a:xfrm>
          <a:prstGeom prst="rect">
            <a:avLst/>
          </a:prstGeom>
          <a:noFill/>
          <a:ln w="76200" cmpd="tri">
            <a:solidFill>
              <a:schemeClr val="tx2"/>
            </a:solidFill>
            <a:miter lim="800000"/>
            <a:headEnd/>
            <a:tailEnd/>
          </a:ln>
          <a:effectLst/>
        </p:spPr>
      </p:pic>
      <p:sp>
        <p:nvSpPr>
          <p:cNvPr id="4" name="Slide Number Placeholder 3"/>
          <p:cNvSpPr>
            <a:spLocks noGrp="1"/>
          </p:cNvSpPr>
          <p:nvPr>
            <p:ph type="sldNum" sz="quarter" idx="12"/>
          </p:nvPr>
        </p:nvSpPr>
        <p:spPr/>
        <p:txBody>
          <a:bodyPr/>
          <a:lstStyle/>
          <a:p>
            <a:fld id="{C8E6D33F-E187-4F70-BDF3-C2B81C57EFE3}" type="slidenum">
              <a:rPr lang="en-US" smtClean="0"/>
              <a:pPr/>
              <a:t>98</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757496037"/>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One - one</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dirty="0" smtClean="0">
                <a:latin typeface="Arial" pitchFamily="34" charset="0"/>
                <a:cs typeface="Arial" pitchFamily="34" charset="0"/>
              </a:rPr>
              <a:t>An entity in </a:t>
            </a:r>
            <a:r>
              <a:rPr lang="en-US" cap="all" dirty="0" smtClean="0">
                <a:latin typeface="Arial" pitchFamily="34" charset="0"/>
                <a:cs typeface="Arial" pitchFamily="34" charset="0"/>
              </a:rPr>
              <a:t>a </a:t>
            </a:r>
            <a:r>
              <a:rPr lang="en-US" dirty="0" smtClean="0">
                <a:latin typeface="Arial" pitchFamily="34" charset="0"/>
                <a:cs typeface="Arial" pitchFamily="34" charset="0"/>
              </a:rPr>
              <a:t>is associated with at most one entity in </a:t>
            </a:r>
            <a:r>
              <a:rPr lang="en-US" cap="all" dirty="0" smtClean="0">
                <a:latin typeface="Arial" pitchFamily="34" charset="0"/>
                <a:cs typeface="Arial" pitchFamily="34" charset="0"/>
              </a:rPr>
              <a:t>b,</a:t>
            </a:r>
            <a:r>
              <a:rPr lang="en-US" dirty="0" smtClean="0">
                <a:latin typeface="Arial" pitchFamily="34" charset="0"/>
                <a:cs typeface="Arial" pitchFamily="34" charset="0"/>
              </a:rPr>
              <a:t> and an entity in </a:t>
            </a:r>
            <a:r>
              <a:rPr lang="en-US" cap="all" dirty="0" smtClean="0">
                <a:latin typeface="Arial" pitchFamily="34" charset="0"/>
                <a:cs typeface="Arial" pitchFamily="34" charset="0"/>
              </a:rPr>
              <a:t>b</a:t>
            </a:r>
            <a:r>
              <a:rPr lang="en-US" dirty="0" smtClean="0">
                <a:latin typeface="Arial" pitchFamily="34" charset="0"/>
                <a:cs typeface="Arial" pitchFamily="34" charset="0"/>
              </a:rPr>
              <a:t> is associated with at most one entity in A.</a:t>
            </a:r>
          </a:p>
          <a:p>
            <a:r>
              <a:rPr lang="en-US" dirty="0" smtClean="0">
                <a:latin typeface="Arial" pitchFamily="34" charset="0"/>
                <a:cs typeface="Arial" pitchFamily="34" charset="0"/>
              </a:rPr>
              <a:t>Borrower in a particular bank </a:t>
            </a:r>
          </a:p>
          <a:p>
            <a:r>
              <a:rPr lang="en-US" dirty="0" smtClean="0">
                <a:latin typeface="Arial" pitchFamily="34" charset="0"/>
                <a:cs typeface="Arial" pitchFamily="34" charset="0"/>
              </a:rPr>
              <a:t>A loan can belong to only customer.</a:t>
            </a:r>
          </a:p>
          <a:p>
            <a:r>
              <a:rPr lang="en-US" dirty="0" smtClean="0">
                <a:latin typeface="Arial" pitchFamily="34" charset="0"/>
                <a:cs typeface="Arial" pitchFamily="34" charset="0"/>
              </a:rPr>
              <a:t>1 Department one HOD</a:t>
            </a:r>
          </a:p>
          <a:p>
            <a:endParaRPr lang="en-US" dirty="0" smtClean="0">
              <a:latin typeface="Arial" pitchFamily="34" charset="0"/>
              <a:cs typeface="Arial" pitchFamily="34" charset="0"/>
            </a:endParaRPr>
          </a:p>
          <a:p>
            <a:endParaRPr lang="en-US"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8E6D33F-E187-4F70-BDF3-C2B81C57EFE3}" type="slidenum">
              <a:rPr lang="en-US" smtClean="0"/>
              <a:pPr/>
              <a:t>99</a:t>
            </a:fld>
            <a:endParaRPr lang="en-US"/>
          </a:p>
        </p:txBody>
      </p:sp>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137001555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1-1</a:t>
            </a:r>
            <a:endParaRPr lang="en-US" dirty="0">
              <a:latin typeface="Arial" pitchFamily="34" charset="0"/>
              <a:cs typeface="Arial" pitchFamily="34" charset="0"/>
            </a:endParaRPr>
          </a:p>
        </p:txBody>
      </p:sp>
      <p:pic>
        <p:nvPicPr>
          <p:cNvPr id="33794" name="Picture 2"/>
          <p:cNvPicPr>
            <a:picLocks noGrp="1" noChangeAspect="1" noChangeArrowheads="1"/>
          </p:cNvPicPr>
          <p:nvPr>
            <p:ph idx="1"/>
          </p:nvPr>
        </p:nvPicPr>
        <p:blipFill>
          <a:blip r:embed="rId2"/>
          <a:srcRect/>
          <a:stretch>
            <a:fillRect/>
          </a:stretch>
        </p:blipFill>
        <p:spPr bwMode="auto">
          <a:xfrm>
            <a:off x="3962401" y="2590801"/>
            <a:ext cx="3876675" cy="3876675"/>
          </a:xfrm>
          <a:prstGeom prst="rect">
            <a:avLst/>
          </a:prstGeom>
          <a:noFill/>
          <a:ln w="9525">
            <a:noFill/>
            <a:miter lim="800000"/>
            <a:headEnd/>
            <a:tailEnd/>
          </a:ln>
          <a:effectLst/>
        </p:spPr>
      </p:pic>
      <p:pic>
        <p:nvPicPr>
          <p:cNvPr id="33795" name="Picture 3"/>
          <p:cNvPicPr>
            <a:picLocks noChangeAspect="1" noChangeArrowheads="1"/>
          </p:cNvPicPr>
          <p:nvPr/>
        </p:nvPicPr>
        <p:blipFill>
          <a:blip r:embed="rId3"/>
          <a:srcRect/>
          <a:stretch>
            <a:fillRect/>
          </a:stretch>
        </p:blipFill>
        <p:spPr bwMode="auto">
          <a:xfrm>
            <a:off x="2743200" y="1371600"/>
            <a:ext cx="6858000" cy="11430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C8E6D33F-E187-4F70-BDF3-C2B81C57EFE3}" type="slidenum">
              <a:rPr lang="en-US" smtClean="0"/>
              <a:pPr/>
              <a:t>100</a:t>
            </a:fld>
            <a:endParaRPr lang="en-US"/>
          </a:p>
        </p:txBody>
      </p:sp>
      <p:sp>
        <p:nvSpPr>
          <p:cNvPr id="6" name="Footer Placeholder 5"/>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581968995"/>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1981200" y="274638"/>
            <a:ext cx="8229600" cy="639762"/>
          </a:xfrm>
        </p:spPr>
        <p:txBody>
          <a:bodyPr>
            <a:normAutofit fontScale="90000"/>
          </a:bodyPr>
          <a:lstStyle/>
          <a:p>
            <a:r>
              <a:rPr lang="en-US" dirty="0">
                <a:latin typeface="Arial" pitchFamily="34" charset="0"/>
                <a:cs typeface="Arial" pitchFamily="34" charset="0"/>
              </a:rPr>
              <a:t>Cardinality Constraints</a:t>
            </a:r>
          </a:p>
        </p:txBody>
      </p:sp>
      <p:sp>
        <p:nvSpPr>
          <p:cNvPr id="115715" name="Rectangle 3"/>
          <p:cNvSpPr>
            <a:spLocks noGrp="1" noChangeArrowheads="1"/>
          </p:cNvSpPr>
          <p:nvPr>
            <p:ph idx="1"/>
          </p:nvPr>
        </p:nvSpPr>
        <p:spPr>
          <a:xfrm>
            <a:off x="2095500" y="936625"/>
            <a:ext cx="7848600" cy="2730500"/>
          </a:xfrm>
        </p:spPr>
        <p:txBody>
          <a:bodyPr>
            <a:normAutofit fontScale="92500" lnSpcReduction="20000"/>
          </a:bodyPr>
          <a:lstStyle/>
          <a:p>
            <a:r>
              <a:rPr lang="en-US" dirty="0">
                <a:latin typeface="Arial" pitchFamily="34" charset="0"/>
                <a:cs typeface="Arial" pitchFamily="34" charset="0"/>
              </a:rPr>
              <a:t>We express cardinality constraints by drawing either a directed line (</a:t>
            </a:r>
            <a:r>
              <a:rPr lang="en-US" dirty="0">
                <a:latin typeface="Arial" pitchFamily="34" charset="0"/>
                <a:cs typeface="Arial" pitchFamily="34" charset="0"/>
                <a:sym typeface="Symbol" pitchFamily="18" charset="2"/>
              </a:rPr>
              <a:t>), signifying “one,” or an undirected line (—), signifying “many,” between the relationship set and the entity set.</a:t>
            </a:r>
          </a:p>
          <a:p>
            <a:r>
              <a:rPr lang="en-US" dirty="0">
                <a:latin typeface="Arial" pitchFamily="34" charset="0"/>
                <a:cs typeface="Arial" pitchFamily="34" charset="0"/>
              </a:rPr>
              <a:t>E.g.: One-to-one relationship:</a:t>
            </a:r>
          </a:p>
          <a:p>
            <a:pPr lvl="1"/>
            <a:r>
              <a:rPr lang="en-US" dirty="0">
                <a:latin typeface="Arial" pitchFamily="34" charset="0"/>
                <a:cs typeface="Arial" pitchFamily="34" charset="0"/>
              </a:rPr>
              <a:t>A customer is associated with at most one loan via the relationship </a:t>
            </a:r>
            <a:r>
              <a:rPr lang="en-US" i="1" dirty="0">
                <a:latin typeface="Arial" pitchFamily="34" charset="0"/>
                <a:cs typeface="Arial" pitchFamily="34" charset="0"/>
              </a:rPr>
              <a:t>borrower</a:t>
            </a:r>
          </a:p>
          <a:p>
            <a:pPr lvl="1"/>
            <a:r>
              <a:rPr lang="en-US" dirty="0">
                <a:latin typeface="Arial" pitchFamily="34" charset="0"/>
                <a:cs typeface="Arial" pitchFamily="34" charset="0"/>
              </a:rPr>
              <a:t>A loan is associated with at most one customer via </a:t>
            </a:r>
            <a:r>
              <a:rPr lang="en-US" i="1" dirty="0">
                <a:latin typeface="Arial" pitchFamily="34" charset="0"/>
                <a:cs typeface="Arial" pitchFamily="34" charset="0"/>
              </a:rPr>
              <a:t>borrower</a:t>
            </a:r>
            <a:endParaRPr lang="en-US" dirty="0">
              <a:latin typeface="Arial" pitchFamily="34" charset="0"/>
              <a:cs typeface="Arial" pitchFamily="34" charset="0"/>
            </a:endParaRPr>
          </a:p>
        </p:txBody>
      </p:sp>
      <p:pic>
        <p:nvPicPr>
          <p:cNvPr id="115717" name="Picture 5"/>
          <p:cNvPicPr>
            <a:picLocks noChangeAspect="1" noChangeArrowheads="1"/>
          </p:cNvPicPr>
          <p:nvPr/>
        </p:nvPicPr>
        <p:blipFill>
          <a:blip r:embed="rId2"/>
          <a:srcRect l="16525" t="63831" r="16737" b="5560"/>
          <a:stretch>
            <a:fillRect/>
          </a:stretch>
        </p:blipFill>
        <p:spPr bwMode="auto">
          <a:xfrm>
            <a:off x="2819400" y="3962400"/>
            <a:ext cx="6623050" cy="2278062"/>
          </a:xfrm>
          <a:prstGeom prst="rect">
            <a:avLst/>
          </a:prstGeom>
          <a:noFill/>
          <a:ln w="76200" cmpd="tri">
            <a:solidFill>
              <a:schemeClr val="tx2"/>
            </a:solidFill>
            <a:miter lim="800000"/>
            <a:headEnd/>
            <a:tailEnd/>
          </a:ln>
          <a:effectLst/>
        </p:spPr>
      </p:pic>
      <p:sp>
        <p:nvSpPr>
          <p:cNvPr id="5" name="Slide Number Placeholder 4"/>
          <p:cNvSpPr>
            <a:spLocks noGrp="1"/>
          </p:cNvSpPr>
          <p:nvPr>
            <p:ph type="sldNum" sz="quarter" idx="12"/>
          </p:nvPr>
        </p:nvSpPr>
        <p:spPr/>
        <p:txBody>
          <a:bodyPr/>
          <a:lstStyle/>
          <a:p>
            <a:fld id="{C8E6D33F-E187-4F70-BDF3-C2B81C57EFE3}" type="slidenum">
              <a:rPr lang="en-US" smtClean="0"/>
              <a:pPr/>
              <a:t>101</a:t>
            </a:fld>
            <a:endParaRPr lang="en-US"/>
          </a:p>
        </p:txBody>
      </p:sp>
      <p:sp>
        <p:nvSpPr>
          <p:cNvPr id="6" name="Footer Placeholder 5"/>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907260343"/>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r>
              <a:rPr lang="en-US" dirty="0" smtClean="0">
                <a:latin typeface="Arial" pitchFamily="34" charset="0"/>
                <a:cs typeface="Arial" pitchFamily="34" charset="0"/>
              </a:rPr>
              <a:t>1-Many</a:t>
            </a:r>
            <a:endParaRPr lang="en-US" dirty="0">
              <a:latin typeface="Arial" pitchFamily="34" charset="0"/>
              <a:cs typeface="Arial" pitchFamily="34" charset="0"/>
            </a:endParaRPr>
          </a:p>
        </p:txBody>
      </p:sp>
      <p:sp>
        <p:nvSpPr>
          <p:cNvPr id="3" name="Content Placeholder 2"/>
          <p:cNvSpPr>
            <a:spLocks noGrp="1"/>
          </p:cNvSpPr>
          <p:nvPr>
            <p:ph idx="1"/>
          </p:nvPr>
        </p:nvSpPr>
        <p:spPr>
          <a:xfrm>
            <a:off x="1981200" y="1066801"/>
            <a:ext cx="8229600" cy="990600"/>
          </a:xfrm>
        </p:spPr>
        <p:txBody>
          <a:bodyPr>
            <a:normAutofit fontScale="70000" lnSpcReduction="20000"/>
          </a:bodyPr>
          <a:lstStyle/>
          <a:p>
            <a:endParaRPr lang="en-US" dirty="0" smtClean="0">
              <a:latin typeface="Arial" pitchFamily="34" charset="0"/>
              <a:cs typeface="Arial" pitchFamily="34" charset="0"/>
            </a:endParaRPr>
          </a:p>
          <a:p>
            <a:r>
              <a:rPr lang="en-US" dirty="0" smtClean="0">
                <a:latin typeface="Arial" pitchFamily="34" charset="0"/>
                <a:cs typeface="Arial" pitchFamily="34" charset="0"/>
              </a:rPr>
              <a:t>An entity is A is associated with any number of entities in B. an entity in B, however can be associated with almost one entity in A. </a:t>
            </a:r>
            <a:endParaRPr lang="en-US" dirty="0">
              <a:latin typeface="Arial" pitchFamily="34" charset="0"/>
              <a:cs typeface="Arial" pitchFamily="34" charset="0"/>
            </a:endParaRPr>
          </a:p>
        </p:txBody>
      </p:sp>
      <p:grpSp>
        <p:nvGrpSpPr>
          <p:cNvPr id="4" name="Group 2"/>
          <p:cNvGrpSpPr>
            <a:grpSpLocks/>
          </p:cNvGrpSpPr>
          <p:nvPr/>
        </p:nvGrpSpPr>
        <p:grpSpPr bwMode="auto">
          <a:xfrm>
            <a:off x="1752600" y="1905000"/>
            <a:ext cx="7010400" cy="3429000"/>
            <a:chOff x="3240" y="8220"/>
            <a:chExt cx="6840" cy="4140"/>
          </a:xfrm>
        </p:grpSpPr>
        <p:sp>
          <p:nvSpPr>
            <p:cNvPr id="34819" name="Oval 3"/>
            <p:cNvSpPr>
              <a:spLocks noChangeArrowheads="1"/>
            </p:cNvSpPr>
            <p:nvPr/>
          </p:nvSpPr>
          <p:spPr bwMode="auto">
            <a:xfrm>
              <a:off x="3240" y="8400"/>
              <a:ext cx="1440" cy="360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20" name="Oval 4"/>
            <p:cNvSpPr>
              <a:spLocks noChangeArrowheads="1"/>
            </p:cNvSpPr>
            <p:nvPr/>
          </p:nvSpPr>
          <p:spPr bwMode="auto">
            <a:xfrm>
              <a:off x="5760" y="8220"/>
              <a:ext cx="1620" cy="414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21" name="Rectangle 5"/>
            <p:cNvSpPr>
              <a:spLocks noChangeArrowheads="1"/>
            </p:cNvSpPr>
            <p:nvPr/>
          </p:nvSpPr>
          <p:spPr bwMode="auto">
            <a:xfrm>
              <a:off x="3600" y="9010"/>
              <a:ext cx="720" cy="50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a1</a:t>
              </a:r>
              <a:endParaRPr lang="en-US">
                <a:latin typeface="Arial" pitchFamily="34" charset="0"/>
              </a:endParaRPr>
            </a:p>
          </p:txBody>
        </p:sp>
        <p:sp>
          <p:nvSpPr>
            <p:cNvPr id="34822" name="Rectangle 6"/>
            <p:cNvSpPr>
              <a:spLocks noChangeArrowheads="1"/>
            </p:cNvSpPr>
            <p:nvPr/>
          </p:nvSpPr>
          <p:spPr bwMode="auto">
            <a:xfrm>
              <a:off x="3600" y="9730"/>
              <a:ext cx="72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a2</a:t>
              </a:r>
              <a:endParaRPr lang="en-US">
                <a:latin typeface="Arial" pitchFamily="34" charset="0"/>
              </a:endParaRPr>
            </a:p>
          </p:txBody>
        </p:sp>
        <p:sp>
          <p:nvSpPr>
            <p:cNvPr id="34823" name="Rectangle 7"/>
            <p:cNvSpPr>
              <a:spLocks noChangeArrowheads="1"/>
            </p:cNvSpPr>
            <p:nvPr/>
          </p:nvSpPr>
          <p:spPr bwMode="auto">
            <a:xfrm>
              <a:off x="3600" y="10630"/>
              <a:ext cx="72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a3</a:t>
              </a:r>
              <a:endParaRPr lang="en-US">
                <a:latin typeface="Arial" pitchFamily="34" charset="0"/>
              </a:endParaRPr>
            </a:p>
          </p:txBody>
        </p:sp>
        <p:sp>
          <p:nvSpPr>
            <p:cNvPr id="34824" name="Rectangle 8"/>
            <p:cNvSpPr>
              <a:spLocks noChangeArrowheads="1"/>
            </p:cNvSpPr>
            <p:nvPr/>
          </p:nvSpPr>
          <p:spPr bwMode="auto">
            <a:xfrm>
              <a:off x="6300" y="8650"/>
              <a:ext cx="720" cy="46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b1</a:t>
              </a:r>
              <a:endParaRPr lang="en-US">
                <a:latin typeface="Arial" pitchFamily="34" charset="0"/>
              </a:endParaRPr>
            </a:p>
          </p:txBody>
        </p:sp>
        <p:sp>
          <p:nvSpPr>
            <p:cNvPr id="34825" name="Rectangle 9"/>
            <p:cNvSpPr>
              <a:spLocks noChangeArrowheads="1"/>
            </p:cNvSpPr>
            <p:nvPr/>
          </p:nvSpPr>
          <p:spPr bwMode="auto">
            <a:xfrm>
              <a:off x="6300" y="9370"/>
              <a:ext cx="72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b2</a:t>
              </a:r>
              <a:endParaRPr lang="en-US">
                <a:latin typeface="Arial" pitchFamily="34" charset="0"/>
              </a:endParaRPr>
            </a:p>
          </p:txBody>
        </p:sp>
        <p:sp>
          <p:nvSpPr>
            <p:cNvPr id="34826" name="Rectangle 10"/>
            <p:cNvSpPr>
              <a:spLocks noChangeArrowheads="1"/>
            </p:cNvSpPr>
            <p:nvPr/>
          </p:nvSpPr>
          <p:spPr bwMode="auto">
            <a:xfrm>
              <a:off x="6300" y="10090"/>
              <a:ext cx="72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b3</a:t>
              </a:r>
              <a:endParaRPr lang="en-US">
                <a:latin typeface="Arial" pitchFamily="34" charset="0"/>
              </a:endParaRPr>
            </a:p>
          </p:txBody>
        </p:sp>
        <p:sp>
          <p:nvSpPr>
            <p:cNvPr id="34827" name="Rectangle 11"/>
            <p:cNvSpPr>
              <a:spLocks noChangeArrowheads="1"/>
            </p:cNvSpPr>
            <p:nvPr/>
          </p:nvSpPr>
          <p:spPr bwMode="auto">
            <a:xfrm>
              <a:off x="6300" y="10810"/>
              <a:ext cx="72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b4</a:t>
              </a:r>
              <a:endParaRPr lang="en-US">
                <a:latin typeface="Arial" pitchFamily="34" charset="0"/>
              </a:endParaRPr>
            </a:p>
          </p:txBody>
        </p:sp>
        <p:sp>
          <p:nvSpPr>
            <p:cNvPr id="34828" name="Line 12"/>
            <p:cNvSpPr>
              <a:spLocks noChangeShapeType="1"/>
            </p:cNvSpPr>
            <p:nvPr/>
          </p:nvSpPr>
          <p:spPr bwMode="auto">
            <a:xfrm flipV="1">
              <a:off x="4320" y="8830"/>
              <a:ext cx="1980" cy="32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29" name="Line 13"/>
            <p:cNvSpPr>
              <a:spLocks noChangeShapeType="1"/>
            </p:cNvSpPr>
            <p:nvPr/>
          </p:nvSpPr>
          <p:spPr bwMode="auto">
            <a:xfrm>
              <a:off x="4320" y="9190"/>
              <a:ext cx="1980" cy="54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30" name="Line 14"/>
            <p:cNvSpPr>
              <a:spLocks noChangeShapeType="1"/>
            </p:cNvSpPr>
            <p:nvPr/>
          </p:nvSpPr>
          <p:spPr bwMode="auto">
            <a:xfrm>
              <a:off x="4320" y="10920"/>
              <a:ext cx="1980" cy="90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31" name="Line 15"/>
            <p:cNvSpPr>
              <a:spLocks noChangeShapeType="1"/>
            </p:cNvSpPr>
            <p:nvPr/>
          </p:nvSpPr>
          <p:spPr bwMode="auto">
            <a:xfrm>
              <a:off x="4320" y="9910"/>
              <a:ext cx="1980" cy="36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32" name="Line 16"/>
            <p:cNvSpPr>
              <a:spLocks noChangeShapeType="1"/>
            </p:cNvSpPr>
            <p:nvPr/>
          </p:nvSpPr>
          <p:spPr bwMode="auto">
            <a:xfrm>
              <a:off x="4320" y="9910"/>
              <a:ext cx="1980" cy="108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33" name="Rectangle 17"/>
            <p:cNvSpPr>
              <a:spLocks noChangeArrowheads="1"/>
            </p:cNvSpPr>
            <p:nvPr/>
          </p:nvSpPr>
          <p:spPr bwMode="auto">
            <a:xfrm>
              <a:off x="6300" y="11460"/>
              <a:ext cx="72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b5</a:t>
              </a:r>
              <a:endParaRPr lang="en-US">
                <a:latin typeface="Arial" pitchFamily="34" charset="0"/>
              </a:endParaRPr>
            </a:p>
          </p:txBody>
        </p:sp>
        <p:sp>
          <p:nvSpPr>
            <p:cNvPr id="34834" name="Text Box 18"/>
            <p:cNvSpPr txBox="1">
              <a:spLocks noChangeArrowheads="1"/>
            </p:cNvSpPr>
            <p:nvPr/>
          </p:nvSpPr>
          <p:spPr bwMode="auto">
            <a:xfrm>
              <a:off x="8100" y="8686"/>
              <a:ext cx="1980" cy="176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500" dirty="0">
                  <a:latin typeface="Calibri" pitchFamily="34" charset="0"/>
                  <a:ea typeface="Times New Roman" pitchFamily="18" charset="0"/>
                  <a:cs typeface="Latha" pitchFamily="2"/>
                </a:rPr>
                <a:t>Depositor</a:t>
              </a:r>
            </a:p>
            <a:p>
              <a:pPr fontAlgn="base">
                <a:spcBef>
                  <a:spcPct val="0"/>
                </a:spcBef>
                <a:spcAft>
                  <a:spcPts val="1000"/>
                </a:spcAft>
              </a:pPr>
              <a:endParaRPr lang="en-US" sz="1500" dirty="0">
                <a:latin typeface="Calibri" pitchFamily="34" charset="0"/>
                <a:ea typeface="Times New Roman" pitchFamily="18" charset="0"/>
                <a:cs typeface="Latha" pitchFamily="2"/>
              </a:endParaRPr>
            </a:p>
            <a:p>
              <a:pPr fontAlgn="base">
                <a:spcBef>
                  <a:spcPct val="0"/>
                </a:spcBef>
                <a:spcAft>
                  <a:spcPts val="1000"/>
                </a:spcAft>
              </a:pPr>
              <a:r>
                <a:rPr lang="en-US" sz="1500" dirty="0">
                  <a:latin typeface="Calibri" pitchFamily="34" charset="0"/>
                  <a:ea typeface="Times New Roman" pitchFamily="18" charset="0"/>
                  <a:cs typeface="Latha" pitchFamily="2"/>
                </a:rPr>
                <a:t>1.customer may have several accounts.</a:t>
              </a:r>
              <a:endParaRPr lang="en-US" sz="1500" dirty="0">
                <a:latin typeface="Arial" pitchFamily="34" charset="0"/>
              </a:endParaRPr>
            </a:p>
          </p:txBody>
        </p:sp>
      </p:grpSp>
      <p:pic>
        <p:nvPicPr>
          <p:cNvPr id="21" name="Picture 2"/>
          <p:cNvPicPr>
            <a:picLocks noChangeAspect="1" noChangeArrowheads="1"/>
          </p:cNvPicPr>
          <p:nvPr/>
        </p:nvPicPr>
        <p:blipFill>
          <a:blip r:embed="rId2"/>
          <a:srcRect/>
          <a:stretch>
            <a:fillRect/>
          </a:stretch>
        </p:blipFill>
        <p:spPr bwMode="auto">
          <a:xfrm>
            <a:off x="5924550" y="4953000"/>
            <a:ext cx="4743450" cy="1905000"/>
          </a:xfrm>
          <a:prstGeom prst="rect">
            <a:avLst/>
          </a:prstGeom>
          <a:noFill/>
          <a:ln w="9525">
            <a:noFill/>
            <a:miter lim="800000"/>
            <a:headEnd/>
            <a:tailEnd/>
          </a:ln>
          <a:effectLst/>
        </p:spPr>
      </p:pic>
      <p:sp>
        <p:nvSpPr>
          <p:cNvPr id="22" name="Slide Number Placeholder 21"/>
          <p:cNvSpPr>
            <a:spLocks noGrp="1"/>
          </p:cNvSpPr>
          <p:nvPr>
            <p:ph type="sldNum" sz="quarter" idx="12"/>
          </p:nvPr>
        </p:nvSpPr>
        <p:spPr/>
        <p:txBody>
          <a:bodyPr/>
          <a:lstStyle/>
          <a:p>
            <a:fld id="{C8E6D33F-E187-4F70-BDF3-C2B81C57EFE3}" type="slidenum">
              <a:rPr lang="en-US" smtClean="0"/>
              <a:pPr/>
              <a:t>102</a:t>
            </a:fld>
            <a:endParaRPr lang="en-US"/>
          </a:p>
        </p:txBody>
      </p:sp>
      <p:sp>
        <p:nvSpPr>
          <p:cNvPr id="23" name="Footer Placeholder 22"/>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405415964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2343150" y="0"/>
            <a:ext cx="8077200" cy="609600"/>
          </a:xfrm>
        </p:spPr>
        <p:txBody>
          <a:bodyPr>
            <a:normAutofit fontScale="90000"/>
          </a:bodyPr>
          <a:lstStyle/>
          <a:p>
            <a:r>
              <a:rPr lang="en-US">
                <a:latin typeface="Arial" pitchFamily="34" charset="0"/>
                <a:cs typeface="Arial" pitchFamily="34" charset="0"/>
              </a:rPr>
              <a:t>One-To-Many Relationship</a:t>
            </a:r>
          </a:p>
        </p:txBody>
      </p:sp>
      <p:sp>
        <p:nvSpPr>
          <p:cNvPr id="41987" name="Rectangle 3"/>
          <p:cNvSpPr>
            <a:spLocks noGrp="1" noChangeArrowheads="1"/>
          </p:cNvSpPr>
          <p:nvPr>
            <p:ph idx="1"/>
          </p:nvPr>
        </p:nvSpPr>
        <p:spPr>
          <a:xfrm>
            <a:off x="2279650" y="1022350"/>
            <a:ext cx="7848600" cy="2324100"/>
          </a:xfrm>
        </p:spPr>
        <p:txBody>
          <a:bodyPr>
            <a:normAutofit/>
          </a:bodyPr>
          <a:lstStyle/>
          <a:p>
            <a:r>
              <a:rPr lang="en-US">
                <a:latin typeface="Arial" pitchFamily="34" charset="0"/>
                <a:cs typeface="Arial" pitchFamily="34" charset="0"/>
              </a:rPr>
              <a:t>In the one-to-many relationship a loan is associated with at most one customer via </a:t>
            </a:r>
            <a:r>
              <a:rPr lang="en-US" i="1">
                <a:latin typeface="Arial" pitchFamily="34" charset="0"/>
                <a:cs typeface="Arial" pitchFamily="34" charset="0"/>
              </a:rPr>
              <a:t>borrower</a:t>
            </a:r>
            <a:r>
              <a:rPr lang="en-US">
                <a:latin typeface="Arial" pitchFamily="34" charset="0"/>
                <a:cs typeface="Arial" pitchFamily="34" charset="0"/>
              </a:rPr>
              <a:t>, a customer is associated with several (including 0) loans via </a:t>
            </a:r>
            <a:r>
              <a:rPr lang="en-US" i="1">
                <a:latin typeface="Arial" pitchFamily="34" charset="0"/>
                <a:cs typeface="Arial" pitchFamily="34" charset="0"/>
              </a:rPr>
              <a:t>borrower</a:t>
            </a:r>
            <a:endParaRPr lang="en-US">
              <a:latin typeface="Arial" pitchFamily="34" charset="0"/>
              <a:cs typeface="Arial" pitchFamily="34" charset="0"/>
            </a:endParaRPr>
          </a:p>
        </p:txBody>
      </p:sp>
      <p:pic>
        <p:nvPicPr>
          <p:cNvPr id="41988" name="Picture 4"/>
          <p:cNvPicPr>
            <a:picLocks noChangeAspect="1" noChangeArrowheads="1"/>
          </p:cNvPicPr>
          <p:nvPr/>
        </p:nvPicPr>
        <p:blipFill>
          <a:blip r:embed="rId2"/>
          <a:srcRect l="16525" t="847" r="16737" b="72424"/>
          <a:stretch>
            <a:fillRect/>
          </a:stretch>
        </p:blipFill>
        <p:spPr bwMode="auto">
          <a:xfrm>
            <a:off x="1981201" y="3276600"/>
            <a:ext cx="8037513" cy="2414588"/>
          </a:xfrm>
          <a:prstGeom prst="rect">
            <a:avLst/>
          </a:prstGeom>
          <a:noFill/>
          <a:ln w="76200" cmpd="tri">
            <a:solidFill>
              <a:schemeClr val="tx2"/>
            </a:solidFill>
            <a:miter lim="800000"/>
            <a:headEnd/>
            <a:tailEnd/>
          </a:ln>
          <a:effectLst/>
        </p:spPr>
      </p:pic>
      <p:sp>
        <p:nvSpPr>
          <p:cNvPr id="5" name="Slide Number Placeholder 4"/>
          <p:cNvSpPr>
            <a:spLocks noGrp="1"/>
          </p:cNvSpPr>
          <p:nvPr>
            <p:ph type="sldNum" sz="quarter" idx="12"/>
          </p:nvPr>
        </p:nvSpPr>
        <p:spPr/>
        <p:txBody>
          <a:bodyPr/>
          <a:lstStyle/>
          <a:p>
            <a:fld id="{C8E6D33F-E187-4F70-BDF3-C2B81C57EFE3}" type="slidenum">
              <a:rPr lang="en-US" smtClean="0"/>
              <a:pPr/>
              <a:t>103</a:t>
            </a:fld>
            <a:endParaRPr lang="en-US"/>
          </a:p>
        </p:txBody>
      </p:sp>
      <p:sp>
        <p:nvSpPr>
          <p:cNvPr id="6" name="Footer Placeholder 5"/>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333992364"/>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304800"/>
            <a:ext cx="8229600" cy="762000"/>
          </a:xfrm>
        </p:spPr>
        <p:txBody>
          <a:bodyPr/>
          <a:lstStyle/>
          <a:p>
            <a:r>
              <a:rPr lang="en-US" dirty="0" smtClean="0">
                <a:latin typeface="Arial" pitchFamily="34" charset="0"/>
                <a:cs typeface="Arial" pitchFamily="34" charset="0"/>
              </a:rPr>
              <a:t>Many - 1</a:t>
            </a:r>
            <a:endParaRPr lang="en-US" dirty="0">
              <a:latin typeface="Arial" pitchFamily="34" charset="0"/>
              <a:cs typeface="Arial" pitchFamily="34" charset="0"/>
            </a:endParaRPr>
          </a:p>
        </p:txBody>
      </p:sp>
      <p:sp>
        <p:nvSpPr>
          <p:cNvPr id="3" name="Content Placeholder 2"/>
          <p:cNvSpPr>
            <a:spLocks noGrp="1"/>
          </p:cNvSpPr>
          <p:nvPr>
            <p:ph idx="1"/>
          </p:nvPr>
        </p:nvSpPr>
        <p:spPr>
          <a:xfrm>
            <a:off x="1981200" y="1295401"/>
            <a:ext cx="8229600" cy="1447799"/>
          </a:xfrm>
        </p:spPr>
        <p:txBody>
          <a:bodyPr>
            <a:normAutofit/>
          </a:bodyPr>
          <a:lstStyle/>
          <a:p>
            <a:r>
              <a:rPr lang="en-US" dirty="0" smtClean="0">
                <a:latin typeface="Arial" pitchFamily="34" charset="0"/>
                <a:cs typeface="Arial" pitchFamily="34" charset="0"/>
              </a:rPr>
              <a:t>An entity in A is associated with </a:t>
            </a:r>
            <a:r>
              <a:rPr lang="en-US" dirty="0" err="1" smtClean="0">
                <a:latin typeface="Arial" pitchFamily="34" charset="0"/>
                <a:cs typeface="Arial" pitchFamily="34" charset="0"/>
              </a:rPr>
              <a:t>atmost</a:t>
            </a:r>
            <a:r>
              <a:rPr lang="en-US" dirty="0" smtClean="0">
                <a:latin typeface="Arial" pitchFamily="34" charset="0"/>
                <a:cs typeface="Arial" pitchFamily="34" charset="0"/>
              </a:rPr>
              <a:t> one entity in B. AN entity in B, however can be associated with any number of entities in A.</a:t>
            </a:r>
          </a:p>
          <a:p>
            <a:pPr>
              <a:buNone/>
            </a:pPr>
            <a:endParaRPr lang="en-US" dirty="0" smtClean="0">
              <a:latin typeface="Arial" pitchFamily="34" charset="0"/>
              <a:cs typeface="Arial" pitchFamily="34" charset="0"/>
            </a:endParaRPr>
          </a:p>
          <a:p>
            <a:endParaRPr lang="en-US" dirty="0">
              <a:latin typeface="Arial" pitchFamily="34" charset="0"/>
              <a:cs typeface="Arial" pitchFamily="34" charset="0"/>
            </a:endParaRPr>
          </a:p>
        </p:txBody>
      </p:sp>
      <p:grpSp>
        <p:nvGrpSpPr>
          <p:cNvPr id="4" name="Group 2"/>
          <p:cNvGrpSpPr>
            <a:grpSpLocks/>
          </p:cNvGrpSpPr>
          <p:nvPr/>
        </p:nvGrpSpPr>
        <p:grpSpPr bwMode="auto">
          <a:xfrm>
            <a:off x="3352800" y="3048000"/>
            <a:ext cx="4572000" cy="3276600"/>
            <a:chOff x="2700" y="2389"/>
            <a:chExt cx="3960" cy="4320"/>
          </a:xfrm>
        </p:grpSpPr>
        <p:sp>
          <p:nvSpPr>
            <p:cNvPr id="36867" name="Oval 3"/>
            <p:cNvSpPr>
              <a:spLocks noChangeArrowheads="1"/>
            </p:cNvSpPr>
            <p:nvPr/>
          </p:nvSpPr>
          <p:spPr bwMode="auto">
            <a:xfrm>
              <a:off x="2700" y="2389"/>
              <a:ext cx="1790" cy="432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68" name="Rectangle 4"/>
            <p:cNvSpPr>
              <a:spLocks noChangeArrowheads="1"/>
            </p:cNvSpPr>
            <p:nvPr/>
          </p:nvSpPr>
          <p:spPr bwMode="auto">
            <a:xfrm>
              <a:off x="3240" y="2929"/>
              <a:ext cx="54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b="1" dirty="0">
                  <a:latin typeface="Calibri" pitchFamily="34" charset="0"/>
                  <a:ea typeface="Times New Roman" pitchFamily="18" charset="0"/>
                  <a:cs typeface="Latha" pitchFamily="2"/>
                </a:rPr>
                <a:t>a1</a:t>
              </a:r>
              <a:endParaRPr lang="en-US" b="1" dirty="0">
                <a:latin typeface="Arial" pitchFamily="34" charset="0"/>
              </a:endParaRPr>
            </a:p>
          </p:txBody>
        </p:sp>
        <p:sp>
          <p:nvSpPr>
            <p:cNvPr id="36869" name="Rectangle 5"/>
            <p:cNvSpPr>
              <a:spLocks noChangeArrowheads="1"/>
            </p:cNvSpPr>
            <p:nvPr/>
          </p:nvSpPr>
          <p:spPr bwMode="auto">
            <a:xfrm>
              <a:off x="3240" y="3649"/>
              <a:ext cx="54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b="1" dirty="0">
                  <a:latin typeface="Calibri" pitchFamily="34" charset="0"/>
                  <a:ea typeface="Times New Roman" pitchFamily="18" charset="0"/>
                  <a:cs typeface="Latha" pitchFamily="2"/>
                </a:rPr>
                <a:t>a2</a:t>
              </a:r>
              <a:endParaRPr lang="en-US" b="1" dirty="0">
                <a:latin typeface="Arial" pitchFamily="34" charset="0"/>
              </a:endParaRPr>
            </a:p>
          </p:txBody>
        </p:sp>
        <p:sp>
          <p:nvSpPr>
            <p:cNvPr id="36870" name="Rectangle 6"/>
            <p:cNvSpPr>
              <a:spLocks noChangeArrowheads="1"/>
            </p:cNvSpPr>
            <p:nvPr/>
          </p:nvSpPr>
          <p:spPr bwMode="auto">
            <a:xfrm>
              <a:off x="3240" y="5089"/>
              <a:ext cx="54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b="1" dirty="0">
                  <a:latin typeface="Calibri" pitchFamily="34" charset="0"/>
                  <a:ea typeface="Times New Roman" pitchFamily="18" charset="0"/>
                  <a:cs typeface="Latha" pitchFamily="2"/>
                </a:rPr>
                <a:t>a4</a:t>
              </a:r>
              <a:endParaRPr lang="en-US" b="1" dirty="0">
                <a:latin typeface="Arial" pitchFamily="34" charset="0"/>
              </a:endParaRPr>
            </a:p>
          </p:txBody>
        </p:sp>
        <p:sp>
          <p:nvSpPr>
            <p:cNvPr id="36871" name="Rectangle 7"/>
            <p:cNvSpPr>
              <a:spLocks noChangeArrowheads="1"/>
            </p:cNvSpPr>
            <p:nvPr/>
          </p:nvSpPr>
          <p:spPr bwMode="auto">
            <a:xfrm>
              <a:off x="3240" y="4369"/>
              <a:ext cx="54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b="1" dirty="0">
                  <a:latin typeface="Calibri" pitchFamily="34" charset="0"/>
                  <a:ea typeface="Times New Roman" pitchFamily="18" charset="0"/>
                  <a:cs typeface="Latha" pitchFamily="2"/>
                </a:rPr>
                <a:t>a3</a:t>
              </a:r>
              <a:endParaRPr lang="en-US" b="1" dirty="0">
                <a:latin typeface="Arial" pitchFamily="34" charset="0"/>
              </a:endParaRPr>
            </a:p>
          </p:txBody>
        </p:sp>
        <p:sp>
          <p:nvSpPr>
            <p:cNvPr id="36872" name="Oval 8"/>
            <p:cNvSpPr>
              <a:spLocks noChangeArrowheads="1"/>
            </p:cNvSpPr>
            <p:nvPr/>
          </p:nvSpPr>
          <p:spPr bwMode="auto">
            <a:xfrm>
              <a:off x="5220" y="2389"/>
              <a:ext cx="1440" cy="432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73" name="Rectangle 9"/>
            <p:cNvSpPr>
              <a:spLocks noChangeArrowheads="1"/>
            </p:cNvSpPr>
            <p:nvPr/>
          </p:nvSpPr>
          <p:spPr bwMode="auto">
            <a:xfrm>
              <a:off x="5580" y="3469"/>
              <a:ext cx="719"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b="1" dirty="0">
                  <a:latin typeface="Calibri" pitchFamily="34" charset="0"/>
                  <a:ea typeface="Times New Roman" pitchFamily="18" charset="0"/>
                  <a:cs typeface="Latha" pitchFamily="2"/>
                </a:rPr>
                <a:t>b1</a:t>
              </a:r>
              <a:endParaRPr lang="en-US" b="1" dirty="0">
                <a:latin typeface="Arial" pitchFamily="34" charset="0"/>
              </a:endParaRPr>
            </a:p>
          </p:txBody>
        </p:sp>
        <p:sp>
          <p:nvSpPr>
            <p:cNvPr id="36874" name="Rectangle 10"/>
            <p:cNvSpPr>
              <a:spLocks noChangeArrowheads="1"/>
            </p:cNvSpPr>
            <p:nvPr/>
          </p:nvSpPr>
          <p:spPr bwMode="auto">
            <a:xfrm>
              <a:off x="5580" y="4189"/>
              <a:ext cx="719"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b="1" dirty="0">
                  <a:latin typeface="Calibri" pitchFamily="34" charset="0"/>
                  <a:ea typeface="Times New Roman" pitchFamily="18" charset="0"/>
                  <a:cs typeface="Latha" pitchFamily="2"/>
                </a:rPr>
                <a:t>b2</a:t>
              </a:r>
              <a:endParaRPr lang="en-US" b="1" dirty="0">
                <a:latin typeface="Arial" pitchFamily="34" charset="0"/>
              </a:endParaRPr>
            </a:p>
          </p:txBody>
        </p:sp>
        <p:sp>
          <p:nvSpPr>
            <p:cNvPr id="36875" name="Rectangle 11"/>
            <p:cNvSpPr>
              <a:spLocks noChangeArrowheads="1"/>
            </p:cNvSpPr>
            <p:nvPr/>
          </p:nvSpPr>
          <p:spPr bwMode="auto">
            <a:xfrm>
              <a:off x="3240" y="5809"/>
              <a:ext cx="54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b="1" dirty="0">
                  <a:latin typeface="Calibri" pitchFamily="34" charset="0"/>
                  <a:ea typeface="Times New Roman" pitchFamily="18" charset="0"/>
                  <a:cs typeface="Latha" pitchFamily="2"/>
                </a:rPr>
                <a:t>a5</a:t>
              </a:r>
              <a:endParaRPr lang="en-US" b="1" dirty="0">
                <a:latin typeface="Arial" pitchFamily="34" charset="0"/>
              </a:endParaRPr>
            </a:p>
          </p:txBody>
        </p:sp>
        <p:sp>
          <p:nvSpPr>
            <p:cNvPr id="36876" name="Rectangle 12"/>
            <p:cNvSpPr>
              <a:spLocks noChangeArrowheads="1"/>
            </p:cNvSpPr>
            <p:nvPr/>
          </p:nvSpPr>
          <p:spPr bwMode="auto">
            <a:xfrm>
              <a:off x="5580" y="4909"/>
              <a:ext cx="719"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b="1" dirty="0">
                  <a:latin typeface="Calibri" pitchFamily="34" charset="0"/>
                  <a:ea typeface="Times New Roman" pitchFamily="18" charset="0"/>
                  <a:cs typeface="Latha" pitchFamily="2"/>
                </a:rPr>
                <a:t>b3</a:t>
              </a:r>
              <a:endParaRPr lang="en-US" b="1" dirty="0">
                <a:latin typeface="Arial" pitchFamily="34" charset="0"/>
              </a:endParaRPr>
            </a:p>
          </p:txBody>
        </p:sp>
        <p:sp>
          <p:nvSpPr>
            <p:cNvPr id="36877" name="Line 13"/>
            <p:cNvSpPr>
              <a:spLocks noChangeShapeType="1"/>
            </p:cNvSpPr>
            <p:nvPr/>
          </p:nvSpPr>
          <p:spPr bwMode="auto">
            <a:xfrm>
              <a:off x="3780" y="3066"/>
              <a:ext cx="1800" cy="72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78" name="Line 14"/>
            <p:cNvSpPr>
              <a:spLocks noChangeShapeType="1"/>
            </p:cNvSpPr>
            <p:nvPr/>
          </p:nvSpPr>
          <p:spPr bwMode="auto">
            <a:xfrm>
              <a:off x="3780" y="3795"/>
              <a:ext cx="180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79" name="Line 15"/>
            <p:cNvSpPr>
              <a:spLocks noChangeShapeType="1"/>
            </p:cNvSpPr>
            <p:nvPr/>
          </p:nvSpPr>
          <p:spPr bwMode="auto">
            <a:xfrm flipV="1">
              <a:off x="3790" y="4518"/>
              <a:ext cx="1800" cy="18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80" name="Line 16"/>
            <p:cNvSpPr>
              <a:spLocks noChangeShapeType="1"/>
            </p:cNvSpPr>
            <p:nvPr/>
          </p:nvSpPr>
          <p:spPr bwMode="auto">
            <a:xfrm flipV="1">
              <a:off x="3780" y="5089"/>
              <a:ext cx="1800" cy="18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81" name="Line 17"/>
            <p:cNvSpPr>
              <a:spLocks noChangeShapeType="1"/>
            </p:cNvSpPr>
            <p:nvPr/>
          </p:nvSpPr>
          <p:spPr bwMode="auto">
            <a:xfrm flipV="1">
              <a:off x="3780" y="5269"/>
              <a:ext cx="1800" cy="72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0" name="Slide Number Placeholder 19"/>
          <p:cNvSpPr>
            <a:spLocks noGrp="1"/>
          </p:cNvSpPr>
          <p:nvPr>
            <p:ph type="sldNum" sz="quarter" idx="12"/>
          </p:nvPr>
        </p:nvSpPr>
        <p:spPr/>
        <p:txBody>
          <a:bodyPr/>
          <a:lstStyle/>
          <a:p>
            <a:fld id="{C8E6D33F-E187-4F70-BDF3-C2B81C57EFE3}" type="slidenum">
              <a:rPr lang="en-US" smtClean="0"/>
              <a:pPr/>
              <a:t>104</a:t>
            </a:fld>
            <a:endParaRPr lang="en-US"/>
          </a:p>
        </p:txBody>
      </p:sp>
      <p:sp>
        <p:nvSpPr>
          <p:cNvPr id="21" name="Footer Placeholder 20"/>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92920261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036763" y="495300"/>
            <a:ext cx="8113712" cy="457200"/>
          </a:xfrm>
        </p:spPr>
        <p:txBody>
          <a:bodyPr>
            <a:normAutofit fontScale="90000"/>
          </a:bodyPr>
          <a:lstStyle/>
          <a:p>
            <a:r>
              <a:rPr lang="en-US">
                <a:latin typeface="Arial" pitchFamily="34" charset="0"/>
                <a:cs typeface="Arial" pitchFamily="34" charset="0"/>
              </a:rPr>
              <a:t>Many-To-One Relationships</a:t>
            </a:r>
          </a:p>
        </p:txBody>
      </p:sp>
      <p:sp>
        <p:nvSpPr>
          <p:cNvPr id="40967" name="Rectangle 7"/>
          <p:cNvSpPr>
            <a:spLocks noGrp="1" noChangeArrowheads="1"/>
          </p:cNvSpPr>
          <p:nvPr>
            <p:ph idx="1"/>
          </p:nvPr>
        </p:nvSpPr>
        <p:spPr>
          <a:xfrm>
            <a:off x="2190750" y="1504950"/>
            <a:ext cx="7848600" cy="1638300"/>
          </a:xfrm>
          <a:noFill/>
          <a:ln/>
        </p:spPr>
        <p:txBody>
          <a:bodyPr>
            <a:normAutofit/>
          </a:bodyPr>
          <a:lstStyle/>
          <a:p>
            <a:r>
              <a:rPr lang="en-US">
                <a:latin typeface="Arial" pitchFamily="34" charset="0"/>
                <a:cs typeface="Arial" pitchFamily="34" charset="0"/>
              </a:rPr>
              <a:t>In a many-to-one relationship a loan is associated with several (including 0) customers via </a:t>
            </a:r>
            <a:r>
              <a:rPr lang="en-US" i="1">
                <a:latin typeface="Arial" pitchFamily="34" charset="0"/>
                <a:cs typeface="Arial" pitchFamily="34" charset="0"/>
              </a:rPr>
              <a:t>borrower</a:t>
            </a:r>
            <a:r>
              <a:rPr lang="en-US">
                <a:latin typeface="Arial" pitchFamily="34" charset="0"/>
                <a:cs typeface="Arial" pitchFamily="34" charset="0"/>
              </a:rPr>
              <a:t>, a customer is associated with at most one loan via </a:t>
            </a:r>
            <a:r>
              <a:rPr lang="en-US" i="1">
                <a:latin typeface="Arial" pitchFamily="34" charset="0"/>
                <a:cs typeface="Arial" pitchFamily="34" charset="0"/>
              </a:rPr>
              <a:t>borrower</a:t>
            </a:r>
            <a:endParaRPr lang="en-US">
              <a:latin typeface="Arial" pitchFamily="34" charset="0"/>
              <a:cs typeface="Arial" pitchFamily="34" charset="0"/>
            </a:endParaRPr>
          </a:p>
        </p:txBody>
      </p:sp>
      <p:pic>
        <p:nvPicPr>
          <p:cNvPr id="40965" name="Picture 5"/>
          <p:cNvPicPr>
            <a:picLocks noChangeAspect="1" noChangeArrowheads="1"/>
          </p:cNvPicPr>
          <p:nvPr/>
        </p:nvPicPr>
        <p:blipFill>
          <a:blip r:embed="rId2"/>
          <a:srcRect l="16525" t="31747" r="16737" b="39993"/>
          <a:stretch>
            <a:fillRect/>
          </a:stretch>
        </p:blipFill>
        <p:spPr bwMode="auto">
          <a:xfrm>
            <a:off x="2540001" y="2776539"/>
            <a:ext cx="7508875" cy="2384425"/>
          </a:xfrm>
          <a:prstGeom prst="rect">
            <a:avLst/>
          </a:prstGeom>
          <a:noFill/>
          <a:ln w="76200" cmpd="tri">
            <a:solidFill>
              <a:schemeClr val="tx2"/>
            </a:solidFill>
            <a:miter lim="800000"/>
            <a:headEnd/>
            <a:tailEnd/>
          </a:ln>
          <a:effectLst/>
        </p:spPr>
      </p:pic>
      <p:sp>
        <p:nvSpPr>
          <p:cNvPr id="5" name="Slide Number Placeholder 4"/>
          <p:cNvSpPr>
            <a:spLocks noGrp="1"/>
          </p:cNvSpPr>
          <p:nvPr>
            <p:ph type="sldNum" sz="quarter" idx="12"/>
          </p:nvPr>
        </p:nvSpPr>
        <p:spPr/>
        <p:txBody>
          <a:bodyPr/>
          <a:lstStyle/>
          <a:p>
            <a:fld id="{C8E6D33F-E187-4F70-BDF3-C2B81C57EFE3}" type="slidenum">
              <a:rPr lang="en-US" smtClean="0"/>
              <a:pPr/>
              <a:t>105</a:t>
            </a:fld>
            <a:endParaRPr lang="en-US"/>
          </a:p>
        </p:txBody>
      </p:sp>
      <p:sp>
        <p:nvSpPr>
          <p:cNvPr id="6" name="Footer Placeholder 5"/>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458787697"/>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Many - Many</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dirty="0" smtClean="0">
                <a:latin typeface="Arial" pitchFamily="34" charset="0"/>
                <a:cs typeface="Arial" pitchFamily="34" charset="0"/>
              </a:rPr>
              <a:t>An entity in A is associated with any number of entities in B, and an entity in B is associated with any no of entities in A.</a:t>
            </a:r>
          </a:p>
          <a:p>
            <a:endParaRPr lang="en-US" dirty="0">
              <a:latin typeface="Arial" pitchFamily="34" charset="0"/>
              <a:cs typeface="Arial" pitchFamily="34" charset="0"/>
            </a:endParaRPr>
          </a:p>
        </p:txBody>
      </p:sp>
      <p:grpSp>
        <p:nvGrpSpPr>
          <p:cNvPr id="4" name="Group 2"/>
          <p:cNvGrpSpPr>
            <a:grpSpLocks/>
          </p:cNvGrpSpPr>
          <p:nvPr/>
        </p:nvGrpSpPr>
        <p:grpSpPr bwMode="auto">
          <a:xfrm>
            <a:off x="2895600" y="3048000"/>
            <a:ext cx="6026150" cy="3581400"/>
            <a:chOff x="2700" y="8974"/>
            <a:chExt cx="6850" cy="3770"/>
          </a:xfrm>
        </p:grpSpPr>
        <p:sp>
          <p:nvSpPr>
            <p:cNvPr id="37891" name="Oval 3"/>
            <p:cNvSpPr>
              <a:spLocks noChangeArrowheads="1"/>
            </p:cNvSpPr>
            <p:nvPr/>
          </p:nvSpPr>
          <p:spPr bwMode="auto">
            <a:xfrm>
              <a:off x="5040" y="9144"/>
              <a:ext cx="1440" cy="360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892" name="Oval 4"/>
            <p:cNvSpPr>
              <a:spLocks noChangeArrowheads="1"/>
            </p:cNvSpPr>
            <p:nvPr/>
          </p:nvSpPr>
          <p:spPr bwMode="auto">
            <a:xfrm>
              <a:off x="2700" y="9144"/>
              <a:ext cx="1260" cy="360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893" name="Rectangle 5"/>
            <p:cNvSpPr>
              <a:spLocks noChangeArrowheads="1"/>
            </p:cNvSpPr>
            <p:nvPr/>
          </p:nvSpPr>
          <p:spPr bwMode="auto">
            <a:xfrm>
              <a:off x="3060" y="9504"/>
              <a:ext cx="54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a1</a:t>
              </a:r>
              <a:endParaRPr lang="en-US">
                <a:latin typeface="Arial" pitchFamily="34" charset="0"/>
              </a:endParaRPr>
            </a:p>
          </p:txBody>
        </p:sp>
        <p:sp>
          <p:nvSpPr>
            <p:cNvPr id="37894" name="Rectangle 6"/>
            <p:cNvSpPr>
              <a:spLocks noChangeArrowheads="1"/>
            </p:cNvSpPr>
            <p:nvPr/>
          </p:nvSpPr>
          <p:spPr bwMode="auto">
            <a:xfrm>
              <a:off x="3060" y="10224"/>
              <a:ext cx="54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a2</a:t>
              </a:r>
              <a:endParaRPr lang="en-US">
                <a:latin typeface="Arial" pitchFamily="34" charset="0"/>
              </a:endParaRPr>
            </a:p>
          </p:txBody>
        </p:sp>
        <p:sp>
          <p:nvSpPr>
            <p:cNvPr id="37895" name="Rectangle 7"/>
            <p:cNvSpPr>
              <a:spLocks noChangeArrowheads="1"/>
            </p:cNvSpPr>
            <p:nvPr/>
          </p:nvSpPr>
          <p:spPr bwMode="auto">
            <a:xfrm>
              <a:off x="3060" y="11664"/>
              <a:ext cx="54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a4</a:t>
              </a:r>
              <a:endParaRPr lang="en-US">
                <a:latin typeface="Arial" pitchFamily="34" charset="0"/>
              </a:endParaRPr>
            </a:p>
          </p:txBody>
        </p:sp>
        <p:sp>
          <p:nvSpPr>
            <p:cNvPr id="37896" name="Rectangle 8"/>
            <p:cNvSpPr>
              <a:spLocks noChangeArrowheads="1"/>
            </p:cNvSpPr>
            <p:nvPr/>
          </p:nvSpPr>
          <p:spPr bwMode="auto">
            <a:xfrm>
              <a:off x="3060" y="10944"/>
              <a:ext cx="54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a3</a:t>
              </a:r>
              <a:endParaRPr lang="en-US">
                <a:latin typeface="Arial" pitchFamily="34" charset="0"/>
              </a:endParaRPr>
            </a:p>
          </p:txBody>
        </p:sp>
        <p:sp>
          <p:nvSpPr>
            <p:cNvPr id="37897" name="Rectangle 9"/>
            <p:cNvSpPr>
              <a:spLocks noChangeArrowheads="1"/>
            </p:cNvSpPr>
            <p:nvPr/>
          </p:nvSpPr>
          <p:spPr bwMode="auto">
            <a:xfrm>
              <a:off x="5400" y="9504"/>
              <a:ext cx="719"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b1</a:t>
              </a:r>
              <a:endParaRPr lang="en-US">
                <a:latin typeface="Arial" pitchFamily="34" charset="0"/>
              </a:endParaRPr>
            </a:p>
          </p:txBody>
        </p:sp>
        <p:sp>
          <p:nvSpPr>
            <p:cNvPr id="37898" name="Rectangle 10"/>
            <p:cNvSpPr>
              <a:spLocks noChangeArrowheads="1"/>
            </p:cNvSpPr>
            <p:nvPr/>
          </p:nvSpPr>
          <p:spPr bwMode="auto">
            <a:xfrm>
              <a:off x="5400" y="10224"/>
              <a:ext cx="719"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b2</a:t>
              </a:r>
              <a:endParaRPr lang="en-US">
                <a:latin typeface="Arial" pitchFamily="34" charset="0"/>
              </a:endParaRPr>
            </a:p>
          </p:txBody>
        </p:sp>
        <p:sp>
          <p:nvSpPr>
            <p:cNvPr id="37899" name="Rectangle 11"/>
            <p:cNvSpPr>
              <a:spLocks noChangeArrowheads="1"/>
            </p:cNvSpPr>
            <p:nvPr/>
          </p:nvSpPr>
          <p:spPr bwMode="auto">
            <a:xfrm>
              <a:off x="5400" y="11664"/>
              <a:ext cx="719"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b4</a:t>
              </a:r>
              <a:endParaRPr lang="en-US">
                <a:latin typeface="Arial" pitchFamily="34" charset="0"/>
              </a:endParaRPr>
            </a:p>
          </p:txBody>
        </p:sp>
        <p:sp>
          <p:nvSpPr>
            <p:cNvPr id="37900" name="Rectangle 12"/>
            <p:cNvSpPr>
              <a:spLocks noChangeArrowheads="1"/>
            </p:cNvSpPr>
            <p:nvPr/>
          </p:nvSpPr>
          <p:spPr bwMode="auto">
            <a:xfrm>
              <a:off x="5400" y="10944"/>
              <a:ext cx="719"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100">
                  <a:latin typeface="Calibri" pitchFamily="34" charset="0"/>
                  <a:ea typeface="Times New Roman" pitchFamily="18" charset="0"/>
                  <a:cs typeface="Latha" pitchFamily="2"/>
                </a:rPr>
                <a:t>b3</a:t>
              </a:r>
              <a:endParaRPr lang="en-US">
                <a:latin typeface="Arial" pitchFamily="34" charset="0"/>
              </a:endParaRPr>
            </a:p>
          </p:txBody>
        </p:sp>
        <p:sp>
          <p:nvSpPr>
            <p:cNvPr id="37901" name="Line 13"/>
            <p:cNvSpPr>
              <a:spLocks noChangeShapeType="1"/>
            </p:cNvSpPr>
            <p:nvPr/>
          </p:nvSpPr>
          <p:spPr bwMode="auto">
            <a:xfrm>
              <a:off x="3610" y="9694"/>
              <a:ext cx="180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902" name="Line 14"/>
            <p:cNvSpPr>
              <a:spLocks noChangeShapeType="1"/>
            </p:cNvSpPr>
            <p:nvPr/>
          </p:nvSpPr>
          <p:spPr bwMode="auto">
            <a:xfrm>
              <a:off x="3600" y="9684"/>
              <a:ext cx="1800" cy="72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903" name="Line 15"/>
            <p:cNvSpPr>
              <a:spLocks noChangeShapeType="1"/>
            </p:cNvSpPr>
            <p:nvPr/>
          </p:nvSpPr>
          <p:spPr bwMode="auto">
            <a:xfrm flipV="1">
              <a:off x="3600" y="9864"/>
              <a:ext cx="1800" cy="54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904" name="Line 16"/>
            <p:cNvSpPr>
              <a:spLocks noChangeShapeType="1"/>
            </p:cNvSpPr>
            <p:nvPr/>
          </p:nvSpPr>
          <p:spPr bwMode="auto">
            <a:xfrm>
              <a:off x="3600" y="11124"/>
              <a:ext cx="180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905" name="Line 17"/>
            <p:cNvSpPr>
              <a:spLocks noChangeShapeType="1"/>
            </p:cNvSpPr>
            <p:nvPr/>
          </p:nvSpPr>
          <p:spPr bwMode="auto">
            <a:xfrm flipV="1">
              <a:off x="3600" y="11124"/>
              <a:ext cx="1800" cy="90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906" name="Line 18"/>
            <p:cNvSpPr>
              <a:spLocks noChangeShapeType="1"/>
            </p:cNvSpPr>
            <p:nvPr/>
          </p:nvSpPr>
          <p:spPr bwMode="auto">
            <a:xfrm flipH="1" flipV="1">
              <a:off x="3600" y="11124"/>
              <a:ext cx="1800" cy="72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7907" name="Text Box 19"/>
            <p:cNvSpPr txBox="1">
              <a:spLocks noChangeArrowheads="1"/>
            </p:cNvSpPr>
            <p:nvPr/>
          </p:nvSpPr>
          <p:spPr bwMode="auto">
            <a:xfrm>
              <a:off x="7210" y="8974"/>
              <a:ext cx="2340" cy="197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400" dirty="0">
                  <a:latin typeface="Calibri" pitchFamily="34" charset="0"/>
                  <a:ea typeface="Times New Roman" pitchFamily="18" charset="0"/>
                  <a:cs typeface="Latha" pitchFamily="2"/>
                </a:rPr>
                <a:t>Loan can belong to several customers can loans can be taken jointly by several business partners</a:t>
              </a:r>
              <a:endParaRPr lang="en-US" sz="1400" dirty="0">
                <a:latin typeface="Arial" pitchFamily="34" charset="0"/>
              </a:endParaRPr>
            </a:p>
          </p:txBody>
        </p:sp>
      </p:grpSp>
      <p:sp>
        <p:nvSpPr>
          <p:cNvPr id="22" name="Slide Number Placeholder 21"/>
          <p:cNvSpPr>
            <a:spLocks noGrp="1"/>
          </p:cNvSpPr>
          <p:nvPr>
            <p:ph type="sldNum" sz="quarter" idx="12"/>
          </p:nvPr>
        </p:nvSpPr>
        <p:spPr/>
        <p:txBody>
          <a:bodyPr/>
          <a:lstStyle/>
          <a:p>
            <a:fld id="{C8E6D33F-E187-4F70-BDF3-C2B81C57EFE3}" type="slidenum">
              <a:rPr lang="en-US" smtClean="0"/>
              <a:pPr/>
              <a:t>106</a:t>
            </a:fld>
            <a:endParaRPr lang="en-US"/>
          </a:p>
        </p:txBody>
      </p:sp>
      <p:sp>
        <p:nvSpPr>
          <p:cNvPr id="23" name="Footer Placeholder 22"/>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314557100"/>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atin typeface="Arial" pitchFamily="34" charset="0"/>
                <a:cs typeface="Arial" pitchFamily="34" charset="0"/>
              </a:rPr>
              <a:t>Many-To-Many Relationship</a:t>
            </a:r>
          </a:p>
        </p:txBody>
      </p:sp>
      <p:sp>
        <p:nvSpPr>
          <p:cNvPr id="43011" name="Rectangle 3"/>
          <p:cNvSpPr>
            <a:spLocks noGrp="1" noChangeArrowheads="1"/>
          </p:cNvSpPr>
          <p:nvPr>
            <p:ph idx="1"/>
          </p:nvPr>
        </p:nvSpPr>
        <p:spPr>
          <a:xfrm>
            <a:off x="2590800" y="4343401"/>
            <a:ext cx="7029450" cy="1546225"/>
          </a:xfrm>
        </p:spPr>
        <p:txBody>
          <a:bodyPr>
            <a:normAutofit fontScale="92500" lnSpcReduction="10000"/>
          </a:bodyPr>
          <a:lstStyle/>
          <a:p>
            <a:r>
              <a:rPr lang="en-US" dirty="0">
                <a:latin typeface="Arial" pitchFamily="34" charset="0"/>
                <a:cs typeface="Arial" pitchFamily="34" charset="0"/>
              </a:rPr>
              <a:t>A customer is associated with several (possibly 0) loans via borrower</a:t>
            </a:r>
          </a:p>
          <a:p>
            <a:r>
              <a:rPr lang="en-US" dirty="0">
                <a:latin typeface="Arial" pitchFamily="34" charset="0"/>
                <a:cs typeface="Arial" pitchFamily="34" charset="0"/>
              </a:rPr>
              <a:t>A loan is associated with several (possibly 0) customers via borrower</a:t>
            </a:r>
          </a:p>
        </p:txBody>
      </p:sp>
      <p:pic>
        <p:nvPicPr>
          <p:cNvPr id="43013" name="Picture 5"/>
          <p:cNvPicPr>
            <a:picLocks noChangeAspect="1" noChangeArrowheads="1"/>
          </p:cNvPicPr>
          <p:nvPr/>
        </p:nvPicPr>
        <p:blipFill>
          <a:blip r:embed="rId2"/>
          <a:srcRect l="1064" t="30733" r="1064" b="30733"/>
          <a:stretch>
            <a:fillRect/>
          </a:stretch>
        </p:blipFill>
        <p:spPr bwMode="auto">
          <a:xfrm>
            <a:off x="2133600" y="1676400"/>
            <a:ext cx="7956550" cy="2349500"/>
          </a:xfrm>
          <a:prstGeom prst="rect">
            <a:avLst/>
          </a:prstGeom>
          <a:noFill/>
          <a:ln w="76200" cmpd="tri">
            <a:solidFill>
              <a:schemeClr val="tx2"/>
            </a:solidFill>
            <a:miter lim="800000"/>
            <a:headEnd/>
            <a:tailEnd/>
          </a:ln>
          <a:effectLst/>
        </p:spPr>
      </p:pic>
      <p:sp>
        <p:nvSpPr>
          <p:cNvPr id="5" name="Slide Number Placeholder 4"/>
          <p:cNvSpPr>
            <a:spLocks noGrp="1"/>
          </p:cNvSpPr>
          <p:nvPr>
            <p:ph type="sldNum" sz="quarter" idx="12"/>
          </p:nvPr>
        </p:nvSpPr>
        <p:spPr/>
        <p:txBody>
          <a:bodyPr/>
          <a:lstStyle/>
          <a:p>
            <a:fld id="{C8E6D33F-E187-4F70-BDF3-C2B81C57EFE3}" type="slidenum">
              <a:rPr lang="en-US" smtClean="0"/>
              <a:pPr/>
              <a:t>107</a:t>
            </a:fld>
            <a:endParaRPr lang="en-US"/>
          </a:p>
        </p:txBody>
      </p:sp>
      <p:sp>
        <p:nvSpPr>
          <p:cNvPr id="6" name="Footer Placeholder 5"/>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708328861"/>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2438400" y="457201"/>
            <a:ext cx="7162800" cy="6079949"/>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C8E6D33F-E187-4F70-BDF3-C2B81C57EFE3}" type="slidenum">
              <a:rPr lang="en-US" smtClean="0"/>
              <a:pPr/>
              <a:t>108</a:t>
            </a:fld>
            <a:endParaRPr lang="en-US"/>
          </a:p>
        </p:txBody>
      </p:sp>
      <p:sp>
        <p:nvSpPr>
          <p:cNvPr id="4" name="Footer Placeholder 3"/>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423645945"/>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a:srcRect/>
          <a:stretch>
            <a:fillRect/>
          </a:stretch>
        </p:blipFill>
        <p:spPr bwMode="auto">
          <a:xfrm>
            <a:off x="2286000" y="785814"/>
            <a:ext cx="7467600" cy="5767387"/>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C8E6D33F-E187-4F70-BDF3-C2B81C57EFE3}" type="slidenum">
              <a:rPr lang="en-US" smtClean="0"/>
              <a:pPr/>
              <a:t>109</a:t>
            </a:fld>
            <a:endParaRPr lang="en-US"/>
          </a:p>
        </p:txBody>
      </p:sp>
      <p:sp>
        <p:nvSpPr>
          <p:cNvPr id="4" name="Footer Placeholder 3"/>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3984303595"/>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a:srcRect/>
          <a:stretch>
            <a:fillRect/>
          </a:stretch>
        </p:blipFill>
        <p:spPr bwMode="auto">
          <a:xfrm>
            <a:off x="2133600" y="1143000"/>
            <a:ext cx="8077200" cy="5029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C8E6D33F-E187-4F70-BDF3-C2B81C57EFE3}" type="slidenum">
              <a:rPr lang="en-US" smtClean="0"/>
              <a:pPr/>
              <a:t>110</a:t>
            </a:fld>
            <a:endParaRPr lang="en-US"/>
          </a:p>
        </p:txBody>
      </p:sp>
      <p:sp>
        <p:nvSpPr>
          <p:cNvPr id="4" name="Footer Placeholder 3"/>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36549386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8E6D33F-E187-4F70-BDF3-C2B81C57EFE3}" type="slidenum">
              <a:rPr lang="en-US" smtClean="0"/>
              <a:pPr/>
              <a:t>111</a:t>
            </a:fld>
            <a:endParaRPr lang="en-US"/>
          </a:p>
        </p:txBody>
      </p:sp>
      <p:pic>
        <p:nvPicPr>
          <p:cNvPr id="7199" name="Picture 31"/>
          <p:cNvPicPr>
            <a:picLocks noChangeAspect="1" noChangeArrowheads="1"/>
          </p:cNvPicPr>
          <p:nvPr/>
        </p:nvPicPr>
        <p:blipFill>
          <a:blip r:embed="rId2"/>
          <a:srcRect b="2423"/>
          <a:stretch>
            <a:fillRect/>
          </a:stretch>
        </p:blipFill>
        <p:spPr bwMode="auto">
          <a:xfrm>
            <a:off x="2133600" y="508406"/>
            <a:ext cx="7924800" cy="5739995"/>
          </a:xfrm>
          <a:prstGeom prst="rect">
            <a:avLst/>
          </a:prstGeom>
          <a:noFill/>
          <a:ln w="9525">
            <a:noFill/>
            <a:miter lim="800000"/>
            <a:headEnd/>
            <a:tailEnd/>
          </a:ln>
          <a:effectLst/>
        </p:spPr>
      </p:pic>
      <p:sp>
        <p:nvSpPr>
          <p:cNvPr id="5" name="Footer Placeholder 4"/>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634788286"/>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8E6D33F-E187-4F70-BDF3-C2B81C57EFE3}" type="slidenum">
              <a:rPr lang="en-US" smtClean="0"/>
              <a:pPr/>
              <a:t>112</a:t>
            </a:fld>
            <a:endParaRPr lang="en-US"/>
          </a:p>
        </p:txBody>
      </p:sp>
      <p:grpSp>
        <p:nvGrpSpPr>
          <p:cNvPr id="9" name="Group 8"/>
          <p:cNvGrpSpPr/>
          <p:nvPr/>
        </p:nvGrpSpPr>
        <p:grpSpPr>
          <a:xfrm>
            <a:off x="2362200" y="228600"/>
            <a:ext cx="7391400" cy="6248400"/>
            <a:chOff x="1131195" y="457200"/>
            <a:chExt cx="5812530" cy="5352381"/>
          </a:xfrm>
        </p:grpSpPr>
        <p:pic>
          <p:nvPicPr>
            <p:cNvPr id="131074" name="Picture 2"/>
            <p:cNvPicPr>
              <a:picLocks noChangeAspect="1" noChangeArrowheads="1"/>
            </p:cNvPicPr>
            <p:nvPr/>
          </p:nvPicPr>
          <p:blipFill>
            <a:blip r:embed="rId2"/>
            <a:srcRect/>
            <a:stretch>
              <a:fillRect/>
            </a:stretch>
          </p:blipFill>
          <p:spPr bwMode="auto">
            <a:xfrm>
              <a:off x="1143000" y="457200"/>
              <a:ext cx="5800725" cy="1628775"/>
            </a:xfrm>
            <a:prstGeom prst="rect">
              <a:avLst/>
            </a:prstGeom>
            <a:noFill/>
            <a:ln w="9525">
              <a:noFill/>
              <a:miter lim="800000"/>
              <a:headEnd/>
              <a:tailEnd/>
            </a:ln>
            <a:effectLst/>
          </p:spPr>
        </p:pic>
        <p:pic>
          <p:nvPicPr>
            <p:cNvPr id="8" name="Picture 3"/>
            <p:cNvPicPr>
              <a:picLocks noChangeAspect="1" noChangeArrowheads="1"/>
            </p:cNvPicPr>
            <p:nvPr/>
          </p:nvPicPr>
          <p:blipFill>
            <a:blip r:embed="rId3"/>
            <a:srcRect/>
            <a:stretch>
              <a:fillRect/>
            </a:stretch>
          </p:blipFill>
          <p:spPr bwMode="auto">
            <a:xfrm>
              <a:off x="1131195" y="2161506"/>
              <a:ext cx="5800725" cy="3648075"/>
            </a:xfrm>
            <a:prstGeom prst="rect">
              <a:avLst/>
            </a:prstGeom>
            <a:noFill/>
            <a:ln w="9525">
              <a:noFill/>
              <a:miter lim="800000"/>
              <a:headEnd/>
              <a:tailEnd/>
            </a:ln>
            <a:effectLst/>
          </p:spPr>
        </p:pic>
      </p:grpSp>
      <p:sp>
        <p:nvSpPr>
          <p:cNvPr id="6" name="Footer Placeholder 5"/>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3981220070"/>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2359025" y="0"/>
            <a:ext cx="8077200" cy="1092200"/>
          </a:xfrm>
        </p:spPr>
        <p:txBody>
          <a:bodyPr/>
          <a:lstStyle/>
          <a:p>
            <a:r>
              <a:rPr lang="en-US" sz="2400">
                <a:latin typeface="Arial" pitchFamily="34" charset="0"/>
                <a:cs typeface="Arial" pitchFamily="34" charset="0"/>
              </a:rPr>
              <a:t>E-R Diagram With Composite, Multivalued, and Derived Attributes</a:t>
            </a:r>
          </a:p>
        </p:txBody>
      </p:sp>
      <p:pic>
        <p:nvPicPr>
          <p:cNvPr id="90115" name="Picture 3"/>
          <p:cNvPicPr>
            <a:picLocks noChangeAspect="1" noChangeArrowheads="1"/>
          </p:cNvPicPr>
          <p:nvPr/>
        </p:nvPicPr>
        <p:blipFill>
          <a:blip r:embed="rId3"/>
          <a:srcRect l="948" t="14647" r="1704" b="16919"/>
          <a:stretch>
            <a:fillRect/>
          </a:stretch>
        </p:blipFill>
        <p:spPr bwMode="auto">
          <a:xfrm>
            <a:off x="2209800" y="990601"/>
            <a:ext cx="8051800" cy="4244975"/>
          </a:xfrm>
          <a:prstGeom prst="rect">
            <a:avLst/>
          </a:prstGeom>
          <a:noFill/>
          <a:ln w="76200" cmpd="tri">
            <a:solidFill>
              <a:schemeClr val="tx2"/>
            </a:solidFill>
            <a:miter lim="800000"/>
            <a:headEnd/>
            <a:tailEnd/>
          </a:ln>
          <a:effectLst/>
        </p:spPr>
      </p:pic>
      <p:sp>
        <p:nvSpPr>
          <p:cNvPr id="4" name="Rectangle 2"/>
          <p:cNvSpPr txBox="1">
            <a:spLocks noChangeArrowheads="1"/>
          </p:cNvSpPr>
          <p:nvPr/>
        </p:nvSpPr>
        <p:spPr>
          <a:xfrm>
            <a:off x="2133600" y="5486400"/>
            <a:ext cx="8077200" cy="1092200"/>
          </a:xfrm>
          <a:prstGeom prst="rect">
            <a:avLst/>
          </a:prstGeom>
        </p:spPr>
        <p:txBody>
          <a:bodyPr vert="horz" lIns="91440" tIns="45720" rIns="91440" bIns="45720" rtlCol="0" anchor="ctr">
            <a:normAutofit fontScale="92500" lnSpcReduction="10000"/>
          </a:bodyPr>
          <a:lstStyle/>
          <a:p>
            <a:pPr>
              <a:spcBef>
                <a:spcPct val="0"/>
              </a:spcBef>
              <a:defRPr/>
            </a:pPr>
            <a:r>
              <a:rPr lang="en-US" sz="2400" dirty="0">
                <a:latin typeface="+mj-lt"/>
                <a:ea typeface="+mj-ea"/>
                <a:cs typeface="+mj-cs"/>
              </a:rPr>
              <a:t>Composite Attribute – name, address , street</a:t>
            </a:r>
          </a:p>
          <a:p>
            <a:pPr>
              <a:spcBef>
                <a:spcPct val="0"/>
              </a:spcBef>
              <a:defRPr/>
            </a:pPr>
            <a:r>
              <a:rPr lang="en-US" sz="2400" dirty="0" err="1">
                <a:latin typeface="+mj-lt"/>
                <a:ea typeface="+mj-ea"/>
                <a:cs typeface="+mj-cs"/>
              </a:rPr>
              <a:t>Multivalued</a:t>
            </a:r>
            <a:r>
              <a:rPr lang="en-US" sz="2400" dirty="0">
                <a:latin typeface="+mj-lt"/>
                <a:ea typeface="+mj-ea"/>
                <a:cs typeface="+mj-cs"/>
              </a:rPr>
              <a:t> Attribute = phone number depicted by double ellipse</a:t>
            </a:r>
          </a:p>
          <a:p>
            <a:pPr>
              <a:spcBef>
                <a:spcPct val="0"/>
              </a:spcBef>
              <a:defRPr/>
            </a:pPr>
            <a:r>
              <a:rPr lang="en-US" sz="2400" dirty="0">
                <a:latin typeface="+mj-lt"/>
                <a:ea typeface="+mj-ea"/>
                <a:cs typeface="+mj-cs"/>
              </a:rPr>
              <a:t>Derived attribute = age depicted by dashed ellipse</a:t>
            </a:r>
          </a:p>
        </p:txBody>
      </p:sp>
      <p:sp>
        <p:nvSpPr>
          <p:cNvPr id="5" name="Slide Number Placeholder 4"/>
          <p:cNvSpPr>
            <a:spLocks noGrp="1"/>
          </p:cNvSpPr>
          <p:nvPr>
            <p:ph type="sldNum" sz="quarter" idx="12"/>
          </p:nvPr>
        </p:nvSpPr>
        <p:spPr/>
        <p:txBody>
          <a:bodyPr/>
          <a:lstStyle/>
          <a:p>
            <a:fld id="{C8E6D33F-E187-4F70-BDF3-C2B81C57EFE3}" type="slidenum">
              <a:rPr lang="en-US" smtClean="0"/>
              <a:pPr/>
              <a:t>113</a:t>
            </a:fld>
            <a:endParaRPr lang="en-US"/>
          </a:p>
        </p:txBody>
      </p:sp>
      <p:sp>
        <p:nvSpPr>
          <p:cNvPr id="6" name="Footer Placeholder 5"/>
          <p:cNvSpPr>
            <a:spLocks noGrp="1"/>
          </p:cNvSpPr>
          <p:nvPr>
            <p:ph type="ftr" sz="quarter" idx="11"/>
          </p:nvPr>
        </p:nvSpPr>
        <p:spPr/>
        <p:txBody>
          <a:bodyPr/>
          <a:lstStyle/>
          <a:p>
            <a:r>
              <a:rPr lang="en-US" smtClean="0"/>
              <a:t>Prepared by : M.Nirmala / AP / MCA</a:t>
            </a:r>
            <a:endParaRPr lang="en-US"/>
          </a:p>
        </p:txBody>
      </p:sp>
    </p:spTree>
    <p:extLst>
      <p:ext uri="{BB962C8B-B14F-4D97-AF65-F5344CB8AC3E}">
        <p14:creationId xmlns:p14="http://schemas.microsoft.com/office/powerpoint/2010/main" val="2603808960"/>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How to Create an Entity Relationship Diagram (ERD</a:t>
            </a:r>
            <a:r>
              <a:rPr lang="en-GB" b="1" dirty="0" smtClean="0"/>
              <a:t>)</a:t>
            </a:r>
            <a:endParaRPr lang="en-GB" dirty="0"/>
          </a:p>
        </p:txBody>
      </p:sp>
      <p:pic>
        <p:nvPicPr>
          <p:cNvPr id="1026" name="Picture 2" descr="https://www.guru99.com/images/1/100518_0621_ERDiagramTu1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108" y="2248672"/>
            <a:ext cx="11823783" cy="1552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80005"/>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Scenario</a:t>
            </a:r>
            <a:endParaRPr lang="en-GB" dirty="0"/>
          </a:p>
        </p:txBody>
      </p:sp>
      <p:sp>
        <p:nvSpPr>
          <p:cNvPr id="3" name="Content Placeholder 2"/>
          <p:cNvSpPr>
            <a:spLocks noGrp="1"/>
          </p:cNvSpPr>
          <p:nvPr>
            <p:ph idx="1"/>
          </p:nvPr>
        </p:nvSpPr>
        <p:spPr/>
        <p:txBody>
          <a:bodyPr/>
          <a:lstStyle/>
          <a:p>
            <a:r>
              <a:rPr lang="en-GB" dirty="0"/>
              <a:t>In a university, a Student </a:t>
            </a:r>
            <a:r>
              <a:rPr lang="en-GB" dirty="0" err="1"/>
              <a:t>enrolls</a:t>
            </a:r>
            <a:r>
              <a:rPr lang="en-GB" dirty="0"/>
              <a:t> in Courses. A student must be assigned to at least one or more Courses. Each course is taught by a single Professor. To maintain instruction quality, a Professor can deliver only one course</a:t>
            </a:r>
          </a:p>
        </p:txBody>
      </p:sp>
    </p:spTree>
    <p:extLst>
      <p:ext uri="{BB962C8B-B14F-4D97-AF65-F5344CB8AC3E}">
        <p14:creationId xmlns:p14="http://schemas.microsoft.com/office/powerpoint/2010/main" val="2362306563"/>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Step 1) Entity </a:t>
            </a:r>
            <a:r>
              <a:rPr lang="en-GB" b="1" dirty="0" smtClean="0"/>
              <a:t>Identification</a:t>
            </a:r>
            <a:endParaRPr lang="en-GB" dirty="0"/>
          </a:p>
        </p:txBody>
      </p:sp>
      <p:sp>
        <p:nvSpPr>
          <p:cNvPr id="3" name="Content Placeholder 2"/>
          <p:cNvSpPr>
            <a:spLocks noGrp="1"/>
          </p:cNvSpPr>
          <p:nvPr>
            <p:ph idx="1"/>
          </p:nvPr>
        </p:nvSpPr>
        <p:spPr/>
        <p:txBody>
          <a:bodyPr/>
          <a:lstStyle/>
          <a:p>
            <a:r>
              <a:rPr lang="en-GB" dirty="0"/>
              <a:t>Student</a:t>
            </a:r>
          </a:p>
          <a:p>
            <a:r>
              <a:rPr lang="en-GB" dirty="0"/>
              <a:t>Course</a:t>
            </a:r>
          </a:p>
          <a:p>
            <a:r>
              <a:rPr lang="en-GB" dirty="0" smtClean="0"/>
              <a:t>Professor</a:t>
            </a:r>
            <a:r>
              <a:rPr lang="en-GB" dirty="0"/>
              <a:t/>
            </a:r>
            <a:br>
              <a:rPr lang="en-GB" dirty="0"/>
            </a:br>
            <a:endParaRPr lang="en-GB" dirty="0"/>
          </a:p>
        </p:txBody>
      </p:sp>
    </p:spTree>
    <p:extLst>
      <p:ext uri="{BB962C8B-B14F-4D97-AF65-F5344CB8AC3E}">
        <p14:creationId xmlns:p14="http://schemas.microsoft.com/office/powerpoint/2010/main" val="282634023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Step 2) Relationship </a:t>
            </a:r>
            <a:r>
              <a:rPr lang="en-GB" b="1" dirty="0" smtClean="0"/>
              <a:t>Identification</a:t>
            </a:r>
            <a:endParaRPr lang="en-GB" dirty="0"/>
          </a:p>
        </p:txBody>
      </p:sp>
      <p:sp>
        <p:nvSpPr>
          <p:cNvPr id="3" name="Content Placeholder 2"/>
          <p:cNvSpPr>
            <a:spLocks noGrp="1"/>
          </p:cNvSpPr>
          <p:nvPr>
            <p:ph idx="1"/>
          </p:nvPr>
        </p:nvSpPr>
        <p:spPr/>
        <p:txBody>
          <a:bodyPr/>
          <a:lstStyle/>
          <a:p>
            <a:r>
              <a:rPr lang="en-US" b="1" dirty="0" smtClean="0"/>
              <a:t>Identify the association between the entities</a:t>
            </a:r>
            <a:endParaRPr lang="en-GB" b="1" dirty="0" smtClean="0"/>
          </a:p>
          <a:p>
            <a:r>
              <a:rPr lang="en-GB" dirty="0" smtClean="0"/>
              <a:t>The </a:t>
            </a:r>
            <a:r>
              <a:rPr lang="en-GB" dirty="0"/>
              <a:t>student is </a:t>
            </a:r>
            <a:r>
              <a:rPr lang="en-GB" b="1" dirty="0"/>
              <a:t>assigned</a:t>
            </a:r>
            <a:r>
              <a:rPr lang="en-GB" dirty="0"/>
              <a:t> a course</a:t>
            </a:r>
          </a:p>
          <a:p>
            <a:r>
              <a:rPr lang="en-GB" dirty="0"/>
              <a:t>Professor </a:t>
            </a:r>
            <a:r>
              <a:rPr lang="en-GB" b="1" dirty="0"/>
              <a:t>delivers</a:t>
            </a:r>
            <a:r>
              <a:rPr lang="en-GB" dirty="0"/>
              <a:t> a course</a:t>
            </a:r>
          </a:p>
          <a:p>
            <a:endParaRPr lang="en-GB" dirty="0"/>
          </a:p>
        </p:txBody>
      </p:sp>
      <p:pic>
        <p:nvPicPr>
          <p:cNvPr id="5" name="Picture 4"/>
          <p:cNvPicPr>
            <a:picLocks noChangeAspect="1"/>
          </p:cNvPicPr>
          <p:nvPr/>
        </p:nvPicPr>
        <p:blipFill>
          <a:blip r:embed="rId2"/>
          <a:stretch>
            <a:fillRect/>
          </a:stretch>
        </p:blipFill>
        <p:spPr>
          <a:xfrm>
            <a:off x="1625781" y="4263935"/>
            <a:ext cx="9242516" cy="1535974"/>
          </a:xfrm>
          <a:prstGeom prst="rect">
            <a:avLst/>
          </a:prstGeom>
        </p:spPr>
      </p:pic>
    </p:spTree>
    <p:extLst>
      <p:ext uri="{BB962C8B-B14F-4D97-AF65-F5344CB8AC3E}">
        <p14:creationId xmlns:p14="http://schemas.microsoft.com/office/powerpoint/2010/main" val="1912644905"/>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Step 3) Cardinality </a:t>
            </a:r>
            <a:r>
              <a:rPr lang="en-GB" b="1" dirty="0" smtClean="0"/>
              <a:t>Identification</a:t>
            </a:r>
            <a:endParaRPr lang="en-GB" dirty="0"/>
          </a:p>
        </p:txBody>
      </p:sp>
      <p:sp>
        <p:nvSpPr>
          <p:cNvPr id="3" name="Content Placeholder 2"/>
          <p:cNvSpPr>
            <a:spLocks noGrp="1"/>
          </p:cNvSpPr>
          <p:nvPr>
            <p:ph idx="1"/>
          </p:nvPr>
        </p:nvSpPr>
        <p:spPr/>
        <p:txBody>
          <a:bodyPr/>
          <a:lstStyle/>
          <a:p>
            <a:r>
              <a:rPr lang="en-GB" dirty="0"/>
              <a:t>A student can be assigned </a:t>
            </a:r>
            <a:r>
              <a:rPr lang="en-GB" b="1" dirty="0"/>
              <a:t>multiple</a:t>
            </a:r>
            <a:r>
              <a:rPr lang="en-GB" dirty="0"/>
              <a:t> courses</a:t>
            </a:r>
          </a:p>
          <a:p>
            <a:r>
              <a:rPr lang="en-GB" dirty="0"/>
              <a:t>A Professor can deliver only </a:t>
            </a:r>
            <a:r>
              <a:rPr lang="en-GB" b="1" dirty="0"/>
              <a:t>one</a:t>
            </a:r>
            <a:r>
              <a:rPr lang="en-GB" dirty="0"/>
              <a:t> course</a:t>
            </a:r>
          </a:p>
          <a:p>
            <a:endParaRPr lang="en-GB" dirty="0"/>
          </a:p>
        </p:txBody>
      </p:sp>
      <p:pic>
        <p:nvPicPr>
          <p:cNvPr id="4" name="Picture 3"/>
          <p:cNvPicPr>
            <a:picLocks noChangeAspect="1"/>
          </p:cNvPicPr>
          <p:nvPr/>
        </p:nvPicPr>
        <p:blipFill>
          <a:blip r:embed="rId2"/>
          <a:stretch>
            <a:fillRect/>
          </a:stretch>
        </p:blipFill>
        <p:spPr>
          <a:xfrm>
            <a:off x="1332412" y="3248274"/>
            <a:ext cx="9805307" cy="1506039"/>
          </a:xfrm>
          <a:prstGeom prst="rect">
            <a:avLst/>
          </a:prstGeom>
        </p:spPr>
      </p:pic>
    </p:spTree>
    <p:extLst>
      <p:ext uri="{BB962C8B-B14F-4D97-AF65-F5344CB8AC3E}">
        <p14:creationId xmlns:p14="http://schemas.microsoft.com/office/powerpoint/2010/main" val="3978815988"/>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Step 4) Identify </a:t>
            </a:r>
            <a:r>
              <a:rPr lang="en-GB" b="1" dirty="0" smtClean="0"/>
              <a:t>Attributes</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4600018"/>
              </p:ext>
            </p:extLst>
          </p:nvPr>
        </p:nvGraphicFramePr>
        <p:xfrm>
          <a:off x="1527333" y="1998323"/>
          <a:ext cx="9137334" cy="3135380"/>
        </p:xfrm>
        <a:graphic>
          <a:graphicData uri="http://schemas.openxmlformats.org/drawingml/2006/table">
            <a:tbl>
              <a:tblPr/>
              <a:tblGrid>
                <a:gridCol w="3045778">
                  <a:extLst>
                    <a:ext uri="{9D8B030D-6E8A-4147-A177-3AD203B41FA5}">
                      <a16:colId xmlns:a16="http://schemas.microsoft.com/office/drawing/2014/main" val="1700585260"/>
                    </a:ext>
                  </a:extLst>
                </a:gridCol>
                <a:gridCol w="3045778">
                  <a:extLst>
                    <a:ext uri="{9D8B030D-6E8A-4147-A177-3AD203B41FA5}">
                      <a16:colId xmlns:a16="http://schemas.microsoft.com/office/drawing/2014/main" val="1411351304"/>
                    </a:ext>
                  </a:extLst>
                </a:gridCol>
                <a:gridCol w="3045778">
                  <a:extLst>
                    <a:ext uri="{9D8B030D-6E8A-4147-A177-3AD203B41FA5}">
                      <a16:colId xmlns:a16="http://schemas.microsoft.com/office/drawing/2014/main" val="408956194"/>
                    </a:ext>
                  </a:extLst>
                </a:gridCol>
              </a:tblGrid>
              <a:tr h="783845">
                <a:tc>
                  <a:txBody>
                    <a:bodyPr/>
                    <a:lstStyle/>
                    <a:p>
                      <a:pPr algn="l" fontAlgn="t"/>
                      <a:r>
                        <a:rPr lang="en-GB">
                          <a:effectLst/>
                        </a:rPr>
                        <a:t>Entity</a:t>
                      </a:r>
                    </a:p>
                  </a:txBody>
                  <a:tcPr marL="76200" marR="76200" marT="76200" marB="76200">
                    <a:lnL w="12700" cap="flat" cmpd="sng" algn="ctr">
                      <a:solidFill>
                        <a:srgbClr val="503B2F"/>
                      </a:solidFill>
                      <a:prstDash val="solid"/>
                      <a:round/>
                      <a:headEnd type="none" w="med" len="med"/>
                      <a:tailEnd type="none" w="med" len="med"/>
                    </a:lnL>
                    <a:lnR w="12700" cap="flat" cmpd="sng" algn="ctr">
                      <a:solidFill>
                        <a:srgbClr val="083B2F"/>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GB" b="1">
                          <a:effectLst/>
                        </a:rPr>
                        <a:t>Primary Key</a:t>
                      </a:r>
                    </a:p>
                  </a:txBody>
                  <a:tcPr marL="76200" marR="76200" marT="76200" marB="76200">
                    <a:lnL w="12700" cap="flat" cmpd="sng" algn="ctr">
                      <a:solidFill>
                        <a:srgbClr val="083B2F"/>
                      </a:solidFill>
                      <a:prstDash val="solid"/>
                      <a:round/>
                      <a:headEnd type="none" w="med" len="med"/>
                      <a:tailEnd type="none" w="med" len="med"/>
                    </a:lnL>
                    <a:lnR w="12700" cap="flat" cmpd="sng" algn="ctr">
                      <a:solidFill>
                        <a:srgbClr val="D0392F"/>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GB">
                          <a:effectLst/>
                        </a:rPr>
                        <a:t>Attribute</a:t>
                      </a:r>
                    </a:p>
                  </a:txBody>
                  <a:tcPr marL="76200" marR="76200" marT="76200" marB="76200">
                    <a:lnL w="12700" cap="flat" cmpd="sng" algn="ctr">
                      <a:solidFill>
                        <a:srgbClr val="D0392F"/>
                      </a:solidFill>
                      <a:prstDash val="solid"/>
                      <a:round/>
                      <a:headEnd type="none" w="med" len="med"/>
                      <a:tailEnd type="none" w="med" len="med"/>
                    </a:lnL>
                    <a:lnR w="12700" cap="flat" cmpd="sng" algn="ctr">
                      <a:solidFill>
                        <a:srgbClr val="183A2F"/>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216519626"/>
                  </a:ext>
                </a:extLst>
              </a:tr>
              <a:tr h="783845">
                <a:tc>
                  <a:txBody>
                    <a:bodyPr/>
                    <a:lstStyle/>
                    <a:p>
                      <a:pPr algn="l" fontAlgn="t"/>
                      <a:r>
                        <a:rPr lang="en-GB">
                          <a:effectLst/>
                        </a:rPr>
                        <a:t>Student</a:t>
                      </a:r>
                    </a:p>
                  </a:txBody>
                  <a:tcPr marL="76200" marR="76200" marT="76200" marB="76200">
                    <a:lnL w="12700" cap="flat" cmpd="sng" algn="ctr">
                      <a:solidFill>
                        <a:srgbClr val="503B2F"/>
                      </a:solidFill>
                      <a:prstDash val="solid"/>
                      <a:round/>
                      <a:headEnd type="none" w="med" len="med"/>
                      <a:tailEnd type="none" w="med" len="med"/>
                    </a:lnL>
                    <a:lnR w="12700" cap="flat" cmpd="sng" algn="ctr">
                      <a:solidFill>
                        <a:srgbClr val="683B2F"/>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GB" b="1">
                          <a:effectLst/>
                        </a:rPr>
                        <a:t>Student_ID</a:t>
                      </a:r>
                    </a:p>
                  </a:txBody>
                  <a:tcPr marL="76200" marR="76200" marT="76200" marB="76200">
                    <a:lnL w="12700" cap="flat" cmpd="sng" algn="ctr">
                      <a:solidFill>
                        <a:srgbClr val="683B2F"/>
                      </a:solidFill>
                      <a:prstDash val="solid"/>
                      <a:round/>
                      <a:headEnd type="none" w="med" len="med"/>
                      <a:tailEnd type="none" w="med" len="med"/>
                    </a:lnL>
                    <a:lnR w="12700" cap="flat" cmpd="sng" algn="ctr">
                      <a:solidFill>
                        <a:srgbClr val="683B2F"/>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GB">
                          <a:effectLst/>
                        </a:rPr>
                        <a:t>StudentName</a:t>
                      </a:r>
                    </a:p>
                  </a:txBody>
                  <a:tcPr marL="76200" marR="76200" marT="76200" marB="76200">
                    <a:lnL w="12700" cap="flat" cmpd="sng" algn="ctr">
                      <a:solidFill>
                        <a:srgbClr val="683B2F"/>
                      </a:solidFill>
                      <a:prstDash val="solid"/>
                      <a:round/>
                      <a:headEnd type="none" w="med" len="med"/>
                      <a:tailEnd type="none" w="med" len="med"/>
                    </a:lnL>
                    <a:lnR w="12700" cap="flat" cmpd="sng" algn="ctr">
                      <a:solidFill>
                        <a:srgbClr val="103C2F"/>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909017956"/>
                  </a:ext>
                </a:extLst>
              </a:tr>
              <a:tr h="783845">
                <a:tc>
                  <a:txBody>
                    <a:bodyPr/>
                    <a:lstStyle/>
                    <a:p>
                      <a:pPr algn="l" fontAlgn="t"/>
                      <a:r>
                        <a:rPr lang="en-GB">
                          <a:effectLst/>
                        </a:rPr>
                        <a:t>Professor</a:t>
                      </a:r>
                    </a:p>
                  </a:txBody>
                  <a:tcPr marL="76200" marR="76200" marT="76200" marB="76200">
                    <a:lnL w="12700" cap="flat" cmpd="sng" algn="ctr">
                      <a:solidFill>
                        <a:srgbClr val="203B2F"/>
                      </a:solidFill>
                      <a:prstDash val="solid"/>
                      <a:round/>
                      <a:headEnd type="none" w="med" len="med"/>
                      <a:tailEnd type="none" w="med" len="med"/>
                    </a:lnL>
                    <a:lnR w="12700" cap="flat" cmpd="sng" algn="ctr">
                      <a:solidFill>
                        <a:srgbClr val="203B2F"/>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GB" b="1">
                          <a:effectLst/>
                        </a:rPr>
                        <a:t>Employee_ID</a:t>
                      </a:r>
                    </a:p>
                  </a:txBody>
                  <a:tcPr marL="76200" marR="76200" marT="76200" marB="76200">
                    <a:lnL w="12700" cap="flat" cmpd="sng" algn="ctr">
                      <a:solidFill>
                        <a:srgbClr val="203B2F"/>
                      </a:solidFill>
                      <a:prstDash val="solid"/>
                      <a:round/>
                      <a:headEnd type="none" w="med" len="med"/>
                      <a:tailEnd type="none" w="med" len="med"/>
                    </a:lnL>
                    <a:lnR w="12700" cap="flat" cmpd="sng" algn="ctr">
                      <a:solidFill>
                        <a:srgbClr val="E03B2F"/>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GB">
                          <a:effectLst/>
                        </a:rPr>
                        <a:t>ProfessorName</a:t>
                      </a:r>
                    </a:p>
                  </a:txBody>
                  <a:tcPr marL="76200" marR="76200" marT="76200" marB="76200">
                    <a:lnL w="12700" cap="flat" cmpd="sng" algn="ctr">
                      <a:solidFill>
                        <a:srgbClr val="E03B2F"/>
                      </a:solidFill>
                      <a:prstDash val="solid"/>
                      <a:round/>
                      <a:headEnd type="none" w="med" len="med"/>
                      <a:tailEnd type="none" w="med" len="med"/>
                    </a:lnL>
                    <a:lnR w="12700" cap="flat" cmpd="sng" algn="ctr">
                      <a:solidFill>
                        <a:srgbClr val="183A2F"/>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535276850"/>
                  </a:ext>
                </a:extLst>
              </a:tr>
              <a:tr h="783845">
                <a:tc>
                  <a:txBody>
                    <a:bodyPr/>
                    <a:lstStyle/>
                    <a:p>
                      <a:pPr algn="l" fontAlgn="t"/>
                      <a:r>
                        <a:rPr lang="en-GB">
                          <a:effectLst/>
                        </a:rPr>
                        <a:t>Course</a:t>
                      </a:r>
                    </a:p>
                  </a:txBody>
                  <a:tcPr marL="76200" marR="76200" marT="76200" marB="76200">
                    <a:lnL w="12700" cap="flat" cmpd="sng" algn="ctr">
                      <a:solidFill>
                        <a:srgbClr val="983B2F"/>
                      </a:solidFill>
                      <a:prstDash val="solid"/>
                      <a:round/>
                      <a:headEnd type="none" w="med" len="med"/>
                      <a:tailEnd type="none" w="med" len="med"/>
                    </a:lnL>
                    <a:lnR w="12700" cap="flat" cmpd="sng" algn="ctr">
                      <a:solidFill>
                        <a:srgbClr val="183A2F"/>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D83A2F"/>
                      </a:solidFill>
                      <a:prstDash val="solid"/>
                      <a:round/>
                      <a:headEnd type="none" w="med" len="med"/>
                      <a:tailEnd type="none" w="med" len="med"/>
                    </a:lnB>
                    <a:solidFill>
                      <a:srgbClr val="FFFFFF"/>
                    </a:solidFill>
                  </a:tcPr>
                </a:tc>
                <a:tc>
                  <a:txBody>
                    <a:bodyPr/>
                    <a:lstStyle/>
                    <a:p>
                      <a:pPr algn="l" fontAlgn="t"/>
                      <a:r>
                        <a:rPr lang="en-GB" b="1" dirty="0" err="1">
                          <a:effectLst/>
                        </a:rPr>
                        <a:t>Course_ID</a:t>
                      </a:r>
                      <a:endParaRPr lang="en-GB" b="1" dirty="0">
                        <a:effectLst/>
                      </a:endParaRPr>
                    </a:p>
                  </a:txBody>
                  <a:tcPr marL="76200" marR="76200" marT="76200" marB="76200">
                    <a:lnL w="12700" cap="flat" cmpd="sng" algn="ctr">
                      <a:solidFill>
                        <a:srgbClr val="183A2F"/>
                      </a:solidFill>
                      <a:prstDash val="solid"/>
                      <a:round/>
                      <a:headEnd type="none" w="med" len="med"/>
                      <a:tailEnd type="none" w="med" len="med"/>
                    </a:lnL>
                    <a:lnR w="12700" cap="flat" cmpd="sng" algn="ctr">
                      <a:solidFill>
                        <a:srgbClr val="983B2F"/>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D83A2F"/>
                      </a:solidFill>
                      <a:prstDash val="solid"/>
                      <a:round/>
                      <a:headEnd type="none" w="med" len="med"/>
                      <a:tailEnd type="none" w="med" len="med"/>
                    </a:lnB>
                    <a:solidFill>
                      <a:srgbClr val="FFFFFF"/>
                    </a:solidFill>
                  </a:tcPr>
                </a:tc>
                <a:tc>
                  <a:txBody>
                    <a:bodyPr/>
                    <a:lstStyle/>
                    <a:p>
                      <a:pPr algn="l" fontAlgn="t"/>
                      <a:r>
                        <a:rPr lang="en-GB" dirty="0" err="1">
                          <a:effectLst/>
                        </a:rPr>
                        <a:t>CourseName</a:t>
                      </a:r>
                      <a:endParaRPr lang="en-GB" dirty="0">
                        <a:effectLst/>
                      </a:endParaRPr>
                    </a:p>
                  </a:txBody>
                  <a:tcPr marL="76200" marR="76200" marT="76200" marB="76200">
                    <a:lnL w="12700" cap="flat" cmpd="sng" algn="ctr">
                      <a:solidFill>
                        <a:srgbClr val="983B2F"/>
                      </a:solidFill>
                      <a:prstDash val="solid"/>
                      <a:round/>
                      <a:headEnd type="none" w="med" len="med"/>
                      <a:tailEnd type="none" w="med" len="med"/>
                    </a:lnL>
                    <a:lnR w="12700" cap="flat" cmpd="sng" algn="ctr">
                      <a:solidFill>
                        <a:srgbClr val="083B2F"/>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70392F"/>
                      </a:solidFill>
                      <a:prstDash val="solid"/>
                      <a:round/>
                      <a:headEnd type="none" w="med" len="med"/>
                      <a:tailEnd type="none" w="med" len="med"/>
                    </a:lnB>
                    <a:solidFill>
                      <a:srgbClr val="FFFFFF"/>
                    </a:solidFill>
                  </a:tcPr>
                </a:tc>
                <a:extLst>
                  <a:ext uri="{0D108BD9-81ED-4DB2-BD59-A6C34878D82A}">
                    <a16:rowId xmlns:a16="http://schemas.microsoft.com/office/drawing/2014/main" val="3793260044"/>
                  </a:ext>
                </a:extLst>
              </a:tr>
            </a:tbl>
          </a:graphicData>
        </a:graphic>
      </p:graphicFrame>
    </p:spTree>
    <p:extLst>
      <p:ext uri="{BB962C8B-B14F-4D97-AF65-F5344CB8AC3E}">
        <p14:creationId xmlns:p14="http://schemas.microsoft.com/office/powerpoint/2010/main" val="4231518821"/>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6754" y="1933303"/>
            <a:ext cx="11197046" cy="4362994"/>
          </a:xfrm>
        </p:spPr>
      </p:pic>
    </p:spTree>
    <p:extLst>
      <p:ext uri="{BB962C8B-B14F-4D97-AF65-F5344CB8AC3E}">
        <p14:creationId xmlns:p14="http://schemas.microsoft.com/office/powerpoint/2010/main" val="917118545"/>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6389"/>
            <a:ext cx="10515600" cy="5680574"/>
          </a:xfrm>
        </p:spPr>
        <p:txBody>
          <a:bodyPr>
            <a:normAutofit/>
          </a:bodyPr>
          <a:lstStyle/>
          <a:p>
            <a:r>
              <a:rPr lang="en-US" dirty="0"/>
              <a:t>ER DIAGRAM</a:t>
            </a:r>
            <a:endParaRPr lang="en-GB" dirty="0"/>
          </a:p>
          <a:p>
            <a:r>
              <a:rPr lang="en-US" sz="4000" dirty="0"/>
              <a:t>“</a:t>
            </a:r>
            <a:r>
              <a:rPr lang="en-US" sz="4000" b="1" i="1" u="sng" dirty="0"/>
              <a:t>Patients</a:t>
            </a:r>
            <a:r>
              <a:rPr lang="en-US" sz="4000" b="1" dirty="0"/>
              <a:t> </a:t>
            </a:r>
            <a:r>
              <a:rPr lang="en-US" sz="4000" dirty="0"/>
              <a:t>are </a:t>
            </a:r>
            <a:r>
              <a:rPr lang="en-US" sz="4000" b="1" dirty="0">
                <a:solidFill>
                  <a:srgbClr val="FF0000"/>
                </a:solidFill>
              </a:rPr>
              <a:t>treated in</a:t>
            </a:r>
            <a:r>
              <a:rPr lang="en-US" sz="4000" dirty="0">
                <a:solidFill>
                  <a:srgbClr val="FF0000"/>
                </a:solidFill>
              </a:rPr>
              <a:t> </a:t>
            </a:r>
            <a:r>
              <a:rPr lang="en-US" sz="4000" dirty="0"/>
              <a:t>a single </a:t>
            </a:r>
            <a:r>
              <a:rPr lang="en-US" sz="4000" b="1" i="1" u="sng" dirty="0"/>
              <a:t>ward</a:t>
            </a:r>
            <a:r>
              <a:rPr lang="en-US" sz="4000" i="1" u="sng" dirty="0"/>
              <a:t> </a:t>
            </a:r>
            <a:r>
              <a:rPr lang="en-US" sz="4000" dirty="0"/>
              <a:t>by the doctors assigned to them. </a:t>
            </a:r>
            <a:endParaRPr lang="en-GB" sz="4000" dirty="0"/>
          </a:p>
          <a:p>
            <a:r>
              <a:rPr lang="en-US" sz="4000" dirty="0"/>
              <a:t>Usually each patient will be </a:t>
            </a:r>
            <a:r>
              <a:rPr lang="en-US" sz="4000" b="1" u="sng" dirty="0">
                <a:solidFill>
                  <a:srgbClr val="FF0000"/>
                </a:solidFill>
              </a:rPr>
              <a:t>assigned</a:t>
            </a:r>
            <a:r>
              <a:rPr lang="en-US" sz="4000" dirty="0">
                <a:solidFill>
                  <a:srgbClr val="FF0000"/>
                </a:solidFill>
              </a:rPr>
              <a:t> </a:t>
            </a:r>
            <a:r>
              <a:rPr lang="en-US" sz="4000" dirty="0"/>
              <a:t>a single </a:t>
            </a:r>
            <a:r>
              <a:rPr lang="en-US" sz="4000" b="1" i="1" u="sng" dirty="0"/>
              <a:t>doctor</a:t>
            </a:r>
            <a:r>
              <a:rPr lang="en-US" sz="4000" dirty="0"/>
              <a:t>, but in rare cases they will have two. Healthcare </a:t>
            </a:r>
            <a:r>
              <a:rPr lang="en-US" sz="4000" b="1" i="1" u="sng" dirty="0"/>
              <a:t>assistants </a:t>
            </a:r>
            <a:r>
              <a:rPr lang="en-US" sz="4000" dirty="0"/>
              <a:t>also </a:t>
            </a:r>
            <a:r>
              <a:rPr lang="en-US" sz="4000" b="1" u="sng" dirty="0">
                <a:solidFill>
                  <a:srgbClr val="FF0000"/>
                </a:solidFill>
              </a:rPr>
              <a:t>attend</a:t>
            </a:r>
            <a:r>
              <a:rPr lang="en-US" sz="4000" dirty="0">
                <a:solidFill>
                  <a:srgbClr val="FF0000"/>
                </a:solidFill>
              </a:rPr>
              <a:t> </a:t>
            </a:r>
            <a:r>
              <a:rPr lang="en-US" sz="4000" b="1" u="sng" dirty="0">
                <a:solidFill>
                  <a:srgbClr val="FF0000"/>
                </a:solidFill>
              </a:rPr>
              <a:t>to</a:t>
            </a:r>
            <a:r>
              <a:rPr lang="en-US" sz="4000" dirty="0">
                <a:solidFill>
                  <a:srgbClr val="FF0000"/>
                </a:solidFill>
              </a:rPr>
              <a:t> </a:t>
            </a:r>
            <a:r>
              <a:rPr lang="en-US" sz="4000" dirty="0"/>
              <a:t>the patients, a number of these are associated with each ward</a:t>
            </a:r>
            <a:r>
              <a:rPr lang="en-US" sz="4000" dirty="0" smtClean="0"/>
              <a:t>.</a:t>
            </a:r>
          </a:p>
          <a:p>
            <a:endParaRPr lang="en-US" sz="4000" dirty="0" smtClean="0"/>
          </a:p>
        </p:txBody>
      </p:sp>
    </p:spTree>
    <p:extLst>
      <p:ext uri="{BB962C8B-B14F-4D97-AF65-F5344CB8AC3E}">
        <p14:creationId xmlns:p14="http://schemas.microsoft.com/office/powerpoint/2010/main" val="2351528398"/>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Step 1) Entity </a:t>
            </a:r>
            <a:r>
              <a:rPr lang="en-GB" b="1" dirty="0" smtClean="0"/>
              <a:t>Identification</a:t>
            </a:r>
            <a:endParaRPr lang="en-GB" dirty="0"/>
          </a:p>
        </p:txBody>
      </p:sp>
      <p:sp>
        <p:nvSpPr>
          <p:cNvPr id="3" name="Content Placeholder 2"/>
          <p:cNvSpPr>
            <a:spLocks noGrp="1"/>
          </p:cNvSpPr>
          <p:nvPr>
            <p:ph idx="1"/>
          </p:nvPr>
        </p:nvSpPr>
        <p:spPr/>
        <p:txBody>
          <a:bodyPr/>
          <a:lstStyle/>
          <a:p>
            <a:r>
              <a:rPr lang="en-US" dirty="0"/>
              <a:t>Patients</a:t>
            </a:r>
          </a:p>
          <a:p>
            <a:r>
              <a:rPr lang="en-US" dirty="0"/>
              <a:t>Doctor</a:t>
            </a:r>
          </a:p>
          <a:p>
            <a:r>
              <a:rPr lang="en-US" dirty="0" err="1" smtClean="0"/>
              <a:t>healthcareAssistants</a:t>
            </a:r>
            <a:endParaRPr lang="en-US" dirty="0"/>
          </a:p>
          <a:p>
            <a:r>
              <a:rPr lang="en-US" dirty="0"/>
              <a:t>ward</a:t>
            </a:r>
            <a:endParaRPr lang="en-GB" dirty="0"/>
          </a:p>
          <a:p>
            <a:endParaRPr lang="en-GB" dirty="0"/>
          </a:p>
        </p:txBody>
      </p:sp>
    </p:spTree>
    <p:extLst>
      <p:ext uri="{BB962C8B-B14F-4D97-AF65-F5344CB8AC3E}">
        <p14:creationId xmlns:p14="http://schemas.microsoft.com/office/powerpoint/2010/main" val="1318907815"/>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Step 2) Relationship </a:t>
            </a:r>
            <a:r>
              <a:rPr lang="en-GB" b="1" dirty="0" smtClean="0"/>
              <a:t>Identification</a:t>
            </a:r>
            <a:endParaRPr lang="en-GB" dirty="0"/>
          </a:p>
        </p:txBody>
      </p:sp>
      <p:sp>
        <p:nvSpPr>
          <p:cNvPr id="3" name="Content Placeholder 2"/>
          <p:cNvSpPr>
            <a:spLocks noGrp="1"/>
          </p:cNvSpPr>
          <p:nvPr>
            <p:ph idx="1"/>
          </p:nvPr>
        </p:nvSpPr>
        <p:spPr/>
        <p:txBody>
          <a:bodyPr/>
          <a:lstStyle/>
          <a:p>
            <a:r>
              <a:rPr lang="en-US" b="1" dirty="0" smtClean="0"/>
              <a:t>Identify the association between the entities</a:t>
            </a:r>
            <a:endParaRPr lang="en-GB" b="1" dirty="0" smtClean="0"/>
          </a:p>
          <a:p>
            <a:r>
              <a:rPr lang="en-US" dirty="0"/>
              <a:t>Patients are treated in ward</a:t>
            </a:r>
          </a:p>
          <a:p>
            <a:r>
              <a:rPr lang="en-US" dirty="0"/>
              <a:t>Patient are assigned to </a:t>
            </a:r>
            <a:r>
              <a:rPr lang="en-US" dirty="0" smtClean="0"/>
              <a:t>doctor</a:t>
            </a:r>
          </a:p>
          <a:p>
            <a:r>
              <a:rPr lang="en-US" dirty="0" smtClean="0"/>
              <a:t>Healthcare </a:t>
            </a:r>
            <a:r>
              <a:rPr lang="en-US" dirty="0"/>
              <a:t>assistants attends to patients</a:t>
            </a:r>
            <a:endParaRPr lang="en-GB" dirty="0"/>
          </a:p>
          <a:p>
            <a:endParaRPr lang="en-GB" dirty="0"/>
          </a:p>
        </p:txBody>
      </p:sp>
    </p:spTree>
    <p:extLst>
      <p:ext uri="{BB962C8B-B14F-4D97-AF65-F5344CB8AC3E}">
        <p14:creationId xmlns:p14="http://schemas.microsoft.com/office/powerpoint/2010/main" val="3787512498"/>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Step 3) Cardinality </a:t>
            </a:r>
            <a:r>
              <a:rPr lang="en-GB" b="1" dirty="0" smtClean="0"/>
              <a:t>Identification</a:t>
            </a:r>
            <a:endParaRPr lang="en-GB" dirty="0"/>
          </a:p>
        </p:txBody>
      </p:sp>
      <p:sp>
        <p:nvSpPr>
          <p:cNvPr id="3" name="Content Placeholder 2"/>
          <p:cNvSpPr>
            <a:spLocks noGrp="1"/>
          </p:cNvSpPr>
          <p:nvPr>
            <p:ph idx="1"/>
          </p:nvPr>
        </p:nvSpPr>
        <p:spPr/>
        <p:txBody>
          <a:bodyPr/>
          <a:lstStyle/>
          <a:p>
            <a:r>
              <a:rPr lang="en-US" dirty="0"/>
              <a:t>Patients are treated in single ward (M:1)</a:t>
            </a:r>
          </a:p>
          <a:p>
            <a:r>
              <a:rPr lang="en-US" dirty="0"/>
              <a:t>Patient are assigned to doctor(1:M)</a:t>
            </a:r>
          </a:p>
          <a:p>
            <a:r>
              <a:rPr lang="en-US" dirty="0"/>
              <a:t>Healthcare assistants attends to patients (M:M)</a:t>
            </a:r>
            <a:endParaRPr lang="en-GB" dirty="0"/>
          </a:p>
        </p:txBody>
      </p:sp>
    </p:spTree>
    <p:extLst>
      <p:ext uri="{BB962C8B-B14F-4D97-AF65-F5344CB8AC3E}">
        <p14:creationId xmlns:p14="http://schemas.microsoft.com/office/powerpoint/2010/main" val="3359960281"/>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44584" y="404949"/>
            <a:ext cx="10609216" cy="5772014"/>
          </a:xfrm>
        </p:spPr>
      </p:pic>
    </p:spTree>
    <p:extLst>
      <p:ext uri="{BB962C8B-B14F-4D97-AF65-F5344CB8AC3E}">
        <p14:creationId xmlns:p14="http://schemas.microsoft.com/office/powerpoint/2010/main" val="3796620072"/>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r>
              <a:rPr lang="en-US" altLang="en-US" smtClean="0"/>
              <a:t>DFD Examples</a:t>
            </a:r>
          </a:p>
        </p:txBody>
      </p:sp>
      <p:sp>
        <p:nvSpPr>
          <p:cNvPr id="2051" name="Subtitle 5"/>
          <p:cNvSpPr>
            <a:spLocks noGrp="1"/>
          </p:cNvSpPr>
          <p:nvPr>
            <p:ph type="subTitle" idx="1"/>
          </p:nvPr>
        </p:nvSpPr>
        <p:spPr/>
        <p:txBody>
          <a:bodyPr/>
          <a:lstStyle/>
          <a:p>
            <a:pPr eaLnBrk="1" hangingPunct="1"/>
            <a:endParaRPr lang="en-US" altLang="en-US" smtClean="0"/>
          </a:p>
        </p:txBody>
      </p:sp>
    </p:spTree>
    <p:extLst>
      <p:ext uri="{BB962C8B-B14F-4D97-AF65-F5344CB8AC3E}">
        <p14:creationId xmlns:p14="http://schemas.microsoft.com/office/powerpoint/2010/main" val="628627911"/>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altLang="en-US" smtClean="0"/>
              <a:t>Why Data Flow Diagram</a:t>
            </a:r>
          </a:p>
        </p:txBody>
      </p:sp>
      <p:sp>
        <p:nvSpPr>
          <p:cNvPr id="3" name="Content Placeholder 2"/>
          <p:cNvSpPr>
            <a:spLocks noGrp="1"/>
          </p:cNvSpPr>
          <p:nvPr>
            <p:ph idx="1"/>
          </p:nvPr>
        </p:nvSpPr>
        <p:spPr/>
        <p:txBody>
          <a:bodyPr/>
          <a:lstStyle/>
          <a:p>
            <a:pPr eaLnBrk="1" hangingPunct="1">
              <a:defRPr/>
            </a:pPr>
            <a:r>
              <a:rPr lang="en-US" dirty="0" smtClean="0"/>
              <a:t>A picture is worth a thousand words.</a:t>
            </a:r>
          </a:p>
          <a:p>
            <a:pPr eaLnBrk="1" hangingPunct="1">
              <a:defRPr/>
            </a:pPr>
            <a:r>
              <a:rPr lang="en-US" dirty="0" smtClean="0"/>
              <a:t>A Data Flow Diagram (DFD) is a traditional way to visualize the information flows within a system.</a:t>
            </a:r>
          </a:p>
          <a:p>
            <a:pPr eaLnBrk="1" hangingPunct="1">
              <a:defRPr/>
            </a:pPr>
            <a:r>
              <a:rPr lang="en-US" dirty="0" smtClean="0"/>
              <a:t>It shows </a:t>
            </a:r>
          </a:p>
          <a:p>
            <a:pPr lvl="1" eaLnBrk="1" hangingPunct="1">
              <a:defRPr/>
            </a:pPr>
            <a:r>
              <a:rPr lang="en-US" dirty="0" smtClean="0">
                <a:ea typeface="+mn-ea"/>
                <a:cs typeface="+mn-cs"/>
              </a:rPr>
              <a:t>how information enters the System</a:t>
            </a:r>
          </a:p>
          <a:p>
            <a:pPr lvl="1" eaLnBrk="1" hangingPunct="1">
              <a:defRPr/>
            </a:pPr>
            <a:r>
              <a:rPr lang="en-US" dirty="0" smtClean="0">
                <a:ea typeface="+mn-ea"/>
                <a:cs typeface="+mn-cs"/>
              </a:rPr>
              <a:t>How Information leaves the system</a:t>
            </a:r>
          </a:p>
          <a:p>
            <a:pPr lvl="1" eaLnBrk="1" hangingPunct="1">
              <a:defRPr/>
            </a:pPr>
            <a:r>
              <a:rPr lang="en-US" dirty="0" smtClean="0">
                <a:ea typeface="+mn-ea"/>
                <a:cs typeface="+mn-cs"/>
              </a:rPr>
              <a:t>what changes the information </a:t>
            </a:r>
          </a:p>
          <a:p>
            <a:pPr lvl="1" eaLnBrk="1" hangingPunct="1">
              <a:defRPr/>
            </a:pPr>
            <a:r>
              <a:rPr lang="en-US" dirty="0" smtClean="0">
                <a:ea typeface="+mn-ea"/>
                <a:cs typeface="+mn-cs"/>
              </a:rPr>
              <a:t>where information is stored.</a:t>
            </a:r>
            <a:endParaRPr lang="en-US" dirty="0" smtClean="0"/>
          </a:p>
        </p:txBody>
      </p:sp>
    </p:spTree>
    <p:extLst>
      <p:ext uri="{BB962C8B-B14F-4D97-AF65-F5344CB8AC3E}">
        <p14:creationId xmlns:p14="http://schemas.microsoft.com/office/powerpoint/2010/main" val="2175551159"/>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endParaRPr lang="en-US" altLang="en-US" smtClean="0"/>
          </a:p>
        </p:txBody>
      </p:sp>
      <p:sp>
        <p:nvSpPr>
          <p:cNvPr id="4099" name="Content Placeholder 2"/>
          <p:cNvSpPr>
            <a:spLocks noGrp="1"/>
          </p:cNvSpPr>
          <p:nvPr>
            <p:ph idx="1"/>
          </p:nvPr>
        </p:nvSpPr>
        <p:spPr/>
        <p:txBody>
          <a:bodyPr/>
          <a:lstStyle/>
          <a:p>
            <a:pPr eaLnBrk="1" hangingPunct="1"/>
            <a:r>
              <a:rPr lang="en-US" altLang="en-US" smtClean="0"/>
              <a:t>Good DFDs are critical to the process  </a:t>
            </a:r>
          </a:p>
          <a:p>
            <a:pPr eaLnBrk="1" hangingPunct="1"/>
            <a:r>
              <a:rPr lang="en-US" altLang="en-US" smtClean="0"/>
              <a:t>Building DFDs == understanding the system </a:t>
            </a:r>
          </a:p>
          <a:p>
            <a:pPr eaLnBrk="1" hangingPunct="1"/>
            <a:r>
              <a:rPr lang="en-US" altLang="en-US" smtClean="0"/>
              <a:t> Analyzing DFDs == understanding the threats</a:t>
            </a:r>
          </a:p>
        </p:txBody>
      </p:sp>
    </p:spTree>
    <p:extLst>
      <p:ext uri="{BB962C8B-B14F-4D97-AF65-F5344CB8AC3E}">
        <p14:creationId xmlns:p14="http://schemas.microsoft.com/office/powerpoint/2010/main" val="1442705252"/>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altLang="en-US" smtClean="0"/>
              <a:t>DFD Types of Notation</a:t>
            </a:r>
          </a:p>
        </p:txBody>
      </p:sp>
      <p:sp>
        <p:nvSpPr>
          <p:cNvPr id="5123" name="Content Placeholder 2"/>
          <p:cNvSpPr>
            <a:spLocks noGrp="1"/>
          </p:cNvSpPr>
          <p:nvPr>
            <p:ph idx="1"/>
          </p:nvPr>
        </p:nvSpPr>
        <p:spPr/>
        <p:txBody>
          <a:bodyPr/>
          <a:lstStyle/>
          <a:p>
            <a:pPr eaLnBrk="1" hangingPunct="1"/>
            <a:r>
              <a:rPr lang="en-US" altLang="en-US" smtClean="0"/>
              <a:t>Yourdon &amp; Coad </a:t>
            </a:r>
          </a:p>
          <a:p>
            <a:pPr eaLnBrk="1" hangingPunct="1"/>
            <a:r>
              <a:rPr lang="en-US" altLang="en-US" smtClean="0"/>
              <a:t>Gene &amp; Sarson are the two main methods of notation used in DFDs</a:t>
            </a:r>
          </a:p>
          <a:p>
            <a:pPr eaLnBrk="1" hangingPunct="1"/>
            <a:endParaRPr lang="en-US" altLang="en-US" smtClean="0"/>
          </a:p>
        </p:txBody>
      </p:sp>
    </p:spTree>
    <p:extLst>
      <p:ext uri="{BB962C8B-B14F-4D97-AF65-F5344CB8AC3E}">
        <p14:creationId xmlns:p14="http://schemas.microsoft.com/office/powerpoint/2010/main" val="3029590892"/>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altLang="en-US" smtClean="0"/>
              <a:t>Elements of DFD</a:t>
            </a:r>
          </a:p>
        </p:txBody>
      </p:sp>
      <p:pic>
        <p:nvPicPr>
          <p:cNvPr id="6147" name="Picture 3" descr="Square, circle, and rectangular symbols in a data flow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524000"/>
            <a:ext cx="8153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1166911"/>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1981200" y="274638"/>
            <a:ext cx="8229600" cy="487362"/>
          </a:xfrm>
        </p:spPr>
        <p:txBody>
          <a:bodyPr>
            <a:normAutofit fontScale="90000"/>
          </a:bodyPr>
          <a:lstStyle/>
          <a:p>
            <a:pPr eaLnBrk="1" hangingPunct="1"/>
            <a:r>
              <a:rPr lang="en-US" altLang="en-US" smtClean="0"/>
              <a:t>External Entity</a:t>
            </a:r>
          </a:p>
        </p:txBody>
      </p:sp>
      <p:sp>
        <p:nvSpPr>
          <p:cNvPr id="7171" name="Content Placeholder 2"/>
          <p:cNvSpPr>
            <a:spLocks noGrp="1"/>
          </p:cNvSpPr>
          <p:nvPr>
            <p:ph idx="1"/>
          </p:nvPr>
        </p:nvSpPr>
        <p:spPr>
          <a:xfrm>
            <a:off x="2057400" y="914400"/>
            <a:ext cx="8229600" cy="5410200"/>
          </a:xfrm>
        </p:spPr>
        <p:txBody>
          <a:bodyPr/>
          <a:lstStyle/>
          <a:p>
            <a:pPr eaLnBrk="1" hangingPunct="1"/>
            <a:r>
              <a:rPr lang="en-US" altLang="en-US" smtClean="0"/>
              <a:t>An external agent is a source or destination of data</a:t>
            </a:r>
          </a:p>
          <a:p>
            <a:pPr eaLnBrk="1" hangingPunct="1"/>
            <a:r>
              <a:rPr lang="en-US" altLang="en-US" smtClean="0"/>
              <a:t>The sharp cornered rectangles(or simply boxes) in a DFD indicates entities.</a:t>
            </a:r>
          </a:p>
          <a:p>
            <a:pPr eaLnBrk="1" hangingPunct="1"/>
            <a:r>
              <a:rPr lang="en-US" altLang="en-US" smtClean="0"/>
              <a:t>An external entity, which are also known as terminators, sources, sinks, or actors, are an outside system or process that sends or receives data to and from the diagrammed system</a:t>
            </a:r>
          </a:p>
        </p:txBody>
      </p:sp>
    </p:spTree>
    <p:extLst>
      <p:ext uri="{BB962C8B-B14F-4D97-AF65-F5344CB8AC3E}">
        <p14:creationId xmlns:p14="http://schemas.microsoft.com/office/powerpoint/2010/main" val="2554789855"/>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endParaRPr lang="en-US" altLang="en-US" smtClean="0"/>
          </a:p>
        </p:txBody>
      </p:sp>
      <p:sp>
        <p:nvSpPr>
          <p:cNvPr id="8195" name="Content Placeholder 2"/>
          <p:cNvSpPr>
            <a:spLocks noGrp="1"/>
          </p:cNvSpPr>
          <p:nvPr>
            <p:ph idx="1"/>
          </p:nvPr>
        </p:nvSpPr>
        <p:spPr/>
        <p:txBody>
          <a:bodyPr/>
          <a:lstStyle/>
          <a:p>
            <a:pPr eaLnBrk="1" hangingPunct="1"/>
            <a:r>
              <a:rPr lang="en-US" altLang="en-US" smtClean="0"/>
              <a:t>Entities are people things, organizations etc  of data from the system</a:t>
            </a:r>
          </a:p>
          <a:p>
            <a:pPr eaLnBrk="1" hangingPunct="1"/>
            <a:endParaRPr lang="en-US" altLang="en-US" smtClean="0"/>
          </a:p>
        </p:txBody>
      </p:sp>
      <p:pic>
        <p:nvPicPr>
          <p:cNvPr id="8196" name="Picture 3"/>
          <p:cNvPicPr>
            <a:picLocks noChangeAspect="1" noChangeArrowheads="1"/>
          </p:cNvPicPr>
          <p:nvPr/>
        </p:nvPicPr>
        <p:blipFill>
          <a:blip r:embed="rId2">
            <a:lum bright="20000"/>
            <a:extLst>
              <a:ext uri="{28A0092B-C50C-407E-A947-70E740481C1C}">
                <a14:useLocalDpi xmlns:a14="http://schemas.microsoft.com/office/drawing/2010/main" val="0"/>
              </a:ext>
            </a:extLst>
          </a:blip>
          <a:srcRect/>
          <a:stretch>
            <a:fillRect/>
          </a:stretch>
        </p:blipFill>
        <p:spPr bwMode="auto">
          <a:xfrm>
            <a:off x="4267201" y="2590800"/>
            <a:ext cx="4125913" cy="294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6234266"/>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smtClean="0"/>
              <a:t>Process</a:t>
            </a:r>
          </a:p>
        </p:txBody>
      </p:sp>
      <p:sp>
        <p:nvSpPr>
          <p:cNvPr id="9219" name="Content Placeholder 2"/>
          <p:cNvSpPr>
            <a:spLocks noGrp="1"/>
          </p:cNvSpPr>
          <p:nvPr>
            <p:ph idx="1"/>
          </p:nvPr>
        </p:nvSpPr>
        <p:spPr/>
        <p:txBody>
          <a:bodyPr/>
          <a:lstStyle/>
          <a:p>
            <a:pPr eaLnBrk="1" hangingPunct="1"/>
            <a:r>
              <a:rPr lang="en-US" altLang="en-US" smtClean="0"/>
              <a:t>A process is a unit of work that operates on the data</a:t>
            </a:r>
          </a:p>
          <a:p>
            <a:pPr eaLnBrk="1" hangingPunct="1"/>
            <a:r>
              <a:rPr lang="en-US" altLang="en-US" smtClean="0"/>
              <a:t>The rounded cornered rectangles or </a:t>
            </a:r>
            <a:r>
              <a:rPr lang="en-US" altLang="en-US" b="1" smtClean="0"/>
              <a:t>circles </a:t>
            </a:r>
            <a:r>
              <a:rPr lang="en-US" altLang="en-US" smtClean="0"/>
              <a:t>in a DFD indicate processes</a:t>
            </a:r>
          </a:p>
          <a:p>
            <a:pPr eaLnBrk="1" hangingPunct="1"/>
            <a:r>
              <a:rPr lang="en-US" altLang="en-US" smtClean="0"/>
              <a:t>Process is a procedure that manipulates the data and its flow by taking incoming data, changing it, and producing an output with it</a:t>
            </a:r>
          </a:p>
        </p:txBody>
      </p:sp>
    </p:spTree>
    <p:extLst>
      <p:ext uri="{BB962C8B-B14F-4D97-AF65-F5344CB8AC3E}">
        <p14:creationId xmlns:p14="http://schemas.microsoft.com/office/powerpoint/2010/main" val="2554743208"/>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ltLang="en-US" smtClean="0"/>
              <a:t>Examples of Process</a:t>
            </a:r>
          </a:p>
        </p:txBody>
      </p:sp>
      <p:pic>
        <p:nvPicPr>
          <p:cNvPr id="10243" name="Content Placeholder 3"/>
          <p:cNvPicPr>
            <a:picLocks noGrp="1"/>
          </p:cNvPicPr>
          <p:nvPr>
            <p:ph idx="1"/>
          </p:nvPr>
        </p:nvPicPr>
        <p:blipFill>
          <a:blip r:embed="rId2">
            <a:lum bright="20000"/>
            <a:extLst>
              <a:ext uri="{28A0092B-C50C-407E-A947-70E740481C1C}">
                <a14:useLocalDpi xmlns:a14="http://schemas.microsoft.com/office/drawing/2010/main" val="0"/>
              </a:ext>
            </a:extLst>
          </a:blip>
          <a:srcRect/>
          <a:stretch>
            <a:fillRect/>
          </a:stretch>
        </p:blipFill>
        <p:spPr>
          <a:xfrm>
            <a:off x="2586039" y="1600201"/>
            <a:ext cx="7019925" cy="4525963"/>
          </a:xfrm>
        </p:spPr>
      </p:pic>
    </p:spTree>
    <p:extLst>
      <p:ext uri="{BB962C8B-B14F-4D97-AF65-F5344CB8AC3E}">
        <p14:creationId xmlns:p14="http://schemas.microsoft.com/office/powerpoint/2010/main" val="3261504465"/>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b="1" smtClean="0"/>
              <a:t>Data Store</a:t>
            </a:r>
            <a:endParaRPr lang="en-US" altLang="en-US" smtClean="0"/>
          </a:p>
        </p:txBody>
      </p:sp>
      <p:sp>
        <p:nvSpPr>
          <p:cNvPr id="11267" name="Content Placeholder 2"/>
          <p:cNvSpPr>
            <a:spLocks noGrp="1"/>
          </p:cNvSpPr>
          <p:nvPr>
            <p:ph idx="1"/>
          </p:nvPr>
        </p:nvSpPr>
        <p:spPr/>
        <p:txBody>
          <a:bodyPr/>
          <a:lstStyle/>
          <a:p>
            <a:pPr eaLnBrk="1" hangingPunct="1"/>
            <a:r>
              <a:rPr lang="en-US" altLang="en-US" smtClean="0"/>
              <a:t>Opened sided rectangles in DFD indicates data store.</a:t>
            </a:r>
          </a:p>
          <a:p>
            <a:pPr eaLnBrk="1" hangingPunct="1"/>
            <a:r>
              <a:rPr lang="en-US" altLang="en-US" smtClean="0"/>
              <a:t>The Data Store symbol represents data that is not moving (delayed data at rest).</a:t>
            </a:r>
          </a:p>
          <a:p>
            <a:pPr eaLnBrk="1" hangingPunct="1"/>
            <a:r>
              <a:rPr lang="en-US" altLang="en-US" smtClean="0"/>
              <a:t>A Data Store is a logical repository of data.</a:t>
            </a:r>
          </a:p>
          <a:p>
            <a:pPr eaLnBrk="1" hangingPunct="1"/>
            <a:r>
              <a:rPr lang="en-US" altLang="en-US" smtClean="0"/>
              <a:t>Data can be written into the data store. This is depicted by an incoming arrow.</a:t>
            </a:r>
          </a:p>
          <a:p>
            <a:pPr eaLnBrk="1" hangingPunct="1"/>
            <a:r>
              <a:rPr lang="en-US" altLang="en-US" smtClean="0"/>
              <a:t>Data can be read from a data store. This is depicted by an outgoing arrow.</a:t>
            </a:r>
          </a:p>
          <a:p>
            <a:pPr eaLnBrk="1" hangingPunct="1"/>
            <a:endParaRPr lang="en-US" altLang="en-US" smtClean="0"/>
          </a:p>
        </p:txBody>
      </p:sp>
      <p:cxnSp>
        <p:nvCxnSpPr>
          <p:cNvPr id="5" name="Straight Arrow Connector 4"/>
          <p:cNvCxnSpPr/>
          <p:nvPr/>
        </p:nvCxnSpPr>
        <p:spPr>
          <a:xfrm>
            <a:off x="9448800" y="4876800"/>
            <a:ext cx="609600" cy="1588"/>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flipV="1">
            <a:off x="9448800" y="6172200"/>
            <a:ext cx="609600" cy="1588"/>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2943549"/>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altLang="en-US" smtClean="0"/>
              <a:t>Data store</a:t>
            </a:r>
          </a:p>
        </p:txBody>
      </p:sp>
      <p:sp>
        <p:nvSpPr>
          <p:cNvPr id="12291" name="Content Placeholder 2"/>
          <p:cNvSpPr>
            <a:spLocks noGrp="1"/>
          </p:cNvSpPr>
          <p:nvPr>
            <p:ph idx="1"/>
          </p:nvPr>
        </p:nvSpPr>
        <p:spPr/>
        <p:txBody>
          <a:bodyPr/>
          <a:lstStyle/>
          <a:p>
            <a:pPr eaLnBrk="1" hangingPunct="1"/>
            <a:r>
              <a:rPr lang="en-US" altLang="en-US" smtClean="0"/>
              <a:t>Two data stores cannot be connected by a data flow.</a:t>
            </a:r>
          </a:p>
          <a:p>
            <a:pPr eaLnBrk="1" hangingPunct="1"/>
            <a:r>
              <a:rPr lang="en-US" altLang="en-US" smtClean="0">
                <a:solidFill>
                  <a:srgbClr val="FF0000"/>
                </a:solidFill>
              </a:rPr>
              <a:t>External entity cannot read or write to the data store.</a:t>
            </a:r>
          </a:p>
          <a:p>
            <a:pPr eaLnBrk="1" hangingPunct="1"/>
            <a:endParaRPr lang="en-US" altLang="en-US" smtClean="0"/>
          </a:p>
          <a:p>
            <a:pPr eaLnBrk="1" hangingPunct="1"/>
            <a:endParaRPr lang="en-US" altLang="en-US" smtClean="0"/>
          </a:p>
        </p:txBody>
      </p:sp>
    </p:spTree>
    <p:extLst>
      <p:ext uri="{BB962C8B-B14F-4D97-AF65-F5344CB8AC3E}">
        <p14:creationId xmlns:p14="http://schemas.microsoft.com/office/powerpoint/2010/main" val="1953656933"/>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smtClean="0"/>
              <a:t>Examples of data store</a:t>
            </a:r>
          </a:p>
        </p:txBody>
      </p:sp>
      <p:pic>
        <p:nvPicPr>
          <p:cNvPr id="133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133600"/>
            <a:ext cx="5849938"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8381582"/>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altLang="en-US" b="1" smtClean="0"/>
              <a:t>Data flow</a:t>
            </a:r>
            <a:endParaRPr lang="en-US" altLang="en-US" smtClean="0"/>
          </a:p>
        </p:txBody>
      </p:sp>
      <p:sp>
        <p:nvSpPr>
          <p:cNvPr id="14339" name="Content Placeholder 2"/>
          <p:cNvSpPr>
            <a:spLocks noGrp="1"/>
          </p:cNvSpPr>
          <p:nvPr>
            <p:ph idx="1"/>
          </p:nvPr>
        </p:nvSpPr>
        <p:spPr/>
        <p:txBody>
          <a:bodyPr/>
          <a:lstStyle/>
          <a:p>
            <a:pPr eaLnBrk="1" hangingPunct="1"/>
            <a:r>
              <a:rPr lang="en-US" altLang="en-US" smtClean="0"/>
              <a:t>Data flow is the path the system’s information takes from external entities through processes and data stores. With arrows and succinct labels, the DFD can show you the direction of the data flow.</a:t>
            </a:r>
          </a:p>
          <a:p>
            <a:pPr eaLnBrk="1" hangingPunct="1"/>
            <a:r>
              <a:rPr lang="en-US" altLang="en-US" smtClean="0"/>
              <a:t>Arrow symbol in DFD indicate data flow</a:t>
            </a:r>
          </a:p>
          <a:p>
            <a:pPr eaLnBrk="1" hangingPunct="1"/>
            <a:r>
              <a:rPr lang="en-US" altLang="en-US" smtClean="0"/>
              <a:t>The Data Flow symbol represents movement of data</a:t>
            </a:r>
          </a:p>
          <a:p>
            <a:pPr eaLnBrk="1" hangingPunct="1"/>
            <a:r>
              <a:rPr lang="en-US" altLang="en-US" smtClean="0"/>
              <a:t> </a:t>
            </a:r>
          </a:p>
          <a:p>
            <a:pPr eaLnBrk="1" hangingPunct="1"/>
            <a:endParaRPr lang="en-US" altLang="en-US" smtClean="0"/>
          </a:p>
        </p:txBody>
      </p:sp>
    </p:spTree>
    <p:extLst>
      <p:ext uri="{BB962C8B-B14F-4D97-AF65-F5344CB8AC3E}">
        <p14:creationId xmlns:p14="http://schemas.microsoft.com/office/powerpoint/2010/main" val="1251184008"/>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altLang="en-US" smtClean="0"/>
              <a:t>Examples of Data Flow </a:t>
            </a:r>
          </a:p>
        </p:txBody>
      </p:sp>
      <p:pic>
        <p:nvPicPr>
          <p:cNvPr id="15363" name="Picture 3"/>
          <p:cNvPicPr>
            <a:picLocks noChangeAspect="1" noChangeArrowheads="1"/>
          </p:cNvPicPr>
          <p:nvPr/>
        </p:nvPicPr>
        <p:blipFill>
          <a:blip r:embed="rId2">
            <a:lum bright="20000"/>
            <a:extLst>
              <a:ext uri="{28A0092B-C50C-407E-A947-70E740481C1C}">
                <a14:useLocalDpi xmlns:a14="http://schemas.microsoft.com/office/drawing/2010/main" val="0"/>
              </a:ext>
            </a:extLst>
          </a:blip>
          <a:srcRect/>
          <a:stretch>
            <a:fillRect/>
          </a:stretch>
        </p:blipFill>
        <p:spPr bwMode="auto">
          <a:xfrm>
            <a:off x="3048000" y="1828800"/>
            <a:ext cx="6400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5138166"/>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ltLang="en-US" smtClean="0"/>
              <a:t>Rules of Data Flow </a:t>
            </a:r>
          </a:p>
        </p:txBody>
      </p:sp>
      <p:sp>
        <p:nvSpPr>
          <p:cNvPr id="16387" name="Content Placeholder 2"/>
          <p:cNvSpPr>
            <a:spLocks noGrp="1"/>
          </p:cNvSpPr>
          <p:nvPr>
            <p:ph idx="1"/>
          </p:nvPr>
        </p:nvSpPr>
        <p:spPr/>
        <p:txBody>
          <a:bodyPr/>
          <a:lstStyle/>
          <a:p>
            <a:pPr eaLnBrk="1" hangingPunct="1"/>
            <a:r>
              <a:rPr lang="en-US" altLang="en-US" b="1" smtClean="0"/>
              <a:t>Data can flow from</a:t>
            </a:r>
            <a:endParaRPr lang="en-US" altLang="en-US" smtClean="0"/>
          </a:p>
          <a:p>
            <a:pPr eaLnBrk="1" hangingPunct="1"/>
            <a:r>
              <a:rPr lang="en-US" altLang="en-US" smtClean="0"/>
              <a:t>External Entity to Process</a:t>
            </a:r>
          </a:p>
          <a:p>
            <a:pPr eaLnBrk="1" hangingPunct="1"/>
            <a:r>
              <a:rPr lang="en-US" altLang="en-US" smtClean="0"/>
              <a:t>Process to External Entity</a:t>
            </a:r>
          </a:p>
          <a:p>
            <a:pPr eaLnBrk="1" hangingPunct="1"/>
            <a:r>
              <a:rPr lang="en-US" altLang="en-US" smtClean="0"/>
              <a:t>Process to Data Store and back</a:t>
            </a:r>
          </a:p>
          <a:p>
            <a:pPr eaLnBrk="1" hangingPunct="1"/>
            <a:r>
              <a:rPr lang="en-US" altLang="en-US" smtClean="0"/>
              <a:t>Process to Process</a:t>
            </a:r>
          </a:p>
        </p:txBody>
      </p:sp>
    </p:spTree>
    <p:extLst>
      <p:ext uri="{BB962C8B-B14F-4D97-AF65-F5344CB8AC3E}">
        <p14:creationId xmlns:p14="http://schemas.microsoft.com/office/powerpoint/2010/main" val="721316688"/>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ltLang="en-US" b="1" smtClean="0"/>
              <a:t>Rules of Data Flow</a:t>
            </a:r>
            <a:endParaRPr lang="en-US" altLang="en-US" smtClean="0"/>
          </a:p>
        </p:txBody>
      </p:sp>
      <p:sp>
        <p:nvSpPr>
          <p:cNvPr id="17411" name="Content Placeholder 2"/>
          <p:cNvSpPr>
            <a:spLocks noGrp="1"/>
          </p:cNvSpPr>
          <p:nvPr>
            <p:ph idx="1"/>
          </p:nvPr>
        </p:nvSpPr>
        <p:spPr/>
        <p:txBody>
          <a:bodyPr/>
          <a:lstStyle/>
          <a:p>
            <a:pPr eaLnBrk="1" hangingPunct="1"/>
            <a:r>
              <a:rPr lang="en-US" altLang="en-US" b="1" smtClean="0"/>
              <a:t>Data cannot flow from</a:t>
            </a:r>
            <a:endParaRPr lang="en-US" altLang="en-US" smtClean="0"/>
          </a:p>
          <a:p>
            <a:pPr eaLnBrk="1" hangingPunct="1"/>
            <a:r>
              <a:rPr lang="en-US" altLang="en-US" smtClean="0"/>
              <a:t>External entity to External Entity</a:t>
            </a:r>
          </a:p>
          <a:p>
            <a:pPr eaLnBrk="1" hangingPunct="1"/>
            <a:r>
              <a:rPr lang="en-US" altLang="en-US" smtClean="0">
                <a:solidFill>
                  <a:srgbClr val="FF0000"/>
                </a:solidFill>
              </a:rPr>
              <a:t>External entity to store</a:t>
            </a:r>
          </a:p>
          <a:p>
            <a:pPr eaLnBrk="1" hangingPunct="1"/>
            <a:r>
              <a:rPr lang="en-US" altLang="en-US" smtClean="0"/>
              <a:t>Data store to External Entity</a:t>
            </a:r>
          </a:p>
          <a:p>
            <a:pPr eaLnBrk="1" hangingPunct="1"/>
            <a:r>
              <a:rPr lang="en-US" altLang="en-US" smtClean="0"/>
              <a:t>Data store to Data Store</a:t>
            </a:r>
          </a:p>
          <a:p>
            <a:pPr eaLnBrk="1" hangingPunct="1"/>
            <a:endParaRPr lang="en-US" altLang="en-US" smtClean="0"/>
          </a:p>
        </p:txBody>
      </p:sp>
    </p:spTree>
    <p:extLst>
      <p:ext uri="{BB962C8B-B14F-4D97-AF65-F5344CB8AC3E}">
        <p14:creationId xmlns:p14="http://schemas.microsoft.com/office/powerpoint/2010/main" val="2437448259"/>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altLang="en-US" b="1" smtClean="0"/>
              <a:t>Four rules of thumb to create a valid DFD.</a:t>
            </a:r>
            <a:endParaRPr lang="en-US" altLang="en-US" smtClean="0"/>
          </a:p>
        </p:txBody>
      </p:sp>
      <p:sp>
        <p:nvSpPr>
          <p:cNvPr id="3" name="Content Placeholder 2"/>
          <p:cNvSpPr>
            <a:spLocks noGrp="1"/>
          </p:cNvSpPr>
          <p:nvPr>
            <p:ph idx="1"/>
          </p:nvPr>
        </p:nvSpPr>
        <p:spPr/>
        <p:txBody>
          <a:bodyPr/>
          <a:lstStyle/>
          <a:p>
            <a:pPr marL="514350" indent="-514350">
              <a:buFontTx/>
              <a:buAutoNum type="arabicPeriod"/>
            </a:pPr>
            <a:r>
              <a:rPr lang="en-US" altLang="en-US" smtClean="0"/>
              <a:t>Each process should have at least one input and one output.</a:t>
            </a:r>
          </a:p>
          <a:p>
            <a:pPr marL="514350" indent="-514350">
              <a:buFontTx/>
              <a:buAutoNum type="arabicPeriod"/>
            </a:pPr>
            <a:r>
              <a:rPr lang="en-US" altLang="en-US" smtClean="0"/>
              <a:t>Each data store should have at least one data flow in and data flow out.</a:t>
            </a:r>
          </a:p>
          <a:p>
            <a:pPr marL="514350" indent="-514350">
              <a:buFontTx/>
              <a:buAutoNum type="arabicPeriod"/>
            </a:pPr>
            <a:r>
              <a:rPr lang="en-US" altLang="en-US" smtClean="0"/>
              <a:t>A system’s stored data must go through a process.</a:t>
            </a:r>
          </a:p>
          <a:p>
            <a:pPr marL="514350" indent="-514350">
              <a:buFontTx/>
              <a:buAutoNum type="arabicPeriod"/>
            </a:pPr>
            <a:r>
              <a:rPr lang="en-US" altLang="en-US" smtClean="0"/>
              <a:t>All processes in a DFD must link to another process or data store.</a:t>
            </a:r>
          </a:p>
          <a:p>
            <a:pPr marL="514350" indent="-514350"/>
            <a:endParaRPr lang="en-US" altLang="en-US" smtClean="0"/>
          </a:p>
        </p:txBody>
      </p:sp>
    </p:spTree>
    <p:extLst>
      <p:ext uri="{BB962C8B-B14F-4D97-AF65-F5344CB8AC3E}">
        <p14:creationId xmlns:p14="http://schemas.microsoft.com/office/powerpoint/2010/main" val="3031622037"/>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524000" y="22860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600"/>
              <a:t>Creating Data Flow Diagrams</a:t>
            </a:r>
            <a:endParaRPr lang="en-US" altLang="en-US"/>
          </a:p>
        </p:txBody>
      </p:sp>
      <p:sp>
        <p:nvSpPr>
          <p:cNvPr id="19459" name="Text Box 3"/>
          <p:cNvSpPr txBox="1">
            <a:spLocks noChangeArrowheads="1"/>
          </p:cNvSpPr>
          <p:nvPr/>
        </p:nvSpPr>
        <p:spPr bwMode="auto">
          <a:xfrm>
            <a:off x="2209800" y="990601"/>
            <a:ext cx="845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800"/>
              <a:t>Steps:</a:t>
            </a:r>
          </a:p>
        </p:txBody>
      </p:sp>
      <p:sp>
        <p:nvSpPr>
          <p:cNvPr id="19460" name="Text Box 4"/>
          <p:cNvSpPr txBox="1">
            <a:spLocks noChangeArrowheads="1"/>
          </p:cNvSpPr>
          <p:nvPr/>
        </p:nvSpPr>
        <p:spPr bwMode="auto">
          <a:xfrm>
            <a:off x="2057400" y="1752601"/>
            <a:ext cx="8382000" cy="436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rabicPeriod"/>
            </a:pPr>
            <a:r>
              <a:rPr lang="en-US" altLang="en-US" sz="2800"/>
              <a:t>Create a list of activities</a:t>
            </a:r>
          </a:p>
          <a:p>
            <a:pPr eaLnBrk="1" hangingPunct="1">
              <a:spcBef>
                <a:spcPct val="50000"/>
              </a:spcBef>
              <a:buFontTx/>
              <a:buAutoNum type="arabicPeriod"/>
            </a:pPr>
            <a:r>
              <a:rPr lang="en-US" altLang="en-US" sz="2800"/>
              <a:t>Construct Context Level DFD</a:t>
            </a:r>
            <a:br>
              <a:rPr lang="en-US" altLang="en-US" sz="2800"/>
            </a:br>
            <a:r>
              <a:rPr lang="en-US" altLang="en-US" sz="2800"/>
              <a:t>(identifies external entities and processes)</a:t>
            </a:r>
          </a:p>
          <a:p>
            <a:pPr eaLnBrk="1" hangingPunct="1">
              <a:spcBef>
                <a:spcPct val="50000"/>
              </a:spcBef>
              <a:buFontTx/>
              <a:buAutoNum type="arabicPeriod"/>
            </a:pPr>
            <a:r>
              <a:rPr lang="en-US" altLang="en-US" sz="2800"/>
              <a:t>Construct Level 0 DFD </a:t>
            </a:r>
            <a:br>
              <a:rPr lang="en-US" altLang="en-US" sz="2800"/>
            </a:br>
            <a:r>
              <a:rPr lang="en-US" altLang="en-US" sz="2800"/>
              <a:t>(identifies manageable sub process )</a:t>
            </a:r>
          </a:p>
          <a:p>
            <a:pPr eaLnBrk="1" hangingPunct="1">
              <a:spcBef>
                <a:spcPct val="50000"/>
              </a:spcBef>
              <a:buFontTx/>
              <a:buAutoNum type="arabicPeriod"/>
            </a:pPr>
            <a:r>
              <a:rPr lang="en-US" altLang="en-US" sz="2800"/>
              <a:t>Construct Level 1- n DFD </a:t>
            </a:r>
            <a:br>
              <a:rPr lang="en-US" altLang="en-US" sz="2800"/>
            </a:br>
            <a:r>
              <a:rPr lang="en-US" altLang="en-US" sz="2800"/>
              <a:t>(identifies actual data flows and data stores )</a:t>
            </a:r>
          </a:p>
          <a:p>
            <a:pPr eaLnBrk="1" hangingPunct="1">
              <a:spcBef>
                <a:spcPct val="50000"/>
              </a:spcBef>
              <a:buFontTx/>
              <a:buAutoNum type="arabicPeriod"/>
            </a:pPr>
            <a:r>
              <a:rPr lang="en-US" altLang="en-US" sz="2800"/>
              <a:t>Check against rules of DFD</a:t>
            </a:r>
          </a:p>
        </p:txBody>
      </p:sp>
    </p:spTree>
    <p:extLst>
      <p:ext uri="{BB962C8B-B14F-4D97-AF65-F5344CB8AC3E}">
        <p14:creationId xmlns:p14="http://schemas.microsoft.com/office/powerpoint/2010/main" val="4034930969"/>
      </p:ext>
    </p:extLst>
  </p:cSld>
  <p:clrMapOvr>
    <a:masterClrMapping/>
  </p:clrMapOvr>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303463" y="274638"/>
            <a:ext cx="6858000" cy="1143000"/>
          </a:xfrm>
          <a:noFill/>
        </p:spPr>
        <p:txBody>
          <a:bodyPr vert="horz" lIns="92075" tIns="46038" rIns="92075" bIns="46038" rtlCol="0" anchor="ctr">
            <a:normAutofit/>
          </a:bodyPr>
          <a:lstStyle/>
          <a:p>
            <a:pPr eaLnBrk="1" hangingPunct="1"/>
            <a:r>
              <a:rPr lang="en-US" altLang="en-US" sz="3600"/>
              <a:t>DFD Naming Guidelines</a:t>
            </a:r>
          </a:p>
        </p:txBody>
      </p:sp>
      <p:sp>
        <p:nvSpPr>
          <p:cNvPr id="20483" name="Rectangle 3"/>
          <p:cNvSpPr>
            <a:spLocks noGrp="1" noChangeArrowheads="1"/>
          </p:cNvSpPr>
          <p:nvPr>
            <p:ph type="body" idx="1"/>
          </p:nvPr>
        </p:nvSpPr>
        <p:spPr>
          <a:xfrm>
            <a:off x="2451101" y="1752601"/>
            <a:ext cx="6975475" cy="4373563"/>
          </a:xfrm>
          <a:noFill/>
        </p:spPr>
        <p:txBody>
          <a:bodyPr vert="horz" lIns="92075" tIns="46038" rIns="92075" bIns="46038" rtlCol="0">
            <a:normAutofit/>
          </a:bodyPr>
          <a:lstStyle/>
          <a:p>
            <a:pPr eaLnBrk="1" hangingPunct="1">
              <a:lnSpc>
                <a:spcPct val="120000"/>
              </a:lnSpc>
            </a:pPr>
            <a:r>
              <a:rPr lang="en-US" altLang="en-US"/>
              <a:t>External Entity  </a:t>
            </a:r>
            <a:r>
              <a:rPr lang="en-US" altLang="en-US">
                <a:sym typeface="Wingdings" panose="05000000000000000000" pitchFamily="2" charset="2"/>
              </a:rPr>
              <a:t></a:t>
            </a:r>
            <a:r>
              <a:rPr lang="en-US" altLang="en-US"/>
              <a:t> Noun</a:t>
            </a:r>
          </a:p>
          <a:p>
            <a:pPr eaLnBrk="1" hangingPunct="1">
              <a:lnSpc>
                <a:spcPct val="120000"/>
              </a:lnSpc>
            </a:pPr>
            <a:r>
              <a:rPr lang="en-US" altLang="en-US"/>
              <a:t>Data Flow  </a:t>
            </a:r>
            <a:r>
              <a:rPr lang="en-US" altLang="en-US">
                <a:sym typeface="Wingdings" panose="05000000000000000000" pitchFamily="2" charset="2"/>
              </a:rPr>
              <a:t></a:t>
            </a:r>
            <a:r>
              <a:rPr lang="en-US" altLang="en-US"/>
              <a:t> Names of data</a:t>
            </a:r>
          </a:p>
          <a:p>
            <a:pPr eaLnBrk="1" hangingPunct="1">
              <a:lnSpc>
                <a:spcPct val="120000"/>
              </a:lnSpc>
            </a:pPr>
            <a:r>
              <a:rPr lang="en-US" altLang="en-US"/>
              <a:t>Process </a:t>
            </a:r>
            <a:r>
              <a:rPr lang="en-US" altLang="en-US">
                <a:sym typeface="Wingdings" panose="05000000000000000000" pitchFamily="2" charset="2"/>
              </a:rPr>
              <a:t> verb phrase</a:t>
            </a:r>
            <a:endParaRPr lang="en-US" altLang="en-US"/>
          </a:p>
          <a:p>
            <a:pPr lvl="1" eaLnBrk="1" hangingPunct="1">
              <a:lnSpc>
                <a:spcPct val="120000"/>
              </a:lnSpc>
            </a:pPr>
            <a:r>
              <a:rPr lang="en-US" altLang="en-US"/>
              <a:t>a system name</a:t>
            </a:r>
          </a:p>
          <a:p>
            <a:pPr lvl="1" eaLnBrk="1" hangingPunct="1">
              <a:lnSpc>
                <a:spcPct val="120000"/>
              </a:lnSpc>
            </a:pPr>
            <a:r>
              <a:rPr lang="en-US" altLang="en-US"/>
              <a:t>a subsystem name</a:t>
            </a:r>
          </a:p>
          <a:p>
            <a:pPr eaLnBrk="1" hangingPunct="1">
              <a:lnSpc>
                <a:spcPct val="120000"/>
              </a:lnSpc>
            </a:pPr>
            <a:r>
              <a:rPr lang="en-US" altLang="en-US"/>
              <a:t>Data Store  </a:t>
            </a:r>
            <a:r>
              <a:rPr lang="en-US" altLang="en-US">
                <a:sym typeface="Wingdings" panose="05000000000000000000" pitchFamily="2" charset="2"/>
              </a:rPr>
              <a:t></a:t>
            </a:r>
            <a:r>
              <a:rPr lang="en-US" altLang="en-US"/>
              <a:t> Noun</a:t>
            </a:r>
          </a:p>
        </p:txBody>
      </p:sp>
    </p:spTree>
    <p:extLst>
      <p:ext uri="{BB962C8B-B14F-4D97-AF65-F5344CB8AC3E}">
        <p14:creationId xmlns:p14="http://schemas.microsoft.com/office/powerpoint/2010/main" val="3807093316"/>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j0297517"/>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1739901" y="2882900"/>
            <a:ext cx="251142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Text Box 3"/>
          <p:cNvSpPr txBox="1">
            <a:spLocks noChangeArrowheads="1"/>
          </p:cNvSpPr>
          <p:nvPr/>
        </p:nvSpPr>
        <p:spPr bwMode="auto">
          <a:xfrm>
            <a:off x="1524000" y="1371601"/>
            <a:ext cx="91440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600"/>
              <a:t>Creating Data Flow Diagrams</a:t>
            </a:r>
          </a:p>
          <a:p>
            <a:pPr algn="ctr" eaLnBrk="1" hangingPunct="1">
              <a:spcBef>
                <a:spcPct val="50000"/>
              </a:spcBef>
            </a:pPr>
            <a:r>
              <a:rPr lang="en-US" altLang="en-US" sz="3600"/>
              <a:t>Lemonade Stand Example</a:t>
            </a:r>
            <a:endParaRPr lang="en-US" altLang="en-US"/>
          </a:p>
        </p:txBody>
      </p:sp>
    </p:spTree>
    <p:extLst>
      <p:ext uri="{BB962C8B-B14F-4D97-AF65-F5344CB8AC3E}">
        <p14:creationId xmlns:p14="http://schemas.microsoft.com/office/powerpoint/2010/main" val="3197582697"/>
      </p:ext>
    </p:extLst>
  </p:cSld>
  <p:clrMapOvr>
    <a:masterClrMapping/>
  </p:clrMapOvr>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152400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600"/>
              <a:t>Creating Data Flow Diagrams</a:t>
            </a:r>
            <a:endParaRPr lang="en-US" altLang="en-US"/>
          </a:p>
        </p:txBody>
      </p:sp>
      <p:sp>
        <p:nvSpPr>
          <p:cNvPr id="22531" name="Text Box 3"/>
          <p:cNvSpPr txBox="1">
            <a:spLocks noChangeArrowheads="1"/>
          </p:cNvSpPr>
          <p:nvPr/>
        </p:nvSpPr>
        <p:spPr bwMode="auto">
          <a:xfrm>
            <a:off x="4876800" y="914400"/>
            <a:ext cx="579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a:t>Steps:</a:t>
            </a:r>
          </a:p>
        </p:txBody>
      </p:sp>
      <p:sp>
        <p:nvSpPr>
          <p:cNvPr id="22532" name="Line 4"/>
          <p:cNvSpPr>
            <a:spLocks noChangeShapeType="1"/>
          </p:cNvSpPr>
          <p:nvPr/>
        </p:nvSpPr>
        <p:spPr bwMode="auto">
          <a:xfrm flipV="1">
            <a:off x="4876800" y="1219200"/>
            <a:ext cx="0" cy="541020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22533" name="Text Box 5"/>
          <p:cNvSpPr txBox="1">
            <a:spLocks noChangeArrowheads="1"/>
          </p:cNvSpPr>
          <p:nvPr/>
        </p:nvSpPr>
        <p:spPr bwMode="auto">
          <a:xfrm>
            <a:off x="4953000" y="1447800"/>
            <a:ext cx="57150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rabicPeriod"/>
            </a:pPr>
            <a:r>
              <a:rPr lang="en-US" altLang="en-US" sz="2000"/>
              <a:t>Create a list of activities</a:t>
            </a:r>
            <a:endParaRPr lang="en-US" altLang="ko-KR" sz="2000">
              <a:ea typeface="굴림" pitchFamily="34" charset="-127"/>
            </a:endParaRPr>
          </a:p>
          <a:p>
            <a:pPr lvl="1" eaLnBrk="1" hangingPunct="1">
              <a:spcBef>
                <a:spcPct val="50000"/>
              </a:spcBef>
              <a:buFontTx/>
              <a:buChar char="•"/>
            </a:pPr>
            <a:r>
              <a:rPr lang="en-US" altLang="ko-KR" sz="2000">
                <a:ea typeface="굴림" pitchFamily="34" charset="-127"/>
              </a:rPr>
              <a:t>New way: use Use-Case Diagram</a:t>
            </a:r>
            <a:endParaRPr lang="en-US" altLang="en-US" sz="2000"/>
          </a:p>
          <a:p>
            <a:pPr eaLnBrk="1" hangingPunct="1">
              <a:spcBef>
                <a:spcPct val="50000"/>
              </a:spcBef>
              <a:buFontTx/>
              <a:buAutoNum type="arabicPeriod"/>
            </a:pPr>
            <a:r>
              <a:rPr lang="en-US" altLang="en-US" sz="2000"/>
              <a:t>Construct Context Level DFD</a:t>
            </a:r>
            <a:br>
              <a:rPr lang="en-US" altLang="en-US" sz="2000"/>
            </a:br>
            <a:r>
              <a:rPr lang="en-US" altLang="en-US" sz="2000"/>
              <a:t>(identifies sources and sink)</a:t>
            </a:r>
          </a:p>
          <a:p>
            <a:pPr eaLnBrk="1" hangingPunct="1">
              <a:spcBef>
                <a:spcPct val="50000"/>
              </a:spcBef>
              <a:buFontTx/>
              <a:buAutoNum type="arabicPeriod"/>
            </a:pPr>
            <a:r>
              <a:rPr lang="en-US" altLang="en-US" sz="2000"/>
              <a:t>Construct Level 0 DFD </a:t>
            </a:r>
            <a:br>
              <a:rPr lang="en-US" altLang="en-US" sz="2000"/>
            </a:br>
            <a:r>
              <a:rPr lang="en-US" altLang="en-US" sz="2000"/>
              <a:t>(identifies manageable sub processes )</a:t>
            </a:r>
          </a:p>
          <a:p>
            <a:pPr eaLnBrk="1" hangingPunct="1">
              <a:spcBef>
                <a:spcPct val="50000"/>
              </a:spcBef>
              <a:buFontTx/>
              <a:buAutoNum type="arabicPeriod"/>
            </a:pPr>
            <a:r>
              <a:rPr lang="en-US" altLang="en-US" sz="2000"/>
              <a:t>Construct Level 1- n DFD </a:t>
            </a:r>
            <a:br>
              <a:rPr lang="en-US" altLang="en-US" sz="2000"/>
            </a:br>
            <a:r>
              <a:rPr lang="en-US" altLang="en-US" sz="2000"/>
              <a:t>(identifies actual data flows and data stores )</a:t>
            </a:r>
          </a:p>
        </p:txBody>
      </p:sp>
      <p:sp>
        <p:nvSpPr>
          <p:cNvPr id="22534" name="Text Box 6"/>
          <p:cNvSpPr txBox="1">
            <a:spLocks noChangeArrowheads="1"/>
          </p:cNvSpPr>
          <p:nvPr/>
        </p:nvSpPr>
        <p:spPr bwMode="auto">
          <a:xfrm>
            <a:off x="1524000" y="914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rgbClr val="00CC00"/>
                </a:solidFill>
              </a:rPr>
              <a:t>Example</a:t>
            </a:r>
          </a:p>
        </p:txBody>
      </p:sp>
      <p:pic>
        <p:nvPicPr>
          <p:cNvPr id="22535" name="Picture 7" descr="j0297517"/>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1739901" y="2882900"/>
            <a:ext cx="251142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6" name="Text Box 8"/>
          <p:cNvSpPr txBox="1">
            <a:spLocks noChangeArrowheads="1"/>
          </p:cNvSpPr>
          <p:nvPr/>
        </p:nvSpPr>
        <p:spPr bwMode="auto">
          <a:xfrm>
            <a:off x="1752600" y="1447801"/>
            <a:ext cx="31242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The operations of a simple lemonade stand will be used to demonstrate the creation of dataflow diagrams.</a:t>
            </a:r>
          </a:p>
        </p:txBody>
      </p:sp>
    </p:spTree>
    <p:extLst>
      <p:ext uri="{BB962C8B-B14F-4D97-AF65-F5344CB8AC3E}">
        <p14:creationId xmlns:p14="http://schemas.microsoft.com/office/powerpoint/2010/main" val="4290638701"/>
      </p:ext>
    </p:extLst>
  </p:cSld>
  <p:clrMapOvr>
    <a:masterClrMapping/>
  </p:clrMapOvr>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152400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600"/>
              <a:t>Creating Data Flow Diagrams</a:t>
            </a:r>
            <a:endParaRPr lang="en-US" altLang="en-US"/>
          </a:p>
        </p:txBody>
      </p:sp>
      <p:sp>
        <p:nvSpPr>
          <p:cNvPr id="23555" name="Line 3"/>
          <p:cNvSpPr>
            <a:spLocks noChangeShapeType="1"/>
          </p:cNvSpPr>
          <p:nvPr/>
        </p:nvSpPr>
        <p:spPr bwMode="auto">
          <a:xfrm flipV="1">
            <a:off x="4876800" y="1219200"/>
            <a:ext cx="0" cy="541020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23556" name="Text Box 4"/>
          <p:cNvSpPr txBox="1">
            <a:spLocks noChangeArrowheads="1"/>
          </p:cNvSpPr>
          <p:nvPr/>
        </p:nvSpPr>
        <p:spPr bwMode="auto">
          <a:xfrm>
            <a:off x="4953000" y="914401"/>
            <a:ext cx="571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rabicPeriod"/>
            </a:pPr>
            <a:r>
              <a:rPr lang="en-US" altLang="en-US" sz="2000"/>
              <a:t>Create a list of activities</a:t>
            </a:r>
          </a:p>
        </p:txBody>
      </p:sp>
      <p:sp>
        <p:nvSpPr>
          <p:cNvPr id="23557" name="Text Box 5"/>
          <p:cNvSpPr txBox="1">
            <a:spLocks noChangeArrowheads="1"/>
          </p:cNvSpPr>
          <p:nvPr/>
        </p:nvSpPr>
        <p:spPr bwMode="auto">
          <a:xfrm>
            <a:off x="1524000" y="914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rgbClr val="00CC00"/>
                </a:solidFill>
              </a:rPr>
              <a:t>Example</a:t>
            </a:r>
          </a:p>
        </p:txBody>
      </p:sp>
      <p:pic>
        <p:nvPicPr>
          <p:cNvPr id="23558" name="Picture 6" descr="j0297517"/>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1739901" y="2882900"/>
            <a:ext cx="251142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9" name="Text Box 7"/>
          <p:cNvSpPr txBox="1">
            <a:spLocks noChangeArrowheads="1"/>
          </p:cNvSpPr>
          <p:nvPr/>
        </p:nvSpPr>
        <p:spPr bwMode="auto">
          <a:xfrm>
            <a:off x="1752600" y="1447801"/>
            <a:ext cx="3124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Think through the activities that take place at a lemonade stand.</a:t>
            </a:r>
          </a:p>
        </p:txBody>
      </p:sp>
      <p:sp>
        <p:nvSpPr>
          <p:cNvPr id="23560" name="Text Box 8"/>
          <p:cNvSpPr txBox="1">
            <a:spLocks noChangeArrowheads="1"/>
          </p:cNvSpPr>
          <p:nvPr/>
        </p:nvSpPr>
        <p:spPr bwMode="auto">
          <a:xfrm>
            <a:off x="5486400" y="2514600"/>
            <a:ext cx="35814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t>Customer Order</a:t>
            </a:r>
          </a:p>
          <a:p>
            <a:pPr eaLnBrk="1" hangingPunct="1"/>
            <a:r>
              <a:rPr lang="en-US" altLang="en-US" sz="2000"/>
              <a:t>Produce Product</a:t>
            </a:r>
          </a:p>
          <a:p>
            <a:pPr eaLnBrk="1" hangingPunct="1"/>
            <a:r>
              <a:rPr lang="en-US" altLang="en-US" sz="2000"/>
              <a:t>Serve Product</a:t>
            </a:r>
          </a:p>
          <a:p>
            <a:pPr eaLnBrk="1" hangingPunct="1"/>
            <a:r>
              <a:rPr lang="en-US" altLang="en-US" sz="2000"/>
              <a:t>Collect Payment</a:t>
            </a:r>
          </a:p>
          <a:p>
            <a:pPr eaLnBrk="1" hangingPunct="1"/>
            <a:r>
              <a:rPr lang="en-US" altLang="en-US" sz="2000"/>
              <a:t>Store Product</a:t>
            </a:r>
          </a:p>
          <a:p>
            <a:pPr eaLnBrk="1" hangingPunct="1"/>
            <a:endParaRPr lang="en-US" altLang="en-US" sz="2000"/>
          </a:p>
        </p:txBody>
      </p:sp>
    </p:spTree>
    <p:extLst>
      <p:ext uri="{BB962C8B-B14F-4D97-AF65-F5344CB8AC3E}">
        <p14:creationId xmlns:p14="http://schemas.microsoft.com/office/powerpoint/2010/main" val="257395033"/>
      </p:ext>
    </p:extLst>
  </p:cSld>
  <p:clrMapOvr>
    <a:masterClrMapping/>
  </p:clrMapOvr>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152400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600"/>
              <a:t>Creating Data Flow Diagrams</a:t>
            </a:r>
            <a:endParaRPr lang="en-US" altLang="en-US"/>
          </a:p>
        </p:txBody>
      </p:sp>
      <p:sp>
        <p:nvSpPr>
          <p:cNvPr id="24579" name="Line 3"/>
          <p:cNvSpPr>
            <a:spLocks noChangeShapeType="1"/>
          </p:cNvSpPr>
          <p:nvPr/>
        </p:nvSpPr>
        <p:spPr bwMode="auto">
          <a:xfrm flipV="1">
            <a:off x="4876800" y="1219200"/>
            <a:ext cx="0" cy="541020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24580" name="Text Box 4"/>
          <p:cNvSpPr txBox="1">
            <a:spLocks noChangeArrowheads="1"/>
          </p:cNvSpPr>
          <p:nvPr/>
        </p:nvSpPr>
        <p:spPr bwMode="auto">
          <a:xfrm>
            <a:off x="1524000" y="914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rgbClr val="00CC00"/>
                </a:solidFill>
              </a:rPr>
              <a:t>Example</a:t>
            </a:r>
          </a:p>
        </p:txBody>
      </p:sp>
      <p:pic>
        <p:nvPicPr>
          <p:cNvPr id="24581" name="Picture 5" descr="j0297517"/>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1739901" y="2882900"/>
            <a:ext cx="251142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Text Box 6"/>
          <p:cNvSpPr txBox="1">
            <a:spLocks noChangeArrowheads="1"/>
          </p:cNvSpPr>
          <p:nvPr/>
        </p:nvSpPr>
        <p:spPr bwMode="auto">
          <a:xfrm>
            <a:off x="1752600" y="1447801"/>
            <a:ext cx="3124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Also think of the additional activities needed to support the basic activities.</a:t>
            </a:r>
          </a:p>
        </p:txBody>
      </p:sp>
      <p:sp>
        <p:nvSpPr>
          <p:cNvPr id="24583" name="Text Box 7"/>
          <p:cNvSpPr txBox="1">
            <a:spLocks noChangeArrowheads="1"/>
          </p:cNvSpPr>
          <p:nvPr/>
        </p:nvSpPr>
        <p:spPr bwMode="auto">
          <a:xfrm>
            <a:off x="5486400" y="2514600"/>
            <a:ext cx="35814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t>Customer Order</a:t>
            </a:r>
          </a:p>
          <a:p>
            <a:pPr eaLnBrk="1" hangingPunct="1"/>
            <a:r>
              <a:rPr lang="en-US" altLang="en-US" sz="2000"/>
              <a:t>Produce Product</a:t>
            </a:r>
          </a:p>
          <a:p>
            <a:pPr eaLnBrk="1" hangingPunct="1"/>
            <a:r>
              <a:rPr lang="en-US" altLang="en-US" sz="2000"/>
              <a:t>Serve Product</a:t>
            </a:r>
          </a:p>
          <a:p>
            <a:pPr eaLnBrk="1" hangingPunct="1"/>
            <a:r>
              <a:rPr lang="en-US" altLang="en-US" sz="2000"/>
              <a:t>Collect Payment</a:t>
            </a:r>
          </a:p>
          <a:p>
            <a:pPr eaLnBrk="1" hangingPunct="1"/>
            <a:r>
              <a:rPr lang="en-US" altLang="en-US" sz="2000"/>
              <a:t>Store Product</a:t>
            </a:r>
          </a:p>
          <a:p>
            <a:pPr eaLnBrk="1" hangingPunct="1"/>
            <a:endParaRPr lang="en-US" altLang="en-US" sz="2000"/>
          </a:p>
          <a:p>
            <a:pPr eaLnBrk="1" hangingPunct="1"/>
            <a:r>
              <a:rPr lang="en-US" altLang="en-US" sz="2000"/>
              <a:t>Order Raw Materials</a:t>
            </a:r>
          </a:p>
          <a:p>
            <a:pPr eaLnBrk="1" hangingPunct="1"/>
            <a:r>
              <a:rPr lang="en-US" altLang="en-US" sz="2000"/>
              <a:t>Pay for Raw Materials</a:t>
            </a:r>
          </a:p>
          <a:p>
            <a:pPr eaLnBrk="1" hangingPunct="1"/>
            <a:r>
              <a:rPr lang="en-US" altLang="en-US" sz="2000"/>
              <a:t>Pay for Labor</a:t>
            </a:r>
          </a:p>
          <a:p>
            <a:pPr eaLnBrk="1" hangingPunct="1"/>
            <a:endParaRPr lang="en-US" altLang="en-US" sz="2000"/>
          </a:p>
        </p:txBody>
      </p:sp>
      <p:sp>
        <p:nvSpPr>
          <p:cNvPr id="24584" name="Text Box 8"/>
          <p:cNvSpPr txBox="1">
            <a:spLocks noChangeArrowheads="1"/>
          </p:cNvSpPr>
          <p:nvPr/>
        </p:nvSpPr>
        <p:spPr bwMode="auto">
          <a:xfrm>
            <a:off x="4953000" y="914401"/>
            <a:ext cx="571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rabicPeriod"/>
            </a:pPr>
            <a:r>
              <a:rPr lang="en-US" altLang="en-US" sz="2000"/>
              <a:t>Create a list of activities</a:t>
            </a:r>
          </a:p>
        </p:txBody>
      </p:sp>
    </p:spTree>
    <p:extLst>
      <p:ext uri="{BB962C8B-B14F-4D97-AF65-F5344CB8AC3E}">
        <p14:creationId xmlns:p14="http://schemas.microsoft.com/office/powerpoint/2010/main" val="1922308983"/>
      </p:ext>
    </p:extLst>
  </p:cSld>
  <p:clrMapOvr>
    <a:masterClrMapping/>
  </p:clrMapOvr>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152400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600"/>
              <a:t>Creating Data Flow Diagrams</a:t>
            </a:r>
            <a:endParaRPr lang="en-US" altLang="en-US"/>
          </a:p>
        </p:txBody>
      </p:sp>
      <p:sp>
        <p:nvSpPr>
          <p:cNvPr id="25603" name="Line 3"/>
          <p:cNvSpPr>
            <a:spLocks noChangeShapeType="1"/>
          </p:cNvSpPr>
          <p:nvPr/>
        </p:nvSpPr>
        <p:spPr bwMode="auto">
          <a:xfrm flipV="1">
            <a:off x="4876800" y="1219200"/>
            <a:ext cx="0" cy="541020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25604" name="Text Box 4"/>
          <p:cNvSpPr txBox="1">
            <a:spLocks noChangeArrowheads="1"/>
          </p:cNvSpPr>
          <p:nvPr/>
        </p:nvSpPr>
        <p:spPr bwMode="auto">
          <a:xfrm>
            <a:off x="1524000" y="914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rgbClr val="00CC00"/>
                </a:solidFill>
              </a:rPr>
              <a:t>Example</a:t>
            </a:r>
          </a:p>
        </p:txBody>
      </p:sp>
      <p:pic>
        <p:nvPicPr>
          <p:cNvPr id="25605" name="Picture 5" descr="j0297517"/>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1739901" y="2882900"/>
            <a:ext cx="251142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Text Box 6"/>
          <p:cNvSpPr txBox="1">
            <a:spLocks noChangeArrowheads="1"/>
          </p:cNvSpPr>
          <p:nvPr/>
        </p:nvSpPr>
        <p:spPr bwMode="auto">
          <a:xfrm>
            <a:off x="1752600" y="1447801"/>
            <a:ext cx="3124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Group these activities in some logical fashion, possibly functional areas.</a:t>
            </a:r>
          </a:p>
        </p:txBody>
      </p:sp>
      <p:sp>
        <p:nvSpPr>
          <p:cNvPr id="25607" name="Text Box 7"/>
          <p:cNvSpPr txBox="1">
            <a:spLocks noChangeArrowheads="1"/>
          </p:cNvSpPr>
          <p:nvPr/>
        </p:nvSpPr>
        <p:spPr bwMode="auto">
          <a:xfrm>
            <a:off x="5486400" y="2514601"/>
            <a:ext cx="35814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t>Customer Order</a:t>
            </a:r>
          </a:p>
          <a:p>
            <a:pPr eaLnBrk="1" hangingPunct="1"/>
            <a:r>
              <a:rPr lang="en-US" altLang="en-US" sz="2000"/>
              <a:t>Serve Product</a:t>
            </a:r>
          </a:p>
          <a:p>
            <a:pPr eaLnBrk="1" hangingPunct="1"/>
            <a:r>
              <a:rPr lang="en-US" altLang="en-US" sz="2000"/>
              <a:t>Collect Payment</a:t>
            </a:r>
          </a:p>
          <a:p>
            <a:pPr eaLnBrk="1" hangingPunct="1"/>
            <a:endParaRPr lang="en-US" altLang="en-US" sz="2000"/>
          </a:p>
          <a:p>
            <a:pPr eaLnBrk="1" hangingPunct="1"/>
            <a:r>
              <a:rPr lang="en-US" altLang="en-US" sz="2000"/>
              <a:t>Produce Product</a:t>
            </a:r>
          </a:p>
          <a:p>
            <a:pPr eaLnBrk="1" hangingPunct="1"/>
            <a:r>
              <a:rPr lang="en-US" altLang="en-US" sz="2000"/>
              <a:t>Store Product</a:t>
            </a:r>
          </a:p>
          <a:p>
            <a:pPr eaLnBrk="1" hangingPunct="1"/>
            <a:endParaRPr lang="en-US" altLang="en-US" sz="2000"/>
          </a:p>
          <a:p>
            <a:pPr eaLnBrk="1" hangingPunct="1"/>
            <a:r>
              <a:rPr lang="en-US" altLang="en-US" sz="2000"/>
              <a:t>Order Raw Materials</a:t>
            </a:r>
          </a:p>
          <a:p>
            <a:pPr eaLnBrk="1" hangingPunct="1"/>
            <a:r>
              <a:rPr lang="en-US" altLang="en-US" sz="2000"/>
              <a:t>Pay for Raw Materials</a:t>
            </a:r>
          </a:p>
          <a:p>
            <a:pPr eaLnBrk="1" hangingPunct="1"/>
            <a:endParaRPr lang="en-US" altLang="en-US" sz="2000"/>
          </a:p>
          <a:p>
            <a:pPr eaLnBrk="1" hangingPunct="1"/>
            <a:r>
              <a:rPr lang="en-US" altLang="en-US" sz="2000"/>
              <a:t>Pay for Labor</a:t>
            </a:r>
          </a:p>
          <a:p>
            <a:pPr eaLnBrk="1" hangingPunct="1"/>
            <a:endParaRPr lang="en-US" altLang="en-US" sz="2000"/>
          </a:p>
        </p:txBody>
      </p:sp>
      <p:sp>
        <p:nvSpPr>
          <p:cNvPr id="25608" name="Text Box 8"/>
          <p:cNvSpPr txBox="1">
            <a:spLocks noChangeArrowheads="1"/>
          </p:cNvSpPr>
          <p:nvPr/>
        </p:nvSpPr>
        <p:spPr bwMode="auto">
          <a:xfrm>
            <a:off x="4953000" y="914401"/>
            <a:ext cx="571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rabicPeriod"/>
            </a:pPr>
            <a:r>
              <a:rPr lang="en-US" altLang="en-US" sz="2000"/>
              <a:t>Create a list of activities</a:t>
            </a:r>
          </a:p>
        </p:txBody>
      </p:sp>
    </p:spTree>
    <p:extLst>
      <p:ext uri="{BB962C8B-B14F-4D97-AF65-F5344CB8AC3E}">
        <p14:creationId xmlns:p14="http://schemas.microsoft.com/office/powerpoint/2010/main" val="3205389297"/>
      </p:ext>
    </p:extLst>
  </p:cSld>
  <p:clrMapOvr>
    <a:masterClrMapping/>
  </p:clrMapOvr>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362200" y="609600"/>
          <a:ext cx="6858000" cy="5562597"/>
        </p:xfrm>
        <a:graphic>
          <a:graphicData uri="http://schemas.openxmlformats.org/drawingml/2006/table">
            <a:tbl>
              <a:tblPr/>
              <a:tblGrid>
                <a:gridCol w="4177649">
                  <a:extLst>
                    <a:ext uri="{9D8B030D-6E8A-4147-A177-3AD203B41FA5}">
                      <a16:colId xmlns:a16="http://schemas.microsoft.com/office/drawing/2014/main" val="20000"/>
                    </a:ext>
                  </a:extLst>
                </a:gridCol>
                <a:gridCol w="2680351">
                  <a:extLst>
                    <a:ext uri="{9D8B030D-6E8A-4147-A177-3AD203B41FA5}">
                      <a16:colId xmlns:a16="http://schemas.microsoft.com/office/drawing/2014/main" val="20001"/>
                    </a:ext>
                  </a:extLst>
                </a:gridCol>
              </a:tblGrid>
              <a:tr h="427892">
                <a:tc>
                  <a:txBody>
                    <a:bodyPr/>
                    <a:lstStyle/>
                    <a:p>
                      <a:pPr marL="0" marR="0" algn="ctr">
                        <a:spcBef>
                          <a:spcPts val="0"/>
                        </a:spcBef>
                        <a:spcAft>
                          <a:spcPts val="0"/>
                        </a:spcAft>
                      </a:pPr>
                      <a:endParaRPr lang="en-US" sz="2400" spc="50" dirty="0">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spc="50">
                          <a:latin typeface="Times New Roman"/>
                          <a:ea typeface="Calibri"/>
                        </a:rPr>
                        <a:t>Process </a:t>
                      </a:r>
                      <a:endParaRPr lang="en-US" sz="240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7892">
                <a:tc>
                  <a:txBody>
                    <a:bodyPr/>
                    <a:lstStyle/>
                    <a:p>
                      <a:pPr marL="0" marR="0" algn="ctr">
                        <a:spcBef>
                          <a:spcPts val="0"/>
                        </a:spcBef>
                        <a:spcAft>
                          <a:spcPts val="0"/>
                        </a:spcAft>
                      </a:pPr>
                      <a:r>
                        <a:rPr lang="en-US" sz="2400" spc="50" dirty="0">
                          <a:latin typeface="Times New Roman"/>
                          <a:ea typeface="Calibri"/>
                        </a:rPr>
                        <a:t>Customer Order</a:t>
                      </a:r>
                      <a:endParaRPr lang="en-US" sz="2400" dirty="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marL="0" marR="0" algn="ctr">
                        <a:spcBef>
                          <a:spcPts val="0"/>
                        </a:spcBef>
                        <a:spcAft>
                          <a:spcPts val="0"/>
                        </a:spcAft>
                      </a:pPr>
                      <a:r>
                        <a:rPr lang="en-US" sz="2400" spc="50">
                          <a:latin typeface="Times New Roman"/>
                          <a:ea typeface="Calibri"/>
                        </a:rPr>
                        <a:t>Sale</a:t>
                      </a:r>
                      <a:endParaRPr lang="en-US" sz="240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7892">
                <a:tc>
                  <a:txBody>
                    <a:bodyPr/>
                    <a:lstStyle/>
                    <a:p>
                      <a:pPr marL="0" marR="0" algn="ctr">
                        <a:spcBef>
                          <a:spcPts val="0"/>
                        </a:spcBef>
                        <a:spcAft>
                          <a:spcPts val="0"/>
                        </a:spcAft>
                      </a:pPr>
                      <a:r>
                        <a:rPr lang="en-US" sz="2400" spc="50" dirty="0">
                          <a:latin typeface="Times New Roman"/>
                          <a:ea typeface="Calibri"/>
                        </a:rPr>
                        <a:t>Serve Product</a:t>
                      </a:r>
                      <a:endParaRPr lang="en-US" sz="2400" dirty="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2"/>
                  </a:ext>
                </a:extLst>
              </a:tr>
              <a:tr h="427892">
                <a:tc>
                  <a:txBody>
                    <a:bodyPr/>
                    <a:lstStyle/>
                    <a:p>
                      <a:pPr marL="0" marR="0" algn="ctr">
                        <a:spcBef>
                          <a:spcPts val="0"/>
                        </a:spcBef>
                        <a:spcAft>
                          <a:spcPts val="0"/>
                        </a:spcAft>
                      </a:pPr>
                      <a:r>
                        <a:rPr lang="en-US" sz="2400" spc="50" dirty="0">
                          <a:latin typeface="Times New Roman"/>
                          <a:ea typeface="Calibri"/>
                        </a:rPr>
                        <a:t>Collect Payment</a:t>
                      </a:r>
                      <a:endParaRPr lang="en-US" sz="2400" dirty="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3"/>
                  </a:ext>
                </a:extLst>
              </a:tr>
              <a:tr h="427892">
                <a:tc>
                  <a:txBody>
                    <a:bodyPr/>
                    <a:lstStyle/>
                    <a:p>
                      <a:pPr marL="0" marR="0" algn="ctr">
                        <a:spcBef>
                          <a:spcPts val="0"/>
                        </a:spcBef>
                        <a:spcAft>
                          <a:spcPts val="0"/>
                        </a:spcAft>
                      </a:pPr>
                      <a:endParaRPr lang="en-US" sz="2400" spc="50" dirty="0">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marL="457200" marR="0" algn="ctr">
                        <a:spcBef>
                          <a:spcPts val="0"/>
                        </a:spcBef>
                        <a:spcAft>
                          <a:spcPts val="0"/>
                        </a:spcAft>
                      </a:pPr>
                      <a:endParaRPr lang="en-US" sz="2400" spc="50">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extLst>
                  <a:ext uri="{0D108BD9-81ED-4DB2-BD59-A6C34878D82A}">
                    <a16:rowId xmlns:a16="http://schemas.microsoft.com/office/drawing/2014/main" val="10004"/>
                  </a:ext>
                </a:extLst>
              </a:tr>
              <a:tr h="855785">
                <a:tc>
                  <a:txBody>
                    <a:bodyPr/>
                    <a:lstStyle/>
                    <a:p>
                      <a:pPr marL="0" marR="0" algn="ctr">
                        <a:spcBef>
                          <a:spcPts val="0"/>
                        </a:spcBef>
                        <a:spcAft>
                          <a:spcPts val="0"/>
                        </a:spcAft>
                      </a:pPr>
                      <a:r>
                        <a:rPr lang="en-US" sz="2400" spc="50" dirty="0">
                          <a:solidFill>
                            <a:srgbClr val="FF0000"/>
                          </a:solidFill>
                          <a:latin typeface="Times New Roman"/>
                          <a:ea typeface="Calibri"/>
                        </a:rPr>
                        <a:t>Produce Product (product preparation)</a:t>
                      </a:r>
                      <a:endParaRPr lang="en-US" sz="2400" dirty="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ctr">
                        <a:spcBef>
                          <a:spcPts val="0"/>
                        </a:spcBef>
                        <a:spcAft>
                          <a:spcPts val="0"/>
                        </a:spcAft>
                      </a:pPr>
                      <a:r>
                        <a:rPr lang="en-US" sz="2400" spc="50">
                          <a:latin typeface="Times New Roman"/>
                          <a:ea typeface="Calibri"/>
                        </a:rPr>
                        <a:t>Production</a:t>
                      </a:r>
                      <a:endParaRPr lang="en-US" sz="240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27892">
                <a:tc>
                  <a:txBody>
                    <a:bodyPr/>
                    <a:lstStyle/>
                    <a:p>
                      <a:pPr marL="0" marR="0" algn="ctr">
                        <a:spcBef>
                          <a:spcPts val="0"/>
                        </a:spcBef>
                        <a:spcAft>
                          <a:spcPts val="0"/>
                        </a:spcAft>
                      </a:pPr>
                      <a:r>
                        <a:rPr lang="en-US" sz="2400" spc="50" dirty="0">
                          <a:solidFill>
                            <a:srgbClr val="FF0000"/>
                          </a:solidFill>
                          <a:latin typeface="Times New Roman"/>
                          <a:ea typeface="Calibri"/>
                        </a:rPr>
                        <a:t>Store Product</a:t>
                      </a:r>
                      <a:endParaRPr lang="en-US" sz="2400" dirty="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6"/>
                  </a:ext>
                </a:extLst>
              </a:tr>
              <a:tr h="427892">
                <a:tc>
                  <a:txBody>
                    <a:bodyPr/>
                    <a:lstStyle/>
                    <a:p>
                      <a:pPr marL="0" marR="0" algn="ctr">
                        <a:spcBef>
                          <a:spcPts val="0"/>
                        </a:spcBef>
                        <a:spcAft>
                          <a:spcPts val="0"/>
                        </a:spcAft>
                      </a:pPr>
                      <a:endParaRPr lang="en-US" sz="2400" spc="50">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marL="0" marR="0" algn="ctr">
                        <a:spcBef>
                          <a:spcPts val="0"/>
                        </a:spcBef>
                        <a:spcAft>
                          <a:spcPts val="0"/>
                        </a:spcAft>
                      </a:pPr>
                      <a:endParaRPr lang="en-US" sz="2400" spc="50" dirty="0">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extLst>
                  <a:ext uri="{0D108BD9-81ED-4DB2-BD59-A6C34878D82A}">
                    <a16:rowId xmlns:a16="http://schemas.microsoft.com/office/drawing/2014/main" val="10007"/>
                  </a:ext>
                </a:extLst>
              </a:tr>
              <a:tr h="427892">
                <a:tc>
                  <a:txBody>
                    <a:bodyPr/>
                    <a:lstStyle/>
                    <a:p>
                      <a:pPr marL="0" marR="0" algn="ctr">
                        <a:spcBef>
                          <a:spcPts val="0"/>
                        </a:spcBef>
                        <a:spcAft>
                          <a:spcPts val="0"/>
                        </a:spcAft>
                      </a:pPr>
                      <a:r>
                        <a:rPr lang="en-US" sz="2400" spc="50">
                          <a:solidFill>
                            <a:srgbClr val="00B0F0"/>
                          </a:solidFill>
                          <a:latin typeface="Times New Roman"/>
                          <a:ea typeface="Calibri"/>
                        </a:rPr>
                        <a:t>Order Raw Materials</a:t>
                      </a:r>
                      <a:endParaRPr lang="en-US" sz="240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ctr">
                        <a:spcBef>
                          <a:spcPts val="0"/>
                        </a:spcBef>
                        <a:spcAft>
                          <a:spcPts val="0"/>
                        </a:spcAft>
                      </a:pPr>
                      <a:r>
                        <a:rPr lang="en-US" sz="2400" spc="50" dirty="0">
                          <a:latin typeface="Times New Roman"/>
                          <a:ea typeface="Calibri"/>
                        </a:rPr>
                        <a:t>Procurement</a:t>
                      </a:r>
                      <a:endParaRPr lang="en-US" sz="2400" dirty="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27892">
                <a:tc>
                  <a:txBody>
                    <a:bodyPr/>
                    <a:lstStyle/>
                    <a:p>
                      <a:pPr marL="0" marR="0" algn="ctr">
                        <a:spcBef>
                          <a:spcPts val="0"/>
                        </a:spcBef>
                        <a:spcAft>
                          <a:spcPts val="0"/>
                        </a:spcAft>
                      </a:pPr>
                      <a:r>
                        <a:rPr lang="en-US" sz="2400" spc="50" dirty="0">
                          <a:solidFill>
                            <a:srgbClr val="00B0F0"/>
                          </a:solidFill>
                          <a:latin typeface="Times New Roman"/>
                          <a:ea typeface="Calibri"/>
                        </a:rPr>
                        <a:t>Pay for Raw Materials</a:t>
                      </a:r>
                      <a:endParaRPr lang="en-US" sz="2400" dirty="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9"/>
                  </a:ext>
                </a:extLst>
              </a:tr>
              <a:tr h="427892">
                <a:tc>
                  <a:txBody>
                    <a:bodyPr/>
                    <a:lstStyle/>
                    <a:p>
                      <a:pPr marL="0" marR="0" algn="ctr">
                        <a:spcBef>
                          <a:spcPts val="0"/>
                        </a:spcBef>
                        <a:spcAft>
                          <a:spcPts val="0"/>
                        </a:spcAft>
                      </a:pPr>
                      <a:endParaRPr lang="en-US" sz="2400" spc="50">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marL="0" marR="0" algn="ctr">
                        <a:spcBef>
                          <a:spcPts val="0"/>
                        </a:spcBef>
                        <a:spcAft>
                          <a:spcPts val="0"/>
                        </a:spcAft>
                      </a:pPr>
                      <a:endParaRPr lang="en-US" sz="2400" spc="50" dirty="0">
                        <a:latin typeface="Times New Roman"/>
                        <a:ea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extLst>
                  <a:ext uri="{0D108BD9-81ED-4DB2-BD59-A6C34878D82A}">
                    <a16:rowId xmlns:a16="http://schemas.microsoft.com/office/drawing/2014/main" val="10010"/>
                  </a:ext>
                </a:extLst>
              </a:tr>
              <a:tr h="427892">
                <a:tc>
                  <a:txBody>
                    <a:bodyPr/>
                    <a:lstStyle/>
                    <a:p>
                      <a:pPr marL="0" marR="0" algn="ctr">
                        <a:spcBef>
                          <a:spcPts val="0"/>
                        </a:spcBef>
                        <a:spcAft>
                          <a:spcPts val="0"/>
                        </a:spcAft>
                      </a:pPr>
                      <a:r>
                        <a:rPr lang="en-US" sz="2400" spc="50">
                          <a:solidFill>
                            <a:srgbClr val="7030A0"/>
                          </a:solidFill>
                          <a:latin typeface="Times New Roman"/>
                          <a:ea typeface="Calibri"/>
                        </a:rPr>
                        <a:t>Pay for Labor</a:t>
                      </a:r>
                      <a:endParaRPr lang="en-US" sz="240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spc="50" dirty="0">
                          <a:latin typeface="Times New Roman"/>
                          <a:ea typeface="Calibri"/>
                        </a:rPr>
                        <a:t>payroll</a:t>
                      </a:r>
                      <a:endParaRPr lang="en-US" sz="2400" dirty="0">
                        <a:latin typeface="Times New Roman"/>
                        <a:ea typeface="Batang"/>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475888336"/>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US" altLang="en-US" smtClean="0"/>
              <a:t>Context Level DFD</a:t>
            </a:r>
          </a:p>
        </p:txBody>
      </p:sp>
      <p:sp>
        <p:nvSpPr>
          <p:cNvPr id="27651" name="Content Placeholder 2"/>
          <p:cNvSpPr>
            <a:spLocks noGrp="1"/>
          </p:cNvSpPr>
          <p:nvPr>
            <p:ph idx="1"/>
          </p:nvPr>
        </p:nvSpPr>
        <p:spPr/>
        <p:txBody>
          <a:bodyPr/>
          <a:lstStyle/>
          <a:p>
            <a:pPr eaLnBrk="1" hangingPunct="1"/>
            <a:r>
              <a:rPr lang="en-US" altLang="en-US" smtClean="0"/>
              <a:t>Basic form of DFD</a:t>
            </a:r>
          </a:p>
          <a:p>
            <a:pPr eaLnBrk="1" hangingPunct="1"/>
            <a:r>
              <a:rPr lang="en-US" altLang="en-US" smtClean="0"/>
              <a:t>Called as Level 0</a:t>
            </a:r>
          </a:p>
          <a:p>
            <a:pPr eaLnBrk="1" hangingPunct="1"/>
            <a:r>
              <a:rPr lang="en-US" altLang="en-US" smtClean="0"/>
              <a:t>Shows how the system works at a Glance</a:t>
            </a:r>
          </a:p>
          <a:p>
            <a:pPr eaLnBrk="1" hangingPunct="1"/>
            <a:r>
              <a:rPr lang="en-US" altLang="en-US" smtClean="0"/>
              <a:t>There is </a:t>
            </a:r>
            <a:r>
              <a:rPr lang="en-US" altLang="en-US" u="sng" smtClean="0"/>
              <a:t>only one process(Main Process)</a:t>
            </a:r>
            <a:r>
              <a:rPr lang="en-US" altLang="en-US" smtClean="0"/>
              <a:t> in the system and all the data flows either into or out of this process. </a:t>
            </a:r>
          </a:p>
        </p:txBody>
      </p:sp>
    </p:spTree>
    <p:extLst>
      <p:ext uri="{BB962C8B-B14F-4D97-AF65-F5344CB8AC3E}">
        <p14:creationId xmlns:p14="http://schemas.microsoft.com/office/powerpoint/2010/main" val="79890956"/>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endParaRPr lang="en-US" altLang="en-US" smtClean="0"/>
          </a:p>
        </p:txBody>
      </p:sp>
      <p:sp>
        <p:nvSpPr>
          <p:cNvPr id="28675" name="Content Placeholder 2"/>
          <p:cNvSpPr>
            <a:spLocks noGrp="1"/>
          </p:cNvSpPr>
          <p:nvPr>
            <p:ph idx="1"/>
          </p:nvPr>
        </p:nvSpPr>
        <p:spPr/>
        <p:txBody>
          <a:bodyPr/>
          <a:lstStyle/>
          <a:p>
            <a:pPr eaLnBrk="1" hangingPunct="1"/>
            <a:r>
              <a:rPr lang="en-US" altLang="en-US" smtClean="0"/>
              <a:t>Context level DFD’s demonstrates the interactions between the </a:t>
            </a:r>
            <a:r>
              <a:rPr lang="en-US" altLang="en-US" b="1" smtClean="0">
                <a:solidFill>
                  <a:srgbClr val="FF0000"/>
                </a:solidFill>
              </a:rPr>
              <a:t>process and external entities.</a:t>
            </a:r>
          </a:p>
          <a:p>
            <a:pPr eaLnBrk="1" hangingPunct="1"/>
            <a:endParaRPr lang="en-US" altLang="en-US" smtClean="0"/>
          </a:p>
          <a:p>
            <a:pPr eaLnBrk="1" hangingPunct="1"/>
            <a:r>
              <a:rPr lang="en-US" altLang="en-US" smtClean="0"/>
              <a:t>They </a:t>
            </a:r>
            <a:r>
              <a:rPr lang="en-US" altLang="en-US" u="sng" smtClean="0"/>
              <a:t>do not</a:t>
            </a:r>
            <a:r>
              <a:rPr lang="en-US" altLang="en-US" smtClean="0"/>
              <a:t> contain Data Stores.</a:t>
            </a:r>
          </a:p>
        </p:txBody>
      </p:sp>
    </p:spTree>
    <p:extLst>
      <p:ext uri="{BB962C8B-B14F-4D97-AF65-F5344CB8AC3E}">
        <p14:creationId xmlns:p14="http://schemas.microsoft.com/office/powerpoint/2010/main" val="1602672129"/>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altLang="en-US" sz="3600"/>
              <a:t>Creation of Context Level DFD</a:t>
            </a:r>
            <a:endParaRPr lang="en-US" altLang="en-US" smtClean="0"/>
          </a:p>
        </p:txBody>
      </p:sp>
      <p:sp>
        <p:nvSpPr>
          <p:cNvPr id="3" name="Content Placeholder 2"/>
          <p:cNvSpPr>
            <a:spLocks noGrp="1"/>
          </p:cNvSpPr>
          <p:nvPr>
            <p:ph idx="1"/>
          </p:nvPr>
        </p:nvSpPr>
        <p:spPr/>
        <p:txBody>
          <a:bodyPr/>
          <a:lstStyle/>
          <a:p>
            <a:pPr eaLnBrk="1" hangingPunct="1">
              <a:defRPr/>
            </a:pPr>
            <a:r>
              <a:rPr lang="en-US" dirty="0" smtClean="0"/>
              <a:t>Identify the main system (Lemonade)</a:t>
            </a:r>
          </a:p>
          <a:p>
            <a:pPr eaLnBrk="1" hangingPunct="1">
              <a:defRPr/>
            </a:pPr>
            <a:r>
              <a:rPr lang="en-US" dirty="0" smtClean="0"/>
              <a:t>Identify the external people who interact with the system </a:t>
            </a:r>
          </a:p>
          <a:p>
            <a:pPr lvl="1" eaLnBrk="1" hangingPunct="1">
              <a:defRPr/>
            </a:pPr>
            <a:r>
              <a:rPr lang="en-US" dirty="0" smtClean="0"/>
              <a:t>Customer</a:t>
            </a:r>
          </a:p>
          <a:p>
            <a:pPr lvl="1" eaLnBrk="1" hangingPunct="1">
              <a:defRPr/>
            </a:pPr>
            <a:r>
              <a:rPr lang="en-US" dirty="0" smtClean="0"/>
              <a:t>Employee (Seller)</a:t>
            </a:r>
          </a:p>
          <a:p>
            <a:pPr lvl="1" eaLnBrk="1" hangingPunct="1">
              <a:defRPr/>
            </a:pPr>
            <a:r>
              <a:rPr lang="en-US" dirty="0" smtClean="0">
                <a:ea typeface="+mn-ea"/>
                <a:cs typeface="+mn-cs"/>
              </a:rPr>
              <a:t>Vendor (for purchasing Raw Materials)</a:t>
            </a:r>
          </a:p>
        </p:txBody>
      </p:sp>
    </p:spTree>
    <p:extLst>
      <p:ext uri="{BB962C8B-B14F-4D97-AF65-F5344CB8AC3E}">
        <p14:creationId xmlns:p14="http://schemas.microsoft.com/office/powerpoint/2010/main" val="19194636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30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30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30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30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3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endParaRPr lang="en-US" altLang="en-US" smtClean="0"/>
          </a:p>
        </p:txBody>
      </p:sp>
      <p:sp>
        <p:nvSpPr>
          <p:cNvPr id="30723" name="Content Placeholder 2"/>
          <p:cNvSpPr>
            <a:spLocks noGrp="1"/>
          </p:cNvSpPr>
          <p:nvPr>
            <p:ph idx="1"/>
          </p:nvPr>
        </p:nvSpPr>
        <p:spPr/>
        <p:txBody>
          <a:bodyPr/>
          <a:lstStyle/>
          <a:p>
            <a:pPr eaLnBrk="1" hangingPunct="1"/>
            <a:r>
              <a:rPr lang="en-US" altLang="en-US" smtClean="0"/>
              <a:t>Decide what data these entities will enter into the system</a:t>
            </a:r>
          </a:p>
          <a:p>
            <a:pPr eaLnBrk="1" hangingPunct="1"/>
            <a:r>
              <a:rPr lang="en-US" altLang="en-US" smtClean="0"/>
              <a:t>Determine what these entities expect as output from the system</a:t>
            </a:r>
          </a:p>
          <a:p>
            <a:pPr eaLnBrk="1" hangingPunct="1"/>
            <a:endParaRPr lang="en-US" altLang="en-US" smtClean="0"/>
          </a:p>
          <a:p>
            <a:pPr eaLnBrk="1" hangingPunct="1"/>
            <a:endParaRPr lang="en-US" altLang="en-US" smtClean="0"/>
          </a:p>
        </p:txBody>
      </p:sp>
    </p:spTree>
    <p:extLst>
      <p:ext uri="{BB962C8B-B14F-4D97-AF65-F5344CB8AC3E}">
        <p14:creationId xmlns:p14="http://schemas.microsoft.com/office/powerpoint/2010/main" val="3566569391"/>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152400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600"/>
              <a:t>Creating Data Flow Diagrams</a:t>
            </a:r>
          </a:p>
        </p:txBody>
      </p:sp>
      <p:sp>
        <p:nvSpPr>
          <p:cNvPr id="31747" name="Line 3"/>
          <p:cNvSpPr>
            <a:spLocks noChangeShapeType="1"/>
          </p:cNvSpPr>
          <p:nvPr/>
        </p:nvSpPr>
        <p:spPr bwMode="auto">
          <a:xfrm flipV="1">
            <a:off x="4876800" y="1219200"/>
            <a:ext cx="0" cy="541020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31748" name="Text Box 13"/>
          <p:cNvSpPr txBox="1">
            <a:spLocks noChangeArrowheads="1"/>
          </p:cNvSpPr>
          <p:nvPr/>
        </p:nvSpPr>
        <p:spPr bwMode="auto">
          <a:xfrm>
            <a:off x="4800600" y="1828800"/>
            <a:ext cx="586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chemeClr val="accent2"/>
                </a:solidFill>
              </a:rPr>
              <a:t>Context Level DFD</a:t>
            </a:r>
          </a:p>
        </p:txBody>
      </p:sp>
      <p:sp>
        <p:nvSpPr>
          <p:cNvPr id="31749" name="Text Box 14"/>
          <p:cNvSpPr txBox="1">
            <a:spLocks noChangeArrowheads="1"/>
          </p:cNvSpPr>
          <p:nvPr/>
        </p:nvSpPr>
        <p:spPr bwMode="auto">
          <a:xfrm>
            <a:off x="1524000" y="914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rgbClr val="00CC00"/>
                </a:solidFill>
              </a:rPr>
              <a:t>Example</a:t>
            </a:r>
          </a:p>
        </p:txBody>
      </p:sp>
      <p:pic>
        <p:nvPicPr>
          <p:cNvPr id="31750" name="Picture 15" descr="j0297517"/>
          <p:cNvPicPr>
            <a:picLocks noChangeAspect="1" noChangeArrowheads="1"/>
          </p:cNvPicPr>
          <p:nvPr/>
        </p:nvPicPr>
        <p:blipFill>
          <a:blip r:embed="rId2">
            <a:lum bright="80000" contrast="-80000"/>
            <a:extLst>
              <a:ext uri="{28A0092B-C50C-407E-A947-70E740481C1C}">
                <a14:useLocalDpi xmlns:a14="http://schemas.microsoft.com/office/drawing/2010/main" val="0"/>
              </a:ext>
            </a:extLst>
          </a:blip>
          <a:srcRect/>
          <a:stretch>
            <a:fillRect/>
          </a:stretch>
        </p:blipFill>
        <p:spPr bwMode="auto">
          <a:xfrm>
            <a:off x="1739901" y="2882900"/>
            <a:ext cx="251142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1" name="Text Box 16"/>
          <p:cNvSpPr txBox="1">
            <a:spLocks noChangeArrowheads="1"/>
          </p:cNvSpPr>
          <p:nvPr/>
        </p:nvSpPr>
        <p:spPr bwMode="auto">
          <a:xfrm>
            <a:off x="1752600" y="1447801"/>
            <a:ext cx="3124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Create a context level diagram identifying the sources and sinks (users).</a:t>
            </a:r>
          </a:p>
        </p:txBody>
      </p:sp>
      <p:sp>
        <p:nvSpPr>
          <p:cNvPr id="31752" name="Text Box 17"/>
          <p:cNvSpPr txBox="1">
            <a:spLocks noChangeArrowheads="1"/>
          </p:cNvSpPr>
          <p:nvPr/>
        </p:nvSpPr>
        <p:spPr bwMode="auto">
          <a:xfrm>
            <a:off x="1752600" y="2879726"/>
            <a:ext cx="30480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solidFill>
                  <a:srgbClr val="339933"/>
                </a:solidFill>
              </a:rPr>
              <a:t>Customer Order</a:t>
            </a:r>
          </a:p>
          <a:p>
            <a:pPr eaLnBrk="1" hangingPunct="1"/>
            <a:r>
              <a:rPr lang="en-US" altLang="en-US" sz="2000">
                <a:solidFill>
                  <a:srgbClr val="339933"/>
                </a:solidFill>
              </a:rPr>
              <a:t>Serve Product</a:t>
            </a:r>
          </a:p>
          <a:p>
            <a:pPr eaLnBrk="1" hangingPunct="1"/>
            <a:r>
              <a:rPr lang="en-US" altLang="en-US" sz="2000">
                <a:solidFill>
                  <a:srgbClr val="339933"/>
                </a:solidFill>
              </a:rPr>
              <a:t>Collect Payment</a:t>
            </a:r>
          </a:p>
          <a:p>
            <a:pPr eaLnBrk="1" hangingPunct="1"/>
            <a:endParaRPr lang="en-US" altLang="en-US" sz="2000">
              <a:solidFill>
                <a:srgbClr val="339933"/>
              </a:solidFill>
            </a:endParaRPr>
          </a:p>
          <a:p>
            <a:pPr eaLnBrk="1" hangingPunct="1"/>
            <a:r>
              <a:rPr lang="en-US" altLang="en-US" sz="2000">
                <a:solidFill>
                  <a:srgbClr val="339933"/>
                </a:solidFill>
              </a:rPr>
              <a:t>Produce Product</a:t>
            </a:r>
          </a:p>
          <a:p>
            <a:pPr eaLnBrk="1" hangingPunct="1"/>
            <a:r>
              <a:rPr lang="en-US" altLang="en-US" sz="2000">
                <a:solidFill>
                  <a:srgbClr val="339933"/>
                </a:solidFill>
              </a:rPr>
              <a:t>Store Product</a:t>
            </a:r>
          </a:p>
          <a:p>
            <a:pPr eaLnBrk="1" hangingPunct="1"/>
            <a:endParaRPr lang="en-US" altLang="en-US" sz="2000">
              <a:solidFill>
                <a:srgbClr val="339933"/>
              </a:solidFill>
            </a:endParaRPr>
          </a:p>
          <a:p>
            <a:pPr eaLnBrk="1" hangingPunct="1"/>
            <a:r>
              <a:rPr lang="en-US" altLang="en-US" sz="2000">
                <a:solidFill>
                  <a:srgbClr val="339933"/>
                </a:solidFill>
              </a:rPr>
              <a:t>Order Raw Materials</a:t>
            </a:r>
          </a:p>
          <a:p>
            <a:pPr eaLnBrk="1" hangingPunct="1"/>
            <a:r>
              <a:rPr lang="en-US" altLang="en-US" sz="2000">
                <a:solidFill>
                  <a:srgbClr val="339933"/>
                </a:solidFill>
              </a:rPr>
              <a:t>Pay for Raw Materials</a:t>
            </a:r>
          </a:p>
          <a:p>
            <a:pPr eaLnBrk="1" hangingPunct="1"/>
            <a:endParaRPr lang="en-US" altLang="en-US" sz="2000">
              <a:solidFill>
                <a:srgbClr val="339933"/>
              </a:solidFill>
            </a:endParaRPr>
          </a:p>
          <a:p>
            <a:pPr eaLnBrk="1" hangingPunct="1"/>
            <a:r>
              <a:rPr lang="en-US" altLang="en-US" sz="2000">
                <a:solidFill>
                  <a:srgbClr val="339933"/>
                </a:solidFill>
              </a:rPr>
              <a:t>Pay for Labor</a:t>
            </a:r>
          </a:p>
          <a:p>
            <a:pPr eaLnBrk="1" hangingPunct="1"/>
            <a:endParaRPr lang="en-US" altLang="en-US" sz="2000">
              <a:solidFill>
                <a:srgbClr val="339933"/>
              </a:solidFill>
            </a:endParaRPr>
          </a:p>
        </p:txBody>
      </p:sp>
      <p:sp>
        <p:nvSpPr>
          <p:cNvPr id="31753" name="Text Box 31"/>
          <p:cNvSpPr txBox="1">
            <a:spLocks noChangeArrowheads="1"/>
          </p:cNvSpPr>
          <p:nvPr/>
        </p:nvSpPr>
        <p:spPr bwMode="auto">
          <a:xfrm>
            <a:off x="4953000" y="914401"/>
            <a:ext cx="571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rabicPeriod" startAt="2"/>
            </a:pPr>
            <a:r>
              <a:rPr lang="en-US" altLang="en-US" sz="2000"/>
              <a:t>Construct Context Level DFD</a:t>
            </a:r>
            <a:br>
              <a:rPr lang="en-US" altLang="en-US" sz="2000"/>
            </a:br>
            <a:r>
              <a:rPr lang="en-US" altLang="en-US" sz="2000"/>
              <a:t>(identifies sources and sink)</a:t>
            </a:r>
          </a:p>
        </p:txBody>
      </p:sp>
      <p:grpSp>
        <p:nvGrpSpPr>
          <p:cNvPr id="31754" name="Group 36"/>
          <p:cNvGrpSpPr>
            <a:grpSpLocks/>
          </p:cNvGrpSpPr>
          <p:nvPr/>
        </p:nvGrpSpPr>
        <p:grpSpPr bwMode="auto">
          <a:xfrm>
            <a:off x="5029200" y="2590800"/>
            <a:ext cx="5410200" cy="3797300"/>
            <a:chOff x="3581400" y="2451100"/>
            <a:chExt cx="5410200" cy="2730500"/>
          </a:xfrm>
        </p:grpSpPr>
        <p:sp>
          <p:nvSpPr>
            <p:cNvPr id="31755" name="Oval 37"/>
            <p:cNvSpPr>
              <a:spLocks noChangeArrowheads="1"/>
            </p:cNvSpPr>
            <p:nvPr/>
          </p:nvSpPr>
          <p:spPr bwMode="auto">
            <a:xfrm>
              <a:off x="5791200" y="25146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8288" rIns="1828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0.0</a:t>
              </a:r>
            </a:p>
            <a:p>
              <a:pPr algn="ctr"/>
              <a:r>
                <a:rPr lang="en-US" altLang="en-US" sz="1200">
                  <a:latin typeface="Arial Narrow" panose="020B0606020202030204" pitchFamily="34" charset="0"/>
                </a:rPr>
                <a:t>Lemonade System</a:t>
              </a:r>
            </a:p>
          </p:txBody>
        </p:sp>
        <p:sp>
          <p:nvSpPr>
            <p:cNvPr id="31756" name="Rectangle 38"/>
            <p:cNvSpPr>
              <a:spLocks noChangeAspect="1" noChangeArrowheads="1"/>
            </p:cNvSpPr>
            <p:nvPr/>
          </p:nvSpPr>
          <p:spPr bwMode="auto">
            <a:xfrm>
              <a:off x="8077200" y="2514600"/>
              <a:ext cx="914400" cy="91440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EMPLOYEE</a:t>
              </a:r>
            </a:p>
          </p:txBody>
        </p:sp>
        <p:sp>
          <p:nvSpPr>
            <p:cNvPr id="31757" name="Rectangle 39"/>
            <p:cNvSpPr>
              <a:spLocks noChangeAspect="1" noChangeArrowheads="1"/>
            </p:cNvSpPr>
            <p:nvPr/>
          </p:nvSpPr>
          <p:spPr bwMode="auto">
            <a:xfrm>
              <a:off x="3581400" y="2514600"/>
              <a:ext cx="914400" cy="91440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CUSTOMER</a:t>
              </a:r>
            </a:p>
          </p:txBody>
        </p:sp>
        <p:cxnSp>
          <p:nvCxnSpPr>
            <p:cNvPr id="31758" name="AutoShape 7"/>
            <p:cNvCxnSpPr>
              <a:cxnSpLocks noChangeShapeType="1"/>
            </p:cNvCxnSpPr>
            <p:nvPr/>
          </p:nvCxnSpPr>
          <p:spPr bwMode="auto">
            <a:xfrm flipV="1">
              <a:off x="6629400" y="3200400"/>
              <a:ext cx="1447800" cy="3810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1759" name="Text Box 8"/>
            <p:cNvSpPr txBox="1">
              <a:spLocks noChangeArrowheads="1"/>
            </p:cNvSpPr>
            <p:nvPr/>
          </p:nvSpPr>
          <p:spPr bwMode="auto">
            <a:xfrm>
              <a:off x="6477000" y="30099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Pay</a:t>
              </a:r>
            </a:p>
          </p:txBody>
        </p:sp>
        <p:cxnSp>
          <p:nvCxnSpPr>
            <p:cNvPr id="31760" name="AutoShape 9"/>
            <p:cNvCxnSpPr>
              <a:cxnSpLocks noChangeShapeType="1"/>
            </p:cNvCxnSpPr>
            <p:nvPr/>
          </p:nvCxnSpPr>
          <p:spPr bwMode="auto">
            <a:xfrm>
              <a:off x="4505325" y="3276600"/>
              <a:ext cx="1276350" cy="0"/>
            </a:xfrm>
            <a:prstGeom prst="straightConnector1">
              <a:avLst/>
            </a:prstGeom>
            <a:noFill/>
            <a:ln w="15875">
              <a:solidFill>
                <a:srgbClr val="000000"/>
              </a:solidFill>
              <a:round/>
              <a:headEnd type="none" w="lg" len="sm"/>
              <a:tailEnd type="stealth" w="lg" len="sm"/>
            </a:ln>
            <a:extLst>
              <a:ext uri="{909E8E84-426E-40DD-AFC4-6F175D3DCCD1}">
                <a14:hiddenFill xmlns:a14="http://schemas.microsoft.com/office/drawing/2010/main">
                  <a:noFill/>
                </a14:hiddenFill>
              </a:ext>
            </a:extLst>
          </p:spPr>
        </p:cxnSp>
        <p:sp>
          <p:nvSpPr>
            <p:cNvPr id="31761" name="Text Box 10"/>
            <p:cNvSpPr txBox="1">
              <a:spLocks noChangeArrowheads="1"/>
            </p:cNvSpPr>
            <p:nvPr/>
          </p:nvSpPr>
          <p:spPr bwMode="auto">
            <a:xfrm>
              <a:off x="4343400" y="32385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Payment</a:t>
              </a:r>
            </a:p>
          </p:txBody>
        </p:sp>
        <p:cxnSp>
          <p:nvCxnSpPr>
            <p:cNvPr id="31762" name="AutoShape 11"/>
            <p:cNvCxnSpPr>
              <a:cxnSpLocks noChangeShapeType="1"/>
            </p:cNvCxnSpPr>
            <p:nvPr/>
          </p:nvCxnSpPr>
          <p:spPr bwMode="auto">
            <a:xfrm>
              <a:off x="4505325" y="2628900"/>
              <a:ext cx="1276350" cy="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1763" name="Text Box 12"/>
            <p:cNvSpPr txBox="1">
              <a:spLocks noChangeArrowheads="1"/>
            </p:cNvSpPr>
            <p:nvPr/>
          </p:nvSpPr>
          <p:spPr bwMode="auto">
            <a:xfrm>
              <a:off x="4343400" y="25908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Order</a:t>
              </a:r>
            </a:p>
          </p:txBody>
        </p:sp>
        <p:sp>
          <p:nvSpPr>
            <p:cNvPr id="31764" name="Rectangle 46"/>
            <p:cNvSpPr>
              <a:spLocks noChangeAspect="1" noChangeArrowheads="1"/>
            </p:cNvSpPr>
            <p:nvPr/>
          </p:nvSpPr>
          <p:spPr bwMode="auto">
            <a:xfrm>
              <a:off x="5791200" y="4267200"/>
              <a:ext cx="914400" cy="91440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VENDOR</a:t>
              </a:r>
            </a:p>
          </p:txBody>
        </p:sp>
        <p:cxnSp>
          <p:nvCxnSpPr>
            <p:cNvPr id="31765" name="AutoShape 19"/>
            <p:cNvCxnSpPr>
              <a:cxnSpLocks noChangeShapeType="1"/>
            </p:cNvCxnSpPr>
            <p:nvPr/>
          </p:nvCxnSpPr>
          <p:spPr bwMode="auto">
            <a:xfrm>
              <a:off x="6019800" y="3362325"/>
              <a:ext cx="0" cy="81915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cxnSp>
          <p:nvCxnSpPr>
            <p:cNvPr id="31766" name="AutoShape 20"/>
            <p:cNvCxnSpPr>
              <a:cxnSpLocks noChangeShapeType="1"/>
              <a:stCxn id="31755" idx="4"/>
              <a:endCxn id="31764" idx="0"/>
            </p:cNvCxnSpPr>
            <p:nvPr/>
          </p:nvCxnSpPr>
          <p:spPr bwMode="auto">
            <a:xfrm>
              <a:off x="6248400" y="3438525"/>
              <a:ext cx="0" cy="819150"/>
            </a:xfrm>
            <a:prstGeom prst="straightConnector1">
              <a:avLst/>
            </a:prstGeom>
            <a:noFill/>
            <a:ln w="15875">
              <a:solidFill>
                <a:srgbClr val="000000"/>
              </a:solidFill>
              <a:round/>
              <a:headEnd type="stealth" w="lg" len="sm"/>
              <a:tailEnd type="none" w="lg" len="sm"/>
            </a:ln>
            <a:extLst>
              <a:ext uri="{909E8E84-426E-40DD-AFC4-6F175D3DCCD1}">
                <a14:hiddenFill xmlns:a14="http://schemas.microsoft.com/office/drawing/2010/main">
                  <a:noFill/>
                </a14:hiddenFill>
              </a:ext>
            </a:extLst>
          </p:spPr>
        </p:cxnSp>
        <p:sp>
          <p:nvSpPr>
            <p:cNvPr id="31767" name="Text Box 21"/>
            <p:cNvSpPr txBox="1">
              <a:spLocks noChangeArrowheads="1"/>
            </p:cNvSpPr>
            <p:nvPr/>
          </p:nvSpPr>
          <p:spPr bwMode="auto">
            <a:xfrm>
              <a:off x="4429125" y="37338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r>
                <a:rPr lang="en-US" altLang="en-US" sz="1400">
                  <a:latin typeface="Arial Narrow" panose="020B0606020202030204" pitchFamily="34" charset="0"/>
                </a:rPr>
                <a:t>Payment</a:t>
              </a:r>
            </a:p>
          </p:txBody>
        </p:sp>
        <p:sp>
          <p:nvSpPr>
            <p:cNvPr id="31768" name="Text Box 22"/>
            <p:cNvSpPr txBox="1">
              <a:spLocks noChangeArrowheads="1"/>
            </p:cNvSpPr>
            <p:nvPr/>
          </p:nvSpPr>
          <p:spPr bwMode="auto">
            <a:xfrm>
              <a:off x="6477000" y="38862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latin typeface="Arial Narrow" panose="020B0606020202030204" pitchFamily="34" charset="0"/>
                </a:rPr>
                <a:t>Purchase Order</a:t>
              </a:r>
            </a:p>
          </p:txBody>
        </p:sp>
        <p:sp>
          <p:nvSpPr>
            <p:cNvPr id="31769" name="Text Box 23"/>
            <p:cNvSpPr txBox="1">
              <a:spLocks noChangeArrowheads="1"/>
            </p:cNvSpPr>
            <p:nvPr/>
          </p:nvSpPr>
          <p:spPr bwMode="auto">
            <a:xfrm>
              <a:off x="6562725" y="27940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Produce Product </a:t>
              </a:r>
            </a:p>
          </p:txBody>
        </p:sp>
        <p:cxnSp>
          <p:nvCxnSpPr>
            <p:cNvPr id="31770" name="AutoShape 24"/>
            <p:cNvCxnSpPr>
              <a:cxnSpLocks noChangeShapeType="1"/>
            </p:cNvCxnSpPr>
            <p:nvPr/>
          </p:nvCxnSpPr>
          <p:spPr bwMode="auto">
            <a:xfrm flipV="1">
              <a:off x="6705600" y="2819400"/>
              <a:ext cx="1371600" cy="12700"/>
            </a:xfrm>
            <a:prstGeom prst="straightConnector1">
              <a:avLst/>
            </a:prstGeom>
            <a:noFill/>
            <a:ln w="15875">
              <a:solidFill>
                <a:srgbClr val="000000"/>
              </a:solidFill>
              <a:round/>
              <a:headEnd type="stealth" w="lg" len="sm"/>
              <a:tailEnd type="none" w="lg" len="sm"/>
            </a:ln>
            <a:extLst>
              <a:ext uri="{909E8E84-426E-40DD-AFC4-6F175D3DCCD1}">
                <a14:hiddenFill xmlns:a14="http://schemas.microsoft.com/office/drawing/2010/main">
                  <a:noFill/>
                </a14:hiddenFill>
              </a:ext>
            </a:extLst>
          </p:spPr>
        </p:cxnSp>
        <p:cxnSp>
          <p:nvCxnSpPr>
            <p:cNvPr id="31771" name="AutoShape 25"/>
            <p:cNvCxnSpPr>
              <a:cxnSpLocks noChangeShapeType="1"/>
            </p:cNvCxnSpPr>
            <p:nvPr/>
          </p:nvCxnSpPr>
          <p:spPr bwMode="auto">
            <a:xfrm>
              <a:off x="6477000" y="3352800"/>
              <a:ext cx="0" cy="81915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1772" name="Text Box 26"/>
            <p:cNvSpPr txBox="1">
              <a:spLocks noChangeArrowheads="1"/>
            </p:cNvSpPr>
            <p:nvPr/>
          </p:nvSpPr>
          <p:spPr bwMode="auto">
            <a:xfrm>
              <a:off x="4691063" y="35052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r>
                <a:rPr lang="en-US" altLang="en-US" sz="1400">
                  <a:latin typeface="Arial Narrow" panose="020B0606020202030204" pitchFamily="34" charset="0"/>
                </a:rPr>
                <a:t>Received Goods</a:t>
              </a:r>
            </a:p>
          </p:txBody>
        </p:sp>
        <p:sp>
          <p:nvSpPr>
            <p:cNvPr id="31773" name="Text Box 27"/>
            <p:cNvSpPr txBox="1">
              <a:spLocks noChangeArrowheads="1"/>
            </p:cNvSpPr>
            <p:nvPr/>
          </p:nvSpPr>
          <p:spPr bwMode="auto">
            <a:xfrm>
              <a:off x="6553200" y="33147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Time Worked</a:t>
              </a:r>
            </a:p>
          </p:txBody>
        </p:sp>
        <p:cxnSp>
          <p:nvCxnSpPr>
            <p:cNvPr id="31774" name="AutoShape 28"/>
            <p:cNvCxnSpPr>
              <a:cxnSpLocks noChangeShapeType="1"/>
            </p:cNvCxnSpPr>
            <p:nvPr/>
          </p:nvCxnSpPr>
          <p:spPr bwMode="auto">
            <a:xfrm>
              <a:off x="6696075" y="3352800"/>
              <a:ext cx="1381125" cy="1588"/>
            </a:xfrm>
            <a:prstGeom prst="straightConnector1">
              <a:avLst/>
            </a:prstGeom>
            <a:noFill/>
            <a:ln w="15875">
              <a:solidFill>
                <a:srgbClr val="000000"/>
              </a:solidFill>
              <a:round/>
              <a:headEnd type="stealth" w="lg" len="sm"/>
              <a:tailEnd type="none" w="lg" len="sm"/>
            </a:ln>
            <a:extLst>
              <a:ext uri="{909E8E84-426E-40DD-AFC4-6F175D3DCCD1}">
                <a14:hiddenFill xmlns:a14="http://schemas.microsoft.com/office/drawing/2010/main">
                  <a:noFill/>
                </a14:hiddenFill>
              </a:ext>
            </a:extLst>
          </p:spPr>
        </p:cxnSp>
        <p:cxnSp>
          <p:nvCxnSpPr>
            <p:cNvPr id="31775" name="AutoShape 29"/>
            <p:cNvCxnSpPr>
              <a:cxnSpLocks noChangeShapeType="1"/>
            </p:cNvCxnSpPr>
            <p:nvPr/>
          </p:nvCxnSpPr>
          <p:spPr bwMode="auto">
            <a:xfrm flipV="1">
              <a:off x="6629400" y="2667000"/>
              <a:ext cx="1447800" cy="1270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1776" name="Text Box 30"/>
            <p:cNvSpPr txBox="1">
              <a:spLocks noChangeArrowheads="1"/>
            </p:cNvSpPr>
            <p:nvPr/>
          </p:nvSpPr>
          <p:spPr bwMode="auto">
            <a:xfrm>
              <a:off x="6477000" y="24511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Sales Forecast</a:t>
              </a:r>
            </a:p>
          </p:txBody>
        </p:sp>
        <p:cxnSp>
          <p:nvCxnSpPr>
            <p:cNvPr id="31777" name="AutoShape 32"/>
            <p:cNvCxnSpPr>
              <a:cxnSpLocks noChangeShapeType="1"/>
              <a:stCxn id="31755" idx="2"/>
              <a:endCxn id="31757" idx="3"/>
            </p:cNvCxnSpPr>
            <p:nvPr/>
          </p:nvCxnSpPr>
          <p:spPr bwMode="auto">
            <a:xfrm flipH="1">
              <a:off x="4505325" y="2971800"/>
              <a:ext cx="1276350" cy="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1778" name="Text Box 33"/>
            <p:cNvSpPr txBox="1">
              <a:spLocks noChangeArrowheads="1"/>
            </p:cNvSpPr>
            <p:nvPr/>
          </p:nvSpPr>
          <p:spPr bwMode="auto">
            <a:xfrm>
              <a:off x="4343400" y="29718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Product Served</a:t>
              </a:r>
            </a:p>
          </p:txBody>
        </p:sp>
      </p:grpSp>
    </p:spTree>
    <p:extLst>
      <p:ext uri="{BB962C8B-B14F-4D97-AF65-F5344CB8AC3E}">
        <p14:creationId xmlns:p14="http://schemas.microsoft.com/office/powerpoint/2010/main" val="2132463966"/>
      </p:ext>
    </p:extLst>
  </p:cSld>
  <p:clrMapOvr>
    <a:masterClrMapping/>
  </p:clrMapOvr>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152400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600"/>
              <a:t>Creating Data Flow Diagrams</a:t>
            </a:r>
          </a:p>
        </p:txBody>
      </p:sp>
      <p:sp>
        <p:nvSpPr>
          <p:cNvPr id="32771" name="Line 3"/>
          <p:cNvSpPr>
            <a:spLocks noChangeShapeType="1"/>
          </p:cNvSpPr>
          <p:nvPr/>
        </p:nvSpPr>
        <p:spPr bwMode="auto">
          <a:xfrm flipV="1">
            <a:off x="4876800" y="1219200"/>
            <a:ext cx="0" cy="541020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32772" name="Text Box 4"/>
          <p:cNvSpPr txBox="1">
            <a:spLocks noChangeArrowheads="1"/>
          </p:cNvSpPr>
          <p:nvPr/>
        </p:nvSpPr>
        <p:spPr bwMode="auto">
          <a:xfrm>
            <a:off x="4800600" y="1752600"/>
            <a:ext cx="586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chemeClr val="accent2"/>
                </a:solidFill>
              </a:rPr>
              <a:t>Level 0 DFD</a:t>
            </a:r>
          </a:p>
        </p:txBody>
      </p:sp>
      <p:sp>
        <p:nvSpPr>
          <p:cNvPr id="32773" name="Text Box 5"/>
          <p:cNvSpPr txBox="1">
            <a:spLocks noChangeArrowheads="1"/>
          </p:cNvSpPr>
          <p:nvPr/>
        </p:nvSpPr>
        <p:spPr bwMode="auto">
          <a:xfrm>
            <a:off x="1524000" y="914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rgbClr val="00CC00"/>
                </a:solidFill>
              </a:rPr>
              <a:t>Example</a:t>
            </a:r>
          </a:p>
        </p:txBody>
      </p:sp>
      <p:pic>
        <p:nvPicPr>
          <p:cNvPr id="32774" name="Picture 6" descr="j0297517"/>
          <p:cNvPicPr>
            <a:picLocks noChangeAspect="1" noChangeArrowheads="1"/>
          </p:cNvPicPr>
          <p:nvPr/>
        </p:nvPicPr>
        <p:blipFill>
          <a:blip r:embed="rId2">
            <a:lum bright="80000" contrast="-80000"/>
            <a:extLst>
              <a:ext uri="{28A0092B-C50C-407E-A947-70E740481C1C}">
                <a14:useLocalDpi xmlns:a14="http://schemas.microsoft.com/office/drawing/2010/main" val="0"/>
              </a:ext>
            </a:extLst>
          </a:blip>
          <a:srcRect/>
          <a:stretch>
            <a:fillRect/>
          </a:stretch>
        </p:blipFill>
        <p:spPr bwMode="auto">
          <a:xfrm>
            <a:off x="1739901" y="2882900"/>
            <a:ext cx="251142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5" name="Text Box 7"/>
          <p:cNvSpPr txBox="1">
            <a:spLocks noChangeArrowheads="1"/>
          </p:cNvSpPr>
          <p:nvPr/>
        </p:nvSpPr>
        <p:spPr bwMode="auto">
          <a:xfrm>
            <a:off x="1752600" y="1447801"/>
            <a:ext cx="3124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Create a level 0 diagram identifying the logical subsystems that may exist.</a:t>
            </a:r>
          </a:p>
        </p:txBody>
      </p:sp>
      <p:sp>
        <p:nvSpPr>
          <p:cNvPr id="32776" name="Text Box 8"/>
          <p:cNvSpPr txBox="1">
            <a:spLocks noChangeArrowheads="1"/>
          </p:cNvSpPr>
          <p:nvPr/>
        </p:nvSpPr>
        <p:spPr bwMode="auto">
          <a:xfrm>
            <a:off x="1752600" y="2879726"/>
            <a:ext cx="30480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solidFill>
                  <a:srgbClr val="339933"/>
                </a:solidFill>
              </a:rPr>
              <a:t>Customer Order</a:t>
            </a:r>
          </a:p>
          <a:p>
            <a:pPr eaLnBrk="1" hangingPunct="1"/>
            <a:r>
              <a:rPr lang="en-US" altLang="en-US" sz="2000">
                <a:solidFill>
                  <a:srgbClr val="339933"/>
                </a:solidFill>
              </a:rPr>
              <a:t>Serve Product</a:t>
            </a:r>
          </a:p>
          <a:p>
            <a:pPr eaLnBrk="1" hangingPunct="1"/>
            <a:r>
              <a:rPr lang="en-US" altLang="en-US" sz="2000">
                <a:solidFill>
                  <a:srgbClr val="339933"/>
                </a:solidFill>
              </a:rPr>
              <a:t>Collect Payment</a:t>
            </a:r>
          </a:p>
          <a:p>
            <a:pPr eaLnBrk="1" hangingPunct="1"/>
            <a:endParaRPr lang="en-US" altLang="en-US" sz="2000">
              <a:solidFill>
                <a:srgbClr val="339933"/>
              </a:solidFill>
            </a:endParaRPr>
          </a:p>
          <a:p>
            <a:pPr eaLnBrk="1" hangingPunct="1"/>
            <a:r>
              <a:rPr lang="en-US" altLang="en-US" sz="2000">
                <a:solidFill>
                  <a:srgbClr val="339933"/>
                </a:solidFill>
              </a:rPr>
              <a:t>Produce Product</a:t>
            </a:r>
          </a:p>
          <a:p>
            <a:pPr eaLnBrk="1" hangingPunct="1"/>
            <a:r>
              <a:rPr lang="en-US" altLang="en-US" sz="2000">
                <a:solidFill>
                  <a:srgbClr val="339933"/>
                </a:solidFill>
              </a:rPr>
              <a:t>Store Product</a:t>
            </a:r>
          </a:p>
          <a:p>
            <a:pPr eaLnBrk="1" hangingPunct="1"/>
            <a:endParaRPr lang="en-US" altLang="en-US" sz="2000">
              <a:solidFill>
                <a:srgbClr val="339933"/>
              </a:solidFill>
            </a:endParaRPr>
          </a:p>
          <a:p>
            <a:pPr eaLnBrk="1" hangingPunct="1"/>
            <a:r>
              <a:rPr lang="en-US" altLang="en-US" sz="2000">
                <a:solidFill>
                  <a:srgbClr val="339933"/>
                </a:solidFill>
              </a:rPr>
              <a:t>Order Raw Materials</a:t>
            </a:r>
          </a:p>
          <a:p>
            <a:pPr eaLnBrk="1" hangingPunct="1"/>
            <a:r>
              <a:rPr lang="en-US" altLang="en-US" sz="2000">
                <a:solidFill>
                  <a:srgbClr val="339933"/>
                </a:solidFill>
              </a:rPr>
              <a:t>Pay for Raw Materials</a:t>
            </a:r>
          </a:p>
          <a:p>
            <a:pPr eaLnBrk="1" hangingPunct="1"/>
            <a:endParaRPr lang="en-US" altLang="en-US" sz="2000">
              <a:solidFill>
                <a:srgbClr val="339933"/>
              </a:solidFill>
            </a:endParaRPr>
          </a:p>
          <a:p>
            <a:pPr eaLnBrk="1" hangingPunct="1"/>
            <a:r>
              <a:rPr lang="en-US" altLang="en-US" sz="2000">
                <a:solidFill>
                  <a:srgbClr val="339933"/>
                </a:solidFill>
              </a:rPr>
              <a:t>Pay for Labor</a:t>
            </a:r>
          </a:p>
          <a:p>
            <a:pPr eaLnBrk="1" hangingPunct="1"/>
            <a:endParaRPr lang="en-US" altLang="en-US" sz="2000">
              <a:solidFill>
                <a:srgbClr val="339933"/>
              </a:solidFill>
            </a:endParaRPr>
          </a:p>
        </p:txBody>
      </p:sp>
      <p:sp>
        <p:nvSpPr>
          <p:cNvPr id="32777" name="Text Box 9"/>
          <p:cNvSpPr txBox="1">
            <a:spLocks noChangeArrowheads="1"/>
          </p:cNvSpPr>
          <p:nvPr/>
        </p:nvSpPr>
        <p:spPr bwMode="auto">
          <a:xfrm>
            <a:off x="4953000" y="1066801"/>
            <a:ext cx="571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rabicPeriod" startAt="3"/>
            </a:pPr>
            <a:r>
              <a:rPr lang="en-US" altLang="en-US" sz="2000"/>
              <a:t>Construct Level 0 DFD </a:t>
            </a:r>
            <a:br>
              <a:rPr lang="en-US" altLang="en-US" sz="2000"/>
            </a:br>
            <a:r>
              <a:rPr lang="en-US" altLang="en-US" sz="2000"/>
              <a:t>(identifies manageable sub processes )</a:t>
            </a:r>
          </a:p>
        </p:txBody>
      </p:sp>
      <p:sp>
        <p:nvSpPr>
          <p:cNvPr id="32778" name="Oval 10"/>
          <p:cNvSpPr>
            <a:spLocks noChangeArrowheads="1"/>
          </p:cNvSpPr>
          <p:nvPr/>
        </p:nvSpPr>
        <p:spPr bwMode="auto">
          <a:xfrm>
            <a:off x="7305675" y="34671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8288" rIns="1828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2.0</a:t>
            </a:r>
          </a:p>
          <a:p>
            <a:pPr algn="ctr"/>
            <a:r>
              <a:rPr lang="en-US" altLang="en-US" sz="1200">
                <a:latin typeface="Arial Narrow" panose="020B0606020202030204" pitchFamily="34" charset="0"/>
              </a:rPr>
              <a:t>Production</a:t>
            </a:r>
          </a:p>
        </p:txBody>
      </p:sp>
      <p:cxnSp>
        <p:nvCxnSpPr>
          <p:cNvPr id="32779" name="AutoShape 11"/>
          <p:cNvCxnSpPr>
            <a:cxnSpLocks noChangeShapeType="1"/>
            <a:endCxn id="32783" idx="3"/>
          </p:cNvCxnSpPr>
          <p:nvPr/>
        </p:nvCxnSpPr>
        <p:spPr bwMode="auto">
          <a:xfrm flipV="1">
            <a:off x="6019801" y="3000376"/>
            <a:ext cx="1419225" cy="923925"/>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2780" name="Rectangle 12"/>
          <p:cNvSpPr>
            <a:spLocks noChangeAspect="1" noChangeArrowheads="1"/>
          </p:cNvSpPr>
          <p:nvPr/>
        </p:nvSpPr>
        <p:spPr bwMode="auto">
          <a:xfrm>
            <a:off x="9439275" y="3467100"/>
            <a:ext cx="914400" cy="91440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EMPLOYEE</a:t>
            </a:r>
          </a:p>
        </p:txBody>
      </p:sp>
      <p:cxnSp>
        <p:nvCxnSpPr>
          <p:cNvPr id="32781" name="AutoShape 13"/>
          <p:cNvCxnSpPr>
            <a:cxnSpLocks noChangeShapeType="1"/>
            <a:stCxn id="32780" idx="1"/>
            <a:endCxn id="32778" idx="6"/>
          </p:cNvCxnSpPr>
          <p:nvPr/>
        </p:nvCxnSpPr>
        <p:spPr bwMode="auto">
          <a:xfrm flipH="1">
            <a:off x="8229600" y="3924300"/>
            <a:ext cx="1200150" cy="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2782" name="Text Box 14"/>
          <p:cNvSpPr txBox="1">
            <a:spLocks noChangeArrowheads="1"/>
          </p:cNvSpPr>
          <p:nvPr/>
        </p:nvSpPr>
        <p:spPr bwMode="auto">
          <a:xfrm>
            <a:off x="8229600" y="3810000"/>
            <a:ext cx="10668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Produce</a:t>
            </a:r>
            <a:br>
              <a:rPr lang="en-US" altLang="en-US" sz="1400">
                <a:latin typeface="Arial Narrow" panose="020B0606020202030204" pitchFamily="34" charset="0"/>
              </a:rPr>
            </a:br>
            <a:r>
              <a:rPr lang="en-US" altLang="en-US" sz="1400">
                <a:latin typeface="Arial Narrow" panose="020B0606020202030204" pitchFamily="34" charset="0"/>
              </a:rPr>
              <a:t> Product</a:t>
            </a:r>
          </a:p>
        </p:txBody>
      </p:sp>
      <p:sp>
        <p:nvSpPr>
          <p:cNvPr id="32783" name="Oval 15"/>
          <p:cNvSpPr>
            <a:spLocks noChangeArrowheads="1"/>
          </p:cNvSpPr>
          <p:nvPr/>
        </p:nvSpPr>
        <p:spPr bwMode="auto">
          <a:xfrm>
            <a:off x="7305675" y="22098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8288" rIns="1828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1.0</a:t>
            </a:r>
          </a:p>
          <a:p>
            <a:pPr algn="ctr"/>
            <a:r>
              <a:rPr lang="en-US" altLang="en-US" sz="1200">
                <a:latin typeface="Arial Narrow" panose="020B0606020202030204" pitchFamily="34" charset="0"/>
              </a:rPr>
              <a:t>Sale</a:t>
            </a:r>
          </a:p>
        </p:txBody>
      </p:sp>
      <p:sp>
        <p:nvSpPr>
          <p:cNvPr id="32784" name="Oval 16"/>
          <p:cNvSpPr>
            <a:spLocks noChangeArrowheads="1"/>
          </p:cNvSpPr>
          <p:nvPr/>
        </p:nvSpPr>
        <p:spPr bwMode="auto">
          <a:xfrm>
            <a:off x="7305675" y="45720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rIns="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3.0</a:t>
            </a:r>
          </a:p>
          <a:p>
            <a:pPr algn="ctr"/>
            <a:r>
              <a:rPr lang="en-US" altLang="en-US" sz="1200">
                <a:latin typeface="Arial Narrow" panose="020B0606020202030204" pitchFamily="34" charset="0"/>
              </a:rPr>
              <a:t>Procure-ment</a:t>
            </a:r>
          </a:p>
        </p:txBody>
      </p:sp>
      <p:cxnSp>
        <p:nvCxnSpPr>
          <p:cNvPr id="32785" name="AutoShape 17"/>
          <p:cNvCxnSpPr>
            <a:cxnSpLocks noChangeShapeType="1"/>
            <a:stCxn id="32813" idx="6"/>
            <a:endCxn id="32783" idx="2"/>
          </p:cNvCxnSpPr>
          <p:nvPr/>
        </p:nvCxnSpPr>
        <p:spPr bwMode="auto">
          <a:xfrm flipV="1">
            <a:off x="6019800" y="2667000"/>
            <a:ext cx="1276350" cy="95250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cxnSp>
        <p:nvCxnSpPr>
          <p:cNvPr id="32786" name="AutoShape 18"/>
          <p:cNvCxnSpPr>
            <a:cxnSpLocks noChangeShapeType="1"/>
            <a:stCxn id="32783" idx="6"/>
            <a:endCxn id="32815" idx="2"/>
          </p:cNvCxnSpPr>
          <p:nvPr/>
        </p:nvCxnSpPr>
        <p:spPr bwMode="auto">
          <a:xfrm>
            <a:off x="8229600" y="2667000"/>
            <a:ext cx="1168400" cy="95250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cxnSp>
        <p:nvCxnSpPr>
          <p:cNvPr id="32787" name="AutoShape 19"/>
          <p:cNvCxnSpPr>
            <a:cxnSpLocks noChangeShapeType="1"/>
            <a:stCxn id="32783" idx="4"/>
            <a:endCxn id="32778" idx="0"/>
          </p:cNvCxnSpPr>
          <p:nvPr/>
        </p:nvCxnSpPr>
        <p:spPr bwMode="auto">
          <a:xfrm>
            <a:off x="7762875" y="3133725"/>
            <a:ext cx="0" cy="32385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2788" name="Text Box 20"/>
          <p:cNvSpPr txBox="1">
            <a:spLocks noChangeArrowheads="1"/>
          </p:cNvSpPr>
          <p:nvPr/>
        </p:nvSpPr>
        <p:spPr bwMode="auto">
          <a:xfrm>
            <a:off x="8620126" y="28194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latin typeface="Arial Narrow" panose="020B0606020202030204" pitchFamily="34" charset="0"/>
              </a:rPr>
              <a:t>Sales Forecast</a:t>
            </a:r>
          </a:p>
        </p:txBody>
      </p:sp>
      <p:sp>
        <p:nvSpPr>
          <p:cNvPr id="32789" name="Text Box 21"/>
          <p:cNvSpPr txBox="1">
            <a:spLocks noChangeArrowheads="1"/>
          </p:cNvSpPr>
          <p:nvPr/>
        </p:nvSpPr>
        <p:spPr bwMode="auto">
          <a:xfrm>
            <a:off x="6981826" y="31623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Product Ordered</a:t>
            </a:r>
          </a:p>
        </p:txBody>
      </p:sp>
      <p:cxnSp>
        <p:nvCxnSpPr>
          <p:cNvPr id="32790" name="AutoShape 22"/>
          <p:cNvCxnSpPr>
            <a:cxnSpLocks noChangeShapeType="1"/>
            <a:stCxn id="32814" idx="2"/>
            <a:endCxn id="32784" idx="6"/>
          </p:cNvCxnSpPr>
          <p:nvPr/>
        </p:nvCxnSpPr>
        <p:spPr bwMode="auto">
          <a:xfrm flipH="1">
            <a:off x="8229600" y="4229100"/>
            <a:ext cx="1219200" cy="80010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2791" name="Rectangle 23"/>
          <p:cNvSpPr>
            <a:spLocks noChangeAspect="1" noChangeArrowheads="1"/>
          </p:cNvSpPr>
          <p:nvPr/>
        </p:nvSpPr>
        <p:spPr bwMode="auto">
          <a:xfrm>
            <a:off x="5105400" y="3467100"/>
            <a:ext cx="914400" cy="91440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CUSTOMER</a:t>
            </a:r>
          </a:p>
        </p:txBody>
      </p:sp>
      <p:cxnSp>
        <p:nvCxnSpPr>
          <p:cNvPr id="32792" name="AutoShape 24"/>
          <p:cNvCxnSpPr>
            <a:cxnSpLocks noChangeShapeType="1"/>
            <a:stCxn id="32810" idx="7"/>
            <a:endCxn id="32780" idx="2"/>
          </p:cNvCxnSpPr>
          <p:nvPr/>
        </p:nvCxnSpPr>
        <p:spPr bwMode="auto">
          <a:xfrm flipV="1">
            <a:off x="8096251" y="4391025"/>
            <a:ext cx="1800225" cy="152400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2793" name="Text Box 25"/>
          <p:cNvSpPr txBox="1">
            <a:spLocks noChangeArrowheads="1"/>
          </p:cNvSpPr>
          <p:nvPr/>
        </p:nvSpPr>
        <p:spPr bwMode="auto">
          <a:xfrm>
            <a:off x="7400926" y="54864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Pay</a:t>
            </a:r>
          </a:p>
        </p:txBody>
      </p:sp>
      <p:cxnSp>
        <p:nvCxnSpPr>
          <p:cNvPr id="32794" name="AutoShape 26"/>
          <p:cNvCxnSpPr>
            <a:cxnSpLocks noChangeShapeType="1"/>
            <a:stCxn id="32784" idx="0"/>
            <a:endCxn id="32778" idx="4"/>
          </p:cNvCxnSpPr>
          <p:nvPr/>
        </p:nvCxnSpPr>
        <p:spPr bwMode="auto">
          <a:xfrm flipV="1">
            <a:off x="7762875" y="4391025"/>
            <a:ext cx="0" cy="171450"/>
          </a:xfrm>
          <a:prstGeom prst="straightConnector1">
            <a:avLst/>
          </a:prstGeom>
          <a:noFill/>
          <a:ln w="15875">
            <a:solidFill>
              <a:srgbClr val="000000"/>
            </a:solidFill>
            <a:round/>
            <a:headEnd type="none" w="lg" len="sm"/>
            <a:tailEnd type="stealth" w="lg" len="sm"/>
          </a:ln>
          <a:extLst>
            <a:ext uri="{909E8E84-426E-40DD-AFC4-6F175D3DCCD1}">
              <a14:hiddenFill xmlns:a14="http://schemas.microsoft.com/office/drawing/2010/main">
                <a:noFill/>
              </a14:hiddenFill>
            </a:ext>
          </a:extLst>
        </p:spPr>
      </p:cxnSp>
      <p:sp>
        <p:nvSpPr>
          <p:cNvPr id="32795" name="Text Box 27"/>
          <p:cNvSpPr txBox="1">
            <a:spLocks noChangeArrowheads="1"/>
          </p:cNvSpPr>
          <p:nvPr/>
        </p:nvSpPr>
        <p:spPr bwMode="auto">
          <a:xfrm>
            <a:off x="6629401" y="34290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latin typeface="Arial Narrow" panose="020B0606020202030204" pitchFamily="34" charset="0"/>
              </a:rPr>
              <a:t>Payment</a:t>
            </a:r>
          </a:p>
        </p:txBody>
      </p:sp>
      <p:sp>
        <p:nvSpPr>
          <p:cNvPr id="32796" name="Text Box 28"/>
          <p:cNvSpPr txBox="1">
            <a:spLocks noChangeArrowheads="1"/>
          </p:cNvSpPr>
          <p:nvPr/>
        </p:nvSpPr>
        <p:spPr bwMode="auto">
          <a:xfrm>
            <a:off x="5257801" y="28575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r>
              <a:rPr lang="en-US" altLang="en-US" sz="1400">
                <a:latin typeface="Arial Narrow" panose="020B0606020202030204" pitchFamily="34" charset="0"/>
              </a:rPr>
              <a:t>Customer Order</a:t>
            </a:r>
          </a:p>
        </p:txBody>
      </p:sp>
      <p:sp>
        <p:nvSpPr>
          <p:cNvPr id="32797" name="Rectangle 29"/>
          <p:cNvSpPr>
            <a:spLocks noChangeAspect="1" noChangeArrowheads="1"/>
          </p:cNvSpPr>
          <p:nvPr/>
        </p:nvSpPr>
        <p:spPr bwMode="auto">
          <a:xfrm>
            <a:off x="5105400" y="4572000"/>
            <a:ext cx="914400" cy="91440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VENDOR</a:t>
            </a:r>
          </a:p>
        </p:txBody>
      </p:sp>
      <p:cxnSp>
        <p:nvCxnSpPr>
          <p:cNvPr id="32798" name="AutoShape 30"/>
          <p:cNvCxnSpPr>
            <a:cxnSpLocks noChangeShapeType="1"/>
            <a:stCxn id="32784" idx="3"/>
            <a:endCxn id="32812" idx="6"/>
          </p:cNvCxnSpPr>
          <p:nvPr/>
        </p:nvCxnSpPr>
        <p:spPr bwMode="auto">
          <a:xfrm flipH="1" flipV="1">
            <a:off x="6019801" y="5359401"/>
            <a:ext cx="1419225" cy="3175"/>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cxnSp>
        <p:nvCxnSpPr>
          <p:cNvPr id="32799" name="AutoShape 31"/>
          <p:cNvCxnSpPr>
            <a:cxnSpLocks noChangeShapeType="1"/>
            <a:stCxn id="32784" idx="1"/>
            <a:endCxn id="32811" idx="6"/>
          </p:cNvCxnSpPr>
          <p:nvPr/>
        </p:nvCxnSpPr>
        <p:spPr bwMode="auto">
          <a:xfrm flipH="1">
            <a:off x="6019801" y="4695826"/>
            <a:ext cx="1419225" cy="3175"/>
          </a:xfrm>
          <a:prstGeom prst="straightConnector1">
            <a:avLst/>
          </a:prstGeom>
          <a:noFill/>
          <a:ln w="15875">
            <a:solidFill>
              <a:srgbClr val="000000"/>
            </a:solidFill>
            <a:round/>
            <a:headEnd type="stealth" w="lg" len="sm"/>
            <a:tailEnd type="none" w="lg" len="sm"/>
          </a:ln>
          <a:extLst>
            <a:ext uri="{909E8E84-426E-40DD-AFC4-6F175D3DCCD1}">
              <a14:hiddenFill xmlns:a14="http://schemas.microsoft.com/office/drawing/2010/main">
                <a:noFill/>
              </a14:hiddenFill>
            </a:ext>
          </a:extLst>
        </p:spPr>
      </p:cxnSp>
      <p:sp>
        <p:nvSpPr>
          <p:cNvPr id="32800" name="Text Box 32"/>
          <p:cNvSpPr txBox="1">
            <a:spLocks noChangeArrowheads="1"/>
          </p:cNvSpPr>
          <p:nvPr/>
        </p:nvSpPr>
        <p:spPr bwMode="auto">
          <a:xfrm>
            <a:off x="6181726" y="53340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latin typeface="Arial Narrow" panose="020B0606020202030204" pitchFamily="34" charset="0"/>
              </a:rPr>
              <a:t>Payment</a:t>
            </a:r>
          </a:p>
        </p:txBody>
      </p:sp>
      <p:sp>
        <p:nvSpPr>
          <p:cNvPr id="32801" name="Text Box 33"/>
          <p:cNvSpPr txBox="1">
            <a:spLocks noChangeArrowheads="1"/>
          </p:cNvSpPr>
          <p:nvPr/>
        </p:nvSpPr>
        <p:spPr bwMode="auto">
          <a:xfrm>
            <a:off x="5715001" y="49911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r>
              <a:rPr lang="en-US" altLang="en-US" sz="1400">
                <a:latin typeface="Arial Narrow" panose="020B0606020202030204" pitchFamily="34" charset="0"/>
              </a:rPr>
              <a:t>Purchase Order</a:t>
            </a:r>
          </a:p>
        </p:txBody>
      </p:sp>
      <p:sp>
        <p:nvSpPr>
          <p:cNvPr id="32802" name="Text Box 34"/>
          <p:cNvSpPr txBox="1">
            <a:spLocks noChangeArrowheads="1"/>
          </p:cNvSpPr>
          <p:nvPr/>
        </p:nvSpPr>
        <p:spPr bwMode="auto">
          <a:xfrm>
            <a:off x="7772401" y="49911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Order</a:t>
            </a:r>
            <a:br>
              <a:rPr lang="en-US" altLang="en-US" sz="1400">
                <a:latin typeface="Arial Narrow" panose="020B0606020202030204" pitchFamily="34" charset="0"/>
              </a:rPr>
            </a:br>
            <a:r>
              <a:rPr lang="en-US" altLang="en-US" sz="1400">
                <a:latin typeface="Arial Narrow" panose="020B0606020202030204" pitchFamily="34" charset="0"/>
              </a:rPr>
              <a:t>   Decisions</a:t>
            </a:r>
          </a:p>
        </p:txBody>
      </p:sp>
      <p:cxnSp>
        <p:nvCxnSpPr>
          <p:cNvPr id="32803" name="AutoShape 35"/>
          <p:cNvCxnSpPr>
            <a:cxnSpLocks noChangeShapeType="1"/>
            <a:stCxn id="32784" idx="2"/>
            <a:endCxn id="32797" idx="3"/>
          </p:cNvCxnSpPr>
          <p:nvPr/>
        </p:nvCxnSpPr>
        <p:spPr bwMode="auto">
          <a:xfrm flipH="1">
            <a:off x="6029326" y="5029200"/>
            <a:ext cx="1266825" cy="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2804" name="Text Box 36"/>
          <p:cNvSpPr txBox="1">
            <a:spLocks noChangeArrowheads="1"/>
          </p:cNvSpPr>
          <p:nvPr/>
        </p:nvSpPr>
        <p:spPr bwMode="auto">
          <a:xfrm>
            <a:off x="6019801" y="44323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latin typeface="Arial Narrow" panose="020B0606020202030204" pitchFamily="34" charset="0"/>
              </a:rPr>
              <a:t>Received Goods</a:t>
            </a:r>
          </a:p>
        </p:txBody>
      </p:sp>
      <p:sp>
        <p:nvSpPr>
          <p:cNvPr id="32805" name="Text Box 37"/>
          <p:cNvSpPr txBox="1">
            <a:spLocks noChangeArrowheads="1"/>
          </p:cNvSpPr>
          <p:nvPr/>
        </p:nvSpPr>
        <p:spPr bwMode="auto">
          <a:xfrm>
            <a:off x="8848726" y="55626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latin typeface="Arial Narrow" panose="020B0606020202030204" pitchFamily="34" charset="0"/>
              </a:rPr>
              <a:t>Time Worked</a:t>
            </a:r>
          </a:p>
        </p:txBody>
      </p:sp>
      <p:cxnSp>
        <p:nvCxnSpPr>
          <p:cNvPr id="32806" name="AutoShape 38"/>
          <p:cNvCxnSpPr>
            <a:cxnSpLocks noChangeShapeType="1"/>
            <a:stCxn id="32810" idx="6"/>
            <a:endCxn id="32816" idx="5"/>
          </p:cNvCxnSpPr>
          <p:nvPr/>
        </p:nvCxnSpPr>
        <p:spPr bwMode="auto">
          <a:xfrm flipV="1">
            <a:off x="8239125" y="4335464"/>
            <a:ext cx="2014538" cy="1912937"/>
          </a:xfrm>
          <a:prstGeom prst="straightConnector1">
            <a:avLst/>
          </a:prstGeom>
          <a:noFill/>
          <a:ln w="15875">
            <a:solidFill>
              <a:srgbClr val="000000"/>
            </a:solidFill>
            <a:round/>
            <a:headEnd type="stealth" w="lg" len="sm"/>
            <a:tailEnd type="none" w="lg" len="sm"/>
          </a:ln>
          <a:extLst>
            <a:ext uri="{909E8E84-426E-40DD-AFC4-6F175D3DCCD1}">
              <a14:hiddenFill xmlns:a14="http://schemas.microsoft.com/office/drawing/2010/main">
                <a:noFill/>
              </a14:hiddenFill>
            </a:ext>
          </a:extLst>
        </p:spPr>
      </p:cxnSp>
      <p:cxnSp>
        <p:nvCxnSpPr>
          <p:cNvPr id="32807" name="AutoShape 39"/>
          <p:cNvCxnSpPr>
            <a:cxnSpLocks noChangeShapeType="1"/>
            <a:stCxn id="32778" idx="2"/>
            <a:endCxn id="32791" idx="3"/>
          </p:cNvCxnSpPr>
          <p:nvPr/>
        </p:nvCxnSpPr>
        <p:spPr bwMode="auto">
          <a:xfrm flipH="1">
            <a:off x="6029326" y="3924300"/>
            <a:ext cx="1266825" cy="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2808" name="Text Box 40"/>
          <p:cNvSpPr txBox="1">
            <a:spLocks noChangeArrowheads="1"/>
          </p:cNvSpPr>
          <p:nvPr/>
        </p:nvSpPr>
        <p:spPr bwMode="auto">
          <a:xfrm>
            <a:off x="7832726" y="43561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latin typeface="Arial Narrow" panose="020B0606020202030204" pitchFamily="34" charset="0"/>
              </a:rPr>
              <a:t>Inventory</a:t>
            </a:r>
          </a:p>
        </p:txBody>
      </p:sp>
      <p:sp>
        <p:nvSpPr>
          <p:cNvPr id="32809" name="Text Box 41"/>
          <p:cNvSpPr txBox="1">
            <a:spLocks noChangeArrowheads="1"/>
          </p:cNvSpPr>
          <p:nvPr/>
        </p:nvSpPr>
        <p:spPr bwMode="auto">
          <a:xfrm>
            <a:off x="5943601" y="39624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Product Served</a:t>
            </a:r>
          </a:p>
        </p:txBody>
      </p:sp>
      <p:sp>
        <p:nvSpPr>
          <p:cNvPr id="32810" name="Oval 42"/>
          <p:cNvSpPr>
            <a:spLocks noChangeArrowheads="1"/>
          </p:cNvSpPr>
          <p:nvPr/>
        </p:nvSpPr>
        <p:spPr bwMode="auto">
          <a:xfrm>
            <a:off x="7315200" y="57912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rIns="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4.0</a:t>
            </a:r>
          </a:p>
          <a:p>
            <a:pPr algn="ctr"/>
            <a:r>
              <a:rPr lang="en-US" altLang="en-US" sz="1200">
                <a:latin typeface="Arial Narrow" panose="020B0606020202030204" pitchFamily="34" charset="0"/>
              </a:rPr>
              <a:t>Payroll</a:t>
            </a:r>
          </a:p>
        </p:txBody>
      </p:sp>
      <p:sp>
        <p:nvSpPr>
          <p:cNvPr id="32811" name="Oval 43"/>
          <p:cNvSpPr>
            <a:spLocks noChangeArrowheads="1"/>
          </p:cNvSpPr>
          <p:nvPr/>
        </p:nvSpPr>
        <p:spPr bwMode="auto">
          <a:xfrm>
            <a:off x="5791200" y="45847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2812" name="Oval 44"/>
          <p:cNvSpPr>
            <a:spLocks noChangeArrowheads="1"/>
          </p:cNvSpPr>
          <p:nvPr/>
        </p:nvSpPr>
        <p:spPr bwMode="auto">
          <a:xfrm>
            <a:off x="5791200" y="52451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2813" name="Oval 45"/>
          <p:cNvSpPr>
            <a:spLocks noChangeArrowheads="1"/>
          </p:cNvSpPr>
          <p:nvPr/>
        </p:nvSpPr>
        <p:spPr bwMode="auto">
          <a:xfrm>
            <a:off x="5791200" y="35052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2814" name="Oval 46"/>
          <p:cNvSpPr>
            <a:spLocks noChangeArrowheads="1"/>
          </p:cNvSpPr>
          <p:nvPr/>
        </p:nvSpPr>
        <p:spPr bwMode="auto">
          <a:xfrm>
            <a:off x="9448800" y="41148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2815" name="Oval 47"/>
          <p:cNvSpPr>
            <a:spLocks noChangeArrowheads="1"/>
          </p:cNvSpPr>
          <p:nvPr/>
        </p:nvSpPr>
        <p:spPr bwMode="auto">
          <a:xfrm>
            <a:off x="9398000" y="35052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2816" name="Oval 48"/>
          <p:cNvSpPr>
            <a:spLocks noChangeArrowheads="1"/>
          </p:cNvSpPr>
          <p:nvPr/>
        </p:nvSpPr>
        <p:spPr bwMode="auto">
          <a:xfrm>
            <a:off x="10058400" y="41402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531017826"/>
      </p:ext>
    </p:extLst>
  </p:cSld>
  <p:clrMapOvr>
    <a:masterClrMapping/>
  </p:clrMapOvr>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endParaRPr lang="en-US" altLang="en-US" smtClean="0"/>
          </a:p>
        </p:txBody>
      </p:sp>
      <p:sp>
        <p:nvSpPr>
          <p:cNvPr id="33795" name="Content Placeholder 2"/>
          <p:cNvSpPr>
            <a:spLocks noGrp="1"/>
          </p:cNvSpPr>
          <p:nvPr>
            <p:ph idx="1"/>
          </p:nvPr>
        </p:nvSpPr>
        <p:spPr/>
        <p:txBody>
          <a:bodyPr/>
          <a:lstStyle/>
          <a:p>
            <a:pPr eaLnBrk="1" hangingPunct="1"/>
            <a:r>
              <a:rPr lang="en-US" altLang="en-US" b="1" smtClean="0"/>
              <a:t>Create a level 1 decomposing the processes in level 0 and identifying data stores</a:t>
            </a:r>
          </a:p>
          <a:p>
            <a:pPr eaLnBrk="1" hangingPunct="1"/>
            <a:r>
              <a:rPr lang="en-US" altLang="en-US" b="1" smtClean="0"/>
              <a:t>In the Level 0 with respect to 1.0 Sale</a:t>
            </a:r>
            <a:endParaRPr lang="en-US" altLang="en-US" smtClean="0"/>
          </a:p>
          <a:p>
            <a:pPr eaLnBrk="1" hangingPunct="1"/>
            <a:endParaRPr lang="en-US" altLang="en-US" smtClean="0"/>
          </a:p>
        </p:txBody>
      </p:sp>
    </p:spTree>
    <p:extLst>
      <p:ext uri="{BB962C8B-B14F-4D97-AF65-F5344CB8AC3E}">
        <p14:creationId xmlns:p14="http://schemas.microsoft.com/office/powerpoint/2010/main" val="64277676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endParaRPr lang="en-US" altLang="en-US" smtClean="0"/>
          </a:p>
        </p:txBody>
      </p:sp>
      <p:graphicFrame>
        <p:nvGraphicFramePr>
          <p:cNvPr id="4" name="Content Placeholder 3"/>
          <p:cNvGraphicFramePr>
            <a:graphicFrameLocks noGrp="1"/>
          </p:cNvGraphicFramePr>
          <p:nvPr>
            <p:ph idx="1"/>
          </p:nvPr>
        </p:nvGraphicFramePr>
        <p:xfrm>
          <a:off x="1981200" y="1600201"/>
          <a:ext cx="8229600" cy="1482725"/>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681">
                <a:tc>
                  <a:txBody>
                    <a:bodyPr/>
                    <a:lstStyle/>
                    <a:p>
                      <a:pPr marL="0" marR="0" algn="ctr">
                        <a:spcBef>
                          <a:spcPts val="0"/>
                        </a:spcBef>
                        <a:spcAft>
                          <a:spcPts val="0"/>
                        </a:spcAft>
                      </a:pPr>
                      <a:r>
                        <a:rPr lang="en-US" sz="2400" spc="50" dirty="0">
                          <a:solidFill>
                            <a:srgbClr val="FF0000"/>
                          </a:solidFill>
                          <a:latin typeface="Times New Roman"/>
                          <a:ea typeface="Calibri"/>
                          <a:cs typeface="Latha"/>
                        </a:rPr>
                        <a:t>Main Process</a:t>
                      </a:r>
                      <a:endParaRPr lang="en-US" sz="2400" dirty="0">
                        <a:solidFill>
                          <a:srgbClr val="FF0000"/>
                        </a:solidFill>
                        <a:latin typeface="Times New Roman"/>
                        <a:ea typeface="Batang"/>
                        <a:cs typeface="Latha"/>
                      </a:endParaRPr>
                    </a:p>
                  </a:txBody>
                  <a:tcPr marL="68580" marR="68580" marT="0" marB="0"/>
                </a:tc>
                <a:tc>
                  <a:txBody>
                    <a:bodyPr/>
                    <a:lstStyle/>
                    <a:p>
                      <a:pPr marL="0" marR="0" algn="ctr">
                        <a:spcBef>
                          <a:spcPts val="0"/>
                        </a:spcBef>
                        <a:spcAft>
                          <a:spcPts val="0"/>
                        </a:spcAft>
                      </a:pPr>
                      <a:r>
                        <a:rPr lang="en-US" sz="2400" spc="50">
                          <a:solidFill>
                            <a:srgbClr val="FF0000"/>
                          </a:solidFill>
                          <a:latin typeface="Times New Roman"/>
                          <a:ea typeface="Calibri"/>
                          <a:cs typeface="Latha"/>
                        </a:rPr>
                        <a:t>Sub Process</a:t>
                      </a:r>
                      <a:endParaRPr lang="en-US" sz="2400">
                        <a:solidFill>
                          <a:srgbClr val="FF0000"/>
                        </a:solidFill>
                        <a:latin typeface="Times New Roman"/>
                        <a:ea typeface="Batang"/>
                        <a:cs typeface="Latha"/>
                      </a:endParaRPr>
                    </a:p>
                  </a:txBody>
                  <a:tcPr marL="68580" marR="68580" marT="0" marB="0"/>
                </a:tc>
                <a:tc>
                  <a:txBody>
                    <a:bodyPr/>
                    <a:lstStyle/>
                    <a:p>
                      <a:pPr marL="0" marR="0" algn="ctr">
                        <a:spcBef>
                          <a:spcPts val="0"/>
                        </a:spcBef>
                        <a:spcAft>
                          <a:spcPts val="0"/>
                        </a:spcAft>
                      </a:pPr>
                      <a:r>
                        <a:rPr lang="en-US" sz="2400" spc="50" dirty="0">
                          <a:solidFill>
                            <a:srgbClr val="FF0000"/>
                          </a:solidFill>
                          <a:latin typeface="Times New Roman"/>
                          <a:ea typeface="Calibri"/>
                          <a:cs typeface="Latha"/>
                        </a:rPr>
                        <a:t>Data Stores</a:t>
                      </a:r>
                      <a:endParaRPr lang="en-US" sz="2400" dirty="0">
                        <a:solidFill>
                          <a:srgbClr val="FF0000"/>
                        </a:solidFill>
                        <a:latin typeface="Times New Roman"/>
                        <a:ea typeface="Batang"/>
                        <a:cs typeface="Latha"/>
                      </a:endParaRPr>
                    </a:p>
                  </a:txBody>
                  <a:tcPr marL="68580" marR="68580" marT="0" marB="0"/>
                </a:tc>
                <a:extLst>
                  <a:ext uri="{0D108BD9-81ED-4DB2-BD59-A6C34878D82A}">
                    <a16:rowId xmlns:a16="http://schemas.microsoft.com/office/drawing/2014/main" val="10000"/>
                  </a:ext>
                </a:extLst>
              </a:tr>
              <a:tr h="370681">
                <a:tc rowSpan="3">
                  <a:txBody>
                    <a:bodyPr/>
                    <a:lstStyle/>
                    <a:p>
                      <a:pPr marL="0" marR="0" algn="ctr">
                        <a:spcBef>
                          <a:spcPts val="0"/>
                        </a:spcBef>
                        <a:spcAft>
                          <a:spcPts val="0"/>
                        </a:spcAft>
                      </a:pPr>
                      <a:r>
                        <a:rPr lang="en-US" sz="2400" spc="50" dirty="0">
                          <a:latin typeface="Times New Roman"/>
                          <a:ea typeface="Calibri"/>
                          <a:cs typeface="Latha"/>
                        </a:rPr>
                        <a:t>Sale</a:t>
                      </a:r>
                      <a:endParaRPr lang="en-US" sz="2400" dirty="0">
                        <a:latin typeface="Times New Roman"/>
                        <a:ea typeface="Batang"/>
                        <a:cs typeface="Latha"/>
                      </a:endParaRPr>
                    </a:p>
                  </a:txBody>
                  <a:tcPr marL="68580" marR="68580" marT="0" marB="0"/>
                </a:tc>
                <a:tc>
                  <a:txBody>
                    <a:bodyPr/>
                    <a:lstStyle/>
                    <a:p>
                      <a:pPr marL="0" marR="0" algn="ctr">
                        <a:spcBef>
                          <a:spcPts val="0"/>
                        </a:spcBef>
                        <a:spcAft>
                          <a:spcPts val="0"/>
                        </a:spcAft>
                      </a:pPr>
                      <a:r>
                        <a:rPr lang="en-US" sz="2400" spc="50" dirty="0">
                          <a:latin typeface="Times New Roman"/>
                          <a:ea typeface="Calibri"/>
                          <a:cs typeface="Latha"/>
                        </a:rPr>
                        <a:t>Customer Order</a:t>
                      </a:r>
                      <a:endParaRPr lang="en-US" sz="2400" dirty="0">
                        <a:latin typeface="Times New Roman"/>
                        <a:ea typeface="Batang"/>
                        <a:cs typeface="Latha"/>
                      </a:endParaRPr>
                    </a:p>
                  </a:txBody>
                  <a:tcPr marL="68580" marR="68580" marT="0" marB="0"/>
                </a:tc>
                <a:tc>
                  <a:txBody>
                    <a:bodyPr/>
                    <a:lstStyle/>
                    <a:p>
                      <a:pPr marL="0" marR="0" algn="ctr">
                        <a:spcBef>
                          <a:spcPts val="0"/>
                        </a:spcBef>
                        <a:spcAft>
                          <a:spcPts val="0"/>
                        </a:spcAft>
                      </a:pPr>
                      <a:r>
                        <a:rPr lang="en-US" sz="2400" spc="50" dirty="0">
                          <a:latin typeface="Times New Roman"/>
                          <a:ea typeface="Calibri"/>
                          <a:cs typeface="Latha"/>
                        </a:rPr>
                        <a:t>Customer , Order</a:t>
                      </a:r>
                      <a:endParaRPr lang="en-US" sz="2400" dirty="0">
                        <a:latin typeface="Times New Roman"/>
                        <a:ea typeface="Batang"/>
                        <a:cs typeface="Latha"/>
                      </a:endParaRPr>
                    </a:p>
                  </a:txBody>
                  <a:tcPr marL="68580" marR="68580" marT="0" marB="0"/>
                </a:tc>
                <a:extLst>
                  <a:ext uri="{0D108BD9-81ED-4DB2-BD59-A6C34878D82A}">
                    <a16:rowId xmlns:a16="http://schemas.microsoft.com/office/drawing/2014/main" val="10001"/>
                  </a:ext>
                </a:extLst>
              </a:tr>
              <a:tr h="370681">
                <a:tc vMerge="1">
                  <a:txBody>
                    <a:bodyPr/>
                    <a:lstStyle/>
                    <a:p>
                      <a:endParaRPr lang="en-US"/>
                    </a:p>
                  </a:txBody>
                  <a:tcPr/>
                </a:tc>
                <a:tc>
                  <a:txBody>
                    <a:bodyPr/>
                    <a:lstStyle/>
                    <a:p>
                      <a:pPr marL="0" marR="0" algn="ctr">
                        <a:spcBef>
                          <a:spcPts val="0"/>
                        </a:spcBef>
                        <a:spcAft>
                          <a:spcPts val="0"/>
                        </a:spcAft>
                      </a:pPr>
                      <a:r>
                        <a:rPr lang="en-US" sz="2400" spc="50">
                          <a:latin typeface="Times New Roman"/>
                          <a:ea typeface="Calibri"/>
                          <a:cs typeface="Latha"/>
                        </a:rPr>
                        <a:t>Payment</a:t>
                      </a:r>
                      <a:endParaRPr lang="en-US" sz="2400">
                        <a:latin typeface="Times New Roman"/>
                        <a:ea typeface="Batang"/>
                        <a:cs typeface="Latha"/>
                      </a:endParaRPr>
                    </a:p>
                  </a:txBody>
                  <a:tcPr marL="68580" marR="68580" marT="0" marB="0"/>
                </a:tc>
                <a:tc>
                  <a:txBody>
                    <a:bodyPr/>
                    <a:lstStyle/>
                    <a:p>
                      <a:pPr marL="0" marR="0" algn="ctr">
                        <a:spcBef>
                          <a:spcPts val="0"/>
                        </a:spcBef>
                        <a:spcAft>
                          <a:spcPts val="0"/>
                        </a:spcAft>
                      </a:pPr>
                      <a:r>
                        <a:rPr lang="en-US" sz="2400" spc="50" dirty="0">
                          <a:latin typeface="Times New Roman"/>
                          <a:ea typeface="Calibri"/>
                          <a:cs typeface="Latha"/>
                        </a:rPr>
                        <a:t>Order, Payment</a:t>
                      </a:r>
                      <a:endParaRPr lang="en-US" sz="2400" dirty="0">
                        <a:latin typeface="Times New Roman"/>
                        <a:ea typeface="Batang"/>
                        <a:cs typeface="Latha"/>
                      </a:endParaRPr>
                    </a:p>
                  </a:txBody>
                  <a:tcPr marL="68580" marR="68580" marT="0" marB="0"/>
                </a:tc>
                <a:extLst>
                  <a:ext uri="{0D108BD9-81ED-4DB2-BD59-A6C34878D82A}">
                    <a16:rowId xmlns:a16="http://schemas.microsoft.com/office/drawing/2014/main" val="10002"/>
                  </a:ext>
                </a:extLst>
              </a:tr>
              <a:tr h="370681">
                <a:tc vMerge="1">
                  <a:txBody>
                    <a:bodyPr/>
                    <a:lstStyle/>
                    <a:p>
                      <a:endParaRPr lang="en-US"/>
                    </a:p>
                  </a:txBody>
                  <a:tcPr/>
                </a:tc>
                <a:tc>
                  <a:txBody>
                    <a:bodyPr/>
                    <a:lstStyle/>
                    <a:p>
                      <a:pPr marL="0" marR="0" algn="ctr">
                        <a:spcBef>
                          <a:spcPts val="0"/>
                        </a:spcBef>
                        <a:spcAft>
                          <a:spcPts val="0"/>
                        </a:spcAft>
                      </a:pPr>
                      <a:r>
                        <a:rPr lang="en-US" sz="2400" spc="50">
                          <a:latin typeface="Times New Roman"/>
                          <a:ea typeface="Calibri"/>
                          <a:cs typeface="Latha"/>
                        </a:rPr>
                        <a:t>Sales forecast</a:t>
                      </a:r>
                      <a:endParaRPr lang="en-US" sz="2400">
                        <a:latin typeface="Times New Roman"/>
                        <a:ea typeface="Batang"/>
                        <a:cs typeface="Latha"/>
                      </a:endParaRPr>
                    </a:p>
                  </a:txBody>
                  <a:tcPr marL="68580" marR="68580" marT="0" marB="0"/>
                </a:tc>
                <a:tc>
                  <a:txBody>
                    <a:bodyPr/>
                    <a:lstStyle/>
                    <a:p>
                      <a:pPr marL="0" marR="0" algn="ctr">
                        <a:spcBef>
                          <a:spcPts val="0"/>
                        </a:spcBef>
                        <a:spcAft>
                          <a:spcPts val="0"/>
                        </a:spcAft>
                      </a:pPr>
                      <a:r>
                        <a:rPr lang="en-US" sz="2400" spc="50" dirty="0">
                          <a:latin typeface="Times New Roman"/>
                          <a:ea typeface="Calibri"/>
                          <a:cs typeface="Latha"/>
                        </a:rPr>
                        <a:t>Payment</a:t>
                      </a:r>
                      <a:endParaRPr lang="en-US" sz="2400" dirty="0">
                        <a:latin typeface="Times New Roman"/>
                        <a:ea typeface="Batang"/>
                        <a:cs typeface="Latha"/>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0355693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j0198656"/>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8458201" y="4495800"/>
            <a:ext cx="2093913" cy="230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Text Box 3"/>
          <p:cNvSpPr txBox="1">
            <a:spLocks noChangeArrowheads="1"/>
          </p:cNvSpPr>
          <p:nvPr/>
        </p:nvSpPr>
        <p:spPr bwMode="auto">
          <a:xfrm>
            <a:off x="152400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600"/>
              <a:t>Creating Data Flow Diagrams</a:t>
            </a:r>
          </a:p>
        </p:txBody>
      </p:sp>
      <p:sp>
        <p:nvSpPr>
          <p:cNvPr id="35844" name="Line 4"/>
          <p:cNvSpPr>
            <a:spLocks noChangeShapeType="1"/>
          </p:cNvSpPr>
          <p:nvPr/>
        </p:nvSpPr>
        <p:spPr bwMode="auto">
          <a:xfrm flipV="1">
            <a:off x="4876800" y="1219200"/>
            <a:ext cx="0" cy="541020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35845" name="Text Box 5"/>
          <p:cNvSpPr txBox="1">
            <a:spLocks noChangeArrowheads="1"/>
          </p:cNvSpPr>
          <p:nvPr/>
        </p:nvSpPr>
        <p:spPr bwMode="auto">
          <a:xfrm>
            <a:off x="4800600" y="1752600"/>
            <a:ext cx="586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chemeClr val="accent2"/>
                </a:solidFill>
              </a:rPr>
              <a:t>Level 1 DFD</a:t>
            </a:r>
          </a:p>
        </p:txBody>
      </p:sp>
      <p:sp>
        <p:nvSpPr>
          <p:cNvPr id="35846" name="Text Box 6"/>
          <p:cNvSpPr txBox="1">
            <a:spLocks noChangeArrowheads="1"/>
          </p:cNvSpPr>
          <p:nvPr/>
        </p:nvSpPr>
        <p:spPr bwMode="auto">
          <a:xfrm>
            <a:off x="1524000" y="914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rgbClr val="00CC00"/>
                </a:solidFill>
              </a:rPr>
              <a:t>Example</a:t>
            </a:r>
          </a:p>
        </p:txBody>
      </p:sp>
      <p:pic>
        <p:nvPicPr>
          <p:cNvPr id="35847" name="Picture 7" descr="j0297517"/>
          <p:cNvPicPr>
            <a:picLocks noChangeAspect="1" noChangeArrowheads="1"/>
          </p:cNvPicPr>
          <p:nvPr/>
        </p:nvPicPr>
        <p:blipFill>
          <a:blip r:embed="rId3">
            <a:lum bright="80000" contrast="-80000"/>
            <a:extLst>
              <a:ext uri="{28A0092B-C50C-407E-A947-70E740481C1C}">
                <a14:useLocalDpi xmlns:a14="http://schemas.microsoft.com/office/drawing/2010/main" val="0"/>
              </a:ext>
            </a:extLst>
          </a:blip>
          <a:srcRect/>
          <a:stretch>
            <a:fillRect/>
          </a:stretch>
        </p:blipFill>
        <p:spPr bwMode="auto">
          <a:xfrm>
            <a:off x="1739901" y="2882900"/>
            <a:ext cx="251142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8" name="Text Box 8"/>
          <p:cNvSpPr txBox="1">
            <a:spLocks noChangeArrowheads="1"/>
          </p:cNvSpPr>
          <p:nvPr/>
        </p:nvSpPr>
        <p:spPr bwMode="auto">
          <a:xfrm>
            <a:off x="1752600" y="1447801"/>
            <a:ext cx="31242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Create a level 1 decomposing the processes in level 0 and identifying data stores.</a:t>
            </a:r>
          </a:p>
        </p:txBody>
      </p:sp>
      <p:sp>
        <p:nvSpPr>
          <p:cNvPr id="35849" name="Text Box 9"/>
          <p:cNvSpPr txBox="1">
            <a:spLocks noChangeArrowheads="1"/>
          </p:cNvSpPr>
          <p:nvPr/>
        </p:nvSpPr>
        <p:spPr bwMode="auto">
          <a:xfrm>
            <a:off x="4953000" y="1066801"/>
            <a:ext cx="571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rabicPeriod" startAt="4"/>
            </a:pPr>
            <a:r>
              <a:rPr lang="en-US" altLang="en-US" sz="2000"/>
              <a:t>Construct Level 1- n DFD </a:t>
            </a:r>
            <a:br>
              <a:rPr lang="en-US" altLang="en-US" sz="2000"/>
            </a:br>
            <a:r>
              <a:rPr lang="en-US" altLang="en-US" sz="2000"/>
              <a:t>(identifies actual data flows and data stores )</a:t>
            </a:r>
          </a:p>
        </p:txBody>
      </p:sp>
      <p:cxnSp>
        <p:nvCxnSpPr>
          <p:cNvPr id="35850" name="AutoShape 10"/>
          <p:cNvCxnSpPr>
            <a:cxnSpLocks noChangeShapeType="1"/>
            <a:stCxn id="35868" idx="3"/>
            <a:endCxn id="35851" idx="3"/>
          </p:cNvCxnSpPr>
          <p:nvPr/>
        </p:nvCxnSpPr>
        <p:spPr bwMode="auto">
          <a:xfrm flipV="1">
            <a:off x="8077200" y="4371975"/>
            <a:ext cx="361950" cy="579438"/>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5851" name="Oval 11"/>
          <p:cNvSpPr>
            <a:spLocks noChangeArrowheads="1"/>
          </p:cNvSpPr>
          <p:nvPr/>
        </p:nvSpPr>
        <p:spPr bwMode="auto">
          <a:xfrm>
            <a:off x="8305800" y="35814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8288" rIns="1828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1.3</a:t>
            </a:r>
          </a:p>
          <a:p>
            <a:pPr algn="ctr"/>
            <a:r>
              <a:rPr lang="en-US" altLang="en-US" sz="1200">
                <a:latin typeface="Arial Narrow" panose="020B0606020202030204" pitchFamily="34" charset="0"/>
              </a:rPr>
              <a:t>Produce Sales Forecast</a:t>
            </a:r>
          </a:p>
        </p:txBody>
      </p:sp>
      <p:cxnSp>
        <p:nvCxnSpPr>
          <p:cNvPr id="35852" name="AutoShape 12"/>
          <p:cNvCxnSpPr>
            <a:cxnSpLocks noChangeShapeType="1"/>
            <a:stCxn id="35851" idx="6"/>
            <a:endCxn id="35854" idx="0"/>
          </p:cNvCxnSpPr>
          <p:nvPr/>
        </p:nvCxnSpPr>
        <p:spPr bwMode="auto">
          <a:xfrm>
            <a:off x="9229725" y="4038600"/>
            <a:ext cx="642938" cy="22860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cxnSp>
        <p:nvCxnSpPr>
          <p:cNvPr id="35853" name="AutoShape 13"/>
          <p:cNvCxnSpPr>
            <a:cxnSpLocks noChangeShapeType="1"/>
            <a:stCxn id="35864" idx="3"/>
            <a:endCxn id="35851" idx="1"/>
          </p:cNvCxnSpPr>
          <p:nvPr/>
        </p:nvCxnSpPr>
        <p:spPr bwMode="auto">
          <a:xfrm>
            <a:off x="8077200" y="3046413"/>
            <a:ext cx="361950" cy="658812"/>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5854" name="Text Box 14"/>
          <p:cNvSpPr txBox="1">
            <a:spLocks noChangeArrowheads="1"/>
          </p:cNvSpPr>
          <p:nvPr/>
        </p:nvSpPr>
        <p:spPr bwMode="auto">
          <a:xfrm>
            <a:off x="9077326" y="42672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Sales Forecast</a:t>
            </a:r>
          </a:p>
        </p:txBody>
      </p:sp>
      <p:sp>
        <p:nvSpPr>
          <p:cNvPr id="35855" name="Text Box 15"/>
          <p:cNvSpPr txBox="1">
            <a:spLocks noChangeArrowheads="1"/>
          </p:cNvSpPr>
          <p:nvPr/>
        </p:nvSpPr>
        <p:spPr bwMode="auto">
          <a:xfrm>
            <a:off x="4381501" y="42291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Payment</a:t>
            </a:r>
          </a:p>
        </p:txBody>
      </p:sp>
      <p:sp>
        <p:nvSpPr>
          <p:cNvPr id="35856" name="Oval 16"/>
          <p:cNvSpPr>
            <a:spLocks noChangeArrowheads="1"/>
          </p:cNvSpPr>
          <p:nvPr/>
        </p:nvSpPr>
        <p:spPr bwMode="auto">
          <a:xfrm>
            <a:off x="5791200" y="35052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5857" name="Oval 17"/>
          <p:cNvSpPr>
            <a:spLocks noChangeArrowheads="1"/>
          </p:cNvSpPr>
          <p:nvPr/>
        </p:nvSpPr>
        <p:spPr bwMode="auto">
          <a:xfrm>
            <a:off x="9398000" y="35052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5858" name="Oval 18"/>
          <p:cNvSpPr>
            <a:spLocks noChangeArrowheads="1"/>
          </p:cNvSpPr>
          <p:nvPr/>
        </p:nvSpPr>
        <p:spPr bwMode="auto">
          <a:xfrm>
            <a:off x="10058400" y="41402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5859" name="Text Box 19"/>
          <p:cNvSpPr txBox="1">
            <a:spLocks noChangeArrowheads="1"/>
          </p:cNvSpPr>
          <p:nvPr/>
        </p:nvSpPr>
        <p:spPr bwMode="auto">
          <a:xfrm>
            <a:off x="1752600" y="2879726"/>
            <a:ext cx="30480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b="1"/>
              <a:t>Customer Order</a:t>
            </a:r>
          </a:p>
          <a:p>
            <a:pPr eaLnBrk="1" hangingPunct="1"/>
            <a:r>
              <a:rPr lang="en-US" altLang="en-US" sz="2000">
                <a:solidFill>
                  <a:srgbClr val="339933"/>
                </a:solidFill>
              </a:rPr>
              <a:t>Serve Product</a:t>
            </a:r>
          </a:p>
          <a:p>
            <a:pPr eaLnBrk="1" hangingPunct="1"/>
            <a:r>
              <a:rPr lang="en-US" altLang="en-US" sz="2000" b="1"/>
              <a:t>Collect Payment</a:t>
            </a:r>
          </a:p>
          <a:p>
            <a:pPr eaLnBrk="1" hangingPunct="1"/>
            <a:endParaRPr lang="en-US" altLang="en-US" sz="2000">
              <a:solidFill>
                <a:srgbClr val="339933"/>
              </a:solidFill>
            </a:endParaRPr>
          </a:p>
          <a:p>
            <a:pPr eaLnBrk="1" hangingPunct="1"/>
            <a:r>
              <a:rPr lang="en-US" altLang="en-US" sz="2000">
                <a:solidFill>
                  <a:srgbClr val="339933"/>
                </a:solidFill>
              </a:rPr>
              <a:t>Produce Product</a:t>
            </a:r>
          </a:p>
          <a:p>
            <a:pPr eaLnBrk="1" hangingPunct="1"/>
            <a:r>
              <a:rPr lang="en-US" altLang="en-US" sz="2000">
                <a:solidFill>
                  <a:srgbClr val="339933"/>
                </a:solidFill>
              </a:rPr>
              <a:t>Store Product</a:t>
            </a:r>
          </a:p>
          <a:p>
            <a:pPr eaLnBrk="1" hangingPunct="1"/>
            <a:endParaRPr lang="en-US" altLang="en-US" sz="2000">
              <a:solidFill>
                <a:srgbClr val="339933"/>
              </a:solidFill>
            </a:endParaRPr>
          </a:p>
          <a:p>
            <a:pPr eaLnBrk="1" hangingPunct="1"/>
            <a:r>
              <a:rPr lang="en-US" altLang="en-US" sz="2000">
                <a:solidFill>
                  <a:srgbClr val="339933"/>
                </a:solidFill>
              </a:rPr>
              <a:t>Order Raw Materials</a:t>
            </a:r>
          </a:p>
          <a:p>
            <a:pPr eaLnBrk="1" hangingPunct="1"/>
            <a:r>
              <a:rPr lang="en-US" altLang="en-US" sz="2000">
                <a:solidFill>
                  <a:srgbClr val="339933"/>
                </a:solidFill>
              </a:rPr>
              <a:t>Pay for Raw Materials</a:t>
            </a:r>
          </a:p>
          <a:p>
            <a:pPr eaLnBrk="1" hangingPunct="1"/>
            <a:endParaRPr lang="en-US" altLang="en-US" sz="2000">
              <a:solidFill>
                <a:srgbClr val="339933"/>
              </a:solidFill>
            </a:endParaRPr>
          </a:p>
          <a:p>
            <a:pPr eaLnBrk="1" hangingPunct="1"/>
            <a:r>
              <a:rPr lang="en-US" altLang="en-US" sz="2000">
                <a:solidFill>
                  <a:srgbClr val="339933"/>
                </a:solidFill>
              </a:rPr>
              <a:t>Pay for Labor</a:t>
            </a:r>
          </a:p>
          <a:p>
            <a:pPr eaLnBrk="1" hangingPunct="1"/>
            <a:endParaRPr lang="en-US" altLang="en-US" sz="2000">
              <a:solidFill>
                <a:srgbClr val="339933"/>
              </a:solidFill>
            </a:endParaRPr>
          </a:p>
        </p:txBody>
      </p:sp>
      <p:sp>
        <p:nvSpPr>
          <p:cNvPr id="35860" name="Oval 20"/>
          <p:cNvSpPr>
            <a:spLocks noChangeArrowheads="1"/>
          </p:cNvSpPr>
          <p:nvPr/>
        </p:nvSpPr>
        <p:spPr bwMode="auto">
          <a:xfrm>
            <a:off x="5791200" y="30480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1.1</a:t>
            </a:r>
          </a:p>
          <a:p>
            <a:pPr algn="ctr"/>
            <a:r>
              <a:rPr lang="en-US" altLang="en-US" sz="1200">
                <a:latin typeface="Arial Narrow" panose="020B0606020202030204" pitchFamily="34" charset="0"/>
              </a:rPr>
              <a:t>Record Order</a:t>
            </a:r>
          </a:p>
        </p:txBody>
      </p:sp>
      <p:cxnSp>
        <p:nvCxnSpPr>
          <p:cNvPr id="35861" name="AutoShape 21"/>
          <p:cNvCxnSpPr>
            <a:cxnSpLocks noChangeShapeType="1"/>
            <a:stCxn id="35860" idx="6"/>
            <a:endCxn id="35864" idx="1"/>
          </p:cNvCxnSpPr>
          <p:nvPr/>
        </p:nvCxnSpPr>
        <p:spPr bwMode="auto">
          <a:xfrm flipV="1">
            <a:off x="6715126" y="3046414"/>
            <a:ext cx="447675" cy="458787"/>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cxnSp>
        <p:nvCxnSpPr>
          <p:cNvPr id="35862" name="AutoShape 22"/>
          <p:cNvCxnSpPr>
            <a:cxnSpLocks noChangeShapeType="1"/>
            <a:stCxn id="35855" idx="2"/>
            <a:endCxn id="35867" idx="2"/>
          </p:cNvCxnSpPr>
          <p:nvPr/>
        </p:nvCxnSpPr>
        <p:spPr bwMode="auto">
          <a:xfrm rot="16200000" flipH="1">
            <a:off x="5250657" y="4421982"/>
            <a:ext cx="457200" cy="604837"/>
          </a:xfrm>
          <a:prstGeom prst="curvedConnector2">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5863" name="Text Box 23"/>
          <p:cNvSpPr txBox="1">
            <a:spLocks noChangeArrowheads="1"/>
          </p:cNvSpPr>
          <p:nvPr/>
        </p:nvSpPr>
        <p:spPr bwMode="auto">
          <a:xfrm>
            <a:off x="4724401" y="25908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Customer Order</a:t>
            </a:r>
          </a:p>
        </p:txBody>
      </p:sp>
      <p:sp>
        <p:nvSpPr>
          <p:cNvPr id="35864" name="Rectangle 25" descr="DataStore"/>
          <p:cNvSpPr>
            <a:spLocks noChangeArrowheads="1"/>
          </p:cNvSpPr>
          <p:nvPr/>
        </p:nvSpPr>
        <p:spPr bwMode="auto">
          <a:xfrm>
            <a:off x="7162800" y="2895601"/>
            <a:ext cx="914400" cy="301625"/>
          </a:xfrm>
          <a:prstGeom prst="rect">
            <a:avLst/>
          </a:prstGeom>
          <a:blipFill dpi="0" rotWithShape="0">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ORDER</a:t>
            </a:r>
          </a:p>
        </p:txBody>
      </p:sp>
      <p:cxnSp>
        <p:nvCxnSpPr>
          <p:cNvPr id="35865" name="AutoShape 26"/>
          <p:cNvCxnSpPr>
            <a:cxnSpLocks noChangeShapeType="1"/>
            <a:stCxn id="35864" idx="2"/>
            <a:endCxn id="35867" idx="7"/>
          </p:cNvCxnSpPr>
          <p:nvPr/>
        </p:nvCxnSpPr>
        <p:spPr bwMode="auto">
          <a:xfrm flipH="1">
            <a:off x="6572250" y="3197225"/>
            <a:ext cx="1047750" cy="142240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cxnSp>
        <p:nvCxnSpPr>
          <p:cNvPr id="35866" name="AutoShape 27"/>
          <p:cNvCxnSpPr>
            <a:cxnSpLocks noChangeShapeType="1"/>
            <a:stCxn id="35863" idx="2"/>
            <a:endCxn id="35860" idx="2"/>
          </p:cNvCxnSpPr>
          <p:nvPr/>
        </p:nvCxnSpPr>
        <p:spPr bwMode="auto">
          <a:xfrm rot="16200000" flipH="1">
            <a:off x="5326857" y="3050382"/>
            <a:ext cx="647700" cy="261937"/>
          </a:xfrm>
          <a:prstGeom prst="curvedConnector2">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5867" name="Oval 28"/>
          <p:cNvSpPr>
            <a:spLocks noChangeArrowheads="1"/>
          </p:cNvSpPr>
          <p:nvPr/>
        </p:nvSpPr>
        <p:spPr bwMode="auto">
          <a:xfrm>
            <a:off x="5791200" y="44958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1.2</a:t>
            </a:r>
          </a:p>
          <a:p>
            <a:pPr algn="ctr"/>
            <a:r>
              <a:rPr lang="en-US" altLang="en-US" sz="1200">
                <a:latin typeface="Arial Narrow" panose="020B0606020202030204" pitchFamily="34" charset="0"/>
              </a:rPr>
              <a:t>Receive Payment</a:t>
            </a:r>
          </a:p>
        </p:txBody>
      </p:sp>
      <p:sp>
        <p:nvSpPr>
          <p:cNvPr id="35868" name="Rectangle 29" descr="DataStore"/>
          <p:cNvSpPr>
            <a:spLocks noChangeArrowheads="1"/>
          </p:cNvSpPr>
          <p:nvPr/>
        </p:nvSpPr>
        <p:spPr bwMode="auto">
          <a:xfrm>
            <a:off x="7162800" y="4800601"/>
            <a:ext cx="914400" cy="301625"/>
          </a:xfrm>
          <a:prstGeom prst="rect">
            <a:avLst/>
          </a:prstGeom>
          <a:blipFill dpi="0" rotWithShape="0">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PAYMENT</a:t>
            </a:r>
          </a:p>
        </p:txBody>
      </p:sp>
      <p:cxnSp>
        <p:nvCxnSpPr>
          <p:cNvPr id="35869" name="AutoShape 30"/>
          <p:cNvCxnSpPr>
            <a:cxnSpLocks noChangeShapeType="1"/>
            <a:stCxn id="35867" idx="6"/>
            <a:endCxn id="35868" idx="1"/>
          </p:cNvCxnSpPr>
          <p:nvPr/>
        </p:nvCxnSpPr>
        <p:spPr bwMode="auto">
          <a:xfrm flipV="1">
            <a:off x="6715126" y="4951414"/>
            <a:ext cx="447675" cy="1587"/>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5870" name="Text Box 31"/>
          <p:cNvSpPr txBox="1">
            <a:spLocks noChangeArrowheads="1"/>
          </p:cNvSpPr>
          <p:nvPr/>
        </p:nvSpPr>
        <p:spPr bwMode="auto">
          <a:xfrm>
            <a:off x="7010400" y="3962400"/>
            <a:ext cx="12954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latin typeface="Arial Narrow" panose="020B0606020202030204" pitchFamily="34" charset="0"/>
              </a:rPr>
              <a:t>Severed Order</a:t>
            </a:r>
          </a:p>
        </p:txBody>
      </p:sp>
      <p:sp>
        <p:nvSpPr>
          <p:cNvPr id="35871" name="Text Box 32"/>
          <p:cNvSpPr txBox="1">
            <a:spLocks noChangeArrowheads="1"/>
          </p:cNvSpPr>
          <p:nvPr/>
        </p:nvSpPr>
        <p:spPr bwMode="auto">
          <a:xfrm>
            <a:off x="8534401" y="28194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Request for Forecast</a:t>
            </a:r>
          </a:p>
        </p:txBody>
      </p:sp>
      <p:cxnSp>
        <p:nvCxnSpPr>
          <p:cNvPr id="35872" name="AutoShape 33"/>
          <p:cNvCxnSpPr>
            <a:cxnSpLocks noChangeShapeType="1"/>
            <a:stCxn id="35871" idx="2"/>
            <a:endCxn id="35851" idx="0"/>
          </p:cNvCxnSpPr>
          <p:nvPr/>
        </p:nvCxnSpPr>
        <p:spPr bwMode="auto">
          <a:xfrm rot="5400000">
            <a:off x="8803482" y="3045619"/>
            <a:ext cx="485775" cy="566738"/>
          </a:xfrm>
          <a:prstGeom prst="curvedConnector3">
            <a:avLst>
              <a:gd name="adj1" fmla="val 5098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5873" name="Rectangle 34" descr="DataStore"/>
          <p:cNvSpPr>
            <a:spLocks noChangeArrowheads="1"/>
          </p:cNvSpPr>
          <p:nvPr/>
        </p:nvSpPr>
        <p:spPr bwMode="auto">
          <a:xfrm>
            <a:off x="7162800" y="2286001"/>
            <a:ext cx="914400" cy="301625"/>
          </a:xfrm>
          <a:prstGeom prst="rect">
            <a:avLst/>
          </a:prstGeom>
          <a:blipFill dpi="0" rotWithShape="0">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CUSTOMER</a:t>
            </a:r>
          </a:p>
        </p:txBody>
      </p:sp>
      <p:cxnSp>
        <p:nvCxnSpPr>
          <p:cNvPr id="35874" name="AutoShape 35"/>
          <p:cNvCxnSpPr>
            <a:cxnSpLocks noChangeShapeType="1"/>
            <a:stCxn id="35873" idx="1"/>
            <a:endCxn id="35860" idx="0"/>
          </p:cNvCxnSpPr>
          <p:nvPr/>
        </p:nvCxnSpPr>
        <p:spPr bwMode="auto">
          <a:xfrm flipH="1">
            <a:off x="6248400" y="2436813"/>
            <a:ext cx="914400" cy="601662"/>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013160028"/>
      </p:ext>
    </p:extLst>
  </p:cSld>
  <p:clrMapOvr>
    <a:masterClrMapping/>
  </p:clrMapOvr>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j0113060"/>
          <p:cNvPicPr>
            <a:picLocks noChangeAspect="1" noChangeArrowheads="1"/>
          </p:cNvPicPr>
          <p:nvPr/>
        </p:nvPicPr>
        <p:blipFill>
          <a:blip r:embed="rId2" cstate="print">
            <a:lum bright="52000" contrast="-70000"/>
            <a:extLst>
              <a:ext uri="{28A0092B-C50C-407E-A947-70E740481C1C}">
                <a14:useLocalDpi xmlns:a14="http://schemas.microsoft.com/office/drawing/2010/main" val="0"/>
              </a:ext>
            </a:extLst>
          </a:blip>
          <a:srcRect/>
          <a:stretch>
            <a:fillRect/>
          </a:stretch>
        </p:blipFill>
        <p:spPr bwMode="auto">
          <a:xfrm>
            <a:off x="8529638" y="4114800"/>
            <a:ext cx="2214562"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Text Box 3"/>
          <p:cNvSpPr txBox="1">
            <a:spLocks noChangeArrowheads="1"/>
          </p:cNvSpPr>
          <p:nvPr/>
        </p:nvSpPr>
        <p:spPr bwMode="auto">
          <a:xfrm>
            <a:off x="152400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600"/>
              <a:t>Creating Data Flow Diagrams</a:t>
            </a:r>
          </a:p>
        </p:txBody>
      </p:sp>
      <p:sp>
        <p:nvSpPr>
          <p:cNvPr id="36868" name="Line 4"/>
          <p:cNvSpPr>
            <a:spLocks noChangeShapeType="1"/>
          </p:cNvSpPr>
          <p:nvPr/>
        </p:nvSpPr>
        <p:spPr bwMode="auto">
          <a:xfrm flipV="1">
            <a:off x="4876800" y="1219200"/>
            <a:ext cx="0" cy="541020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36869" name="Text Box 5"/>
          <p:cNvSpPr txBox="1">
            <a:spLocks noChangeArrowheads="1"/>
          </p:cNvSpPr>
          <p:nvPr/>
        </p:nvSpPr>
        <p:spPr bwMode="auto">
          <a:xfrm>
            <a:off x="4800600" y="1752600"/>
            <a:ext cx="586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chemeClr val="accent2"/>
                </a:solidFill>
              </a:rPr>
              <a:t>Level 1 DFD</a:t>
            </a:r>
          </a:p>
        </p:txBody>
      </p:sp>
      <p:sp>
        <p:nvSpPr>
          <p:cNvPr id="36870" name="Text Box 6"/>
          <p:cNvSpPr txBox="1">
            <a:spLocks noChangeArrowheads="1"/>
          </p:cNvSpPr>
          <p:nvPr/>
        </p:nvSpPr>
        <p:spPr bwMode="auto">
          <a:xfrm>
            <a:off x="1524000" y="914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rgbClr val="00CC00"/>
                </a:solidFill>
              </a:rPr>
              <a:t>Example</a:t>
            </a:r>
          </a:p>
        </p:txBody>
      </p:sp>
      <p:pic>
        <p:nvPicPr>
          <p:cNvPr id="36871" name="Picture 7" descr="j0297517"/>
          <p:cNvPicPr>
            <a:picLocks noChangeAspect="1" noChangeArrowheads="1"/>
          </p:cNvPicPr>
          <p:nvPr/>
        </p:nvPicPr>
        <p:blipFill>
          <a:blip r:embed="rId3">
            <a:lum bright="80000" contrast="-80000"/>
            <a:extLst>
              <a:ext uri="{28A0092B-C50C-407E-A947-70E740481C1C}">
                <a14:useLocalDpi xmlns:a14="http://schemas.microsoft.com/office/drawing/2010/main" val="0"/>
              </a:ext>
            </a:extLst>
          </a:blip>
          <a:srcRect/>
          <a:stretch>
            <a:fillRect/>
          </a:stretch>
        </p:blipFill>
        <p:spPr bwMode="auto">
          <a:xfrm>
            <a:off x="1739901" y="2882900"/>
            <a:ext cx="251142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2" name="Text Box 8"/>
          <p:cNvSpPr txBox="1">
            <a:spLocks noChangeArrowheads="1"/>
          </p:cNvSpPr>
          <p:nvPr/>
        </p:nvSpPr>
        <p:spPr bwMode="auto">
          <a:xfrm>
            <a:off x="1752600" y="1447801"/>
            <a:ext cx="31242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Create a level 1 decomposing the processes in level 0 and identifying data stores.</a:t>
            </a:r>
          </a:p>
        </p:txBody>
      </p:sp>
      <p:sp>
        <p:nvSpPr>
          <p:cNvPr id="36873" name="Text Box 9"/>
          <p:cNvSpPr txBox="1">
            <a:spLocks noChangeArrowheads="1"/>
          </p:cNvSpPr>
          <p:nvPr/>
        </p:nvSpPr>
        <p:spPr bwMode="auto">
          <a:xfrm>
            <a:off x="4953000" y="1066801"/>
            <a:ext cx="571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rabicPeriod" startAt="4"/>
            </a:pPr>
            <a:r>
              <a:rPr lang="en-US" altLang="en-US" sz="2000"/>
              <a:t>Construct Level 1 (continued)</a:t>
            </a:r>
          </a:p>
        </p:txBody>
      </p:sp>
      <p:sp>
        <p:nvSpPr>
          <p:cNvPr id="36874" name="Text Box 10"/>
          <p:cNvSpPr txBox="1">
            <a:spLocks noChangeArrowheads="1"/>
          </p:cNvSpPr>
          <p:nvPr/>
        </p:nvSpPr>
        <p:spPr bwMode="auto">
          <a:xfrm>
            <a:off x="1752600" y="2879726"/>
            <a:ext cx="30480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solidFill>
                  <a:srgbClr val="339933"/>
                </a:solidFill>
              </a:rPr>
              <a:t>Customer Order</a:t>
            </a:r>
          </a:p>
          <a:p>
            <a:pPr eaLnBrk="1" hangingPunct="1"/>
            <a:r>
              <a:rPr lang="en-US" altLang="en-US" sz="2000" b="1"/>
              <a:t>Serve Product</a:t>
            </a:r>
          </a:p>
          <a:p>
            <a:pPr eaLnBrk="1" hangingPunct="1"/>
            <a:r>
              <a:rPr lang="en-US" altLang="en-US" sz="2000">
                <a:solidFill>
                  <a:srgbClr val="339933"/>
                </a:solidFill>
              </a:rPr>
              <a:t>Collect Payment</a:t>
            </a:r>
          </a:p>
          <a:p>
            <a:pPr eaLnBrk="1" hangingPunct="1"/>
            <a:endParaRPr lang="en-US" altLang="en-US" sz="2000">
              <a:solidFill>
                <a:srgbClr val="339933"/>
              </a:solidFill>
            </a:endParaRPr>
          </a:p>
          <a:p>
            <a:pPr eaLnBrk="1" hangingPunct="1"/>
            <a:r>
              <a:rPr lang="en-US" altLang="en-US" sz="2000" b="1"/>
              <a:t>Produce Product</a:t>
            </a:r>
          </a:p>
          <a:p>
            <a:pPr eaLnBrk="1" hangingPunct="1"/>
            <a:r>
              <a:rPr lang="en-US" altLang="en-US" sz="2000" b="1"/>
              <a:t>Store Product</a:t>
            </a:r>
          </a:p>
          <a:p>
            <a:pPr eaLnBrk="1" hangingPunct="1"/>
            <a:endParaRPr lang="en-US" altLang="en-US" sz="2000" b="1"/>
          </a:p>
          <a:p>
            <a:pPr eaLnBrk="1" hangingPunct="1"/>
            <a:r>
              <a:rPr lang="en-US" altLang="en-US" sz="2000">
                <a:solidFill>
                  <a:srgbClr val="339933"/>
                </a:solidFill>
              </a:rPr>
              <a:t>Order Raw Materials</a:t>
            </a:r>
          </a:p>
          <a:p>
            <a:pPr eaLnBrk="1" hangingPunct="1"/>
            <a:r>
              <a:rPr lang="en-US" altLang="en-US" sz="2000">
                <a:solidFill>
                  <a:srgbClr val="339933"/>
                </a:solidFill>
              </a:rPr>
              <a:t>Pay for Raw Materials</a:t>
            </a:r>
          </a:p>
          <a:p>
            <a:pPr eaLnBrk="1" hangingPunct="1"/>
            <a:endParaRPr lang="en-US" altLang="en-US" sz="2000">
              <a:solidFill>
                <a:srgbClr val="339933"/>
              </a:solidFill>
            </a:endParaRPr>
          </a:p>
          <a:p>
            <a:pPr eaLnBrk="1" hangingPunct="1"/>
            <a:r>
              <a:rPr lang="en-US" altLang="en-US" sz="2000">
                <a:solidFill>
                  <a:srgbClr val="339933"/>
                </a:solidFill>
              </a:rPr>
              <a:t>Pay for Labor</a:t>
            </a:r>
          </a:p>
          <a:p>
            <a:pPr eaLnBrk="1" hangingPunct="1"/>
            <a:endParaRPr lang="en-US" altLang="en-US" sz="2000">
              <a:solidFill>
                <a:srgbClr val="339933"/>
              </a:solidFill>
            </a:endParaRPr>
          </a:p>
        </p:txBody>
      </p:sp>
      <p:sp>
        <p:nvSpPr>
          <p:cNvPr id="36875" name="Oval 11"/>
          <p:cNvSpPr>
            <a:spLocks noChangeArrowheads="1"/>
          </p:cNvSpPr>
          <p:nvPr/>
        </p:nvSpPr>
        <p:spPr bwMode="auto">
          <a:xfrm>
            <a:off x="5791200" y="32766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6876" name="Oval 12"/>
          <p:cNvSpPr>
            <a:spLocks noChangeArrowheads="1"/>
          </p:cNvSpPr>
          <p:nvPr/>
        </p:nvSpPr>
        <p:spPr bwMode="auto">
          <a:xfrm>
            <a:off x="9398000" y="45720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6877" name="Oval 13"/>
          <p:cNvSpPr>
            <a:spLocks noChangeArrowheads="1"/>
          </p:cNvSpPr>
          <p:nvPr/>
        </p:nvSpPr>
        <p:spPr bwMode="auto">
          <a:xfrm>
            <a:off x="10058400" y="52070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6878" name="Oval 14"/>
          <p:cNvSpPr>
            <a:spLocks noChangeArrowheads="1"/>
          </p:cNvSpPr>
          <p:nvPr/>
        </p:nvSpPr>
        <p:spPr bwMode="auto">
          <a:xfrm>
            <a:off x="5810250" y="28194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2.1</a:t>
            </a:r>
          </a:p>
          <a:p>
            <a:pPr algn="ctr"/>
            <a:r>
              <a:rPr lang="en-US" altLang="en-US" sz="1200">
                <a:latin typeface="Arial Narrow" panose="020B0606020202030204" pitchFamily="34" charset="0"/>
              </a:rPr>
              <a:t>Serve Product</a:t>
            </a:r>
          </a:p>
        </p:txBody>
      </p:sp>
      <p:cxnSp>
        <p:nvCxnSpPr>
          <p:cNvPr id="36879" name="AutoShape 15"/>
          <p:cNvCxnSpPr>
            <a:cxnSpLocks noChangeShapeType="1"/>
            <a:stCxn id="36882" idx="1"/>
            <a:endCxn id="36878" idx="7"/>
          </p:cNvCxnSpPr>
          <p:nvPr/>
        </p:nvCxnSpPr>
        <p:spPr bwMode="auto">
          <a:xfrm flipH="1">
            <a:off x="6591300" y="2817813"/>
            <a:ext cx="723900" cy="125412"/>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cxnSp>
        <p:nvCxnSpPr>
          <p:cNvPr id="36880" name="AutoShape 16"/>
          <p:cNvCxnSpPr>
            <a:cxnSpLocks noChangeShapeType="1"/>
            <a:endCxn id="36885" idx="2"/>
          </p:cNvCxnSpPr>
          <p:nvPr/>
        </p:nvCxnSpPr>
        <p:spPr bwMode="auto">
          <a:xfrm rot="16200000" flipH="1">
            <a:off x="5348288" y="4119563"/>
            <a:ext cx="533400" cy="371475"/>
          </a:xfrm>
          <a:prstGeom prst="curvedConnector2">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6881" name="Text Box 17"/>
          <p:cNvSpPr txBox="1">
            <a:spLocks noChangeArrowheads="1"/>
          </p:cNvSpPr>
          <p:nvPr/>
        </p:nvSpPr>
        <p:spPr bwMode="auto">
          <a:xfrm>
            <a:off x="4724401" y="23622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Product Order</a:t>
            </a:r>
          </a:p>
        </p:txBody>
      </p:sp>
      <p:sp>
        <p:nvSpPr>
          <p:cNvPr id="36882" name="Rectangle 18" descr="DataStore"/>
          <p:cNvSpPr>
            <a:spLocks noChangeArrowheads="1"/>
          </p:cNvSpPr>
          <p:nvPr/>
        </p:nvSpPr>
        <p:spPr bwMode="auto">
          <a:xfrm>
            <a:off x="7315200" y="2667001"/>
            <a:ext cx="914400" cy="301625"/>
          </a:xfrm>
          <a:prstGeom prst="rect">
            <a:avLst/>
          </a:prstGeom>
          <a:blipFill dpi="0" rotWithShape="0">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ORDER</a:t>
            </a:r>
          </a:p>
        </p:txBody>
      </p:sp>
      <p:cxnSp>
        <p:nvCxnSpPr>
          <p:cNvPr id="36883" name="AutoShape 19"/>
          <p:cNvCxnSpPr>
            <a:cxnSpLocks noChangeShapeType="1"/>
            <a:stCxn id="36878" idx="5"/>
            <a:endCxn id="36882" idx="2"/>
          </p:cNvCxnSpPr>
          <p:nvPr/>
        </p:nvCxnSpPr>
        <p:spPr bwMode="auto">
          <a:xfrm flipV="1">
            <a:off x="6591300" y="2968625"/>
            <a:ext cx="1181100" cy="64135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cxnSp>
        <p:nvCxnSpPr>
          <p:cNvPr id="36884" name="AutoShape 20"/>
          <p:cNvCxnSpPr>
            <a:cxnSpLocks noChangeShapeType="1"/>
            <a:stCxn id="36881" idx="2"/>
            <a:endCxn id="36878" idx="2"/>
          </p:cNvCxnSpPr>
          <p:nvPr/>
        </p:nvCxnSpPr>
        <p:spPr bwMode="auto">
          <a:xfrm rot="16200000" flipH="1">
            <a:off x="5336382" y="2812257"/>
            <a:ext cx="647700" cy="280987"/>
          </a:xfrm>
          <a:prstGeom prst="curvedConnector2">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6885" name="Oval 21"/>
          <p:cNvSpPr>
            <a:spLocks noChangeArrowheads="1"/>
          </p:cNvSpPr>
          <p:nvPr/>
        </p:nvSpPr>
        <p:spPr bwMode="auto">
          <a:xfrm>
            <a:off x="5810250" y="41148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2.2</a:t>
            </a:r>
          </a:p>
          <a:p>
            <a:pPr algn="ctr"/>
            <a:r>
              <a:rPr lang="en-US" altLang="en-US" sz="1200">
                <a:latin typeface="Arial Narrow" panose="020B0606020202030204" pitchFamily="34" charset="0"/>
              </a:rPr>
              <a:t>Produce Product</a:t>
            </a:r>
          </a:p>
        </p:txBody>
      </p:sp>
      <p:sp>
        <p:nvSpPr>
          <p:cNvPr id="36886" name="Rectangle 22" descr="DataStore"/>
          <p:cNvSpPr>
            <a:spLocks noChangeArrowheads="1"/>
          </p:cNvSpPr>
          <p:nvPr/>
        </p:nvSpPr>
        <p:spPr bwMode="auto">
          <a:xfrm>
            <a:off x="7315200" y="4953001"/>
            <a:ext cx="914400" cy="301625"/>
          </a:xfrm>
          <a:prstGeom prst="rect">
            <a:avLst/>
          </a:prstGeom>
          <a:blipFill dpi="0" rotWithShape="0">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INVENTORTY</a:t>
            </a:r>
          </a:p>
        </p:txBody>
      </p:sp>
      <p:cxnSp>
        <p:nvCxnSpPr>
          <p:cNvPr id="36887" name="AutoShape 23"/>
          <p:cNvCxnSpPr>
            <a:cxnSpLocks noChangeShapeType="1"/>
            <a:stCxn id="36885" idx="6"/>
            <a:endCxn id="36890" idx="2"/>
          </p:cNvCxnSpPr>
          <p:nvPr/>
        </p:nvCxnSpPr>
        <p:spPr bwMode="auto">
          <a:xfrm flipV="1">
            <a:off x="6734176" y="4111626"/>
            <a:ext cx="1114425" cy="460375"/>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6888" name="Text Box 24"/>
          <p:cNvSpPr txBox="1">
            <a:spLocks noChangeArrowheads="1"/>
          </p:cNvSpPr>
          <p:nvPr/>
        </p:nvSpPr>
        <p:spPr bwMode="auto">
          <a:xfrm>
            <a:off x="7162800" y="3200400"/>
            <a:ext cx="12954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latin typeface="Arial Narrow" panose="020B0606020202030204" pitchFamily="34" charset="0"/>
              </a:rPr>
              <a:t>Quantity Severed</a:t>
            </a:r>
          </a:p>
        </p:txBody>
      </p:sp>
      <p:sp>
        <p:nvSpPr>
          <p:cNvPr id="36889" name="Text Box 25"/>
          <p:cNvSpPr txBox="1">
            <a:spLocks noChangeArrowheads="1"/>
          </p:cNvSpPr>
          <p:nvPr/>
        </p:nvSpPr>
        <p:spPr bwMode="auto">
          <a:xfrm>
            <a:off x="4876800" y="3886200"/>
            <a:ext cx="10668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Production</a:t>
            </a:r>
            <a:br>
              <a:rPr lang="en-US" altLang="en-US" sz="1400">
                <a:latin typeface="Arial Narrow" panose="020B0606020202030204" pitchFamily="34" charset="0"/>
              </a:rPr>
            </a:br>
            <a:r>
              <a:rPr lang="en-US" altLang="en-US" sz="1400">
                <a:latin typeface="Arial Narrow" panose="020B0606020202030204" pitchFamily="34" charset="0"/>
              </a:rPr>
              <a:t> Schedule</a:t>
            </a:r>
          </a:p>
        </p:txBody>
      </p:sp>
      <p:sp>
        <p:nvSpPr>
          <p:cNvPr id="36890" name="Rectangle 26" descr="DataStore"/>
          <p:cNvSpPr>
            <a:spLocks noChangeArrowheads="1"/>
          </p:cNvSpPr>
          <p:nvPr/>
        </p:nvSpPr>
        <p:spPr bwMode="auto">
          <a:xfrm>
            <a:off x="7315200" y="3733801"/>
            <a:ext cx="1066800" cy="377825"/>
          </a:xfrm>
          <a:prstGeom prst="rect">
            <a:avLst/>
          </a:prstGeom>
          <a:blipFill dpi="0" rotWithShape="0">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RAW MATERIALS</a:t>
            </a:r>
          </a:p>
        </p:txBody>
      </p:sp>
      <p:cxnSp>
        <p:nvCxnSpPr>
          <p:cNvPr id="36891" name="AutoShape 27"/>
          <p:cNvCxnSpPr>
            <a:cxnSpLocks noChangeShapeType="1"/>
            <a:stCxn id="36890" idx="1"/>
            <a:endCxn id="36885" idx="0"/>
          </p:cNvCxnSpPr>
          <p:nvPr/>
        </p:nvCxnSpPr>
        <p:spPr bwMode="auto">
          <a:xfrm flipH="1">
            <a:off x="6267450" y="3922713"/>
            <a:ext cx="1047750" cy="182562"/>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6892" name="Oval 28"/>
          <p:cNvSpPr>
            <a:spLocks noChangeArrowheads="1"/>
          </p:cNvSpPr>
          <p:nvPr/>
        </p:nvSpPr>
        <p:spPr bwMode="auto">
          <a:xfrm>
            <a:off x="5810250" y="54864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2.3</a:t>
            </a:r>
          </a:p>
          <a:p>
            <a:pPr algn="ctr"/>
            <a:r>
              <a:rPr lang="en-US" altLang="en-US" sz="1200">
                <a:latin typeface="Arial Narrow" panose="020B0606020202030204" pitchFamily="34" charset="0"/>
              </a:rPr>
              <a:t>Store</a:t>
            </a:r>
          </a:p>
          <a:p>
            <a:pPr algn="ctr"/>
            <a:r>
              <a:rPr lang="en-US" altLang="en-US" sz="1200">
                <a:latin typeface="Arial Narrow" panose="020B0606020202030204" pitchFamily="34" charset="0"/>
              </a:rPr>
              <a:t>Product</a:t>
            </a:r>
          </a:p>
        </p:txBody>
      </p:sp>
      <p:cxnSp>
        <p:nvCxnSpPr>
          <p:cNvPr id="36893" name="AutoShape 29"/>
          <p:cNvCxnSpPr>
            <a:cxnSpLocks noChangeShapeType="1"/>
            <a:stCxn id="36892" idx="6"/>
            <a:endCxn id="36886" idx="2"/>
          </p:cNvCxnSpPr>
          <p:nvPr/>
        </p:nvCxnSpPr>
        <p:spPr bwMode="auto">
          <a:xfrm flipV="1">
            <a:off x="6734176" y="5254626"/>
            <a:ext cx="1038225" cy="688975"/>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6894" name="Text Box 30"/>
          <p:cNvSpPr txBox="1">
            <a:spLocks noChangeArrowheads="1"/>
          </p:cNvSpPr>
          <p:nvPr/>
        </p:nvSpPr>
        <p:spPr bwMode="auto">
          <a:xfrm>
            <a:off x="7086600" y="5753100"/>
            <a:ext cx="16002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latin typeface="Arial Narrow" panose="020B0606020202030204" pitchFamily="34" charset="0"/>
              </a:rPr>
              <a:t>Quantity Produced &amp; Location Stored</a:t>
            </a:r>
          </a:p>
        </p:txBody>
      </p:sp>
      <p:sp>
        <p:nvSpPr>
          <p:cNvPr id="36895" name="Text Box 31"/>
          <p:cNvSpPr txBox="1">
            <a:spLocks noChangeArrowheads="1"/>
          </p:cNvSpPr>
          <p:nvPr/>
        </p:nvSpPr>
        <p:spPr bwMode="auto">
          <a:xfrm>
            <a:off x="7010400" y="4419600"/>
            <a:ext cx="16002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latin typeface="Arial Narrow" panose="020B0606020202030204" pitchFamily="34" charset="0"/>
              </a:rPr>
              <a:t>Quantity Used</a:t>
            </a:r>
          </a:p>
        </p:txBody>
      </p:sp>
      <p:cxnSp>
        <p:nvCxnSpPr>
          <p:cNvPr id="36896" name="AutoShape 32"/>
          <p:cNvCxnSpPr>
            <a:cxnSpLocks noChangeShapeType="1"/>
            <a:stCxn id="36885" idx="4"/>
            <a:endCxn id="36892" idx="0"/>
          </p:cNvCxnSpPr>
          <p:nvPr/>
        </p:nvCxnSpPr>
        <p:spPr bwMode="auto">
          <a:xfrm>
            <a:off x="6267450" y="5038725"/>
            <a:ext cx="0" cy="43815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6897" name="Rectangle 33"/>
          <p:cNvSpPr>
            <a:spLocks noChangeArrowheads="1"/>
          </p:cNvSpPr>
          <p:nvPr/>
        </p:nvSpPr>
        <p:spPr bwMode="auto">
          <a:xfrm>
            <a:off x="5410201" y="5105400"/>
            <a:ext cx="1312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latin typeface="Arial Narrow" panose="020B0606020202030204" pitchFamily="34" charset="0"/>
              </a:rPr>
              <a:t>Production   Data</a:t>
            </a:r>
          </a:p>
        </p:txBody>
      </p:sp>
    </p:spTree>
    <p:extLst>
      <p:ext uri="{BB962C8B-B14F-4D97-AF65-F5344CB8AC3E}">
        <p14:creationId xmlns:p14="http://schemas.microsoft.com/office/powerpoint/2010/main" val="879842408"/>
      </p:ext>
    </p:extLst>
  </p:cSld>
  <p:clrMapOvr>
    <a:masterClrMapping/>
  </p:clrMapOvr>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Group 2"/>
          <p:cNvGrpSpPr>
            <a:grpSpLocks/>
          </p:cNvGrpSpPr>
          <p:nvPr/>
        </p:nvGrpSpPr>
        <p:grpSpPr bwMode="auto">
          <a:xfrm>
            <a:off x="8077200" y="4953000"/>
            <a:ext cx="2438400" cy="1828800"/>
            <a:chOff x="3648" y="2640"/>
            <a:chExt cx="2112" cy="1680"/>
          </a:xfrm>
        </p:grpSpPr>
        <p:pic>
          <p:nvPicPr>
            <p:cNvPr id="37928" name="Picture 3" descr="j0246119"/>
            <p:cNvPicPr>
              <a:picLocks noChangeAspect="1" noChangeArrowheads="1"/>
            </p:cNvPicPr>
            <p:nvPr/>
          </p:nvPicPr>
          <p:blipFill>
            <a:blip r:embed="rId2" cstate="print">
              <a:lum bright="46000" contrast="-58000"/>
              <a:extLst>
                <a:ext uri="{28A0092B-C50C-407E-A947-70E740481C1C}">
                  <a14:useLocalDpi xmlns:a14="http://schemas.microsoft.com/office/drawing/2010/main" val="0"/>
                </a:ext>
              </a:extLst>
            </a:blip>
            <a:srcRect/>
            <a:stretch>
              <a:fillRect/>
            </a:stretch>
          </p:blipFill>
          <p:spPr bwMode="auto">
            <a:xfrm>
              <a:off x="3648" y="3609"/>
              <a:ext cx="1183" cy="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29" name="Picture 4" descr="j0113008"/>
            <p:cNvPicPr>
              <a:picLocks noChangeAspect="1" noChangeArrowheads="1"/>
            </p:cNvPicPr>
            <p:nvPr/>
          </p:nvPicPr>
          <p:blipFill>
            <a:blip r:embed="rId3" cstate="print">
              <a:lum bright="46000" contrast="-58000"/>
              <a:extLst>
                <a:ext uri="{28A0092B-C50C-407E-A947-70E740481C1C}">
                  <a14:useLocalDpi xmlns:a14="http://schemas.microsoft.com/office/drawing/2010/main" val="0"/>
                </a:ext>
              </a:extLst>
            </a:blip>
            <a:srcRect/>
            <a:stretch>
              <a:fillRect/>
            </a:stretch>
          </p:blipFill>
          <p:spPr bwMode="auto">
            <a:xfrm>
              <a:off x="4896" y="2640"/>
              <a:ext cx="779" cy="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30" name="Picture 5" descr="EN00275_"/>
            <p:cNvPicPr>
              <a:picLocks noChangeAspect="1" noChangeArrowheads="1"/>
            </p:cNvPicPr>
            <p:nvPr/>
          </p:nvPicPr>
          <p:blipFill>
            <a:blip r:embed="rId4">
              <a:lum bright="46000" contrast="-58000"/>
              <a:extLst>
                <a:ext uri="{28A0092B-C50C-407E-A947-70E740481C1C}">
                  <a14:useLocalDpi xmlns:a14="http://schemas.microsoft.com/office/drawing/2010/main" val="0"/>
                </a:ext>
              </a:extLst>
            </a:blip>
            <a:srcRect/>
            <a:stretch>
              <a:fillRect/>
            </a:stretch>
          </p:blipFill>
          <p:spPr bwMode="auto">
            <a:xfrm>
              <a:off x="4660" y="3403"/>
              <a:ext cx="1100" cy="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7891" name="Text Box 6"/>
          <p:cNvSpPr txBox="1">
            <a:spLocks noChangeArrowheads="1"/>
          </p:cNvSpPr>
          <p:nvPr/>
        </p:nvSpPr>
        <p:spPr bwMode="auto">
          <a:xfrm>
            <a:off x="152400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600"/>
              <a:t>Creating Data Flow Diagrams</a:t>
            </a:r>
          </a:p>
        </p:txBody>
      </p:sp>
      <p:sp>
        <p:nvSpPr>
          <p:cNvPr id="37892" name="Line 7"/>
          <p:cNvSpPr>
            <a:spLocks noChangeShapeType="1"/>
          </p:cNvSpPr>
          <p:nvPr/>
        </p:nvSpPr>
        <p:spPr bwMode="auto">
          <a:xfrm flipV="1">
            <a:off x="4876800" y="1219200"/>
            <a:ext cx="0" cy="541020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37893" name="Text Box 8"/>
          <p:cNvSpPr txBox="1">
            <a:spLocks noChangeArrowheads="1"/>
          </p:cNvSpPr>
          <p:nvPr/>
        </p:nvSpPr>
        <p:spPr bwMode="auto">
          <a:xfrm>
            <a:off x="4800600" y="1752600"/>
            <a:ext cx="586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chemeClr val="accent2"/>
                </a:solidFill>
              </a:rPr>
              <a:t>Level 1 DFD</a:t>
            </a:r>
          </a:p>
        </p:txBody>
      </p:sp>
      <p:sp>
        <p:nvSpPr>
          <p:cNvPr id="37894" name="Text Box 9"/>
          <p:cNvSpPr txBox="1">
            <a:spLocks noChangeArrowheads="1"/>
          </p:cNvSpPr>
          <p:nvPr/>
        </p:nvSpPr>
        <p:spPr bwMode="auto">
          <a:xfrm>
            <a:off x="1524000" y="914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rgbClr val="00CC00"/>
                </a:solidFill>
              </a:rPr>
              <a:t>Example</a:t>
            </a:r>
          </a:p>
        </p:txBody>
      </p:sp>
      <p:pic>
        <p:nvPicPr>
          <p:cNvPr id="37895" name="Picture 10" descr="j0297517"/>
          <p:cNvPicPr>
            <a:picLocks noChangeAspect="1" noChangeArrowheads="1"/>
          </p:cNvPicPr>
          <p:nvPr/>
        </p:nvPicPr>
        <p:blipFill>
          <a:blip r:embed="rId5">
            <a:lum bright="80000" contrast="-80000"/>
            <a:extLst>
              <a:ext uri="{28A0092B-C50C-407E-A947-70E740481C1C}">
                <a14:useLocalDpi xmlns:a14="http://schemas.microsoft.com/office/drawing/2010/main" val="0"/>
              </a:ext>
            </a:extLst>
          </a:blip>
          <a:srcRect/>
          <a:stretch>
            <a:fillRect/>
          </a:stretch>
        </p:blipFill>
        <p:spPr bwMode="auto">
          <a:xfrm>
            <a:off x="1739901" y="2882900"/>
            <a:ext cx="251142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6" name="Text Box 11"/>
          <p:cNvSpPr txBox="1">
            <a:spLocks noChangeArrowheads="1"/>
          </p:cNvSpPr>
          <p:nvPr/>
        </p:nvSpPr>
        <p:spPr bwMode="auto">
          <a:xfrm>
            <a:off x="1752600" y="1447801"/>
            <a:ext cx="31242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Create a level 1 decomposing the processes in level 0 and identifying data stores.</a:t>
            </a:r>
          </a:p>
        </p:txBody>
      </p:sp>
      <p:sp>
        <p:nvSpPr>
          <p:cNvPr id="37897" name="Text Box 12"/>
          <p:cNvSpPr txBox="1">
            <a:spLocks noChangeArrowheads="1"/>
          </p:cNvSpPr>
          <p:nvPr/>
        </p:nvSpPr>
        <p:spPr bwMode="auto">
          <a:xfrm>
            <a:off x="4953000" y="1066801"/>
            <a:ext cx="571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rabicPeriod" startAt="4"/>
            </a:pPr>
            <a:r>
              <a:rPr lang="en-US" altLang="en-US" sz="2000"/>
              <a:t>Construct Level 1 (continued)</a:t>
            </a:r>
          </a:p>
        </p:txBody>
      </p:sp>
      <p:sp>
        <p:nvSpPr>
          <p:cNvPr id="37898" name="Oval 13"/>
          <p:cNvSpPr>
            <a:spLocks noChangeArrowheads="1"/>
          </p:cNvSpPr>
          <p:nvPr/>
        </p:nvSpPr>
        <p:spPr bwMode="auto">
          <a:xfrm>
            <a:off x="6248400" y="44323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899" name="Oval 14"/>
          <p:cNvSpPr>
            <a:spLocks noChangeArrowheads="1"/>
          </p:cNvSpPr>
          <p:nvPr/>
        </p:nvSpPr>
        <p:spPr bwMode="auto">
          <a:xfrm>
            <a:off x="6248400" y="50927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900" name="Oval 15"/>
          <p:cNvSpPr>
            <a:spLocks noChangeArrowheads="1"/>
          </p:cNvSpPr>
          <p:nvPr/>
        </p:nvSpPr>
        <p:spPr bwMode="auto">
          <a:xfrm>
            <a:off x="10515600" y="39878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901" name="Text Box 16"/>
          <p:cNvSpPr txBox="1">
            <a:spLocks noChangeArrowheads="1"/>
          </p:cNvSpPr>
          <p:nvPr/>
        </p:nvSpPr>
        <p:spPr bwMode="auto">
          <a:xfrm>
            <a:off x="1752600" y="2879726"/>
            <a:ext cx="30480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solidFill>
                  <a:srgbClr val="339933"/>
                </a:solidFill>
              </a:rPr>
              <a:t>Customer Order</a:t>
            </a:r>
          </a:p>
          <a:p>
            <a:pPr eaLnBrk="1" hangingPunct="1"/>
            <a:r>
              <a:rPr lang="en-US" altLang="en-US" sz="2000">
                <a:solidFill>
                  <a:srgbClr val="339933"/>
                </a:solidFill>
              </a:rPr>
              <a:t>Serve Product</a:t>
            </a:r>
          </a:p>
          <a:p>
            <a:pPr eaLnBrk="1" hangingPunct="1"/>
            <a:r>
              <a:rPr lang="en-US" altLang="en-US" sz="2000">
                <a:solidFill>
                  <a:srgbClr val="339933"/>
                </a:solidFill>
              </a:rPr>
              <a:t>Collect Payment</a:t>
            </a:r>
          </a:p>
          <a:p>
            <a:pPr eaLnBrk="1" hangingPunct="1"/>
            <a:endParaRPr lang="en-US" altLang="en-US" sz="2000">
              <a:solidFill>
                <a:srgbClr val="339933"/>
              </a:solidFill>
            </a:endParaRPr>
          </a:p>
          <a:p>
            <a:pPr eaLnBrk="1" hangingPunct="1"/>
            <a:r>
              <a:rPr lang="en-US" altLang="en-US" sz="2000">
                <a:solidFill>
                  <a:srgbClr val="339933"/>
                </a:solidFill>
              </a:rPr>
              <a:t>Produce Product</a:t>
            </a:r>
          </a:p>
          <a:p>
            <a:pPr eaLnBrk="1" hangingPunct="1"/>
            <a:r>
              <a:rPr lang="en-US" altLang="en-US" sz="2000">
                <a:solidFill>
                  <a:srgbClr val="339933"/>
                </a:solidFill>
              </a:rPr>
              <a:t>Store Product</a:t>
            </a:r>
          </a:p>
          <a:p>
            <a:pPr eaLnBrk="1" hangingPunct="1"/>
            <a:endParaRPr lang="en-US" altLang="en-US" sz="2000">
              <a:solidFill>
                <a:srgbClr val="339933"/>
              </a:solidFill>
            </a:endParaRPr>
          </a:p>
          <a:p>
            <a:pPr eaLnBrk="1" hangingPunct="1"/>
            <a:r>
              <a:rPr lang="en-US" altLang="en-US" sz="2000" b="1"/>
              <a:t>Order Raw Materials</a:t>
            </a:r>
          </a:p>
          <a:p>
            <a:pPr eaLnBrk="1" hangingPunct="1"/>
            <a:r>
              <a:rPr lang="en-US" altLang="en-US" sz="2000" b="1"/>
              <a:t>Pay for Raw Materials</a:t>
            </a:r>
          </a:p>
          <a:p>
            <a:pPr eaLnBrk="1" hangingPunct="1"/>
            <a:endParaRPr lang="en-US" altLang="en-US" sz="2000">
              <a:solidFill>
                <a:srgbClr val="339933"/>
              </a:solidFill>
            </a:endParaRPr>
          </a:p>
          <a:p>
            <a:pPr eaLnBrk="1" hangingPunct="1"/>
            <a:r>
              <a:rPr lang="en-US" altLang="en-US" sz="2000">
                <a:solidFill>
                  <a:srgbClr val="339933"/>
                </a:solidFill>
              </a:rPr>
              <a:t>Pay for Labor</a:t>
            </a:r>
          </a:p>
          <a:p>
            <a:pPr eaLnBrk="1" hangingPunct="1"/>
            <a:endParaRPr lang="en-US" altLang="en-US" sz="2000">
              <a:solidFill>
                <a:srgbClr val="339933"/>
              </a:solidFill>
            </a:endParaRPr>
          </a:p>
        </p:txBody>
      </p:sp>
      <p:sp>
        <p:nvSpPr>
          <p:cNvPr id="37902" name="Oval 17"/>
          <p:cNvSpPr>
            <a:spLocks noChangeArrowheads="1"/>
          </p:cNvSpPr>
          <p:nvPr/>
        </p:nvSpPr>
        <p:spPr bwMode="auto">
          <a:xfrm>
            <a:off x="6248400" y="31242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903" name="Oval 18"/>
          <p:cNvSpPr>
            <a:spLocks noChangeArrowheads="1"/>
          </p:cNvSpPr>
          <p:nvPr/>
        </p:nvSpPr>
        <p:spPr bwMode="auto">
          <a:xfrm>
            <a:off x="9855200" y="44196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904" name="Oval 19"/>
          <p:cNvSpPr>
            <a:spLocks noChangeArrowheads="1"/>
          </p:cNvSpPr>
          <p:nvPr/>
        </p:nvSpPr>
        <p:spPr bwMode="auto">
          <a:xfrm>
            <a:off x="6096000" y="24384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3.1</a:t>
            </a:r>
          </a:p>
          <a:p>
            <a:pPr algn="ctr"/>
            <a:r>
              <a:rPr lang="en-US" altLang="en-US" sz="1200">
                <a:latin typeface="Arial Narrow" panose="020B0606020202030204" pitchFamily="34" charset="0"/>
              </a:rPr>
              <a:t>Produce Purchase Order</a:t>
            </a:r>
          </a:p>
        </p:txBody>
      </p:sp>
      <p:cxnSp>
        <p:nvCxnSpPr>
          <p:cNvPr id="37905" name="AutoShape 20"/>
          <p:cNvCxnSpPr>
            <a:cxnSpLocks noChangeShapeType="1"/>
            <a:stCxn id="37912" idx="2"/>
            <a:endCxn id="37910" idx="2"/>
          </p:cNvCxnSpPr>
          <p:nvPr/>
        </p:nvCxnSpPr>
        <p:spPr bwMode="auto">
          <a:xfrm rot="16200000" flipH="1">
            <a:off x="5640388" y="3897313"/>
            <a:ext cx="368300" cy="523875"/>
          </a:xfrm>
          <a:prstGeom prst="curvedConnector2">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7906" name="Text Box 21"/>
          <p:cNvSpPr txBox="1">
            <a:spLocks noChangeArrowheads="1"/>
          </p:cNvSpPr>
          <p:nvPr/>
        </p:nvSpPr>
        <p:spPr bwMode="auto">
          <a:xfrm>
            <a:off x="4876801" y="22098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Order Decision</a:t>
            </a:r>
          </a:p>
        </p:txBody>
      </p:sp>
      <p:sp>
        <p:nvSpPr>
          <p:cNvPr id="37907" name="Rectangle 22" descr="DataStore"/>
          <p:cNvSpPr>
            <a:spLocks noChangeArrowheads="1"/>
          </p:cNvSpPr>
          <p:nvPr/>
        </p:nvSpPr>
        <p:spPr bwMode="auto">
          <a:xfrm>
            <a:off x="7848600" y="2362201"/>
            <a:ext cx="990600" cy="377825"/>
          </a:xfrm>
          <a:prstGeom prst="rect">
            <a:avLst/>
          </a:prstGeom>
          <a:blipFill dpi="0" rotWithShape="0">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PURCHASE ORDER</a:t>
            </a:r>
          </a:p>
        </p:txBody>
      </p:sp>
      <p:cxnSp>
        <p:nvCxnSpPr>
          <p:cNvPr id="37908" name="AutoShape 23"/>
          <p:cNvCxnSpPr>
            <a:cxnSpLocks noChangeShapeType="1"/>
            <a:stCxn id="37904" idx="6"/>
            <a:endCxn id="37907" idx="1"/>
          </p:cNvCxnSpPr>
          <p:nvPr/>
        </p:nvCxnSpPr>
        <p:spPr bwMode="auto">
          <a:xfrm flipV="1">
            <a:off x="7019926" y="2551114"/>
            <a:ext cx="828675" cy="344487"/>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cxnSp>
        <p:nvCxnSpPr>
          <p:cNvPr id="37909" name="AutoShape 24"/>
          <p:cNvCxnSpPr>
            <a:cxnSpLocks noChangeShapeType="1"/>
            <a:stCxn id="37906" idx="2"/>
            <a:endCxn id="37904" idx="2"/>
          </p:cNvCxnSpPr>
          <p:nvPr/>
        </p:nvCxnSpPr>
        <p:spPr bwMode="auto">
          <a:xfrm rot="16200000" flipH="1">
            <a:off x="5669757" y="2478882"/>
            <a:ext cx="419100" cy="414337"/>
          </a:xfrm>
          <a:prstGeom prst="curvedConnector2">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7910" name="Oval 25"/>
          <p:cNvSpPr>
            <a:spLocks noChangeArrowheads="1"/>
          </p:cNvSpPr>
          <p:nvPr/>
        </p:nvSpPr>
        <p:spPr bwMode="auto">
          <a:xfrm>
            <a:off x="6096000" y="38862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3.2</a:t>
            </a:r>
          </a:p>
          <a:p>
            <a:pPr algn="ctr"/>
            <a:r>
              <a:rPr lang="en-US" altLang="en-US" sz="1200">
                <a:latin typeface="Arial Narrow" panose="020B0606020202030204" pitchFamily="34" charset="0"/>
              </a:rPr>
              <a:t>Receive Items</a:t>
            </a:r>
          </a:p>
        </p:txBody>
      </p:sp>
      <p:cxnSp>
        <p:nvCxnSpPr>
          <p:cNvPr id="37911" name="AutoShape 26"/>
          <p:cNvCxnSpPr>
            <a:cxnSpLocks noChangeShapeType="1"/>
            <a:stCxn id="37910" idx="7"/>
            <a:endCxn id="37913" idx="2"/>
          </p:cNvCxnSpPr>
          <p:nvPr/>
        </p:nvCxnSpPr>
        <p:spPr bwMode="auto">
          <a:xfrm flipV="1">
            <a:off x="6877050" y="3648075"/>
            <a:ext cx="1581150" cy="36195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7912" name="Text Box 27"/>
          <p:cNvSpPr txBox="1">
            <a:spLocks noChangeArrowheads="1"/>
          </p:cNvSpPr>
          <p:nvPr/>
        </p:nvSpPr>
        <p:spPr bwMode="auto">
          <a:xfrm>
            <a:off x="5029200" y="3733800"/>
            <a:ext cx="10668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Received Goods</a:t>
            </a:r>
          </a:p>
        </p:txBody>
      </p:sp>
      <p:sp>
        <p:nvSpPr>
          <p:cNvPr id="37913" name="Rectangle 28" descr="DataStore"/>
          <p:cNvSpPr>
            <a:spLocks noChangeArrowheads="1"/>
          </p:cNvSpPr>
          <p:nvPr/>
        </p:nvSpPr>
        <p:spPr bwMode="auto">
          <a:xfrm>
            <a:off x="7924800" y="3270251"/>
            <a:ext cx="1066800" cy="377825"/>
          </a:xfrm>
          <a:prstGeom prst="rect">
            <a:avLst/>
          </a:prstGeom>
          <a:blipFill dpi="0" rotWithShape="0">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RAW MATERIALS</a:t>
            </a:r>
          </a:p>
        </p:txBody>
      </p:sp>
      <p:cxnSp>
        <p:nvCxnSpPr>
          <p:cNvPr id="37914" name="AutoShape 29"/>
          <p:cNvCxnSpPr>
            <a:cxnSpLocks noChangeShapeType="1"/>
            <a:stCxn id="37913" idx="1"/>
            <a:endCxn id="37904" idx="5"/>
          </p:cNvCxnSpPr>
          <p:nvPr/>
        </p:nvCxnSpPr>
        <p:spPr bwMode="auto">
          <a:xfrm flipH="1" flipV="1">
            <a:off x="6877050" y="3228975"/>
            <a:ext cx="1047750" cy="230188"/>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7915" name="Oval 30"/>
          <p:cNvSpPr>
            <a:spLocks noChangeArrowheads="1"/>
          </p:cNvSpPr>
          <p:nvPr/>
        </p:nvSpPr>
        <p:spPr bwMode="auto">
          <a:xfrm>
            <a:off x="6096000" y="52578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3.3</a:t>
            </a:r>
          </a:p>
          <a:p>
            <a:pPr algn="ctr"/>
            <a:r>
              <a:rPr lang="en-US" altLang="en-US" sz="1200">
                <a:latin typeface="Arial Narrow" panose="020B0606020202030204" pitchFamily="34" charset="0"/>
              </a:rPr>
              <a:t>Pay Vendor</a:t>
            </a:r>
          </a:p>
        </p:txBody>
      </p:sp>
      <p:cxnSp>
        <p:nvCxnSpPr>
          <p:cNvPr id="37916" name="AutoShape 31"/>
          <p:cNvCxnSpPr>
            <a:cxnSpLocks noChangeShapeType="1"/>
            <a:stCxn id="37921" idx="1"/>
            <a:endCxn id="37915" idx="6"/>
          </p:cNvCxnSpPr>
          <p:nvPr/>
        </p:nvCxnSpPr>
        <p:spPr bwMode="auto">
          <a:xfrm flipH="1">
            <a:off x="7019926" y="5408614"/>
            <a:ext cx="1057275" cy="306387"/>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7917" name="Text Box 32"/>
          <p:cNvSpPr txBox="1">
            <a:spLocks noChangeArrowheads="1"/>
          </p:cNvSpPr>
          <p:nvPr/>
        </p:nvSpPr>
        <p:spPr bwMode="auto">
          <a:xfrm>
            <a:off x="6096000" y="3505200"/>
            <a:ext cx="14478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r>
              <a:rPr lang="en-US" altLang="en-US" sz="1400">
                <a:latin typeface="Arial Narrow" panose="020B0606020202030204" pitchFamily="34" charset="0"/>
              </a:rPr>
              <a:t>Quantity </a:t>
            </a:r>
            <a:br>
              <a:rPr lang="en-US" altLang="en-US" sz="1400">
                <a:latin typeface="Arial Narrow" panose="020B0606020202030204" pitchFamily="34" charset="0"/>
              </a:rPr>
            </a:br>
            <a:r>
              <a:rPr lang="en-US" altLang="en-US" sz="1400">
                <a:latin typeface="Arial Narrow" panose="020B0606020202030204" pitchFamily="34" charset="0"/>
              </a:rPr>
              <a:t> Received</a:t>
            </a:r>
          </a:p>
        </p:txBody>
      </p:sp>
      <p:cxnSp>
        <p:nvCxnSpPr>
          <p:cNvPr id="37918" name="AutoShape 33"/>
          <p:cNvCxnSpPr>
            <a:cxnSpLocks noChangeShapeType="1"/>
            <a:stCxn id="37910" idx="4"/>
            <a:endCxn id="37915" idx="0"/>
          </p:cNvCxnSpPr>
          <p:nvPr/>
        </p:nvCxnSpPr>
        <p:spPr bwMode="auto">
          <a:xfrm>
            <a:off x="6553200" y="4810125"/>
            <a:ext cx="0" cy="43815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7919" name="Text Box 34"/>
          <p:cNvSpPr txBox="1">
            <a:spLocks noChangeArrowheads="1"/>
          </p:cNvSpPr>
          <p:nvPr/>
        </p:nvSpPr>
        <p:spPr bwMode="auto">
          <a:xfrm>
            <a:off x="6781800" y="2971800"/>
            <a:ext cx="16002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r>
              <a:rPr lang="en-US" altLang="en-US" sz="1400">
                <a:latin typeface="Arial Narrow" panose="020B0606020202030204" pitchFamily="34" charset="0"/>
              </a:rPr>
              <a:t>Quantity On-Hand</a:t>
            </a:r>
          </a:p>
        </p:txBody>
      </p:sp>
      <p:sp>
        <p:nvSpPr>
          <p:cNvPr id="37920" name="Rectangle 35" descr="DataStore"/>
          <p:cNvSpPr>
            <a:spLocks noChangeArrowheads="1"/>
          </p:cNvSpPr>
          <p:nvPr/>
        </p:nvSpPr>
        <p:spPr bwMode="auto">
          <a:xfrm>
            <a:off x="8077200" y="4560889"/>
            <a:ext cx="990600" cy="377825"/>
          </a:xfrm>
          <a:prstGeom prst="rect">
            <a:avLst/>
          </a:prstGeom>
          <a:blipFill dpi="0" rotWithShape="0">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RECEIVED ITEMS</a:t>
            </a:r>
          </a:p>
        </p:txBody>
      </p:sp>
      <p:sp>
        <p:nvSpPr>
          <p:cNvPr id="37921" name="Rectangle 36" descr="DataStore"/>
          <p:cNvSpPr>
            <a:spLocks noChangeArrowheads="1"/>
          </p:cNvSpPr>
          <p:nvPr/>
        </p:nvSpPr>
        <p:spPr bwMode="auto">
          <a:xfrm>
            <a:off x="8077200" y="5257801"/>
            <a:ext cx="914400" cy="301625"/>
          </a:xfrm>
          <a:prstGeom prst="rect">
            <a:avLst/>
          </a:prstGeom>
          <a:blipFill dpi="0" rotWithShape="0">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VENDOR</a:t>
            </a:r>
          </a:p>
        </p:txBody>
      </p:sp>
      <p:cxnSp>
        <p:nvCxnSpPr>
          <p:cNvPr id="37922" name="AutoShape 37"/>
          <p:cNvCxnSpPr>
            <a:cxnSpLocks noChangeShapeType="1"/>
            <a:stCxn id="37907" idx="3"/>
            <a:endCxn id="37910" idx="6"/>
          </p:cNvCxnSpPr>
          <p:nvPr/>
        </p:nvCxnSpPr>
        <p:spPr bwMode="auto">
          <a:xfrm flipH="1">
            <a:off x="7019926" y="2551114"/>
            <a:ext cx="1819275" cy="1792287"/>
          </a:xfrm>
          <a:prstGeom prst="bentConnector3">
            <a:avLst>
              <a:gd name="adj1" fmla="val -31417"/>
            </a:avLst>
          </a:prstGeom>
          <a:noFill/>
          <a:ln w="15875">
            <a:solidFill>
              <a:srgbClr val="000000"/>
            </a:solidFill>
            <a:miter lim="800000"/>
            <a:headEnd/>
            <a:tailEnd type="stealth" w="lg" len="sm"/>
          </a:ln>
          <a:extLst>
            <a:ext uri="{909E8E84-426E-40DD-AFC4-6F175D3DCCD1}">
              <a14:hiddenFill xmlns:a14="http://schemas.microsoft.com/office/drawing/2010/main">
                <a:noFill/>
              </a14:hiddenFill>
            </a:ext>
          </a:extLst>
        </p:spPr>
      </p:cxnSp>
      <p:cxnSp>
        <p:nvCxnSpPr>
          <p:cNvPr id="37923" name="AutoShape 38"/>
          <p:cNvCxnSpPr>
            <a:cxnSpLocks noChangeShapeType="1"/>
            <a:stCxn id="37920" idx="1"/>
            <a:endCxn id="37915" idx="7"/>
          </p:cNvCxnSpPr>
          <p:nvPr/>
        </p:nvCxnSpPr>
        <p:spPr bwMode="auto">
          <a:xfrm flipH="1">
            <a:off x="6877050" y="4749801"/>
            <a:ext cx="1200150" cy="631825"/>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cxnSp>
        <p:nvCxnSpPr>
          <p:cNvPr id="37924" name="AutoShape 39"/>
          <p:cNvCxnSpPr>
            <a:cxnSpLocks noChangeShapeType="1"/>
            <a:stCxn id="37910" idx="5"/>
            <a:endCxn id="37920" idx="1"/>
          </p:cNvCxnSpPr>
          <p:nvPr/>
        </p:nvCxnSpPr>
        <p:spPr bwMode="auto">
          <a:xfrm>
            <a:off x="6877050" y="4676776"/>
            <a:ext cx="1200150" cy="73025"/>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7925" name="Text Box 40"/>
          <p:cNvSpPr txBox="1">
            <a:spLocks noChangeArrowheads="1"/>
          </p:cNvSpPr>
          <p:nvPr/>
        </p:nvSpPr>
        <p:spPr bwMode="auto">
          <a:xfrm>
            <a:off x="5899150" y="4865688"/>
            <a:ext cx="16002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latin typeface="Arial Narrow" panose="020B0606020202030204" pitchFamily="34" charset="0"/>
              </a:rPr>
              <a:t>Payment  Approval</a:t>
            </a:r>
          </a:p>
        </p:txBody>
      </p:sp>
      <p:sp>
        <p:nvSpPr>
          <p:cNvPr id="37926" name="Text Box 41"/>
          <p:cNvSpPr txBox="1">
            <a:spLocks noChangeArrowheads="1"/>
          </p:cNvSpPr>
          <p:nvPr/>
        </p:nvSpPr>
        <p:spPr bwMode="auto">
          <a:xfrm>
            <a:off x="4953000" y="6324600"/>
            <a:ext cx="10668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r>
              <a:rPr lang="en-US" altLang="en-US" sz="1400">
                <a:latin typeface="Arial Narrow" panose="020B0606020202030204" pitchFamily="34" charset="0"/>
              </a:rPr>
              <a:t>Payment</a:t>
            </a:r>
          </a:p>
        </p:txBody>
      </p:sp>
      <p:cxnSp>
        <p:nvCxnSpPr>
          <p:cNvPr id="37927" name="AutoShape 42"/>
          <p:cNvCxnSpPr>
            <a:cxnSpLocks noChangeShapeType="1"/>
            <a:stCxn id="37915" idx="4"/>
            <a:endCxn id="37926" idx="3"/>
          </p:cNvCxnSpPr>
          <p:nvPr/>
        </p:nvCxnSpPr>
        <p:spPr bwMode="auto">
          <a:xfrm rot="5400000">
            <a:off x="6154738" y="6046788"/>
            <a:ext cx="263525" cy="533400"/>
          </a:xfrm>
          <a:prstGeom prst="curvedConnector2">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569900843"/>
      </p:ext>
    </p:extLst>
  </p:cSld>
  <p:clrMapOvr>
    <a:masterClrMapping/>
  </p:clrMapOvr>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BD06552_"/>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8686800" y="5029200"/>
            <a:ext cx="1792288"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Text Box 3"/>
          <p:cNvSpPr txBox="1">
            <a:spLocks noChangeArrowheads="1"/>
          </p:cNvSpPr>
          <p:nvPr/>
        </p:nvSpPr>
        <p:spPr bwMode="auto">
          <a:xfrm>
            <a:off x="152400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600"/>
              <a:t>Creating Data Flow Diagrams</a:t>
            </a:r>
          </a:p>
        </p:txBody>
      </p:sp>
      <p:sp>
        <p:nvSpPr>
          <p:cNvPr id="38916" name="Line 4"/>
          <p:cNvSpPr>
            <a:spLocks noChangeShapeType="1"/>
          </p:cNvSpPr>
          <p:nvPr/>
        </p:nvSpPr>
        <p:spPr bwMode="auto">
          <a:xfrm flipV="1">
            <a:off x="4876800" y="1219200"/>
            <a:ext cx="0" cy="541020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38917" name="Text Box 5"/>
          <p:cNvSpPr txBox="1">
            <a:spLocks noChangeArrowheads="1"/>
          </p:cNvSpPr>
          <p:nvPr/>
        </p:nvSpPr>
        <p:spPr bwMode="auto">
          <a:xfrm>
            <a:off x="4800600" y="1752600"/>
            <a:ext cx="586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chemeClr val="accent2"/>
                </a:solidFill>
              </a:rPr>
              <a:t>Level 1 DFD</a:t>
            </a:r>
          </a:p>
        </p:txBody>
      </p:sp>
      <p:sp>
        <p:nvSpPr>
          <p:cNvPr id="38918" name="Text Box 6"/>
          <p:cNvSpPr txBox="1">
            <a:spLocks noChangeArrowheads="1"/>
          </p:cNvSpPr>
          <p:nvPr/>
        </p:nvSpPr>
        <p:spPr bwMode="auto">
          <a:xfrm>
            <a:off x="1524000" y="914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rgbClr val="00CC00"/>
                </a:solidFill>
              </a:rPr>
              <a:t>Example</a:t>
            </a:r>
          </a:p>
        </p:txBody>
      </p:sp>
      <p:pic>
        <p:nvPicPr>
          <p:cNvPr id="38919" name="Picture 7" descr="j0297517"/>
          <p:cNvPicPr>
            <a:picLocks noChangeAspect="1" noChangeArrowheads="1"/>
          </p:cNvPicPr>
          <p:nvPr/>
        </p:nvPicPr>
        <p:blipFill>
          <a:blip r:embed="rId3">
            <a:lum bright="80000" contrast="-80000"/>
            <a:extLst>
              <a:ext uri="{28A0092B-C50C-407E-A947-70E740481C1C}">
                <a14:useLocalDpi xmlns:a14="http://schemas.microsoft.com/office/drawing/2010/main" val="0"/>
              </a:ext>
            </a:extLst>
          </a:blip>
          <a:srcRect/>
          <a:stretch>
            <a:fillRect/>
          </a:stretch>
        </p:blipFill>
        <p:spPr bwMode="auto">
          <a:xfrm>
            <a:off x="1739901" y="2882900"/>
            <a:ext cx="251142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0" name="Text Box 8"/>
          <p:cNvSpPr txBox="1">
            <a:spLocks noChangeArrowheads="1"/>
          </p:cNvSpPr>
          <p:nvPr/>
        </p:nvSpPr>
        <p:spPr bwMode="auto">
          <a:xfrm>
            <a:off x="1752600" y="1447801"/>
            <a:ext cx="31242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Create a level 1 decomposing the processes in level 0 and identifying data stores.</a:t>
            </a:r>
          </a:p>
        </p:txBody>
      </p:sp>
      <p:sp>
        <p:nvSpPr>
          <p:cNvPr id="38921" name="Text Box 9"/>
          <p:cNvSpPr txBox="1">
            <a:spLocks noChangeArrowheads="1"/>
          </p:cNvSpPr>
          <p:nvPr/>
        </p:nvSpPr>
        <p:spPr bwMode="auto">
          <a:xfrm>
            <a:off x="4953000" y="1066801"/>
            <a:ext cx="571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rabicPeriod" startAt="4"/>
            </a:pPr>
            <a:r>
              <a:rPr lang="en-US" altLang="en-US" sz="2000"/>
              <a:t>Construct Level 1 (continued)</a:t>
            </a:r>
          </a:p>
        </p:txBody>
      </p:sp>
      <p:sp>
        <p:nvSpPr>
          <p:cNvPr id="38922" name="Text Box 10"/>
          <p:cNvSpPr txBox="1">
            <a:spLocks noChangeArrowheads="1"/>
          </p:cNvSpPr>
          <p:nvPr/>
        </p:nvSpPr>
        <p:spPr bwMode="auto">
          <a:xfrm>
            <a:off x="4733926" y="2095500"/>
            <a:ext cx="15906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Time Worked</a:t>
            </a:r>
          </a:p>
        </p:txBody>
      </p:sp>
      <p:sp>
        <p:nvSpPr>
          <p:cNvPr id="38923" name="Oval 11"/>
          <p:cNvSpPr>
            <a:spLocks noChangeArrowheads="1"/>
          </p:cNvSpPr>
          <p:nvPr/>
        </p:nvSpPr>
        <p:spPr bwMode="auto">
          <a:xfrm>
            <a:off x="9448800" y="41148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924" name="Oval 12"/>
          <p:cNvSpPr>
            <a:spLocks noChangeArrowheads="1"/>
          </p:cNvSpPr>
          <p:nvPr/>
        </p:nvSpPr>
        <p:spPr bwMode="auto">
          <a:xfrm>
            <a:off x="9398000" y="35052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925" name="Oval 13"/>
          <p:cNvSpPr>
            <a:spLocks noChangeArrowheads="1"/>
          </p:cNvSpPr>
          <p:nvPr/>
        </p:nvSpPr>
        <p:spPr bwMode="auto">
          <a:xfrm>
            <a:off x="10058400" y="41402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926" name="Text Box 14"/>
          <p:cNvSpPr txBox="1">
            <a:spLocks noChangeArrowheads="1"/>
          </p:cNvSpPr>
          <p:nvPr/>
        </p:nvSpPr>
        <p:spPr bwMode="auto">
          <a:xfrm>
            <a:off x="1752600" y="2879726"/>
            <a:ext cx="30480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solidFill>
                  <a:srgbClr val="339933"/>
                </a:solidFill>
              </a:rPr>
              <a:t>Customer Order</a:t>
            </a:r>
          </a:p>
          <a:p>
            <a:pPr eaLnBrk="1" hangingPunct="1"/>
            <a:r>
              <a:rPr lang="en-US" altLang="en-US" sz="2000">
                <a:solidFill>
                  <a:srgbClr val="339933"/>
                </a:solidFill>
              </a:rPr>
              <a:t>Serve Product</a:t>
            </a:r>
          </a:p>
          <a:p>
            <a:pPr eaLnBrk="1" hangingPunct="1"/>
            <a:r>
              <a:rPr lang="en-US" altLang="en-US" sz="2000">
                <a:solidFill>
                  <a:srgbClr val="339933"/>
                </a:solidFill>
              </a:rPr>
              <a:t>Collect Payment</a:t>
            </a:r>
          </a:p>
          <a:p>
            <a:pPr eaLnBrk="1" hangingPunct="1"/>
            <a:endParaRPr lang="en-US" altLang="en-US" sz="2000">
              <a:solidFill>
                <a:srgbClr val="339933"/>
              </a:solidFill>
            </a:endParaRPr>
          </a:p>
          <a:p>
            <a:pPr eaLnBrk="1" hangingPunct="1"/>
            <a:r>
              <a:rPr lang="en-US" altLang="en-US" sz="2000">
                <a:solidFill>
                  <a:srgbClr val="339933"/>
                </a:solidFill>
              </a:rPr>
              <a:t>Produce Product</a:t>
            </a:r>
          </a:p>
          <a:p>
            <a:pPr eaLnBrk="1" hangingPunct="1"/>
            <a:r>
              <a:rPr lang="en-US" altLang="en-US" sz="2000">
                <a:solidFill>
                  <a:srgbClr val="339933"/>
                </a:solidFill>
              </a:rPr>
              <a:t>Store Product</a:t>
            </a:r>
          </a:p>
          <a:p>
            <a:pPr eaLnBrk="1" hangingPunct="1"/>
            <a:endParaRPr lang="en-US" altLang="en-US" sz="2000">
              <a:solidFill>
                <a:srgbClr val="339933"/>
              </a:solidFill>
            </a:endParaRPr>
          </a:p>
          <a:p>
            <a:pPr eaLnBrk="1" hangingPunct="1"/>
            <a:r>
              <a:rPr lang="en-US" altLang="en-US" sz="2000">
                <a:solidFill>
                  <a:srgbClr val="339933"/>
                </a:solidFill>
              </a:rPr>
              <a:t>Order Raw Materials</a:t>
            </a:r>
          </a:p>
          <a:p>
            <a:pPr eaLnBrk="1" hangingPunct="1"/>
            <a:r>
              <a:rPr lang="en-US" altLang="en-US" sz="2000">
                <a:solidFill>
                  <a:srgbClr val="339933"/>
                </a:solidFill>
              </a:rPr>
              <a:t>Pay for Raw Materials</a:t>
            </a:r>
          </a:p>
          <a:p>
            <a:pPr eaLnBrk="1" hangingPunct="1"/>
            <a:endParaRPr lang="en-US" altLang="en-US" sz="2000">
              <a:solidFill>
                <a:srgbClr val="339933"/>
              </a:solidFill>
            </a:endParaRPr>
          </a:p>
          <a:p>
            <a:pPr eaLnBrk="1" hangingPunct="1"/>
            <a:r>
              <a:rPr lang="en-US" altLang="en-US" sz="2000" b="1"/>
              <a:t>Pay for Labor</a:t>
            </a:r>
          </a:p>
          <a:p>
            <a:pPr eaLnBrk="1" hangingPunct="1"/>
            <a:endParaRPr lang="en-US" altLang="en-US" sz="2000" b="1"/>
          </a:p>
        </p:txBody>
      </p:sp>
      <p:sp>
        <p:nvSpPr>
          <p:cNvPr id="38927" name="Oval 15"/>
          <p:cNvSpPr>
            <a:spLocks noChangeArrowheads="1"/>
          </p:cNvSpPr>
          <p:nvPr/>
        </p:nvSpPr>
        <p:spPr bwMode="auto">
          <a:xfrm>
            <a:off x="6248400" y="44323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928" name="Oval 16"/>
          <p:cNvSpPr>
            <a:spLocks noChangeArrowheads="1"/>
          </p:cNvSpPr>
          <p:nvPr/>
        </p:nvSpPr>
        <p:spPr bwMode="auto">
          <a:xfrm>
            <a:off x="6248400" y="50927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929" name="Oval 17"/>
          <p:cNvSpPr>
            <a:spLocks noChangeArrowheads="1"/>
          </p:cNvSpPr>
          <p:nvPr/>
        </p:nvSpPr>
        <p:spPr bwMode="auto">
          <a:xfrm>
            <a:off x="6248400" y="3124200"/>
            <a:ext cx="228600" cy="2286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930" name="Oval 18"/>
          <p:cNvSpPr>
            <a:spLocks noChangeArrowheads="1"/>
          </p:cNvSpPr>
          <p:nvPr/>
        </p:nvSpPr>
        <p:spPr bwMode="auto">
          <a:xfrm>
            <a:off x="6096000" y="24384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4.1</a:t>
            </a:r>
          </a:p>
          <a:p>
            <a:pPr algn="ctr"/>
            <a:r>
              <a:rPr lang="en-US" altLang="en-US" sz="1200">
                <a:latin typeface="Arial Narrow" panose="020B0606020202030204" pitchFamily="34" charset="0"/>
              </a:rPr>
              <a:t>Record Time Worked</a:t>
            </a:r>
          </a:p>
        </p:txBody>
      </p:sp>
      <p:cxnSp>
        <p:nvCxnSpPr>
          <p:cNvPr id="38931" name="AutoShape 19"/>
          <p:cNvCxnSpPr>
            <a:cxnSpLocks noChangeShapeType="1"/>
            <a:stCxn id="38937" idx="2"/>
            <a:endCxn id="38935" idx="2"/>
          </p:cNvCxnSpPr>
          <p:nvPr/>
        </p:nvCxnSpPr>
        <p:spPr bwMode="auto">
          <a:xfrm rot="16200000" flipH="1">
            <a:off x="5634038" y="3890963"/>
            <a:ext cx="381000" cy="523875"/>
          </a:xfrm>
          <a:prstGeom prst="curvedConnector2">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8932" name="Rectangle 20" descr="DataStore"/>
          <p:cNvSpPr>
            <a:spLocks noChangeArrowheads="1"/>
          </p:cNvSpPr>
          <p:nvPr/>
        </p:nvSpPr>
        <p:spPr bwMode="auto">
          <a:xfrm>
            <a:off x="7848600" y="2362201"/>
            <a:ext cx="990600" cy="377825"/>
          </a:xfrm>
          <a:prstGeom prst="rect">
            <a:avLst/>
          </a:prstGeom>
          <a:blipFill dpi="0" rotWithShape="0">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TIME CARDS</a:t>
            </a:r>
          </a:p>
        </p:txBody>
      </p:sp>
      <p:cxnSp>
        <p:nvCxnSpPr>
          <p:cNvPr id="38933" name="AutoShape 21"/>
          <p:cNvCxnSpPr>
            <a:cxnSpLocks noChangeShapeType="1"/>
            <a:stCxn id="38930" idx="6"/>
            <a:endCxn id="38932" idx="1"/>
          </p:cNvCxnSpPr>
          <p:nvPr/>
        </p:nvCxnSpPr>
        <p:spPr bwMode="auto">
          <a:xfrm flipV="1">
            <a:off x="7019926" y="2551114"/>
            <a:ext cx="828675" cy="344487"/>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cxnSp>
        <p:nvCxnSpPr>
          <p:cNvPr id="38934" name="AutoShape 22"/>
          <p:cNvCxnSpPr>
            <a:cxnSpLocks noChangeShapeType="1"/>
            <a:stCxn id="38922" idx="2"/>
            <a:endCxn id="38930" idx="2"/>
          </p:cNvCxnSpPr>
          <p:nvPr/>
        </p:nvCxnSpPr>
        <p:spPr bwMode="auto">
          <a:xfrm rot="16200000" flipH="1">
            <a:off x="5541169" y="2350294"/>
            <a:ext cx="533400" cy="557212"/>
          </a:xfrm>
          <a:prstGeom prst="curvedConnector2">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8935" name="Oval 23"/>
          <p:cNvSpPr>
            <a:spLocks noChangeArrowheads="1"/>
          </p:cNvSpPr>
          <p:nvPr/>
        </p:nvSpPr>
        <p:spPr bwMode="auto">
          <a:xfrm>
            <a:off x="6096000" y="38862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4.2</a:t>
            </a:r>
          </a:p>
          <a:p>
            <a:pPr algn="ctr"/>
            <a:r>
              <a:rPr lang="en-US" altLang="en-US" sz="1200">
                <a:latin typeface="Arial Narrow" panose="020B0606020202030204" pitchFamily="34" charset="0"/>
              </a:rPr>
              <a:t>Calculate Payroll</a:t>
            </a:r>
          </a:p>
        </p:txBody>
      </p:sp>
      <p:cxnSp>
        <p:nvCxnSpPr>
          <p:cNvPr id="38936" name="AutoShape 24"/>
          <p:cNvCxnSpPr>
            <a:cxnSpLocks noChangeShapeType="1"/>
            <a:stCxn id="38935" idx="7"/>
            <a:endCxn id="38938" idx="2"/>
          </p:cNvCxnSpPr>
          <p:nvPr/>
        </p:nvCxnSpPr>
        <p:spPr bwMode="auto">
          <a:xfrm flipV="1">
            <a:off x="6877050" y="3648075"/>
            <a:ext cx="1581150" cy="361950"/>
          </a:xfrm>
          <a:prstGeom prst="straightConnector1">
            <a:avLst/>
          </a:prstGeom>
          <a:noFill/>
          <a:ln w="15875">
            <a:solidFill>
              <a:srgbClr val="000000"/>
            </a:solidFill>
            <a:round/>
            <a:headEnd type="stealth" w="lg" len="sm"/>
            <a:tailEnd type="none" w="lg" len="sm"/>
          </a:ln>
          <a:extLst>
            <a:ext uri="{909E8E84-426E-40DD-AFC4-6F175D3DCCD1}">
              <a14:hiddenFill xmlns:a14="http://schemas.microsoft.com/office/drawing/2010/main">
                <a:noFill/>
              </a14:hiddenFill>
            </a:ext>
          </a:extLst>
        </p:spPr>
      </p:cxnSp>
      <p:sp>
        <p:nvSpPr>
          <p:cNvPr id="38937" name="Text Box 25"/>
          <p:cNvSpPr txBox="1">
            <a:spLocks noChangeArrowheads="1"/>
          </p:cNvSpPr>
          <p:nvPr/>
        </p:nvSpPr>
        <p:spPr bwMode="auto">
          <a:xfrm>
            <a:off x="4876800" y="3733800"/>
            <a:ext cx="1371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Payroll Request</a:t>
            </a:r>
          </a:p>
        </p:txBody>
      </p:sp>
      <p:sp>
        <p:nvSpPr>
          <p:cNvPr id="38938" name="Rectangle 26" descr="DataStore"/>
          <p:cNvSpPr>
            <a:spLocks noChangeArrowheads="1"/>
          </p:cNvSpPr>
          <p:nvPr/>
        </p:nvSpPr>
        <p:spPr bwMode="auto">
          <a:xfrm>
            <a:off x="7924800" y="3270251"/>
            <a:ext cx="1066800" cy="377825"/>
          </a:xfrm>
          <a:prstGeom prst="rect">
            <a:avLst/>
          </a:prstGeom>
          <a:blipFill dpi="0" rotWithShape="0">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EMPLOYEE</a:t>
            </a:r>
          </a:p>
        </p:txBody>
      </p:sp>
      <p:cxnSp>
        <p:nvCxnSpPr>
          <p:cNvPr id="38939" name="AutoShape 27"/>
          <p:cNvCxnSpPr>
            <a:cxnSpLocks noChangeShapeType="1"/>
            <a:stCxn id="38938" idx="1"/>
            <a:endCxn id="38930" idx="5"/>
          </p:cNvCxnSpPr>
          <p:nvPr/>
        </p:nvCxnSpPr>
        <p:spPr bwMode="auto">
          <a:xfrm flipH="1" flipV="1">
            <a:off x="6877050" y="3228975"/>
            <a:ext cx="1047750" cy="230188"/>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8940" name="Oval 28"/>
          <p:cNvSpPr>
            <a:spLocks noChangeArrowheads="1"/>
          </p:cNvSpPr>
          <p:nvPr/>
        </p:nvSpPr>
        <p:spPr bwMode="auto">
          <a:xfrm>
            <a:off x="6096000" y="52578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4.3</a:t>
            </a:r>
          </a:p>
          <a:p>
            <a:pPr algn="ctr"/>
            <a:r>
              <a:rPr lang="en-US" altLang="en-US" sz="1200">
                <a:latin typeface="Arial Narrow" panose="020B0606020202030204" pitchFamily="34" charset="0"/>
              </a:rPr>
              <a:t>Pay Employee</a:t>
            </a:r>
          </a:p>
        </p:txBody>
      </p:sp>
      <p:cxnSp>
        <p:nvCxnSpPr>
          <p:cNvPr id="38941" name="AutoShape 29"/>
          <p:cNvCxnSpPr>
            <a:cxnSpLocks noChangeShapeType="1"/>
            <a:stCxn id="38940" idx="6"/>
            <a:endCxn id="38945" idx="1"/>
          </p:cNvCxnSpPr>
          <p:nvPr/>
        </p:nvCxnSpPr>
        <p:spPr bwMode="auto">
          <a:xfrm>
            <a:off x="7019926" y="5715001"/>
            <a:ext cx="828675" cy="303213"/>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cxnSp>
        <p:nvCxnSpPr>
          <p:cNvPr id="38942" name="AutoShape 30"/>
          <p:cNvCxnSpPr>
            <a:cxnSpLocks noChangeShapeType="1"/>
            <a:stCxn id="38935" idx="4"/>
            <a:endCxn id="38940" idx="0"/>
          </p:cNvCxnSpPr>
          <p:nvPr/>
        </p:nvCxnSpPr>
        <p:spPr bwMode="auto">
          <a:xfrm>
            <a:off x="6553200" y="4810125"/>
            <a:ext cx="0" cy="438150"/>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8943" name="Text Box 31"/>
          <p:cNvSpPr txBox="1">
            <a:spLocks noChangeArrowheads="1"/>
          </p:cNvSpPr>
          <p:nvPr/>
        </p:nvSpPr>
        <p:spPr bwMode="auto">
          <a:xfrm>
            <a:off x="6705600" y="2971800"/>
            <a:ext cx="16002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r>
              <a:rPr lang="en-US" altLang="en-US" sz="1400">
                <a:latin typeface="Arial Narrow" panose="020B0606020202030204" pitchFamily="34" charset="0"/>
              </a:rPr>
              <a:t>Employee ID</a:t>
            </a:r>
          </a:p>
        </p:txBody>
      </p:sp>
      <p:sp>
        <p:nvSpPr>
          <p:cNvPr id="38944" name="Rectangle 32" descr="DataStore"/>
          <p:cNvSpPr>
            <a:spLocks noChangeArrowheads="1"/>
          </p:cNvSpPr>
          <p:nvPr/>
        </p:nvSpPr>
        <p:spPr bwMode="auto">
          <a:xfrm>
            <a:off x="8077200" y="4495801"/>
            <a:ext cx="990600" cy="377825"/>
          </a:xfrm>
          <a:prstGeom prst="rect">
            <a:avLst/>
          </a:prstGeom>
          <a:blipFill dpi="0" rotWithShape="0">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PAYROLL</a:t>
            </a:r>
          </a:p>
        </p:txBody>
      </p:sp>
      <p:sp>
        <p:nvSpPr>
          <p:cNvPr id="38945" name="Rectangle 33" descr="DataStore"/>
          <p:cNvSpPr>
            <a:spLocks noChangeArrowheads="1"/>
          </p:cNvSpPr>
          <p:nvPr/>
        </p:nvSpPr>
        <p:spPr bwMode="auto">
          <a:xfrm>
            <a:off x="7848600" y="5867401"/>
            <a:ext cx="914400" cy="301625"/>
          </a:xfrm>
          <a:prstGeom prst="rect">
            <a:avLst/>
          </a:prstGeom>
          <a:blipFill dpi="0" rotWithShape="0">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Arial Narrow" panose="020B0606020202030204" pitchFamily="34" charset="0"/>
              </a:rPr>
              <a:t>PAYMENTS</a:t>
            </a:r>
          </a:p>
        </p:txBody>
      </p:sp>
      <p:cxnSp>
        <p:nvCxnSpPr>
          <p:cNvPr id="38946" name="AutoShape 34"/>
          <p:cNvCxnSpPr>
            <a:cxnSpLocks noChangeShapeType="1"/>
            <a:stCxn id="38932" idx="3"/>
            <a:endCxn id="38935" idx="6"/>
          </p:cNvCxnSpPr>
          <p:nvPr/>
        </p:nvCxnSpPr>
        <p:spPr bwMode="auto">
          <a:xfrm flipH="1">
            <a:off x="7019926" y="2551114"/>
            <a:ext cx="1819275" cy="1792287"/>
          </a:xfrm>
          <a:prstGeom prst="bentConnector3">
            <a:avLst>
              <a:gd name="adj1" fmla="val -31417"/>
            </a:avLst>
          </a:prstGeom>
          <a:noFill/>
          <a:ln w="15875">
            <a:solidFill>
              <a:srgbClr val="000000"/>
            </a:solidFill>
            <a:miter lim="800000"/>
            <a:headEnd/>
            <a:tailEnd type="stealth" w="lg" len="sm"/>
          </a:ln>
          <a:extLst>
            <a:ext uri="{909E8E84-426E-40DD-AFC4-6F175D3DCCD1}">
              <a14:hiddenFill xmlns:a14="http://schemas.microsoft.com/office/drawing/2010/main">
                <a:noFill/>
              </a14:hiddenFill>
            </a:ext>
          </a:extLst>
        </p:spPr>
      </p:cxnSp>
      <p:cxnSp>
        <p:nvCxnSpPr>
          <p:cNvPr id="38947" name="AutoShape 35"/>
          <p:cNvCxnSpPr>
            <a:cxnSpLocks noChangeShapeType="1"/>
            <a:stCxn id="38944" idx="1"/>
            <a:endCxn id="38940" idx="7"/>
          </p:cNvCxnSpPr>
          <p:nvPr/>
        </p:nvCxnSpPr>
        <p:spPr bwMode="auto">
          <a:xfrm flipH="1">
            <a:off x="6877050" y="4684713"/>
            <a:ext cx="1200150" cy="696912"/>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cxnSp>
        <p:nvCxnSpPr>
          <p:cNvPr id="38948" name="AutoShape 36"/>
          <p:cNvCxnSpPr>
            <a:cxnSpLocks noChangeShapeType="1"/>
            <a:stCxn id="38935" idx="5"/>
            <a:endCxn id="38944" idx="1"/>
          </p:cNvCxnSpPr>
          <p:nvPr/>
        </p:nvCxnSpPr>
        <p:spPr bwMode="auto">
          <a:xfrm>
            <a:off x="6877050" y="4676775"/>
            <a:ext cx="1200150" cy="7938"/>
          </a:xfrm>
          <a:prstGeom prst="straightConnector1">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8949" name="Text Box 37"/>
          <p:cNvSpPr txBox="1">
            <a:spLocks noChangeArrowheads="1"/>
          </p:cNvSpPr>
          <p:nvPr/>
        </p:nvSpPr>
        <p:spPr bwMode="auto">
          <a:xfrm>
            <a:off x="5899150" y="4865688"/>
            <a:ext cx="16002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a:latin typeface="Arial Narrow" panose="020B0606020202030204" pitchFamily="34" charset="0"/>
              </a:rPr>
              <a:t>Payment  Approval</a:t>
            </a:r>
          </a:p>
        </p:txBody>
      </p:sp>
      <p:sp>
        <p:nvSpPr>
          <p:cNvPr id="38950" name="Text Box 38"/>
          <p:cNvSpPr txBox="1">
            <a:spLocks noChangeArrowheads="1"/>
          </p:cNvSpPr>
          <p:nvPr/>
        </p:nvSpPr>
        <p:spPr bwMode="auto">
          <a:xfrm>
            <a:off x="4876800" y="6324600"/>
            <a:ext cx="10668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r>
              <a:rPr lang="en-US" altLang="en-US" sz="1400">
                <a:latin typeface="Arial Narrow" panose="020B0606020202030204" pitchFamily="34" charset="0"/>
              </a:rPr>
              <a:t>Payment</a:t>
            </a:r>
          </a:p>
        </p:txBody>
      </p:sp>
      <p:cxnSp>
        <p:nvCxnSpPr>
          <p:cNvPr id="38951" name="AutoShape 39"/>
          <p:cNvCxnSpPr>
            <a:cxnSpLocks noChangeShapeType="1"/>
            <a:stCxn id="38940" idx="4"/>
            <a:endCxn id="38950" idx="3"/>
          </p:cNvCxnSpPr>
          <p:nvPr/>
        </p:nvCxnSpPr>
        <p:spPr bwMode="auto">
          <a:xfrm rot="5400000">
            <a:off x="6116638" y="6008688"/>
            <a:ext cx="263525" cy="609600"/>
          </a:xfrm>
          <a:prstGeom prst="curvedConnector2">
            <a:avLst/>
          </a:prstGeom>
          <a:noFill/>
          <a:ln w="15875">
            <a:solidFill>
              <a:srgbClr val="000000"/>
            </a:solidFill>
            <a:round/>
            <a:headEnd/>
            <a:tailEnd type="stealth" w="lg" len="sm"/>
          </a:ln>
          <a:extLst>
            <a:ext uri="{909E8E84-426E-40DD-AFC4-6F175D3DCCD1}">
              <a14:hiddenFill xmlns:a14="http://schemas.microsoft.com/office/drawing/2010/main">
                <a:noFill/>
              </a14:hiddenFill>
            </a:ext>
          </a:extLst>
        </p:spPr>
      </p:cxnSp>
      <p:sp>
        <p:nvSpPr>
          <p:cNvPr id="38952" name="Text Box 40"/>
          <p:cNvSpPr txBox="1">
            <a:spLocks noChangeArrowheads="1"/>
          </p:cNvSpPr>
          <p:nvPr/>
        </p:nvSpPr>
        <p:spPr bwMode="auto">
          <a:xfrm>
            <a:off x="7772400" y="4114800"/>
            <a:ext cx="1371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a:latin typeface="Arial Narrow" panose="020B0606020202030204" pitchFamily="34" charset="0"/>
              </a:rPr>
              <a:t>Unpaid time cards</a:t>
            </a:r>
          </a:p>
        </p:txBody>
      </p:sp>
    </p:spTree>
    <p:extLst>
      <p:ext uri="{BB962C8B-B14F-4D97-AF65-F5344CB8AC3E}">
        <p14:creationId xmlns:p14="http://schemas.microsoft.com/office/powerpoint/2010/main" val="2631487526"/>
      </p:ext>
    </p:extLst>
  </p:cSld>
  <p:clrMapOvr>
    <a:masterClrMapping/>
  </p:clrMapOvr>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j0198656"/>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5600700" y="762000"/>
            <a:ext cx="1333500"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9939" name="Group 3"/>
          <p:cNvGrpSpPr>
            <a:grpSpLocks/>
          </p:cNvGrpSpPr>
          <p:nvPr/>
        </p:nvGrpSpPr>
        <p:grpSpPr bwMode="auto">
          <a:xfrm>
            <a:off x="5391150" y="3505200"/>
            <a:ext cx="1752600" cy="1295400"/>
            <a:chOff x="3648" y="2640"/>
            <a:chExt cx="2112" cy="1680"/>
          </a:xfrm>
        </p:grpSpPr>
        <p:pic>
          <p:nvPicPr>
            <p:cNvPr id="39980" name="Picture 4" descr="j0246119"/>
            <p:cNvPicPr>
              <a:picLocks noChangeAspect="1" noChangeArrowheads="1"/>
            </p:cNvPicPr>
            <p:nvPr/>
          </p:nvPicPr>
          <p:blipFill>
            <a:blip r:embed="rId3" cstate="print">
              <a:lum bright="46000" contrast="-58000"/>
              <a:extLst>
                <a:ext uri="{28A0092B-C50C-407E-A947-70E740481C1C}">
                  <a14:useLocalDpi xmlns:a14="http://schemas.microsoft.com/office/drawing/2010/main" val="0"/>
                </a:ext>
              </a:extLst>
            </a:blip>
            <a:srcRect/>
            <a:stretch>
              <a:fillRect/>
            </a:stretch>
          </p:blipFill>
          <p:spPr bwMode="auto">
            <a:xfrm>
              <a:off x="3648" y="3609"/>
              <a:ext cx="1183" cy="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81" name="Picture 5" descr="j0113008"/>
            <p:cNvPicPr>
              <a:picLocks noChangeAspect="1" noChangeArrowheads="1"/>
            </p:cNvPicPr>
            <p:nvPr/>
          </p:nvPicPr>
          <p:blipFill>
            <a:blip r:embed="rId4" cstate="print">
              <a:lum bright="46000" contrast="-58000"/>
              <a:extLst>
                <a:ext uri="{28A0092B-C50C-407E-A947-70E740481C1C}">
                  <a14:useLocalDpi xmlns:a14="http://schemas.microsoft.com/office/drawing/2010/main" val="0"/>
                </a:ext>
              </a:extLst>
            </a:blip>
            <a:srcRect/>
            <a:stretch>
              <a:fillRect/>
            </a:stretch>
          </p:blipFill>
          <p:spPr bwMode="auto">
            <a:xfrm>
              <a:off x="4896" y="2640"/>
              <a:ext cx="779" cy="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82" name="Picture 6" descr="EN00275_"/>
            <p:cNvPicPr>
              <a:picLocks noChangeAspect="1" noChangeArrowheads="1"/>
            </p:cNvPicPr>
            <p:nvPr/>
          </p:nvPicPr>
          <p:blipFill>
            <a:blip r:embed="rId5">
              <a:lum bright="46000" contrast="-58000"/>
              <a:extLst>
                <a:ext uri="{28A0092B-C50C-407E-A947-70E740481C1C}">
                  <a14:useLocalDpi xmlns:a14="http://schemas.microsoft.com/office/drawing/2010/main" val="0"/>
                </a:ext>
              </a:extLst>
            </a:blip>
            <a:srcRect/>
            <a:stretch>
              <a:fillRect/>
            </a:stretch>
          </p:blipFill>
          <p:spPr bwMode="auto">
            <a:xfrm>
              <a:off x="4660" y="3403"/>
              <a:ext cx="1100" cy="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9940" name="Picture 7" descr="BD06552_"/>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5372100" y="4953000"/>
            <a:ext cx="1792288"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Text Box 8"/>
          <p:cNvSpPr txBox="1">
            <a:spLocks noChangeArrowheads="1"/>
          </p:cNvSpPr>
          <p:nvPr/>
        </p:nvSpPr>
        <p:spPr bwMode="auto">
          <a:xfrm>
            <a:off x="1524000" y="0"/>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600"/>
              <a:t>Process Decomposition</a:t>
            </a:r>
          </a:p>
        </p:txBody>
      </p:sp>
      <p:pic>
        <p:nvPicPr>
          <p:cNvPr id="39942" name="Picture 9" descr="j0297517"/>
          <p:cNvPicPr>
            <a:picLocks noChangeAspect="1" noChangeArrowheads="1"/>
          </p:cNvPicPr>
          <p:nvPr/>
        </p:nvPicPr>
        <p:blipFill>
          <a:blip r:embed="rId7">
            <a:lum bright="80000" contrast="-80000"/>
            <a:extLst>
              <a:ext uri="{28A0092B-C50C-407E-A947-70E740481C1C}">
                <a14:useLocalDpi xmlns:a14="http://schemas.microsoft.com/office/drawing/2010/main" val="0"/>
              </a:ext>
            </a:extLst>
          </a:blip>
          <a:srcRect/>
          <a:stretch>
            <a:fillRect/>
          </a:stretch>
        </p:blipFill>
        <p:spPr bwMode="auto">
          <a:xfrm>
            <a:off x="1739901" y="762000"/>
            <a:ext cx="251142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3" name="Oval 10"/>
          <p:cNvSpPr>
            <a:spLocks noChangeArrowheads="1"/>
          </p:cNvSpPr>
          <p:nvPr/>
        </p:nvSpPr>
        <p:spPr bwMode="auto">
          <a:xfrm>
            <a:off x="6858000" y="51054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4.1</a:t>
            </a:r>
          </a:p>
          <a:p>
            <a:pPr algn="ctr"/>
            <a:r>
              <a:rPr lang="en-US" altLang="en-US" sz="1200">
                <a:latin typeface="Arial Narrow" panose="020B0606020202030204" pitchFamily="34" charset="0"/>
              </a:rPr>
              <a:t>Record Time Worked</a:t>
            </a:r>
          </a:p>
        </p:txBody>
      </p:sp>
      <p:sp>
        <p:nvSpPr>
          <p:cNvPr id="39944" name="Oval 11"/>
          <p:cNvSpPr>
            <a:spLocks noChangeArrowheads="1"/>
          </p:cNvSpPr>
          <p:nvPr/>
        </p:nvSpPr>
        <p:spPr bwMode="auto">
          <a:xfrm>
            <a:off x="7924800" y="51054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4.2</a:t>
            </a:r>
          </a:p>
          <a:p>
            <a:pPr algn="ctr"/>
            <a:r>
              <a:rPr lang="en-US" altLang="en-US" sz="1200">
                <a:latin typeface="Arial Narrow" panose="020B0606020202030204" pitchFamily="34" charset="0"/>
              </a:rPr>
              <a:t>Calculate Payroll</a:t>
            </a:r>
          </a:p>
        </p:txBody>
      </p:sp>
      <p:sp>
        <p:nvSpPr>
          <p:cNvPr id="39945" name="Oval 12"/>
          <p:cNvSpPr>
            <a:spLocks noChangeArrowheads="1"/>
          </p:cNvSpPr>
          <p:nvPr/>
        </p:nvSpPr>
        <p:spPr bwMode="auto">
          <a:xfrm>
            <a:off x="8991600" y="51054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4.3</a:t>
            </a:r>
          </a:p>
          <a:p>
            <a:pPr algn="ctr"/>
            <a:r>
              <a:rPr lang="en-US" altLang="en-US" sz="1200">
                <a:latin typeface="Arial Narrow" panose="020B0606020202030204" pitchFamily="34" charset="0"/>
              </a:rPr>
              <a:t>Pay Employee</a:t>
            </a:r>
          </a:p>
        </p:txBody>
      </p:sp>
      <p:sp>
        <p:nvSpPr>
          <p:cNvPr id="39946" name="Oval 13"/>
          <p:cNvSpPr>
            <a:spLocks noChangeArrowheads="1"/>
          </p:cNvSpPr>
          <p:nvPr/>
        </p:nvSpPr>
        <p:spPr bwMode="auto">
          <a:xfrm>
            <a:off x="6858000" y="36576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3.1</a:t>
            </a:r>
          </a:p>
          <a:p>
            <a:pPr algn="ctr"/>
            <a:r>
              <a:rPr lang="en-US" altLang="en-US" sz="1200">
                <a:latin typeface="Arial Narrow" panose="020B0606020202030204" pitchFamily="34" charset="0"/>
              </a:rPr>
              <a:t>Produce Purchase Order</a:t>
            </a:r>
          </a:p>
        </p:txBody>
      </p:sp>
      <p:sp>
        <p:nvSpPr>
          <p:cNvPr id="39947" name="Oval 14"/>
          <p:cNvSpPr>
            <a:spLocks noChangeArrowheads="1"/>
          </p:cNvSpPr>
          <p:nvPr/>
        </p:nvSpPr>
        <p:spPr bwMode="auto">
          <a:xfrm>
            <a:off x="7924800" y="36576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3.2</a:t>
            </a:r>
          </a:p>
          <a:p>
            <a:pPr algn="ctr"/>
            <a:r>
              <a:rPr lang="en-US" altLang="en-US" sz="1200">
                <a:latin typeface="Arial Narrow" panose="020B0606020202030204" pitchFamily="34" charset="0"/>
              </a:rPr>
              <a:t>Receive Items</a:t>
            </a:r>
          </a:p>
        </p:txBody>
      </p:sp>
      <p:sp>
        <p:nvSpPr>
          <p:cNvPr id="39948" name="Oval 15"/>
          <p:cNvSpPr>
            <a:spLocks noChangeArrowheads="1"/>
          </p:cNvSpPr>
          <p:nvPr/>
        </p:nvSpPr>
        <p:spPr bwMode="auto">
          <a:xfrm>
            <a:off x="8991600" y="36576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3.3</a:t>
            </a:r>
          </a:p>
          <a:p>
            <a:pPr algn="ctr"/>
            <a:r>
              <a:rPr lang="en-US" altLang="en-US" sz="1200">
                <a:latin typeface="Arial Narrow" panose="020B0606020202030204" pitchFamily="34" charset="0"/>
              </a:rPr>
              <a:t>Pay Vendor</a:t>
            </a:r>
          </a:p>
        </p:txBody>
      </p:sp>
      <p:sp>
        <p:nvSpPr>
          <p:cNvPr id="39949" name="Oval 16"/>
          <p:cNvSpPr>
            <a:spLocks noChangeArrowheads="1"/>
          </p:cNvSpPr>
          <p:nvPr/>
        </p:nvSpPr>
        <p:spPr bwMode="auto">
          <a:xfrm>
            <a:off x="6858000" y="22860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2.1</a:t>
            </a:r>
          </a:p>
          <a:p>
            <a:pPr algn="ctr"/>
            <a:r>
              <a:rPr lang="en-US" altLang="en-US" sz="1200">
                <a:latin typeface="Arial Narrow" panose="020B0606020202030204" pitchFamily="34" charset="0"/>
              </a:rPr>
              <a:t>Serve Product</a:t>
            </a:r>
          </a:p>
        </p:txBody>
      </p:sp>
      <p:sp>
        <p:nvSpPr>
          <p:cNvPr id="39950" name="Oval 17"/>
          <p:cNvSpPr>
            <a:spLocks noChangeArrowheads="1"/>
          </p:cNvSpPr>
          <p:nvPr/>
        </p:nvSpPr>
        <p:spPr bwMode="auto">
          <a:xfrm>
            <a:off x="7924800" y="22860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2.2</a:t>
            </a:r>
          </a:p>
          <a:p>
            <a:pPr algn="ctr"/>
            <a:r>
              <a:rPr lang="en-US" altLang="en-US" sz="1200">
                <a:latin typeface="Arial Narrow" panose="020B0606020202030204" pitchFamily="34" charset="0"/>
              </a:rPr>
              <a:t>Produce Product</a:t>
            </a:r>
          </a:p>
        </p:txBody>
      </p:sp>
      <p:sp>
        <p:nvSpPr>
          <p:cNvPr id="39951" name="Oval 18"/>
          <p:cNvSpPr>
            <a:spLocks noChangeArrowheads="1"/>
          </p:cNvSpPr>
          <p:nvPr/>
        </p:nvSpPr>
        <p:spPr bwMode="auto">
          <a:xfrm>
            <a:off x="8991600" y="22860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2.3</a:t>
            </a:r>
          </a:p>
          <a:p>
            <a:pPr algn="ctr"/>
            <a:r>
              <a:rPr lang="en-US" altLang="en-US" sz="1200">
                <a:latin typeface="Arial Narrow" panose="020B0606020202030204" pitchFamily="34" charset="0"/>
              </a:rPr>
              <a:t>Store</a:t>
            </a:r>
          </a:p>
          <a:p>
            <a:pPr algn="ctr"/>
            <a:r>
              <a:rPr lang="en-US" altLang="en-US" sz="1200">
                <a:latin typeface="Arial Narrow" panose="020B0606020202030204" pitchFamily="34" charset="0"/>
              </a:rPr>
              <a:t>Product</a:t>
            </a:r>
          </a:p>
        </p:txBody>
      </p:sp>
      <p:sp>
        <p:nvSpPr>
          <p:cNvPr id="39952" name="Oval 19"/>
          <p:cNvSpPr>
            <a:spLocks noChangeArrowheads="1"/>
          </p:cNvSpPr>
          <p:nvPr/>
        </p:nvSpPr>
        <p:spPr bwMode="auto">
          <a:xfrm>
            <a:off x="6858000" y="9906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1.1</a:t>
            </a:r>
          </a:p>
          <a:p>
            <a:pPr algn="ctr"/>
            <a:r>
              <a:rPr lang="en-US" altLang="en-US" sz="1200">
                <a:latin typeface="Arial Narrow" panose="020B0606020202030204" pitchFamily="34" charset="0"/>
              </a:rPr>
              <a:t>Record Order</a:t>
            </a:r>
          </a:p>
        </p:txBody>
      </p:sp>
      <p:sp>
        <p:nvSpPr>
          <p:cNvPr id="39953" name="Oval 20"/>
          <p:cNvSpPr>
            <a:spLocks noChangeArrowheads="1"/>
          </p:cNvSpPr>
          <p:nvPr/>
        </p:nvSpPr>
        <p:spPr bwMode="auto">
          <a:xfrm>
            <a:off x="7924800" y="9906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45720" rIns="4572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1.2</a:t>
            </a:r>
          </a:p>
          <a:p>
            <a:pPr algn="ctr"/>
            <a:r>
              <a:rPr lang="en-US" altLang="en-US" sz="1200">
                <a:latin typeface="Arial Narrow" panose="020B0606020202030204" pitchFamily="34" charset="0"/>
              </a:rPr>
              <a:t>Receive Payment</a:t>
            </a:r>
          </a:p>
        </p:txBody>
      </p:sp>
      <p:sp>
        <p:nvSpPr>
          <p:cNvPr id="39954" name="Oval 21"/>
          <p:cNvSpPr>
            <a:spLocks noChangeArrowheads="1"/>
          </p:cNvSpPr>
          <p:nvPr/>
        </p:nvSpPr>
        <p:spPr bwMode="auto">
          <a:xfrm>
            <a:off x="4724400" y="22860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8288" rIns="1828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2.0</a:t>
            </a:r>
          </a:p>
          <a:p>
            <a:pPr algn="ctr"/>
            <a:r>
              <a:rPr lang="en-US" altLang="en-US" sz="1200">
                <a:latin typeface="Arial Narrow" panose="020B0606020202030204" pitchFamily="34" charset="0"/>
              </a:rPr>
              <a:t>Production</a:t>
            </a:r>
          </a:p>
        </p:txBody>
      </p:sp>
      <p:sp>
        <p:nvSpPr>
          <p:cNvPr id="39955" name="Oval 22"/>
          <p:cNvSpPr>
            <a:spLocks noChangeArrowheads="1"/>
          </p:cNvSpPr>
          <p:nvPr/>
        </p:nvSpPr>
        <p:spPr bwMode="auto">
          <a:xfrm>
            <a:off x="4724400" y="9906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8288" rIns="1828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1.0</a:t>
            </a:r>
          </a:p>
          <a:p>
            <a:pPr algn="ctr"/>
            <a:r>
              <a:rPr lang="en-US" altLang="en-US" sz="1200">
                <a:latin typeface="Arial Narrow" panose="020B0606020202030204" pitchFamily="34" charset="0"/>
              </a:rPr>
              <a:t>Sale</a:t>
            </a:r>
          </a:p>
        </p:txBody>
      </p:sp>
      <p:sp>
        <p:nvSpPr>
          <p:cNvPr id="39956" name="Oval 23"/>
          <p:cNvSpPr>
            <a:spLocks noChangeArrowheads="1"/>
          </p:cNvSpPr>
          <p:nvPr/>
        </p:nvSpPr>
        <p:spPr bwMode="auto">
          <a:xfrm>
            <a:off x="4724400" y="36576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rIns="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3.0</a:t>
            </a:r>
          </a:p>
          <a:p>
            <a:pPr algn="ctr"/>
            <a:r>
              <a:rPr lang="en-US" altLang="en-US" sz="1200">
                <a:latin typeface="Arial Narrow" panose="020B0606020202030204" pitchFamily="34" charset="0"/>
              </a:rPr>
              <a:t>Procure-ment</a:t>
            </a:r>
          </a:p>
        </p:txBody>
      </p:sp>
      <p:sp>
        <p:nvSpPr>
          <p:cNvPr id="39957" name="Oval 24"/>
          <p:cNvSpPr>
            <a:spLocks noChangeArrowheads="1"/>
          </p:cNvSpPr>
          <p:nvPr/>
        </p:nvSpPr>
        <p:spPr bwMode="auto">
          <a:xfrm>
            <a:off x="4733925" y="51054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rIns="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4.0</a:t>
            </a:r>
          </a:p>
          <a:p>
            <a:pPr algn="ctr"/>
            <a:r>
              <a:rPr lang="en-US" altLang="en-US" sz="1200">
                <a:latin typeface="Arial Narrow" panose="020B0606020202030204" pitchFamily="34" charset="0"/>
              </a:rPr>
              <a:t>Payroll</a:t>
            </a:r>
          </a:p>
        </p:txBody>
      </p:sp>
      <p:sp>
        <p:nvSpPr>
          <p:cNvPr id="39958" name="Oval 25"/>
          <p:cNvSpPr>
            <a:spLocks noChangeArrowheads="1"/>
          </p:cNvSpPr>
          <p:nvPr/>
        </p:nvSpPr>
        <p:spPr bwMode="auto">
          <a:xfrm>
            <a:off x="2590800" y="3124200"/>
            <a:ext cx="914400" cy="914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8288" rIns="1828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u="sng">
                <a:latin typeface="Arial Narrow" panose="020B0606020202030204" pitchFamily="34" charset="0"/>
              </a:rPr>
              <a:t>0.0</a:t>
            </a:r>
          </a:p>
          <a:p>
            <a:pPr algn="ctr"/>
            <a:r>
              <a:rPr lang="en-US" altLang="en-US" sz="1200">
                <a:latin typeface="Arial Narrow" panose="020B0606020202030204" pitchFamily="34" charset="0"/>
              </a:rPr>
              <a:t>Lemonade System</a:t>
            </a:r>
          </a:p>
        </p:txBody>
      </p:sp>
      <p:pic>
        <p:nvPicPr>
          <p:cNvPr id="39959" name="Picture 26" descr="j0113060"/>
          <p:cNvPicPr>
            <a:picLocks noChangeAspect="1" noChangeArrowheads="1"/>
          </p:cNvPicPr>
          <p:nvPr/>
        </p:nvPicPr>
        <p:blipFill>
          <a:blip r:embed="rId8" cstate="print">
            <a:lum bright="52000" contrast="-70000"/>
            <a:extLst>
              <a:ext uri="{28A0092B-C50C-407E-A947-70E740481C1C}">
                <a14:useLocalDpi xmlns:a14="http://schemas.microsoft.com/office/drawing/2010/main" val="0"/>
              </a:ext>
            </a:extLst>
          </a:blip>
          <a:srcRect/>
          <a:stretch>
            <a:fillRect/>
          </a:stretch>
        </p:blipFill>
        <p:spPr bwMode="auto">
          <a:xfrm>
            <a:off x="5648325" y="2133600"/>
            <a:ext cx="123825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9960" name="AutoShape 27"/>
          <p:cNvCxnSpPr>
            <a:cxnSpLocks noChangeShapeType="1"/>
            <a:stCxn id="39958" idx="0"/>
            <a:endCxn id="39955" idx="2"/>
          </p:cNvCxnSpPr>
          <p:nvPr/>
        </p:nvCxnSpPr>
        <p:spPr bwMode="auto">
          <a:xfrm flipV="1">
            <a:off x="3048001" y="1447801"/>
            <a:ext cx="1666875" cy="16668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61" name="AutoShape 28"/>
          <p:cNvCxnSpPr>
            <a:cxnSpLocks noChangeShapeType="1"/>
            <a:stCxn id="39958" idx="7"/>
            <a:endCxn id="39954" idx="2"/>
          </p:cNvCxnSpPr>
          <p:nvPr/>
        </p:nvCxnSpPr>
        <p:spPr bwMode="auto">
          <a:xfrm flipV="1">
            <a:off x="3371851" y="2743201"/>
            <a:ext cx="1343025" cy="5048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62" name="AutoShape 29"/>
          <p:cNvCxnSpPr>
            <a:cxnSpLocks noChangeShapeType="1"/>
            <a:stCxn id="39958" idx="5"/>
            <a:endCxn id="39956" idx="2"/>
          </p:cNvCxnSpPr>
          <p:nvPr/>
        </p:nvCxnSpPr>
        <p:spPr bwMode="auto">
          <a:xfrm>
            <a:off x="3371851" y="3914776"/>
            <a:ext cx="1343025" cy="2000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63" name="AutoShape 30"/>
          <p:cNvCxnSpPr>
            <a:cxnSpLocks noChangeShapeType="1"/>
            <a:stCxn id="39958" idx="4"/>
            <a:endCxn id="39957" idx="2"/>
          </p:cNvCxnSpPr>
          <p:nvPr/>
        </p:nvCxnSpPr>
        <p:spPr bwMode="auto">
          <a:xfrm>
            <a:off x="3048000" y="4048126"/>
            <a:ext cx="1676400" cy="15144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64" name="AutoShape 31"/>
          <p:cNvCxnSpPr>
            <a:cxnSpLocks noChangeShapeType="1"/>
            <a:stCxn id="39955" idx="4"/>
            <a:endCxn id="39952" idx="4"/>
          </p:cNvCxnSpPr>
          <p:nvPr/>
        </p:nvCxnSpPr>
        <p:spPr bwMode="auto">
          <a:xfrm rot="16200000" flipH="1">
            <a:off x="6247606" y="848519"/>
            <a:ext cx="1588" cy="2133600"/>
          </a:xfrm>
          <a:prstGeom prst="curvedConnector3">
            <a:avLst>
              <a:gd name="adj1" fmla="val 138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65" name="AutoShape 32"/>
          <p:cNvCxnSpPr>
            <a:cxnSpLocks noChangeShapeType="1"/>
            <a:stCxn id="39955" idx="4"/>
            <a:endCxn id="39953" idx="4"/>
          </p:cNvCxnSpPr>
          <p:nvPr/>
        </p:nvCxnSpPr>
        <p:spPr bwMode="auto">
          <a:xfrm rot="16200000" flipH="1">
            <a:off x="6781006" y="315119"/>
            <a:ext cx="1588" cy="3200400"/>
          </a:xfrm>
          <a:prstGeom prst="curvedConnector3">
            <a:avLst>
              <a:gd name="adj1" fmla="val 138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66" name="AutoShape 33"/>
          <p:cNvCxnSpPr>
            <a:cxnSpLocks noChangeShapeType="1"/>
            <a:stCxn id="39954" idx="4"/>
            <a:endCxn id="39949" idx="4"/>
          </p:cNvCxnSpPr>
          <p:nvPr/>
        </p:nvCxnSpPr>
        <p:spPr bwMode="auto">
          <a:xfrm rot="16200000" flipH="1">
            <a:off x="6247606" y="2143919"/>
            <a:ext cx="1588" cy="2133600"/>
          </a:xfrm>
          <a:prstGeom prst="curvedConnector3">
            <a:avLst>
              <a:gd name="adj1" fmla="val 138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67" name="AutoShape 34"/>
          <p:cNvCxnSpPr>
            <a:cxnSpLocks noChangeShapeType="1"/>
            <a:stCxn id="39954" idx="4"/>
            <a:endCxn id="39950" idx="4"/>
          </p:cNvCxnSpPr>
          <p:nvPr/>
        </p:nvCxnSpPr>
        <p:spPr bwMode="auto">
          <a:xfrm rot="16200000" flipH="1">
            <a:off x="6781006" y="1610519"/>
            <a:ext cx="1588" cy="3200400"/>
          </a:xfrm>
          <a:prstGeom prst="curvedConnector3">
            <a:avLst>
              <a:gd name="adj1" fmla="val 138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68" name="AutoShape 35"/>
          <p:cNvCxnSpPr>
            <a:cxnSpLocks noChangeShapeType="1"/>
            <a:stCxn id="39954" idx="4"/>
            <a:endCxn id="39951" idx="4"/>
          </p:cNvCxnSpPr>
          <p:nvPr/>
        </p:nvCxnSpPr>
        <p:spPr bwMode="auto">
          <a:xfrm rot="16200000" flipH="1">
            <a:off x="7314406" y="1077119"/>
            <a:ext cx="1588" cy="4267200"/>
          </a:xfrm>
          <a:prstGeom prst="curvedConnector3">
            <a:avLst>
              <a:gd name="adj1" fmla="val 138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69" name="AutoShape 36"/>
          <p:cNvCxnSpPr>
            <a:cxnSpLocks noChangeShapeType="1"/>
            <a:stCxn id="39956" idx="4"/>
            <a:endCxn id="39946" idx="4"/>
          </p:cNvCxnSpPr>
          <p:nvPr/>
        </p:nvCxnSpPr>
        <p:spPr bwMode="auto">
          <a:xfrm rot="16200000" flipH="1">
            <a:off x="6247606" y="3515519"/>
            <a:ext cx="1588" cy="2133600"/>
          </a:xfrm>
          <a:prstGeom prst="curvedConnector3">
            <a:avLst>
              <a:gd name="adj1" fmla="val 138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70" name="AutoShape 37"/>
          <p:cNvCxnSpPr>
            <a:cxnSpLocks noChangeShapeType="1"/>
            <a:stCxn id="39956" idx="4"/>
            <a:endCxn id="39947" idx="4"/>
          </p:cNvCxnSpPr>
          <p:nvPr/>
        </p:nvCxnSpPr>
        <p:spPr bwMode="auto">
          <a:xfrm rot="16200000" flipH="1">
            <a:off x="6781006" y="2982119"/>
            <a:ext cx="1588" cy="3200400"/>
          </a:xfrm>
          <a:prstGeom prst="curvedConnector3">
            <a:avLst>
              <a:gd name="adj1" fmla="val 138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71" name="AutoShape 38"/>
          <p:cNvCxnSpPr>
            <a:cxnSpLocks noChangeShapeType="1"/>
            <a:stCxn id="39956" idx="4"/>
            <a:endCxn id="39948" idx="4"/>
          </p:cNvCxnSpPr>
          <p:nvPr/>
        </p:nvCxnSpPr>
        <p:spPr bwMode="auto">
          <a:xfrm rot="16200000" flipH="1">
            <a:off x="7314406" y="2448719"/>
            <a:ext cx="1588" cy="4267200"/>
          </a:xfrm>
          <a:prstGeom prst="curvedConnector3">
            <a:avLst>
              <a:gd name="adj1" fmla="val 138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72" name="AutoShape 39"/>
          <p:cNvCxnSpPr>
            <a:cxnSpLocks noChangeShapeType="1"/>
            <a:stCxn id="39957" idx="4"/>
            <a:endCxn id="39943" idx="4"/>
          </p:cNvCxnSpPr>
          <p:nvPr/>
        </p:nvCxnSpPr>
        <p:spPr bwMode="auto">
          <a:xfrm rot="16200000" flipH="1">
            <a:off x="6252369" y="4968082"/>
            <a:ext cx="1588" cy="2124075"/>
          </a:xfrm>
          <a:prstGeom prst="curvedConnector3">
            <a:avLst>
              <a:gd name="adj1" fmla="val 138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73" name="AutoShape 40"/>
          <p:cNvCxnSpPr>
            <a:cxnSpLocks noChangeShapeType="1"/>
            <a:stCxn id="39957" idx="4"/>
            <a:endCxn id="39944" idx="4"/>
          </p:cNvCxnSpPr>
          <p:nvPr/>
        </p:nvCxnSpPr>
        <p:spPr bwMode="auto">
          <a:xfrm rot="16200000" flipH="1">
            <a:off x="6785769" y="4434682"/>
            <a:ext cx="1588" cy="3190875"/>
          </a:xfrm>
          <a:prstGeom prst="curvedConnector3">
            <a:avLst>
              <a:gd name="adj1" fmla="val 138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974" name="AutoShape 41"/>
          <p:cNvCxnSpPr>
            <a:cxnSpLocks noChangeShapeType="1"/>
            <a:stCxn id="39957" idx="4"/>
            <a:endCxn id="39945" idx="4"/>
          </p:cNvCxnSpPr>
          <p:nvPr/>
        </p:nvCxnSpPr>
        <p:spPr bwMode="auto">
          <a:xfrm rot="16200000" flipH="1">
            <a:off x="7319169" y="3901282"/>
            <a:ext cx="1588" cy="4257675"/>
          </a:xfrm>
          <a:prstGeom prst="curvedConnector3">
            <a:avLst>
              <a:gd name="adj1" fmla="val 138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9975" name="Text Box 42"/>
          <p:cNvSpPr txBox="1">
            <a:spLocks noChangeArrowheads="1"/>
          </p:cNvSpPr>
          <p:nvPr/>
        </p:nvSpPr>
        <p:spPr bwMode="auto">
          <a:xfrm>
            <a:off x="3429000" y="6248400"/>
            <a:ext cx="342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chemeClr val="accent2"/>
                </a:solidFill>
              </a:rPr>
              <a:t>Level 0</a:t>
            </a:r>
          </a:p>
        </p:txBody>
      </p:sp>
      <p:sp>
        <p:nvSpPr>
          <p:cNvPr id="39976" name="Text Box 43"/>
          <p:cNvSpPr txBox="1">
            <a:spLocks noChangeArrowheads="1"/>
          </p:cNvSpPr>
          <p:nvPr/>
        </p:nvSpPr>
        <p:spPr bwMode="auto">
          <a:xfrm>
            <a:off x="6858000" y="6248400"/>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a:solidFill>
                  <a:schemeClr val="accent2"/>
                </a:solidFill>
              </a:rPr>
              <a:t>Level 1</a:t>
            </a:r>
          </a:p>
        </p:txBody>
      </p:sp>
      <p:sp>
        <p:nvSpPr>
          <p:cNvPr id="39977" name="Text Box 44"/>
          <p:cNvSpPr txBox="1">
            <a:spLocks noChangeArrowheads="1"/>
          </p:cNvSpPr>
          <p:nvPr/>
        </p:nvSpPr>
        <p:spPr bwMode="auto">
          <a:xfrm>
            <a:off x="1524000" y="62484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solidFill>
                  <a:schemeClr val="accent2"/>
                </a:solidFill>
              </a:rPr>
              <a:t>Context Level</a:t>
            </a:r>
          </a:p>
        </p:txBody>
      </p:sp>
      <p:sp>
        <p:nvSpPr>
          <p:cNvPr id="39978" name="Line 45"/>
          <p:cNvSpPr>
            <a:spLocks noChangeShapeType="1"/>
          </p:cNvSpPr>
          <p:nvPr/>
        </p:nvSpPr>
        <p:spPr bwMode="auto">
          <a:xfrm>
            <a:off x="4267200" y="762000"/>
            <a:ext cx="0" cy="5867400"/>
          </a:xfrm>
          <a:prstGeom prst="line">
            <a:avLst/>
          </a:prstGeom>
          <a:noFill/>
          <a:ln w="19050">
            <a:solidFill>
              <a:schemeClr val="accent2"/>
            </a:solidFill>
            <a:prstDash val="lgDashDot"/>
            <a:round/>
            <a:headEnd/>
            <a:tailEnd/>
          </a:ln>
          <a:extLst>
            <a:ext uri="{909E8E84-426E-40DD-AFC4-6F175D3DCCD1}">
              <a14:hiddenFill xmlns:a14="http://schemas.microsoft.com/office/drawing/2010/main">
                <a:noFill/>
              </a14:hiddenFill>
            </a:ext>
          </a:extLst>
        </p:spPr>
        <p:txBody>
          <a:bodyPr/>
          <a:lstStyle/>
          <a:p>
            <a:endParaRPr lang="en-GB"/>
          </a:p>
        </p:txBody>
      </p:sp>
      <p:sp>
        <p:nvSpPr>
          <p:cNvPr id="39979" name="Line 46"/>
          <p:cNvSpPr>
            <a:spLocks noChangeShapeType="1"/>
          </p:cNvSpPr>
          <p:nvPr/>
        </p:nvSpPr>
        <p:spPr bwMode="auto">
          <a:xfrm>
            <a:off x="6324600" y="762000"/>
            <a:ext cx="0" cy="5867400"/>
          </a:xfrm>
          <a:prstGeom prst="line">
            <a:avLst/>
          </a:prstGeom>
          <a:noFill/>
          <a:ln w="19050">
            <a:solidFill>
              <a:schemeClr val="accent2"/>
            </a:solidFill>
            <a:prstDash val="lgDashDot"/>
            <a:round/>
            <a:headEnd/>
            <a:tailEnd/>
          </a:ln>
          <a:extLst>
            <a:ext uri="{909E8E84-426E-40DD-AFC4-6F175D3DCCD1}">
              <a14:hiddenFill xmlns:a14="http://schemas.microsoft.com/office/drawing/2010/main">
                <a:noFill/>
              </a14:hiddenFill>
            </a:ext>
          </a:extLst>
        </p:spPr>
        <p:txBody>
          <a:bodyPr/>
          <a:lstStyle/>
          <a:p>
            <a:endParaRPr lang="en-GB"/>
          </a:p>
        </p:txBody>
      </p:sp>
    </p:spTree>
    <p:extLst>
      <p:ext uri="{BB962C8B-B14F-4D97-AF65-F5344CB8AC3E}">
        <p14:creationId xmlns:p14="http://schemas.microsoft.com/office/powerpoint/2010/main" val="1371313213"/>
      </p:ext>
    </p:extLst>
  </p:cSld>
  <p:clrMapOvr>
    <a:masterClrMapping/>
  </p:clrMapOvr>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eaLnBrk="0" fontAlgn="base" hangingPunct="0">
              <a:lnSpc>
                <a:spcPct val="100000"/>
              </a:lnSpc>
              <a:spcAft>
                <a:spcPct val="0"/>
              </a:spcAft>
            </a:pPr>
            <a:r>
              <a:rPr lang="en-US" altLang="en-US" dirty="0">
                <a:solidFill>
                  <a:srgbClr val="333333"/>
                </a:solidFill>
                <a:latin typeface="Verdana" panose="020B0604030504040204" pitchFamily="34" charset="0"/>
              </a:rPr>
              <a:t>Let us try to identify some candidate keys for this </a:t>
            </a:r>
            <a:r>
              <a:rPr lang="en-US" altLang="en-US" dirty="0" smtClean="0">
                <a:solidFill>
                  <a:srgbClr val="333333"/>
                </a:solidFill>
                <a:latin typeface="Verdana" panose="020B0604030504040204" pitchFamily="34" charset="0"/>
              </a:rPr>
              <a:t>relation</a:t>
            </a:r>
            <a:endParaRPr lang="en-GB" dirty="0"/>
          </a:p>
        </p:txBody>
      </p:sp>
      <p:graphicFrame>
        <p:nvGraphicFramePr>
          <p:cNvPr id="4" name="Content Placeholder 3"/>
          <p:cNvGraphicFramePr>
            <a:graphicFrameLocks noGrp="1"/>
          </p:cNvGraphicFramePr>
          <p:nvPr>
            <p:ph idx="1"/>
          </p:nvPr>
        </p:nvGraphicFramePr>
        <p:xfrm>
          <a:off x="1471612" y="1932464"/>
          <a:ext cx="9248775" cy="4137660"/>
        </p:xfrm>
        <a:graphic>
          <a:graphicData uri="http://schemas.openxmlformats.org/drawingml/2006/table">
            <a:tbl>
              <a:tblPr/>
              <a:tblGrid>
                <a:gridCol w="1849755">
                  <a:extLst>
                    <a:ext uri="{9D8B030D-6E8A-4147-A177-3AD203B41FA5}">
                      <a16:colId xmlns:a16="http://schemas.microsoft.com/office/drawing/2014/main" val="1542788763"/>
                    </a:ext>
                  </a:extLst>
                </a:gridCol>
                <a:gridCol w="7399020">
                  <a:extLst>
                    <a:ext uri="{9D8B030D-6E8A-4147-A177-3AD203B41FA5}">
                      <a16:colId xmlns:a16="http://schemas.microsoft.com/office/drawing/2014/main" val="1854754478"/>
                    </a:ext>
                  </a:extLst>
                </a:gridCol>
              </a:tblGrid>
              <a:tr h="0">
                <a:tc>
                  <a:txBody>
                    <a:bodyPr/>
                    <a:lstStyle/>
                    <a:p>
                      <a:pPr algn="l" fontAlgn="b"/>
                      <a:r>
                        <a:rPr lang="en-GB" dirty="0">
                          <a:effectLst/>
                        </a:rPr>
                        <a:t>Key</a:t>
                      </a:r>
                    </a:p>
                  </a:txBody>
                  <a:tcPr marL="47625" marR="47625" marT="47625" marB="47625" anchor="b">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58F91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b"/>
                      <a:r>
                        <a:rPr lang="en-GB" dirty="0">
                          <a:effectLst/>
                        </a:rPr>
                        <a:t>Rationale</a:t>
                      </a:r>
                    </a:p>
                  </a:txBody>
                  <a:tcPr marL="47625" marR="47625" marT="47625" marB="47625" anchor="b">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A0F61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787963020"/>
                  </a:ext>
                </a:extLst>
              </a:tr>
              <a:tr h="0">
                <a:tc>
                  <a:txBody>
                    <a:bodyPr/>
                    <a:lstStyle/>
                    <a:p>
                      <a:pPr fontAlgn="t"/>
                      <a:r>
                        <a:rPr lang="en-GB" dirty="0" err="1">
                          <a:effectLst/>
                        </a:rPr>
                        <a:t>EmployeeNo</a:t>
                      </a:r>
                      <a:endParaRPr lang="en-GB" dirty="0">
                        <a:effectLst/>
                      </a:endParaRP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GB">
                          <a:effectLst/>
                        </a:rPr>
                        <a:t>This seems to be a good candidate key as companies usually issue a unique number for each employee.</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522631488"/>
                  </a:ext>
                </a:extLst>
              </a:tr>
              <a:tr h="0">
                <a:tc>
                  <a:txBody>
                    <a:bodyPr/>
                    <a:lstStyle/>
                    <a:p>
                      <a:pPr fontAlgn="t"/>
                      <a:r>
                        <a:rPr lang="en-GB">
                          <a:effectLst/>
                        </a:rPr>
                        <a:t>AadharNo</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GB" dirty="0">
                          <a:effectLst/>
                        </a:rPr>
                        <a:t>This seems to be a good candidate key for a company based in India. However we have assumed that every employee has an </a:t>
                      </a:r>
                      <a:r>
                        <a:rPr lang="en-GB" dirty="0" err="1">
                          <a:effectLst/>
                        </a:rPr>
                        <a:t>Aadhar</a:t>
                      </a:r>
                      <a:r>
                        <a:rPr lang="en-GB" dirty="0">
                          <a:effectLst/>
                        </a:rPr>
                        <a:t> number which may not be true. In addition for a multinational firm with employees across the globe this will not work at all.</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139082159"/>
                  </a:ext>
                </a:extLst>
              </a:tr>
              <a:tr h="0">
                <a:tc>
                  <a:txBody>
                    <a:bodyPr/>
                    <a:lstStyle/>
                    <a:p>
                      <a:pPr fontAlgn="t"/>
                      <a:r>
                        <a:rPr lang="en-GB" dirty="0">
                          <a:effectLst/>
                        </a:rPr>
                        <a:t>Name, </a:t>
                      </a:r>
                      <a:r>
                        <a:rPr lang="en-GB" dirty="0" err="1">
                          <a:effectLst/>
                        </a:rPr>
                        <a:t>DateOfBirth</a:t>
                      </a:r>
                      <a:endParaRPr lang="en-GB" dirty="0">
                        <a:effectLst/>
                      </a:endParaRP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GB">
                          <a:effectLst/>
                        </a:rPr>
                        <a:t>This might work for a small firm of 10 people as a combination of Name and Date of Birth is likely to be unique.</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753646614"/>
                  </a:ext>
                </a:extLst>
              </a:tr>
              <a:tr h="0">
                <a:tc>
                  <a:txBody>
                    <a:bodyPr/>
                    <a:lstStyle/>
                    <a:p>
                      <a:pPr fontAlgn="t"/>
                      <a:r>
                        <a:rPr lang="en-GB" dirty="0">
                          <a:effectLst/>
                        </a:rPr>
                        <a:t>Salary</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GB">
                          <a:effectLst/>
                        </a:rPr>
                        <a:t>This is not a good candidate as salary is generally paid uniformly to people at same level.</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461807841"/>
                  </a:ext>
                </a:extLst>
              </a:tr>
              <a:tr h="0">
                <a:tc>
                  <a:txBody>
                    <a:bodyPr/>
                    <a:lstStyle/>
                    <a:p>
                      <a:pPr fontAlgn="t"/>
                      <a:r>
                        <a:rPr lang="en-GB" dirty="0" err="1">
                          <a:effectLst/>
                        </a:rPr>
                        <a:t>EmployeeNo</a:t>
                      </a:r>
                      <a:r>
                        <a:rPr lang="en-GB" dirty="0">
                          <a:effectLst/>
                        </a:rPr>
                        <a:t>, </a:t>
                      </a:r>
                      <a:r>
                        <a:rPr lang="en-GB" dirty="0" err="1">
                          <a:effectLst/>
                        </a:rPr>
                        <a:t>DateOfBirth</a:t>
                      </a:r>
                      <a:endParaRPr lang="en-GB" dirty="0">
                        <a:effectLst/>
                      </a:endParaRP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GB" dirty="0">
                          <a:effectLst/>
                        </a:rPr>
                        <a:t>It is not a candidate key as </a:t>
                      </a:r>
                      <a:r>
                        <a:rPr lang="en-GB" dirty="0" err="1">
                          <a:effectLst/>
                        </a:rPr>
                        <a:t>EmployeeNo</a:t>
                      </a:r>
                      <a:r>
                        <a:rPr lang="en-GB" dirty="0">
                          <a:effectLst/>
                        </a:rPr>
                        <a:t> alone is unique. By definition only minimal set of attributes can be candidate key.</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204056596"/>
                  </a:ext>
                </a:extLst>
              </a:tr>
            </a:tbl>
          </a:graphicData>
        </a:graphic>
      </p:graphicFrame>
      <p:sp>
        <p:nvSpPr>
          <p:cNvPr id="6" name="Rectangle 5"/>
          <p:cNvSpPr/>
          <p:nvPr/>
        </p:nvSpPr>
        <p:spPr>
          <a:xfrm>
            <a:off x="696684" y="6180798"/>
            <a:ext cx="9178835" cy="646331"/>
          </a:xfrm>
          <a:prstGeom prst="rect">
            <a:avLst/>
          </a:prstGeom>
        </p:spPr>
        <p:txBody>
          <a:bodyPr wrap="square">
            <a:spAutoFit/>
          </a:bodyPr>
          <a:lstStyle/>
          <a:p>
            <a:r>
              <a:rPr lang="en-US" altLang="en-US" dirty="0">
                <a:solidFill>
                  <a:srgbClr val="333333"/>
                </a:solidFill>
                <a:latin typeface="Verdana" panose="020B0604030504040204" pitchFamily="34" charset="0"/>
              </a:rPr>
              <a:t>Thus the choice of candidate key depends upon the business context.</a:t>
            </a:r>
            <a:r>
              <a:rPr lang="en-US" altLang="en-US" sz="2400" dirty="0">
                <a:latin typeface="Arial" panose="020B0604020202020204" pitchFamily="34" charset="0"/>
              </a:rPr>
              <a:t/>
            </a:r>
            <a:br>
              <a:rPr lang="en-US" altLang="en-US" sz="2400" dirty="0">
                <a:latin typeface="Arial" panose="020B0604020202020204" pitchFamily="34" charset="0"/>
              </a:rPr>
            </a:br>
            <a:endParaRPr lang="en-GB" dirty="0"/>
          </a:p>
        </p:txBody>
      </p:sp>
    </p:spTree>
    <p:extLst>
      <p:ext uri="{BB962C8B-B14F-4D97-AF65-F5344CB8AC3E}">
        <p14:creationId xmlns:p14="http://schemas.microsoft.com/office/powerpoint/2010/main" val="1678818923"/>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550818" y="493211"/>
          <a:ext cx="10515600" cy="4483997"/>
        </p:xfrm>
        <a:graphic>
          <a:graphicData uri="http://schemas.openxmlformats.org/drawingml/2006/table">
            <a:tbl>
              <a:tblPr firstRow="1" bandRow="1">
                <a:tableStyleId>{5C22544A-7EE6-4342-B048-85BDC9FD1C3A}</a:tableStyleId>
              </a:tblPr>
              <a:tblGrid>
                <a:gridCol w="3629297">
                  <a:extLst>
                    <a:ext uri="{9D8B030D-6E8A-4147-A177-3AD203B41FA5}">
                      <a16:colId xmlns:a16="http://schemas.microsoft.com/office/drawing/2014/main" val="2622687809"/>
                    </a:ext>
                  </a:extLst>
                </a:gridCol>
                <a:gridCol w="6886303">
                  <a:extLst>
                    <a:ext uri="{9D8B030D-6E8A-4147-A177-3AD203B41FA5}">
                      <a16:colId xmlns:a16="http://schemas.microsoft.com/office/drawing/2014/main" val="1053711076"/>
                    </a:ext>
                  </a:extLst>
                </a:gridCol>
              </a:tblGrid>
              <a:tr h="596391">
                <a:tc>
                  <a:txBody>
                    <a:bodyPr/>
                    <a:lstStyle/>
                    <a:p>
                      <a:pPr algn="l" fontAlgn="b"/>
                      <a:r>
                        <a:rPr lang="en-GB" sz="2800" dirty="0">
                          <a:effectLst/>
                        </a:rPr>
                        <a:t>Key</a:t>
                      </a:r>
                    </a:p>
                  </a:txBody>
                  <a:tcPr marL="47625" marR="47625" marT="47625" marB="47625" anchor="b"/>
                </a:tc>
                <a:tc>
                  <a:txBody>
                    <a:bodyPr/>
                    <a:lstStyle/>
                    <a:p>
                      <a:pPr algn="l" fontAlgn="b"/>
                      <a:r>
                        <a:rPr lang="en-GB" sz="2800">
                          <a:effectLst/>
                        </a:rPr>
                        <a:t>Rationale</a:t>
                      </a:r>
                    </a:p>
                  </a:txBody>
                  <a:tcPr marL="47625" marR="47625" marT="47625" marB="47625" anchor="b"/>
                </a:tc>
                <a:extLst>
                  <a:ext uri="{0D108BD9-81ED-4DB2-BD59-A6C34878D82A}">
                    <a16:rowId xmlns:a16="http://schemas.microsoft.com/office/drawing/2014/main" val="2106316528"/>
                  </a:ext>
                </a:extLst>
              </a:tr>
              <a:tr h="1035515">
                <a:tc>
                  <a:txBody>
                    <a:bodyPr/>
                    <a:lstStyle/>
                    <a:p>
                      <a:pPr fontAlgn="t"/>
                      <a:r>
                        <a:rPr lang="en-GB" sz="2800" dirty="0" err="1">
                          <a:effectLst/>
                        </a:rPr>
                        <a:t>EmployeeNo</a:t>
                      </a:r>
                      <a:endParaRPr lang="en-GB" sz="2800" dirty="0">
                        <a:effectLst/>
                      </a:endParaRPr>
                    </a:p>
                  </a:txBody>
                  <a:tcPr marL="47625" marR="47625" marT="47625" marB="47625"/>
                </a:tc>
                <a:tc>
                  <a:txBody>
                    <a:bodyPr/>
                    <a:lstStyle/>
                    <a:p>
                      <a:pPr fontAlgn="t"/>
                      <a:r>
                        <a:rPr lang="en-GB" sz="2800">
                          <a:effectLst/>
                        </a:rPr>
                        <a:t>Good candidate as it is numeric, cannot be null and does not change with time.</a:t>
                      </a:r>
                    </a:p>
                  </a:txBody>
                  <a:tcPr marL="47625" marR="47625" marT="47625" marB="47625"/>
                </a:tc>
                <a:extLst>
                  <a:ext uri="{0D108BD9-81ED-4DB2-BD59-A6C34878D82A}">
                    <a16:rowId xmlns:a16="http://schemas.microsoft.com/office/drawing/2014/main" val="1026512436"/>
                  </a:ext>
                </a:extLst>
              </a:tr>
              <a:tr h="1035515">
                <a:tc>
                  <a:txBody>
                    <a:bodyPr/>
                    <a:lstStyle/>
                    <a:p>
                      <a:pPr fontAlgn="t"/>
                      <a:r>
                        <a:rPr lang="en-GB" sz="2800" dirty="0" err="1">
                          <a:effectLst/>
                        </a:rPr>
                        <a:t>AadharNo</a:t>
                      </a:r>
                      <a:endParaRPr lang="en-GB" sz="2800" dirty="0">
                        <a:effectLst/>
                      </a:endParaRPr>
                    </a:p>
                  </a:txBody>
                  <a:tcPr marL="47625" marR="47625" marT="47625" marB="47625"/>
                </a:tc>
                <a:tc>
                  <a:txBody>
                    <a:bodyPr/>
                    <a:lstStyle/>
                    <a:p>
                      <a:pPr fontAlgn="t"/>
                      <a:r>
                        <a:rPr lang="en-GB" sz="2800">
                          <a:effectLst/>
                        </a:rPr>
                        <a:t>It will be null for people who do not have Aadhar number. Hence it cannot be considered as primary key.</a:t>
                      </a:r>
                    </a:p>
                  </a:txBody>
                  <a:tcPr marL="47625" marR="47625" marT="47625" marB="47625"/>
                </a:tc>
                <a:extLst>
                  <a:ext uri="{0D108BD9-81ED-4DB2-BD59-A6C34878D82A}">
                    <a16:rowId xmlns:a16="http://schemas.microsoft.com/office/drawing/2014/main" val="3168393950"/>
                  </a:ext>
                </a:extLst>
              </a:tr>
              <a:tr h="1476681">
                <a:tc>
                  <a:txBody>
                    <a:bodyPr/>
                    <a:lstStyle/>
                    <a:p>
                      <a:pPr fontAlgn="t"/>
                      <a:r>
                        <a:rPr lang="en-GB" sz="2800" dirty="0">
                          <a:effectLst/>
                        </a:rPr>
                        <a:t>Name, </a:t>
                      </a:r>
                      <a:r>
                        <a:rPr lang="en-GB" sz="2800" dirty="0" err="1">
                          <a:effectLst/>
                        </a:rPr>
                        <a:t>DateOfBirth</a:t>
                      </a:r>
                      <a:endParaRPr lang="en-GB" sz="2800" dirty="0">
                        <a:effectLst/>
                      </a:endParaRPr>
                    </a:p>
                  </a:txBody>
                  <a:tcPr marL="47625" marR="47625" marT="47625" marB="47625"/>
                </a:tc>
                <a:tc>
                  <a:txBody>
                    <a:bodyPr/>
                    <a:lstStyle/>
                    <a:p>
                      <a:pPr fontAlgn="t"/>
                      <a:r>
                        <a:rPr lang="en-GB" sz="2800" dirty="0">
                          <a:effectLst/>
                        </a:rPr>
                        <a:t>Both Name and </a:t>
                      </a:r>
                      <a:r>
                        <a:rPr lang="en-GB" sz="2800" dirty="0" err="1">
                          <a:effectLst/>
                        </a:rPr>
                        <a:t>DateOfBirth</a:t>
                      </a:r>
                      <a:r>
                        <a:rPr lang="en-GB" sz="2800" dirty="0">
                          <a:effectLst/>
                        </a:rPr>
                        <a:t> cannot be null. However even if uniqueness is </a:t>
                      </a:r>
                      <a:r>
                        <a:rPr lang="en-GB" sz="2800" dirty="0" smtClean="0">
                          <a:effectLst/>
                        </a:rPr>
                        <a:t>guaranteed, </a:t>
                      </a:r>
                      <a:r>
                        <a:rPr lang="en-GB" sz="2800" dirty="0">
                          <a:effectLst/>
                        </a:rPr>
                        <a:t>it is not a good choice due to large size.</a:t>
                      </a:r>
                    </a:p>
                  </a:txBody>
                  <a:tcPr marL="47625" marR="47625" marT="47625" marB="47625"/>
                </a:tc>
                <a:extLst>
                  <a:ext uri="{0D108BD9-81ED-4DB2-BD59-A6C34878D82A}">
                    <a16:rowId xmlns:a16="http://schemas.microsoft.com/office/drawing/2014/main" val="2614738493"/>
                  </a:ext>
                </a:extLst>
              </a:tr>
            </a:tbl>
          </a:graphicData>
        </a:graphic>
      </p:graphicFrame>
      <p:sp>
        <p:nvSpPr>
          <p:cNvPr id="6" name="Rectangle 5"/>
          <p:cNvSpPr/>
          <p:nvPr/>
        </p:nvSpPr>
        <p:spPr>
          <a:xfrm>
            <a:off x="748936" y="5060657"/>
            <a:ext cx="10746377" cy="1569660"/>
          </a:xfrm>
          <a:prstGeom prst="rect">
            <a:avLst/>
          </a:prstGeom>
        </p:spPr>
        <p:txBody>
          <a:bodyPr wrap="square">
            <a:spAutoFit/>
          </a:bodyPr>
          <a:lstStyle/>
          <a:p>
            <a:r>
              <a:rPr lang="en-GB" sz="2400" dirty="0">
                <a:solidFill>
                  <a:srgbClr val="333333"/>
                </a:solidFill>
                <a:latin typeface="Verdana" panose="020B0604030504040204" pitchFamily="34" charset="0"/>
              </a:rPr>
              <a:t>When two or more columns together identify the unique row then it's referred to as </a:t>
            </a:r>
            <a:r>
              <a:rPr lang="en-GB" sz="2400" b="1" dirty="0">
                <a:solidFill>
                  <a:srgbClr val="333333"/>
                </a:solidFill>
                <a:latin typeface="Verdana" panose="020B0604030504040204" pitchFamily="34" charset="0"/>
              </a:rPr>
              <a:t>Composite Primary Key.</a:t>
            </a:r>
            <a:r>
              <a:rPr lang="en-GB" sz="2400" dirty="0">
                <a:solidFill>
                  <a:srgbClr val="333333"/>
                </a:solidFill>
                <a:latin typeface="Verdana" panose="020B0604030504040204" pitchFamily="34" charset="0"/>
              </a:rPr>
              <a:t> The combination of Name and </a:t>
            </a:r>
            <a:r>
              <a:rPr lang="en-GB" sz="2400" dirty="0" err="1">
                <a:solidFill>
                  <a:srgbClr val="333333"/>
                </a:solidFill>
                <a:latin typeface="Verdana" panose="020B0604030504040204" pitchFamily="34" charset="0"/>
              </a:rPr>
              <a:t>DateOfBirth</a:t>
            </a:r>
            <a:r>
              <a:rPr lang="en-GB" sz="2400" dirty="0">
                <a:solidFill>
                  <a:srgbClr val="333333"/>
                </a:solidFill>
                <a:latin typeface="Verdana" panose="020B0604030504040204" pitchFamily="34" charset="0"/>
              </a:rPr>
              <a:t> if selected as a primary key would be a composite primary key.</a:t>
            </a:r>
            <a:endParaRPr lang="en-GB" sz="2400" dirty="0"/>
          </a:p>
        </p:txBody>
      </p:sp>
    </p:spTree>
    <p:extLst>
      <p:ext uri="{BB962C8B-B14F-4D97-AF65-F5344CB8AC3E}">
        <p14:creationId xmlns:p14="http://schemas.microsoft.com/office/powerpoint/2010/main" val="328516259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Database Users and </a:t>
            </a:r>
            <a:r>
              <a:rPr lang="en-GB" dirty="0" smtClean="0"/>
              <a:t>Administrators</a:t>
            </a:r>
            <a:endParaRPr lang="en-GB" dirty="0"/>
          </a:p>
        </p:txBody>
      </p:sp>
      <p:sp>
        <p:nvSpPr>
          <p:cNvPr id="3" name="Content Placeholder 2"/>
          <p:cNvSpPr>
            <a:spLocks noGrp="1"/>
          </p:cNvSpPr>
          <p:nvPr>
            <p:ph idx="1"/>
          </p:nvPr>
        </p:nvSpPr>
        <p:spPr/>
        <p:txBody>
          <a:bodyPr/>
          <a:lstStyle/>
          <a:p>
            <a:r>
              <a:rPr lang="en-GB" dirty="0"/>
              <a:t> Primary goal of the database system is to retrieve information and store new information in the </a:t>
            </a:r>
            <a:r>
              <a:rPr lang="en-GB" dirty="0" smtClean="0"/>
              <a:t>database</a:t>
            </a:r>
          </a:p>
          <a:p>
            <a:endParaRPr lang="en-US" dirty="0"/>
          </a:p>
          <a:p>
            <a:r>
              <a:rPr lang="en-US" dirty="0" smtClean="0"/>
              <a:t>2 Types of Users</a:t>
            </a:r>
          </a:p>
          <a:p>
            <a:r>
              <a:rPr lang="en-US" dirty="0" smtClean="0"/>
              <a:t>Database Users</a:t>
            </a:r>
          </a:p>
          <a:p>
            <a:r>
              <a:rPr lang="en-US" dirty="0" smtClean="0"/>
              <a:t>Database Administrators</a:t>
            </a:r>
          </a:p>
          <a:p>
            <a:endParaRPr lang="en-GB" dirty="0"/>
          </a:p>
        </p:txBody>
      </p:sp>
    </p:spTree>
    <p:extLst>
      <p:ext uri="{BB962C8B-B14F-4D97-AF65-F5344CB8AC3E}">
        <p14:creationId xmlns:p14="http://schemas.microsoft.com/office/powerpoint/2010/main" val="297468748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Users </a:t>
            </a:r>
            <a:endParaRPr lang="en-GB" dirty="0"/>
          </a:p>
        </p:txBody>
      </p:sp>
      <p:sp>
        <p:nvSpPr>
          <p:cNvPr id="3" name="Content Placeholder 2"/>
          <p:cNvSpPr>
            <a:spLocks noGrp="1"/>
          </p:cNvSpPr>
          <p:nvPr>
            <p:ph idx="1"/>
          </p:nvPr>
        </p:nvSpPr>
        <p:spPr/>
        <p:txBody>
          <a:bodyPr/>
          <a:lstStyle/>
          <a:p>
            <a:r>
              <a:rPr lang="en-US" dirty="0" smtClean="0"/>
              <a:t>4 Types of Database Users</a:t>
            </a:r>
          </a:p>
          <a:p>
            <a:r>
              <a:rPr lang="en-GB" dirty="0" smtClean="0"/>
              <a:t>Naive </a:t>
            </a:r>
            <a:r>
              <a:rPr lang="en-GB" dirty="0"/>
              <a:t>users </a:t>
            </a:r>
            <a:endParaRPr lang="en-GB" dirty="0" smtClean="0"/>
          </a:p>
          <a:p>
            <a:r>
              <a:rPr lang="en-GB" dirty="0" smtClean="0"/>
              <a:t>Application </a:t>
            </a:r>
            <a:r>
              <a:rPr lang="en-GB" dirty="0"/>
              <a:t>Programmers </a:t>
            </a:r>
          </a:p>
          <a:p>
            <a:r>
              <a:rPr lang="en-GB" dirty="0" smtClean="0"/>
              <a:t>Sophisticated </a:t>
            </a:r>
            <a:r>
              <a:rPr lang="en-GB" dirty="0"/>
              <a:t>Users </a:t>
            </a:r>
          </a:p>
          <a:p>
            <a:r>
              <a:rPr lang="en-GB" dirty="0" smtClean="0"/>
              <a:t>Specialized </a:t>
            </a:r>
            <a:r>
              <a:rPr lang="en-GB" dirty="0"/>
              <a:t>Users</a:t>
            </a:r>
          </a:p>
          <a:p>
            <a:endParaRPr lang="en-GB" dirty="0"/>
          </a:p>
        </p:txBody>
      </p:sp>
    </p:spTree>
    <p:extLst>
      <p:ext uri="{BB962C8B-B14F-4D97-AF65-F5344CB8AC3E}">
        <p14:creationId xmlns:p14="http://schemas.microsoft.com/office/powerpoint/2010/main" val="354180052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Naïve Users </a:t>
            </a:r>
            <a:endParaRPr lang="en-GB" dirty="0"/>
          </a:p>
        </p:txBody>
      </p:sp>
      <p:sp>
        <p:nvSpPr>
          <p:cNvPr id="3" name="Content Placeholder 2"/>
          <p:cNvSpPr>
            <a:spLocks noGrp="1"/>
          </p:cNvSpPr>
          <p:nvPr>
            <p:ph idx="1"/>
          </p:nvPr>
        </p:nvSpPr>
        <p:spPr/>
        <p:txBody>
          <a:bodyPr/>
          <a:lstStyle/>
          <a:p>
            <a:r>
              <a:rPr lang="en-GB" dirty="0"/>
              <a:t>They are unsophisticated users who interact with the system by invoking one of the application program that have been written previously.</a:t>
            </a:r>
          </a:p>
          <a:p>
            <a:r>
              <a:rPr lang="en-US" dirty="0" smtClean="0"/>
              <a:t>Simple User, who operates the applications</a:t>
            </a:r>
          </a:p>
          <a:p>
            <a:r>
              <a:rPr lang="en-US" dirty="0" smtClean="0"/>
              <a:t>Does not write any code</a:t>
            </a:r>
            <a:endParaRPr lang="en-GB" dirty="0"/>
          </a:p>
        </p:txBody>
      </p:sp>
    </p:spTree>
    <p:extLst>
      <p:ext uri="{BB962C8B-B14F-4D97-AF65-F5344CB8AC3E}">
        <p14:creationId xmlns:p14="http://schemas.microsoft.com/office/powerpoint/2010/main" val="177147842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Programmers</a:t>
            </a:r>
            <a:endParaRPr lang="en-GB" dirty="0"/>
          </a:p>
        </p:txBody>
      </p:sp>
      <p:sp>
        <p:nvSpPr>
          <p:cNvPr id="3" name="Content Placeholder 2"/>
          <p:cNvSpPr>
            <a:spLocks noGrp="1"/>
          </p:cNvSpPr>
          <p:nvPr>
            <p:ph idx="1"/>
          </p:nvPr>
        </p:nvSpPr>
        <p:spPr/>
        <p:txBody>
          <a:bodyPr/>
          <a:lstStyle/>
          <a:p>
            <a:r>
              <a:rPr lang="en-GB" dirty="0"/>
              <a:t>They are computer professionals who write application programs. </a:t>
            </a:r>
            <a:endParaRPr lang="en-GB" dirty="0" smtClean="0"/>
          </a:p>
          <a:p>
            <a:r>
              <a:rPr lang="en-GB" dirty="0" smtClean="0"/>
              <a:t>Application </a:t>
            </a:r>
            <a:r>
              <a:rPr lang="en-GB" dirty="0"/>
              <a:t>programmers can choose from many tools to develop user interfaces.</a:t>
            </a:r>
          </a:p>
        </p:txBody>
      </p:sp>
    </p:spTree>
    <p:extLst>
      <p:ext uri="{BB962C8B-B14F-4D97-AF65-F5344CB8AC3E}">
        <p14:creationId xmlns:p14="http://schemas.microsoft.com/office/powerpoint/2010/main" val="127453340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Sophisticated Users</a:t>
            </a:r>
            <a:endParaRPr lang="en-GB" dirty="0"/>
          </a:p>
        </p:txBody>
      </p:sp>
      <p:sp>
        <p:nvSpPr>
          <p:cNvPr id="3" name="Content Placeholder 2"/>
          <p:cNvSpPr>
            <a:spLocks noGrp="1"/>
          </p:cNvSpPr>
          <p:nvPr>
            <p:ph idx="1"/>
          </p:nvPr>
        </p:nvSpPr>
        <p:spPr/>
        <p:txBody>
          <a:bodyPr/>
          <a:lstStyle/>
          <a:p>
            <a:r>
              <a:rPr lang="en-GB" sz="4000" dirty="0"/>
              <a:t>They interact with the system without writing programs. </a:t>
            </a:r>
            <a:endParaRPr lang="en-GB" sz="4000" dirty="0" smtClean="0"/>
          </a:p>
          <a:p>
            <a:r>
              <a:rPr lang="en-GB" sz="4000" dirty="0" smtClean="0"/>
              <a:t>Instead </a:t>
            </a:r>
            <a:r>
              <a:rPr lang="en-GB" sz="4000" dirty="0"/>
              <a:t>they write their requests in a database query </a:t>
            </a:r>
            <a:r>
              <a:rPr lang="en-GB" sz="4000" dirty="0" smtClean="0"/>
              <a:t>language</a:t>
            </a:r>
          </a:p>
          <a:p>
            <a:endParaRPr lang="en-US" sz="4000" dirty="0"/>
          </a:p>
          <a:p>
            <a:endParaRPr lang="en-GB" dirty="0"/>
          </a:p>
          <a:p>
            <a:endParaRPr lang="en-GB" dirty="0"/>
          </a:p>
        </p:txBody>
      </p:sp>
    </p:spTree>
    <p:extLst>
      <p:ext uri="{BB962C8B-B14F-4D97-AF65-F5344CB8AC3E}">
        <p14:creationId xmlns:p14="http://schemas.microsoft.com/office/powerpoint/2010/main" val="366215943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Specialized Users</a:t>
            </a:r>
            <a:endParaRPr lang="en-GB" dirty="0"/>
          </a:p>
        </p:txBody>
      </p:sp>
      <p:sp>
        <p:nvSpPr>
          <p:cNvPr id="3" name="Content Placeholder 2"/>
          <p:cNvSpPr>
            <a:spLocks noGrp="1"/>
          </p:cNvSpPr>
          <p:nvPr>
            <p:ph idx="1"/>
          </p:nvPr>
        </p:nvSpPr>
        <p:spPr/>
        <p:txBody>
          <a:bodyPr/>
          <a:lstStyle/>
          <a:p>
            <a:r>
              <a:rPr lang="en-GB" sz="4000" dirty="0"/>
              <a:t>They are sophisticated users who write specialized database applications that do not fit in to the traditional data-processing frame work.</a:t>
            </a:r>
          </a:p>
          <a:p>
            <a:endParaRPr lang="en-GB" dirty="0"/>
          </a:p>
        </p:txBody>
      </p:sp>
    </p:spTree>
    <p:extLst>
      <p:ext uri="{BB962C8B-B14F-4D97-AF65-F5344CB8AC3E}">
        <p14:creationId xmlns:p14="http://schemas.microsoft.com/office/powerpoint/2010/main" val="363189337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Administrator</a:t>
            </a:r>
            <a:endParaRPr lang="en-GB" dirty="0"/>
          </a:p>
        </p:txBody>
      </p:sp>
      <p:sp>
        <p:nvSpPr>
          <p:cNvPr id="3" name="Content Placeholder 2"/>
          <p:cNvSpPr>
            <a:spLocks noGrp="1"/>
          </p:cNvSpPr>
          <p:nvPr>
            <p:ph idx="1"/>
          </p:nvPr>
        </p:nvSpPr>
        <p:spPr/>
        <p:txBody>
          <a:bodyPr>
            <a:normAutofit fontScale="32500" lnSpcReduction="20000"/>
          </a:bodyPr>
          <a:lstStyle/>
          <a:p>
            <a:r>
              <a:rPr lang="en-GB" sz="8600" dirty="0"/>
              <a:t>DBA is the person or group that is responsible for supervising both the data base and the use of the </a:t>
            </a:r>
            <a:r>
              <a:rPr lang="en-GB" sz="8600" dirty="0" smtClean="0"/>
              <a:t>DBMS</a:t>
            </a:r>
          </a:p>
          <a:p>
            <a:endParaRPr lang="en-US" sz="4400" dirty="0"/>
          </a:p>
          <a:p>
            <a:r>
              <a:rPr lang="en-US" sz="4400" b="1" dirty="0" smtClean="0"/>
              <a:t>Roles of DBA</a:t>
            </a:r>
          </a:p>
          <a:p>
            <a:r>
              <a:rPr lang="en-GB" sz="4400" dirty="0"/>
              <a:t>Policy Formulation and Implementation </a:t>
            </a:r>
            <a:endParaRPr lang="en-GB" sz="4400" dirty="0" smtClean="0"/>
          </a:p>
          <a:p>
            <a:r>
              <a:rPr lang="en-GB" sz="4400" dirty="0" smtClean="0"/>
              <a:t>Access </a:t>
            </a:r>
            <a:r>
              <a:rPr lang="en-GB" sz="4400" dirty="0"/>
              <a:t>privileges </a:t>
            </a:r>
          </a:p>
          <a:p>
            <a:r>
              <a:rPr lang="en-GB" sz="4400" dirty="0" smtClean="0"/>
              <a:t>Security </a:t>
            </a:r>
          </a:p>
          <a:p>
            <a:r>
              <a:rPr lang="en-GB" sz="4400" dirty="0" smtClean="0"/>
              <a:t>Disaster planning</a:t>
            </a:r>
          </a:p>
          <a:p>
            <a:r>
              <a:rPr lang="en-GB" sz="4400" dirty="0" smtClean="0"/>
              <a:t>Archives</a:t>
            </a:r>
          </a:p>
          <a:p>
            <a:r>
              <a:rPr lang="en-GB" sz="4400" dirty="0" smtClean="0"/>
              <a:t>Data </a:t>
            </a:r>
            <a:r>
              <a:rPr lang="en-GB" sz="4400" dirty="0"/>
              <a:t>Dictionary </a:t>
            </a:r>
            <a:r>
              <a:rPr lang="en-GB" sz="4400" dirty="0" smtClean="0"/>
              <a:t>Management</a:t>
            </a:r>
          </a:p>
          <a:p>
            <a:r>
              <a:rPr lang="en-GB" sz="4400" dirty="0" smtClean="0"/>
              <a:t>Training</a:t>
            </a:r>
          </a:p>
          <a:p>
            <a:r>
              <a:rPr lang="en-GB" sz="4400" dirty="0" smtClean="0"/>
              <a:t>DBMS Support</a:t>
            </a:r>
          </a:p>
          <a:p>
            <a:r>
              <a:rPr lang="en-GB" sz="4400" dirty="0" smtClean="0"/>
              <a:t>DBMS </a:t>
            </a:r>
            <a:r>
              <a:rPr lang="en-GB" sz="4400" dirty="0"/>
              <a:t>evaluation and </a:t>
            </a:r>
            <a:r>
              <a:rPr lang="en-GB" sz="4400" dirty="0" smtClean="0"/>
              <a:t>selection </a:t>
            </a:r>
          </a:p>
          <a:p>
            <a:r>
              <a:rPr lang="en-GB" sz="4400" dirty="0" smtClean="0"/>
              <a:t>DBMS responsibility</a:t>
            </a:r>
          </a:p>
          <a:p>
            <a:r>
              <a:rPr lang="en-GB" sz="4400" dirty="0" smtClean="0"/>
              <a:t>Data </a:t>
            </a:r>
            <a:r>
              <a:rPr lang="en-GB" sz="4400" dirty="0"/>
              <a:t>Base Design</a:t>
            </a:r>
          </a:p>
          <a:p>
            <a:endParaRPr lang="en-GB" dirty="0"/>
          </a:p>
        </p:txBody>
      </p:sp>
    </p:spTree>
    <p:extLst>
      <p:ext uri="{BB962C8B-B14F-4D97-AF65-F5344CB8AC3E}">
        <p14:creationId xmlns:p14="http://schemas.microsoft.com/office/powerpoint/2010/main" val="235385579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DBA formulates policies and communicates these policies to users. </a:t>
            </a:r>
          </a:p>
        </p:txBody>
      </p:sp>
      <p:sp>
        <p:nvSpPr>
          <p:cNvPr id="3" name="Content Placeholder 2"/>
          <p:cNvSpPr>
            <a:spLocks noGrp="1"/>
          </p:cNvSpPr>
          <p:nvPr>
            <p:ph idx="1"/>
          </p:nvPr>
        </p:nvSpPr>
        <p:spPr/>
        <p:txBody>
          <a:bodyPr/>
          <a:lstStyle/>
          <a:p>
            <a:pPr marL="0" indent="0">
              <a:buNone/>
            </a:pPr>
            <a:r>
              <a:rPr lang="en-GB" dirty="0"/>
              <a:t>Among these policies are those covering access </a:t>
            </a:r>
          </a:p>
          <a:p>
            <a:pPr lvl="0"/>
            <a:r>
              <a:rPr lang="en-GB" dirty="0"/>
              <a:t>privilege, </a:t>
            </a:r>
          </a:p>
          <a:p>
            <a:pPr lvl="0"/>
            <a:r>
              <a:rPr lang="en-GB" dirty="0"/>
              <a:t>security, </a:t>
            </a:r>
          </a:p>
          <a:p>
            <a:pPr lvl="0"/>
            <a:r>
              <a:rPr lang="en-GB" dirty="0"/>
              <a:t>disaster planning, </a:t>
            </a:r>
          </a:p>
          <a:p>
            <a:pPr lvl="0"/>
            <a:r>
              <a:rPr lang="en-GB" dirty="0"/>
              <a:t>archives.</a:t>
            </a:r>
          </a:p>
          <a:p>
            <a:endParaRPr lang="en-GB" dirty="0"/>
          </a:p>
        </p:txBody>
      </p:sp>
    </p:spTree>
    <p:extLst>
      <p:ext uri="{BB962C8B-B14F-4D97-AF65-F5344CB8AC3E}">
        <p14:creationId xmlns:p14="http://schemas.microsoft.com/office/powerpoint/2010/main" val="324423135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AccessPrivilege</a:t>
            </a:r>
            <a:r>
              <a:rPr lang="en-GB" dirty="0"/>
              <a:t> </a:t>
            </a:r>
          </a:p>
        </p:txBody>
      </p:sp>
      <p:sp>
        <p:nvSpPr>
          <p:cNvPr id="3" name="Content Placeholder 2"/>
          <p:cNvSpPr>
            <a:spLocks noGrp="1"/>
          </p:cNvSpPr>
          <p:nvPr>
            <p:ph idx="1"/>
          </p:nvPr>
        </p:nvSpPr>
        <p:spPr/>
        <p:txBody>
          <a:bodyPr/>
          <a:lstStyle/>
          <a:p>
            <a:r>
              <a:rPr lang="en-GB" dirty="0"/>
              <a:t>Access to every table and field in the database is not a necessity for every user. </a:t>
            </a:r>
          </a:p>
          <a:p>
            <a:r>
              <a:rPr lang="en-GB" dirty="0"/>
              <a:t>User A Access </a:t>
            </a:r>
            <a:r>
              <a:rPr lang="en-GB" dirty="0" err="1"/>
              <a:t>denide</a:t>
            </a:r>
            <a:r>
              <a:rPr lang="en-GB" dirty="0"/>
              <a:t> Access permitted</a:t>
            </a:r>
          </a:p>
          <a:p>
            <a:endParaRPr lang="en-GB" dirty="0"/>
          </a:p>
        </p:txBody>
      </p:sp>
    </p:spTree>
    <p:extLst>
      <p:ext uri="{BB962C8B-B14F-4D97-AF65-F5344CB8AC3E}">
        <p14:creationId xmlns:p14="http://schemas.microsoft.com/office/powerpoint/2010/main" val="228393610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Security </a:t>
            </a:r>
          </a:p>
        </p:txBody>
      </p:sp>
      <p:sp>
        <p:nvSpPr>
          <p:cNvPr id="3" name="Content Placeholder 2"/>
          <p:cNvSpPr>
            <a:spLocks noGrp="1"/>
          </p:cNvSpPr>
          <p:nvPr>
            <p:ph idx="1"/>
          </p:nvPr>
        </p:nvSpPr>
        <p:spPr/>
        <p:txBody>
          <a:bodyPr/>
          <a:lstStyle/>
          <a:p>
            <a:r>
              <a:rPr lang="en-GB" dirty="0"/>
              <a:t>Security refers to the prevention of unauthorized access to the database </a:t>
            </a:r>
          </a:p>
          <a:p>
            <a:r>
              <a:rPr lang="en-GB" dirty="0"/>
              <a:t>Once access privilege have been specified and security features are in place, </a:t>
            </a:r>
          </a:p>
          <a:p>
            <a:r>
              <a:rPr lang="en-GB" dirty="0"/>
              <a:t>DBA draws up policies to explain the security privileges and then distributes these policies to authorized users.</a:t>
            </a:r>
          </a:p>
        </p:txBody>
      </p:sp>
    </p:spTree>
    <p:extLst>
      <p:ext uri="{BB962C8B-B14F-4D97-AF65-F5344CB8AC3E}">
        <p14:creationId xmlns:p14="http://schemas.microsoft.com/office/powerpoint/2010/main" val="253609332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Planning for Disaster </a:t>
            </a:r>
          </a:p>
        </p:txBody>
      </p:sp>
      <p:sp>
        <p:nvSpPr>
          <p:cNvPr id="3" name="Content Placeholder 2"/>
          <p:cNvSpPr>
            <a:spLocks noGrp="1"/>
          </p:cNvSpPr>
          <p:nvPr>
            <p:ph idx="1"/>
          </p:nvPr>
        </p:nvSpPr>
        <p:spPr/>
        <p:txBody>
          <a:bodyPr/>
          <a:lstStyle/>
          <a:p>
            <a:r>
              <a:rPr lang="en-GB" dirty="0"/>
              <a:t>A database may be harmed by some physical problems or by some natural disasters. </a:t>
            </a:r>
          </a:p>
          <a:p>
            <a:r>
              <a:rPr lang="en-GB" dirty="0"/>
              <a:t>For this the DBA’s responsibility is to establish and implement backup and recovery procedures.</a:t>
            </a:r>
          </a:p>
          <a:p>
            <a:endParaRPr lang="en-GB" dirty="0"/>
          </a:p>
        </p:txBody>
      </p:sp>
    </p:spTree>
    <p:extLst>
      <p:ext uri="{BB962C8B-B14F-4D97-AF65-F5344CB8AC3E}">
        <p14:creationId xmlns:p14="http://schemas.microsoft.com/office/powerpoint/2010/main" val="265439755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Archives </a:t>
            </a:r>
          </a:p>
        </p:txBody>
      </p:sp>
      <p:sp>
        <p:nvSpPr>
          <p:cNvPr id="3" name="Content Placeholder 2"/>
          <p:cNvSpPr>
            <a:spLocks noGrp="1"/>
          </p:cNvSpPr>
          <p:nvPr>
            <p:ph idx="1"/>
          </p:nvPr>
        </p:nvSpPr>
        <p:spPr/>
        <p:txBody>
          <a:bodyPr/>
          <a:lstStyle/>
          <a:p>
            <a:r>
              <a:rPr lang="en-GB" dirty="0"/>
              <a:t>This tells that data need to be kept in the database for only a limited time. </a:t>
            </a:r>
          </a:p>
          <a:p>
            <a:r>
              <a:rPr lang="en-GB" dirty="0"/>
              <a:t>A data archive is a place where a record of certain corporate data is kept</a:t>
            </a:r>
          </a:p>
          <a:p>
            <a:r>
              <a:rPr lang="en-GB" dirty="0"/>
              <a:t>Data Dictionary Management </a:t>
            </a:r>
            <a:r>
              <a:rPr lang="en-GB" dirty="0" smtClean="0"/>
              <a:t> (Data About Data)</a:t>
            </a:r>
            <a:endParaRPr lang="en-GB" dirty="0"/>
          </a:p>
          <a:p>
            <a:r>
              <a:rPr lang="en-GB" dirty="0"/>
              <a:t>Data dictionary contains a wider range of information, including at the very least, information on tables, indexes, and programs. </a:t>
            </a:r>
          </a:p>
          <a:p>
            <a:r>
              <a:rPr lang="en-GB" dirty="0"/>
              <a:t>The creation and distribution of appropriate reports from the data dictionary is another of DBA”s responsibility.</a:t>
            </a:r>
          </a:p>
          <a:p>
            <a:endParaRPr lang="en-GB" dirty="0"/>
          </a:p>
        </p:txBody>
      </p:sp>
    </p:spTree>
    <p:extLst>
      <p:ext uri="{BB962C8B-B14F-4D97-AF65-F5344CB8AC3E}">
        <p14:creationId xmlns:p14="http://schemas.microsoft.com/office/powerpoint/2010/main" val="2969266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2659</TotalTime>
  <Words>7637</Words>
  <Application>Microsoft Office PowerPoint</Application>
  <PresentationFormat>Widescreen</PresentationFormat>
  <Paragraphs>1475</Paragraphs>
  <Slides>177</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177</vt:i4>
      </vt:variant>
    </vt:vector>
  </HeadingPairs>
  <TitlesOfParts>
    <vt:vector size="189" baseType="lpstr">
      <vt:lpstr>Arial</vt:lpstr>
      <vt:lpstr>Arial Narrow</vt:lpstr>
      <vt:lpstr>Batang</vt:lpstr>
      <vt:lpstr>Calibri</vt:lpstr>
      <vt:lpstr>Calibri Light</vt:lpstr>
      <vt:lpstr>굴림</vt:lpstr>
      <vt:lpstr>Latha</vt:lpstr>
      <vt:lpstr>Symbol</vt:lpstr>
      <vt:lpstr>Times New Roman</vt:lpstr>
      <vt:lpstr>Verdana</vt:lpstr>
      <vt:lpstr>Wingdings</vt:lpstr>
      <vt:lpstr>Office Theme</vt:lpstr>
      <vt:lpstr>DATABASE MANAGEMENT SYSTEMS</vt:lpstr>
      <vt:lpstr>UNIT - 1</vt:lpstr>
      <vt:lpstr>INTRODUCTION</vt:lpstr>
      <vt:lpstr>DATA</vt:lpstr>
      <vt:lpstr>Example</vt:lpstr>
      <vt:lpstr>Information</vt:lpstr>
      <vt:lpstr>Database</vt:lpstr>
      <vt:lpstr>Database Management Systems</vt:lpstr>
      <vt:lpstr>Why do u need a DBMS?</vt:lpstr>
      <vt:lpstr>DATABASE APPLICATIONS</vt:lpstr>
      <vt:lpstr>ENTERPRISE INFORMATION</vt:lpstr>
      <vt:lpstr>Banking and Finance</vt:lpstr>
      <vt:lpstr>Universities</vt:lpstr>
      <vt:lpstr>PowerPoint Presentation</vt:lpstr>
      <vt:lpstr>Database Systems Vs File Systems</vt:lpstr>
      <vt:lpstr>PowerPoint Presentation</vt:lpstr>
      <vt:lpstr>PowerPoint Presentation</vt:lpstr>
      <vt:lpstr>PowerPoint Presentation</vt:lpstr>
      <vt:lpstr>PowerPoint Presentation</vt:lpstr>
      <vt:lpstr>ADVANTAGE OF DBMS</vt:lpstr>
      <vt:lpstr>PowerPoint Presentation</vt:lpstr>
      <vt:lpstr>View of Data / Database Architecture</vt:lpstr>
      <vt:lpstr>DBMS Architecture</vt:lpstr>
      <vt:lpstr>Example to Understand Abstraction</vt:lpstr>
      <vt:lpstr>Logical Level</vt:lpstr>
      <vt:lpstr>Physical Level</vt:lpstr>
      <vt:lpstr>3 Levels of Abstraction</vt:lpstr>
      <vt:lpstr>DBMS Architecture Diagram</vt:lpstr>
      <vt:lpstr>Physical level</vt:lpstr>
      <vt:lpstr>Logical level </vt:lpstr>
      <vt:lpstr>PowerPoint Presentation</vt:lpstr>
      <vt:lpstr>PowerPoint Presentation</vt:lpstr>
      <vt:lpstr>Instances and Schemas</vt:lpstr>
      <vt:lpstr>PowerPoint Presentation</vt:lpstr>
      <vt:lpstr>Database Schemas</vt:lpstr>
      <vt:lpstr>Instances and Schemas</vt:lpstr>
      <vt:lpstr>Instances and Schemas</vt:lpstr>
      <vt:lpstr>Instances and Schemas</vt:lpstr>
      <vt:lpstr>CONCEPTUAL SCHEMA</vt:lpstr>
      <vt:lpstr>Physical Schema</vt:lpstr>
      <vt:lpstr>External Schema</vt:lpstr>
      <vt:lpstr>Mapping</vt:lpstr>
      <vt:lpstr>Data Independence</vt:lpstr>
      <vt:lpstr>Three Levels of online Book Database</vt:lpstr>
      <vt:lpstr>Logical Data Independence</vt:lpstr>
      <vt:lpstr>Physical Data Independence</vt:lpstr>
      <vt:lpstr>PowerPoint Presentation</vt:lpstr>
      <vt:lpstr>Data Models</vt:lpstr>
      <vt:lpstr>RELATIONAL MODEL</vt:lpstr>
      <vt:lpstr>Tuple/Row/Record</vt:lpstr>
      <vt:lpstr>ATTRIBUTES</vt:lpstr>
      <vt:lpstr>ATTRIBUTES</vt:lpstr>
      <vt:lpstr>CARDINALITY OF THE RELATION</vt:lpstr>
      <vt:lpstr>DEGREE OF THE RELATION</vt:lpstr>
      <vt:lpstr>NULL ATTRIBUTE</vt:lpstr>
      <vt:lpstr>Attribute Domain</vt:lpstr>
      <vt:lpstr>PowerPoint Presentation</vt:lpstr>
      <vt:lpstr>Data Integrity and Constraints / Keys</vt:lpstr>
      <vt:lpstr>Types of Integrity</vt:lpstr>
      <vt:lpstr>PowerPoint Presentation</vt:lpstr>
      <vt:lpstr>Keys</vt:lpstr>
      <vt:lpstr>Super Key</vt:lpstr>
      <vt:lpstr>PowerPoint Presentation</vt:lpstr>
      <vt:lpstr>PowerPoint Presentation</vt:lpstr>
      <vt:lpstr>PowerPoint Presentation</vt:lpstr>
      <vt:lpstr>Lets select the candidate keys from the above set of super keys.</vt:lpstr>
      <vt:lpstr>Primary key</vt:lpstr>
      <vt:lpstr>Primary Key Example in DBMS</vt:lpstr>
      <vt:lpstr>Key Points Primary key</vt:lpstr>
      <vt:lpstr>Composite Primary Key – More than one Key</vt:lpstr>
      <vt:lpstr>PowerPoint Presentation</vt:lpstr>
      <vt:lpstr>Order Example</vt:lpstr>
      <vt:lpstr>Order</vt:lpstr>
      <vt:lpstr>Consider the Following Table </vt:lpstr>
      <vt:lpstr>PowerPoint Presentation</vt:lpstr>
      <vt:lpstr>Dept Table</vt:lpstr>
      <vt:lpstr>PowerPoint Presentation</vt:lpstr>
      <vt:lpstr>PowerPoint Presentation</vt:lpstr>
      <vt:lpstr>Properties of Foreign Key</vt:lpstr>
      <vt:lpstr>ENTITY RELATIONSHIP DIAGRAM</vt:lpstr>
      <vt:lpstr>PowerPoint Presentation</vt:lpstr>
      <vt:lpstr>Entity</vt:lpstr>
      <vt:lpstr>Entity set</vt:lpstr>
      <vt:lpstr>Entity set loan and Customer</vt:lpstr>
      <vt:lpstr>Attributes</vt:lpstr>
      <vt:lpstr>Domain</vt:lpstr>
      <vt:lpstr>Attributes Types</vt:lpstr>
      <vt:lpstr>Hierarchy of Composite Attributes</vt:lpstr>
      <vt:lpstr>PowerPoint Presentation</vt:lpstr>
      <vt:lpstr>PowerPoint Presentation</vt:lpstr>
      <vt:lpstr>Relationship sets</vt:lpstr>
      <vt:lpstr>Let us understand some key terms used in ER Modelling </vt:lpstr>
      <vt:lpstr>Different Forms</vt:lpstr>
      <vt:lpstr>More than one relationship between entities</vt:lpstr>
      <vt:lpstr>Recursive Relationship</vt:lpstr>
      <vt:lpstr>PowerPoint Presentation</vt:lpstr>
      <vt:lpstr>Degree of Relationships</vt:lpstr>
      <vt:lpstr>E-R Diagram with a Ternary Relationship</vt:lpstr>
      <vt:lpstr>One - one</vt:lpstr>
      <vt:lpstr>1-1</vt:lpstr>
      <vt:lpstr>Cardinality Constraints</vt:lpstr>
      <vt:lpstr>1-Many</vt:lpstr>
      <vt:lpstr>One-To-Many Relationship</vt:lpstr>
      <vt:lpstr>Many - 1</vt:lpstr>
      <vt:lpstr>Many-To-One Relationships</vt:lpstr>
      <vt:lpstr>Many - Many</vt:lpstr>
      <vt:lpstr>Many-To-Many Relationship</vt:lpstr>
      <vt:lpstr>PowerPoint Presentation</vt:lpstr>
      <vt:lpstr>PowerPoint Presentation</vt:lpstr>
      <vt:lpstr>PowerPoint Presentation</vt:lpstr>
      <vt:lpstr>PowerPoint Presentation</vt:lpstr>
      <vt:lpstr>PowerPoint Presentation</vt:lpstr>
      <vt:lpstr>E-R Diagram With Composite, Multivalued, and Derived Attributes</vt:lpstr>
      <vt:lpstr>How to Create an Entity Relationship Diagram (ERD)</vt:lpstr>
      <vt:lpstr>Scenario</vt:lpstr>
      <vt:lpstr>Step 1) Entity Identification</vt:lpstr>
      <vt:lpstr>Step 2) Relationship Identification</vt:lpstr>
      <vt:lpstr>Step 3) Cardinality Identification</vt:lpstr>
      <vt:lpstr>Step 4) Identify Attributes</vt:lpstr>
      <vt:lpstr>PowerPoint Presentation</vt:lpstr>
      <vt:lpstr>PowerPoint Presentation</vt:lpstr>
      <vt:lpstr>Step 1) Entity Identification</vt:lpstr>
      <vt:lpstr>Step 2) Relationship Identification</vt:lpstr>
      <vt:lpstr>Step 3) Cardinality Identification</vt:lpstr>
      <vt:lpstr>PowerPoint Presentation</vt:lpstr>
      <vt:lpstr>DFD Examples</vt:lpstr>
      <vt:lpstr>Why Data Flow Diagram</vt:lpstr>
      <vt:lpstr>PowerPoint Presentation</vt:lpstr>
      <vt:lpstr>DFD Types of Notation</vt:lpstr>
      <vt:lpstr>Elements of DFD</vt:lpstr>
      <vt:lpstr>External Entity</vt:lpstr>
      <vt:lpstr>PowerPoint Presentation</vt:lpstr>
      <vt:lpstr>Process</vt:lpstr>
      <vt:lpstr>Examples of Process</vt:lpstr>
      <vt:lpstr>Data Store</vt:lpstr>
      <vt:lpstr>Data store</vt:lpstr>
      <vt:lpstr>Examples of data store</vt:lpstr>
      <vt:lpstr>Data flow</vt:lpstr>
      <vt:lpstr>Examples of Data Flow </vt:lpstr>
      <vt:lpstr>Rules of Data Flow </vt:lpstr>
      <vt:lpstr>Rules of Data Flow</vt:lpstr>
      <vt:lpstr>Four rules of thumb to create a valid DFD.</vt:lpstr>
      <vt:lpstr>PowerPoint Presentation</vt:lpstr>
      <vt:lpstr>DFD Naming Guidelines</vt:lpstr>
      <vt:lpstr>PowerPoint Presentation</vt:lpstr>
      <vt:lpstr>PowerPoint Presentation</vt:lpstr>
      <vt:lpstr>PowerPoint Presentation</vt:lpstr>
      <vt:lpstr>PowerPoint Presentation</vt:lpstr>
      <vt:lpstr>PowerPoint Presentation</vt:lpstr>
      <vt:lpstr>PowerPoint Presentation</vt:lpstr>
      <vt:lpstr>Context Level DFD</vt:lpstr>
      <vt:lpstr>PowerPoint Presentation</vt:lpstr>
      <vt:lpstr>Creation of Context Level DFD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 us try to identify some candidate keys for this relation</vt:lpstr>
      <vt:lpstr>PowerPoint Presentation</vt:lpstr>
      <vt:lpstr>Database Users and Administrators</vt:lpstr>
      <vt:lpstr>Database Users </vt:lpstr>
      <vt:lpstr>Naïve Users </vt:lpstr>
      <vt:lpstr>Application Programmers</vt:lpstr>
      <vt:lpstr>Sophisticated Users</vt:lpstr>
      <vt:lpstr>Specialized Users</vt:lpstr>
      <vt:lpstr>Database Administrator</vt:lpstr>
      <vt:lpstr>DBA formulates policies and communicates these policies to users. </vt:lpstr>
      <vt:lpstr>AccessPrivilege </vt:lpstr>
      <vt:lpstr>Security </vt:lpstr>
      <vt:lpstr>Planning for Disaster </vt:lpstr>
      <vt:lpstr>Archives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dc:title>
  <dc:creator>NIRMALA</dc:creator>
  <cp:lastModifiedBy>NIRMALA</cp:lastModifiedBy>
  <cp:revision>68</cp:revision>
  <dcterms:created xsi:type="dcterms:W3CDTF">2020-11-24T05:32:42Z</dcterms:created>
  <dcterms:modified xsi:type="dcterms:W3CDTF">2021-10-29T04:44:26Z</dcterms:modified>
</cp:coreProperties>
</file>